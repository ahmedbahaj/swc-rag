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4"/>
    <p:sldMasterId id="2147483757" r:id="rId5"/>
  </p:sldMasterIdLst>
  <p:notesMasterIdLst>
    <p:notesMasterId r:id="rId26"/>
  </p:notesMasterIdLst>
  <p:sldIdLst>
    <p:sldId id="330" r:id="rId6"/>
    <p:sldId id="419" r:id="rId7"/>
    <p:sldId id="420" r:id="rId8"/>
    <p:sldId id="421" r:id="rId9"/>
    <p:sldId id="415" r:id="rId10"/>
    <p:sldId id="465" r:id="rId11"/>
    <p:sldId id="466" r:id="rId12"/>
    <p:sldId id="467" r:id="rId13"/>
    <p:sldId id="468" r:id="rId14"/>
    <p:sldId id="469" r:id="rId15"/>
    <p:sldId id="477" r:id="rId16"/>
    <p:sldId id="480" r:id="rId17"/>
    <p:sldId id="482" r:id="rId18"/>
    <p:sldId id="484" r:id="rId19"/>
    <p:sldId id="485" r:id="rId20"/>
    <p:sldId id="486" r:id="rId21"/>
    <p:sldId id="487" r:id="rId22"/>
    <p:sldId id="488" r:id="rId23"/>
    <p:sldId id="476" r:id="rId24"/>
    <p:sldId id="41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" id="{EB54229A-E673-4F50-937B-310B31E2AF04}">
          <p14:sldIdLst>
            <p14:sldId id="330"/>
            <p14:sldId id="419"/>
            <p14:sldId id="420"/>
            <p14:sldId id="421"/>
            <p14:sldId id="415"/>
            <p14:sldId id="465"/>
            <p14:sldId id="466"/>
            <p14:sldId id="467"/>
            <p14:sldId id="468"/>
            <p14:sldId id="469"/>
            <p14:sldId id="477"/>
            <p14:sldId id="480"/>
            <p14:sldId id="482"/>
            <p14:sldId id="484"/>
            <p14:sldId id="485"/>
            <p14:sldId id="486"/>
            <p14:sldId id="487"/>
            <p14:sldId id="488"/>
            <p14:sldId id="476"/>
            <p14:sldId id="4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CDEA"/>
    <a:srgbClr val="0A4B67"/>
    <a:srgbClr val="88A6B1"/>
    <a:srgbClr val="565351"/>
    <a:srgbClr val="767270"/>
    <a:srgbClr val="FFFFD1"/>
    <a:srgbClr val="6E96A2"/>
    <a:srgbClr val="6B9F25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63" autoAdjust="0"/>
    <p:restoredTop sz="94698"/>
  </p:normalViewPr>
  <p:slideViewPr>
    <p:cSldViewPr snapToGrid="0">
      <p:cViewPr varScale="1">
        <p:scale>
          <a:sx n="104" d="100"/>
          <a:sy n="104" d="100"/>
        </p:scale>
        <p:origin x="16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Dakhilallah Mohammad Alahmadi" userId="9b436a58-7297-423f-8410-66c59c69358a" providerId="ADAL" clId="{FF2F8B8C-C30D-4168-9D14-1DD0DEEEE395}"/>
    <pc:docChg chg="undo custSel modSld">
      <pc:chgData name="Mohammad Dakhilallah Mohammad Alahmadi" userId="9b436a58-7297-423f-8410-66c59c69358a" providerId="ADAL" clId="{FF2F8B8C-C30D-4168-9D14-1DD0DEEEE395}" dt="2024-05-08T05:52:05.946" v="24" actId="1076"/>
      <pc:docMkLst>
        <pc:docMk/>
      </pc:docMkLst>
      <pc:sldChg chg="modSp mod">
        <pc:chgData name="Mohammad Dakhilallah Mohammad Alahmadi" userId="9b436a58-7297-423f-8410-66c59c69358a" providerId="ADAL" clId="{FF2F8B8C-C30D-4168-9D14-1DD0DEEEE395}" dt="2024-05-08T05:52:05.946" v="24" actId="1076"/>
        <pc:sldMkLst>
          <pc:docMk/>
          <pc:sldMk cId="69403405" sldId="488"/>
        </pc:sldMkLst>
        <pc:picChg chg="mod">
          <ac:chgData name="Mohammad Dakhilallah Mohammad Alahmadi" userId="9b436a58-7297-423f-8410-66c59c69358a" providerId="ADAL" clId="{FF2F8B8C-C30D-4168-9D14-1DD0DEEEE395}" dt="2024-05-08T05:52:05.946" v="24" actId="1076"/>
          <ac:picMkLst>
            <pc:docMk/>
            <pc:sldMk cId="69403405" sldId="488"/>
            <ac:picMk id="3" creationId="{2A002781-409A-B931-0D4A-D2809120270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8B844-FEB7-40E9-8905-10D1181F788D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8F4A1-044F-45DC-A6AA-9EC3247C3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48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C9B6E0E-3217-4A19-A07B-3D01EE0387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FDB8EE8-7C53-490C-9686-35338E0B09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dirty="0"/>
              <a:t>Last Update: 22/8/2019</a:t>
            </a:r>
          </a:p>
          <a:p>
            <a:r>
              <a:rPr lang="en-US" altLang="en-US" dirty="0"/>
              <a:t>Version 1.0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0F0F0F"/>
                </a:solidFill>
                <a:effectLst/>
                <a:latin typeface="Söhne"/>
              </a:rPr>
              <a:t>Non-technical factors encompass changes in user requirements, market conditions, and legal or regulatory developments.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48F4A1-044F-45DC-A6AA-9EC3247C362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82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740" y="3183624"/>
            <a:ext cx="8380520" cy="1922733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8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740" y="5236867"/>
            <a:ext cx="838052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none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2961" y="6646272"/>
            <a:ext cx="1854203" cy="187517"/>
          </a:xfrm>
        </p:spPr>
        <p:txBody>
          <a:bodyPr/>
          <a:lstStyle/>
          <a:p>
            <a:fld id="{03C5C922-B9DD-9745-A816-802923AFBE71}" type="datetime1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646272"/>
            <a:ext cx="3617103" cy="187517"/>
          </a:xfrm>
        </p:spPr>
        <p:txBody>
          <a:bodyPr/>
          <a:lstStyle>
            <a:lvl1pPr>
              <a:defRPr cap="none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381740" y="5106357"/>
            <a:ext cx="8380520" cy="18289"/>
          </a:xfrm>
          <a:prstGeom prst="line">
            <a:avLst/>
          </a:prstGeom>
          <a:ln w="38100">
            <a:solidFill>
              <a:srgbClr val="84CDE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AE1EE2-4846-41F9-AC6B-D9834B0B3586}"/>
              </a:ext>
            </a:extLst>
          </p:cNvPr>
          <p:cNvCxnSpPr>
            <a:cxnSpLocks/>
          </p:cNvCxnSpPr>
          <p:nvPr/>
        </p:nvCxnSpPr>
        <p:spPr>
          <a:xfrm flipV="1">
            <a:off x="9129643" y="1"/>
            <a:ext cx="12147" cy="687476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1AE4F96-0037-4F43-91BD-25588C022845}"/>
              </a:ext>
            </a:extLst>
          </p:cNvPr>
          <p:cNvSpPr/>
          <p:nvPr userDrawn="1"/>
        </p:nvSpPr>
        <p:spPr>
          <a:xfrm>
            <a:off x="-14359" y="6646273"/>
            <a:ext cx="9144000" cy="237744"/>
          </a:xfrm>
          <a:prstGeom prst="rect">
            <a:avLst/>
          </a:prstGeom>
          <a:solidFill>
            <a:srgbClr val="0A4B67"/>
          </a:solidFill>
          <a:ln>
            <a:solidFill>
              <a:srgbClr val="0A4B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BF5B4F-FC83-4FAA-82F0-2510D3F32F49}"/>
              </a:ext>
            </a:extLst>
          </p:cNvPr>
          <p:cNvSpPr/>
          <p:nvPr userDrawn="1"/>
        </p:nvSpPr>
        <p:spPr>
          <a:xfrm>
            <a:off x="-26504" y="6546958"/>
            <a:ext cx="9144001" cy="103220"/>
          </a:xfrm>
          <a:prstGeom prst="rect">
            <a:avLst/>
          </a:prstGeom>
          <a:solidFill>
            <a:srgbClr val="84CDEA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0B8816-EFF8-4E7C-AEC1-987D4EE648F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5932" y="0"/>
            <a:ext cx="3809" cy="685799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B5B64A5-A6D5-4050-BAC4-E246829DF430}"/>
              </a:ext>
            </a:extLst>
          </p:cNvPr>
          <p:cNvCxnSpPr>
            <a:cxnSpLocks/>
          </p:cNvCxnSpPr>
          <p:nvPr userDrawn="1"/>
        </p:nvCxnSpPr>
        <p:spPr>
          <a:xfrm flipV="1">
            <a:off x="-32436" y="8261"/>
            <a:ext cx="9235440" cy="1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1" name="Picture 30" descr="Logo&#10;&#10;Description automatically generated">
            <a:extLst>
              <a:ext uri="{FF2B5EF4-FFF2-40B4-BE49-F238E27FC236}">
                <a16:creationId xmlns:a16="http://schemas.microsoft.com/office/drawing/2014/main" id="{370668AB-6B94-4243-A6A5-4EDC87C8B5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04824" y="46971"/>
            <a:ext cx="3278818" cy="231973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723C23A-9829-0C47-85AC-FD590BD245D5}"/>
              </a:ext>
            </a:extLst>
          </p:cNvPr>
          <p:cNvSpPr txBox="1"/>
          <p:nvPr userDrawn="1"/>
        </p:nvSpPr>
        <p:spPr>
          <a:xfrm>
            <a:off x="185737" y="852895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COLLAGE OF COMPUTER</a:t>
            </a:r>
          </a:p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 SCIENCE &amp; ENGINEERING 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22341BA-F8B4-5440-8DF5-89AF9CF24FED}"/>
              </a:ext>
            </a:extLst>
          </p:cNvPr>
          <p:cNvCxnSpPr>
            <a:cxnSpLocks/>
          </p:cNvCxnSpPr>
          <p:nvPr userDrawn="1"/>
        </p:nvCxnSpPr>
        <p:spPr>
          <a:xfrm flipV="1">
            <a:off x="375762" y="1574983"/>
            <a:ext cx="2926080" cy="468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369ACA3-551E-D542-BD71-4881E6644B70}"/>
              </a:ext>
            </a:extLst>
          </p:cNvPr>
          <p:cNvSpPr txBox="1"/>
          <p:nvPr userDrawn="1"/>
        </p:nvSpPr>
        <p:spPr>
          <a:xfrm>
            <a:off x="-785970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UNIVERSITY OF JEDDAH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2639E4-89B5-1D49-B470-747E56896B62}"/>
              </a:ext>
            </a:extLst>
          </p:cNvPr>
          <p:cNvSpPr txBox="1"/>
          <p:nvPr userDrawn="1"/>
        </p:nvSpPr>
        <p:spPr>
          <a:xfrm>
            <a:off x="5679447" y="865829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كــلـــية عــلــــــــــوم </a:t>
            </a:r>
          </a:p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و هـنــدســـة الحـــــــاســــب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F4847C-B76C-6846-8360-9D2AD3FA67B2}"/>
              </a:ext>
            </a:extLst>
          </p:cNvPr>
          <p:cNvSpPr txBox="1"/>
          <p:nvPr userDrawn="1"/>
        </p:nvSpPr>
        <p:spPr>
          <a:xfrm>
            <a:off x="4782824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جــــامعـــة جــــــــــــــدة </a:t>
            </a:r>
            <a:endParaRPr lang="en-US" sz="1300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3D420C2-74C6-E448-ABF8-408E3C156421}"/>
              </a:ext>
            </a:extLst>
          </p:cNvPr>
          <p:cNvCxnSpPr>
            <a:cxnSpLocks/>
          </p:cNvCxnSpPr>
          <p:nvPr userDrawn="1"/>
        </p:nvCxnSpPr>
        <p:spPr>
          <a:xfrm>
            <a:off x="5770786" y="1573715"/>
            <a:ext cx="301752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83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B66AD-B9AD-6E48-A7F8-A3C7D94EDF8F}" type="datetime1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4CDEA"/>
              </a:buClr>
              <a:defRPr sz="2600">
                <a:solidFill>
                  <a:srgbClr val="565351"/>
                </a:solidFill>
              </a:defRPr>
            </a:lvl1pPr>
            <a:lvl2pPr>
              <a:buClr>
                <a:srgbClr val="565351"/>
              </a:buClr>
              <a:defRPr>
                <a:solidFill>
                  <a:srgbClr val="565351"/>
                </a:solidFill>
              </a:defRPr>
            </a:lvl2pPr>
            <a:lvl3pPr marL="73152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3pPr>
            <a:lvl4pPr marL="91440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4pPr>
            <a:lvl5pPr marL="109728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4559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CC06-C7D4-1747-9BAC-5ADF6973C413}" type="datetime1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8A6B1"/>
              </a:buClr>
              <a:defRPr sz="2600">
                <a:solidFill>
                  <a:srgbClr val="88A6B1"/>
                </a:solidFill>
              </a:defRPr>
            </a:lvl1pPr>
            <a:lvl2pPr>
              <a:buClr>
                <a:srgbClr val="88A6B1"/>
              </a:buClr>
              <a:defRPr>
                <a:solidFill>
                  <a:srgbClr val="88A6B1"/>
                </a:solidFill>
              </a:defRPr>
            </a:lvl2pPr>
            <a:lvl3pPr marL="73152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3pPr>
            <a:lvl4pPr marL="91440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4pPr>
            <a:lvl5pPr marL="109728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9183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6C63C-7E12-D040-9BFC-CED05FF7D470}" type="datetime1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4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87DC-EF00-9844-8C8C-DB85411C810C}" type="datetime1">
              <a:rPr lang="en-US" smtClean="0"/>
              <a:t>5/8/2024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8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5C23F-C598-3F49-9FE3-6071741BE353}" type="datetime1">
              <a:rPr lang="en-US" smtClean="0"/>
              <a:t>5/8/2024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3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6BD12-5D01-AB4B-A157-4C071A505070}" type="datetime1">
              <a:rPr lang="en-US" smtClean="0"/>
              <a:t>5/8/2024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58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D1259-9E66-E241-B0DB-D3144AF5C20E}" type="datetime1">
              <a:rPr lang="en-US" smtClean="0"/>
              <a:t>5/8/2024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2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F509-0EC8-5246-80F7-C95CE727AFCC}" type="datetime1">
              <a:rPr lang="en-US" smtClean="0"/>
              <a:t>5/8/2024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215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rgbClr val="0A4B67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6CBA62D3-B106-3146-B5B5-E66A18E804C2}" type="datetime1">
              <a:rPr lang="en-US" smtClean="0"/>
              <a:t>5/8/2024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3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8B15B-E63B-A741-9DEA-9AA37D2B7DBF}" type="datetime1">
              <a:rPr lang="en-US" smtClean="0"/>
              <a:t>5/8/2024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510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9117-AA99-A343-9D72-6FCA37B5BE17}" type="datetime1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78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44E2-60F2-DF46-A244-D7B3522DD83D}" type="datetime1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73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5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C5D66-23E7-0C4F-8B0A-A1C9C050780A}" type="datetime1">
              <a:rPr lang="en-US" smtClean="0"/>
              <a:t>5/8/2024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91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CB30-1A6D-2E42-BCC5-3E80F21AA084}" type="datetime1">
              <a:rPr lang="en-US" smtClean="0"/>
              <a:t>5/8/2024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187854B-FEC4-4BF8-A3DE-39B0F5014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3200">
                <a:solidFill>
                  <a:schemeClr val="tx2"/>
                </a:solidFill>
                <a:latin typeface="+mj-lt"/>
              </a:defRPr>
            </a:lvl1pPr>
            <a:lvl2pPr marL="54864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+mj-lt"/>
              </a:defRPr>
            </a:lvl2pPr>
            <a:lvl3pPr marL="73152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3pPr>
            <a:lvl4pPr marL="91440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4pPr>
            <a:lvl5pPr marL="109728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0302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9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CBF6-F73E-B844-90B5-BA38F3F93D1B}" type="datetime1">
              <a:rPr lang="en-US" smtClean="0"/>
              <a:t>5/8/2024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3D2542-5A33-4E2C-863D-145C35640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99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CE842-8249-8A43-8E1B-D93301EA5234}" type="datetime1">
              <a:rPr lang="en-US" smtClean="0"/>
              <a:t>5/8/2024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9EAA3A6-8930-4E04-BD7A-70348C3D3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98352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6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75E8-E6D9-3E42-B3C2-280D09D847BE}" type="datetime1">
              <a:rPr lang="en-US" smtClean="0"/>
              <a:t>5/8/2024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E125C-DA19-42DA-8C07-FA8039F51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238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7F6D-1FE4-8A49-840F-5919ACFA3FD0}" type="datetime1">
              <a:rPr lang="en-US" smtClean="0"/>
              <a:t>5/8/2024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8729288-CC54-4647-B966-CF553EF13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83427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7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A0CE7-1A78-B749-A181-0CB124262D26}" type="datetime1">
              <a:rPr lang="en-US" smtClean="0"/>
              <a:t>5/8/2024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FF6332-602A-4C2A-BD1E-7565ECDF5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36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EB7BC-403A-8A44-A663-FD167E87AE44}" type="datetime1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0665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5E94D-AB62-E84E-A49C-DD6A8F51C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548DE-348F-0D44-8485-97F299E58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26162-1B8D-B748-8A10-BD7FD12FE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7B2BE-DDF3-6D43-A226-4CE36737DFF8}" type="datetime1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D9D1D-9864-8648-83E4-1D8B62B21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507A0-C8CD-5445-9AEE-B23C377C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90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B906-B07C-7D41-AC4D-750B959C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D5779-8D81-7849-8E67-83ECBF60F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AA4F1-7B19-0240-B7F8-1BDF7D63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A88B-F2DD-3743-8F57-25E5E92043B0}" type="datetime1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14F5D-4D50-5A4A-91C9-B5B4F1451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2065B-EF6D-5B4A-8E62-EAFF67B71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125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BE47D-172F-034A-8698-73581C85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A576A-13DD-034D-9029-CC506C79F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4F2D7-B746-2842-8F52-519E07CF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A15C4-E8CB-C04F-BC65-CB0837703214}" type="datetime1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E68B1-5017-E64D-9D8C-C1341A22E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262E6-3D1E-2D4B-B7BC-0A7197BA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49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806B-ED8B-CC4E-A51A-6CDCADC96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99E7B-D87E-CA4D-A578-EBDC0C47E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F5550-A328-154E-8FA0-3793746FB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D10-64BB-9144-9B71-07151AB5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89F18-38DA-0947-9593-25D4010703FB}" type="datetime1">
              <a:rPr lang="en-US" smtClean="0"/>
              <a:t>5/8/2024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7A753-FB3D-094E-A536-0484A8BE2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A6079-FE42-C140-9B28-ED67471AE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8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784D0-75F5-CD41-9AEF-CB198A0D9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D959F-E739-F542-8EBA-7BBF7E5A3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5DF34-2D6B-454C-BFDA-F81C29E78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58768-2FB0-D847-83EE-654C76812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27B69-16F8-C048-9335-D0E599CA2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E98362-01EA-604E-BA80-BC012B7FA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A19EE-DABD-FF45-9B3D-868C2008B2F5}" type="datetime1">
              <a:rPr lang="en-US" smtClean="0"/>
              <a:t>5/8/2024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58B9EA-23BB-BD43-AE55-BD94F3A70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7FEF2B-07B5-9C42-B58D-B5FF51C4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097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ACC87-431B-E24A-86AB-554B550FA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090D8-3391-5741-87F5-2BCDB899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8DD7-86D3-9543-A3F5-DCAC5C3EC996}" type="datetime1">
              <a:rPr lang="en-US" smtClean="0"/>
              <a:t>5/8/2024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09D265-B6E2-2540-8068-45F6C7B8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30A8C-D91D-2A49-8733-39D5374D6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768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29DEDE-71EE-4448-AE52-7A3240E24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38251-72EC-7341-947D-39CD70D3F6EE}" type="datetime1">
              <a:rPr lang="en-US" smtClean="0"/>
              <a:t>5/8/2024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F8A0A-B7DA-2E41-ADC9-3BA00052C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DFF72-3DFA-5443-B19A-D882B4A1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6097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B2A5-8463-0E45-B968-09BB46EEE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2249-8B24-044B-B428-FDF532694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5850F-41D2-C244-BE67-588A22885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A0BA6-7607-1841-ADE7-A7EE86263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51BF-94DA-6647-804B-F9A617163AF7}" type="datetime1">
              <a:rPr lang="en-US" smtClean="0"/>
              <a:t>5/8/2024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0F34D-E7B8-8F4E-B279-A9B4F799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03CD8-B992-1746-AD26-32A76C362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867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8A51-10EF-1E4E-B3AE-97D9690F5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7A29CC-C524-664A-B04C-24A0F0002B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77383-80F2-974A-95B0-54EE043F0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4A7CE-0B2C-F846-AE0D-E9A65F195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5CF65-8B95-E947-B306-AD8B9AFCD0C6}" type="datetime1">
              <a:rPr lang="en-US" smtClean="0"/>
              <a:t>5/8/2024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00DF7-CAE7-4544-99A8-D2AFF7BC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F912A-35AA-5340-A6DD-8CF8567A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0032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B558E-261E-0D48-AAEC-0159545C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54A8B-8EB9-5C42-9CFC-A1CD5690D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FD7EA-1D89-9B45-8E3B-F3D971FCC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326F1-4A6C-904D-BBF5-55A97190C62E}" type="datetime1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2F157-B4BF-0D4E-B227-367844B9F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C4DCA-8C92-2F4C-A77F-2E1AE3CF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632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138E10-25D9-0841-B84C-B3D5BD26B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76578-CBA7-4146-881E-E79B34110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4126B-1DBB-F445-849E-8DB3041D5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2DA29-4527-5B4B-81DE-1DA58A1FF0D8}" type="datetime1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0BA6C-D326-CC45-B516-B35C216BC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96C6D-88A9-424F-B97B-5F788E3BD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43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646272"/>
            <a:ext cx="9144001" cy="220605"/>
          </a:xfrm>
          <a:prstGeom prst="rect">
            <a:avLst/>
          </a:prstGeom>
          <a:solidFill>
            <a:srgbClr val="0A4B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604458"/>
            <a:ext cx="9144001" cy="45719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1292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646272"/>
            <a:ext cx="18542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446D974-CBC7-EE4D-B60D-B7706E54EFC8}" type="datetime1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646272"/>
            <a:ext cx="36171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cap="none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646272"/>
            <a:ext cx="984019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09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50" r:id="rId14"/>
    <p:sldLayoutId id="2147483751" r:id="rId15"/>
    <p:sldLayoutId id="2147483752" r:id="rId16"/>
    <p:sldLayoutId id="2147483753" r:id="rId17"/>
    <p:sldLayoutId id="2147483754" r:id="rId18"/>
    <p:sldLayoutId id="2147483755" r:id="rId19"/>
    <p:sldLayoutId id="2147483756" r:id="rId20"/>
    <p:sldLayoutId id="2147483689" r:id="rId21"/>
  </p:sldLayoutIdLst>
  <p:hf hdr="0" ft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400" b="0" kern="1200" spc="-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74320" algn="justLow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73152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1440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9728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F2B942-B92A-2E45-8EC0-57867F6F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A5CF6-438F-FE41-AE0D-B759171B0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DD81B-544C-D244-83E4-4E486AE7E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89413-073D-8B47-B309-030A36FC1175}" type="datetime1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8B353-9F5D-7C4C-9D19-B7C6D6F6A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C5F08-BBA1-684A-BFC9-EF43E5A8A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71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F092033-53A0-4557-BC8C-EDF7C4004F5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schemeClr val="tx1"/>
                </a:solidFill>
              </a:rPr>
              <a:t>Chapter  7</a:t>
            </a:r>
            <a:br>
              <a:rPr lang="en-US" altLang="en-US" b="1" dirty="0">
                <a:solidFill>
                  <a:schemeClr val="tx1"/>
                </a:solidFill>
                <a:cs typeface="Calibri Light"/>
              </a:rPr>
            </a:br>
            <a:r>
              <a:rPr lang="en-US" sz="4800" b="1" dirty="0">
                <a:solidFill>
                  <a:prstClr val="black"/>
                </a:solidFill>
              </a:rPr>
              <a:t>Software Maintenance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4099" name="Subtitle 3">
            <a:extLst>
              <a:ext uri="{FF2B5EF4-FFF2-40B4-BE49-F238E27FC236}">
                <a16:creationId xmlns:a16="http://schemas.microsoft.com/office/drawing/2014/main" id="{B6B8808F-B611-4A7E-94DA-CDF020C7794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E96A2"/>
                </a:solidFill>
              </a:rPr>
              <a:t>CCSW 325 (Software Construction)</a:t>
            </a:r>
          </a:p>
        </p:txBody>
      </p:sp>
      <p:sp>
        <p:nvSpPr>
          <p:cNvPr id="4101" name="Rectangle 6">
            <a:extLst>
              <a:ext uri="{FF2B5EF4-FFF2-40B4-BE49-F238E27FC236}">
                <a16:creationId xmlns:a16="http://schemas.microsoft.com/office/drawing/2014/main" id="{AEE57C53-6C77-4FD6-9666-64A46DD29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763" y="2057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2" name="Rectangle 1029">
            <a:extLst>
              <a:ext uri="{FF2B5EF4-FFF2-40B4-BE49-F238E27FC236}">
                <a16:creationId xmlns:a16="http://schemas.microsoft.com/office/drawing/2014/main" id="{94F01EDA-3993-4F5B-8338-A155D7163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5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3" name="Rectangle 1031">
            <a:extLst>
              <a:ext uri="{FF2B5EF4-FFF2-40B4-BE49-F238E27FC236}">
                <a16:creationId xmlns:a16="http://schemas.microsoft.com/office/drawing/2014/main" id="{D4B57B18-3F97-4D1E-AA13-041A7DDAE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63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F2176-6175-6A4D-84ED-59A2EE053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Outline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2</a:t>
            </a:fld>
            <a:endParaRPr lang="en-US" sz="7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BD703-CB40-13F3-AF07-698E2629F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829" y="1234281"/>
            <a:ext cx="8418285" cy="4389437"/>
          </a:xfrm>
        </p:spPr>
        <p:txBody>
          <a:bodyPr/>
          <a:lstStyle/>
          <a:p>
            <a:pPr marL="273050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>
                <a:tab pos="199073" algn="l"/>
              </a:tabLst>
            </a:pPr>
            <a:r>
              <a:rPr lang="en-US" sz="2800" spc="-8" dirty="0">
                <a:solidFill>
                  <a:schemeClr val="tx1"/>
                </a:solidFill>
                <a:cs typeface="Calibri"/>
              </a:rPr>
              <a:t>Software maintenance </a:t>
            </a:r>
          </a:p>
          <a:p>
            <a:pPr marL="273050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>
                <a:tab pos="199073" algn="l"/>
              </a:tabLst>
            </a:pPr>
            <a:endParaRPr lang="en-GB" sz="2800" dirty="0">
              <a:solidFill>
                <a:schemeClr val="tx1"/>
              </a:solidFill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0404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pPr algn="ctr" defTabSz="914400" rtl="1" eaLnBrk="1" latinLnBrk="0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en-US" sz="4400" b="1" dirty="0">
                <a:solidFill>
                  <a:schemeClr val="tx1"/>
                </a:solidFill>
              </a:rPr>
              <a:t>Software Maintenance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3</a:t>
            </a:fld>
            <a:endParaRPr lang="en-US" sz="70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D4BAEF2-7364-3F83-DA6E-176B7E1DA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829" y="1234281"/>
            <a:ext cx="8418285" cy="4389437"/>
          </a:xfrm>
        </p:spPr>
        <p:txBody>
          <a:bodyPr/>
          <a:lstStyle/>
          <a:p>
            <a:pPr marL="199073" indent="-188595">
              <a:spcBef>
                <a:spcPts val="615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Modifying a program after it has been </a:t>
            </a:r>
            <a:r>
              <a:rPr lang="en-US" sz="2800" u="sng" spc="-8" dirty="0">
                <a:solidFill>
                  <a:schemeClr val="tx1"/>
                </a:solidFill>
                <a:latin typeface="+mn-lt"/>
                <a:cs typeface="Calibri"/>
              </a:rPr>
              <a:t>put into use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.</a:t>
            </a:r>
          </a:p>
        </p:txBody>
      </p:sp>
      <p:pic>
        <p:nvPicPr>
          <p:cNvPr id="2" name="Picture 2" descr="7 Ways to Improve Software Maintenance - InformationWeek">
            <a:extLst>
              <a:ext uri="{FF2B5EF4-FFF2-40B4-BE49-F238E27FC236}">
                <a16:creationId xmlns:a16="http://schemas.microsoft.com/office/drawing/2014/main" id="{D768A0CF-71C3-7C60-1D6E-8F139F487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28271" y="1829244"/>
            <a:ext cx="6629400" cy="440604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97704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Software Maintenance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4</a:t>
            </a:fld>
            <a:endParaRPr lang="en-US" sz="70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5498236D-50AE-CE4D-A580-2AF3A83BA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829" y="1234281"/>
            <a:ext cx="8418285" cy="4389437"/>
          </a:xfrm>
        </p:spPr>
        <p:txBody>
          <a:bodyPr/>
          <a:lstStyle/>
          <a:p>
            <a:pPr marL="199073" marR="468868" indent="-188595">
              <a:spcBef>
                <a:spcPts val="912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600" spc="-8" dirty="0">
                <a:solidFill>
                  <a:schemeClr val="tx1"/>
                </a:solidFill>
                <a:latin typeface="+mn-lt"/>
                <a:cs typeface="Calibri"/>
              </a:rPr>
              <a:t>Maintenance does not normally involve major changes to the system’s architecture.</a:t>
            </a:r>
          </a:p>
          <a:p>
            <a:pPr marL="656273" marR="4191" lvl="1" indent="-188595">
              <a:spcBef>
                <a:spcPts val="829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400" spc="-8" dirty="0">
                <a:solidFill>
                  <a:schemeClr val="tx1"/>
                </a:solidFill>
                <a:latin typeface="+mn-lt"/>
                <a:cs typeface="Calibri"/>
              </a:rPr>
              <a:t>Changes are implemented by modifying existing components and adding new components to the system.</a:t>
            </a:r>
          </a:p>
        </p:txBody>
      </p:sp>
      <p:pic>
        <p:nvPicPr>
          <p:cNvPr id="4" name="Picture 2" descr="software Archives - MyHomebase.NL Blog">
            <a:extLst>
              <a:ext uri="{FF2B5EF4-FFF2-40B4-BE49-F238E27FC236}">
                <a16:creationId xmlns:a16="http://schemas.microsoft.com/office/drawing/2014/main" id="{99447266-2A32-1DB3-6DC1-95D1D3787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1331" y="3064871"/>
            <a:ext cx="7601338" cy="35814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10758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Types of Maintenance 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  <a:p>
            <a:pPr marL="9144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5</a:t>
            </a:fld>
            <a:endParaRPr lang="en-US" sz="70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0E6E638-B2BE-75CE-F728-FD5CB27E87C0}"/>
              </a:ext>
            </a:extLst>
          </p:cNvPr>
          <p:cNvSpPr txBox="1">
            <a:spLocks/>
          </p:cNvSpPr>
          <p:nvPr/>
        </p:nvSpPr>
        <p:spPr>
          <a:xfrm>
            <a:off x="333830" y="1234281"/>
            <a:ext cx="5260682" cy="4389437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9073" indent="-188595" algn="just">
              <a:spcBef>
                <a:spcPts val="289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400" b="1" spc="-12" dirty="0">
                <a:solidFill>
                  <a:schemeClr val="tx1"/>
                </a:solidFill>
                <a:latin typeface="Calibri"/>
                <a:cs typeface="Calibri"/>
              </a:rPr>
              <a:t>Fault</a:t>
            </a:r>
            <a:r>
              <a:rPr lang="en-US" sz="2400" b="1" spc="-37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400" b="1" spc="-8" dirty="0">
                <a:solidFill>
                  <a:schemeClr val="tx1"/>
                </a:solidFill>
                <a:latin typeface="Calibri"/>
                <a:cs typeface="Calibri"/>
              </a:rPr>
              <a:t>repairs</a:t>
            </a:r>
            <a:endParaRPr lang="en-US" sz="24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576263" marR="4191" lvl="1" indent="-188595" algn="just">
              <a:spcBef>
                <a:spcPts val="362"/>
              </a:spcBef>
              <a:buFont typeface="Arial"/>
              <a:buChar char="•"/>
              <a:tabLst>
                <a:tab pos="575739" algn="l"/>
                <a:tab pos="576263" algn="l"/>
              </a:tabLst>
            </a:pPr>
            <a:r>
              <a:rPr lang="en-US" sz="2000" spc="-4" dirty="0">
                <a:solidFill>
                  <a:schemeClr val="tx1"/>
                </a:solidFill>
                <a:latin typeface="Calibri"/>
                <a:cs typeface="Calibri"/>
              </a:rPr>
              <a:t>Changing</a:t>
            </a:r>
            <a:r>
              <a:rPr lang="en-US" sz="2000" spc="-8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a </a:t>
            </a:r>
            <a:r>
              <a:rPr lang="en-US" sz="2000" spc="-17" dirty="0">
                <a:solidFill>
                  <a:schemeClr val="tx1"/>
                </a:solidFill>
                <a:latin typeface="Calibri"/>
                <a:cs typeface="Calibri"/>
              </a:rPr>
              <a:t>system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spc="-8" dirty="0">
                <a:solidFill>
                  <a:schemeClr val="tx1"/>
                </a:solidFill>
                <a:latin typeface="Calibri"/>
                <a:cs typeface="Calibri"/>
              </a:rPr>
              <a:t>to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fix</a:t>
            </a:r>
            <a:r>
              <a:rPr lang="en-US" sz="2000" spc="-8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spc="-4" dirty="0">
                <a:solidFill>
                  <a:schemeClr val="tx1"/>
                </a:solidFill>
                <a:latin typeface="Calibri"/>
                <a:cs typeface="Calibri"/>
              </a:rPr>
              <a:t>bugs/vulnerabilities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spc="-4" dirty="0">
                <a:solidFill>
                  <a:schemeClr val="tx1"/>
                </a:solidFill>
                <a:latin typeface="Calibri"/>
                <a:cs typeface="Calibri"/>
              </a:rPr>
              <a:t>and </a:t>
            </a:r>
            <a:r>
              <a:rPr lang="en-US" sz="2000" spc="-8" dirty="0">
                <a:solidFill>
                  <a:schemeClr val="tx1"/>
                </a:solidFill>
                <a:latin typeface="Calibri"/>
                <a:cs typeface="Calibri"/>
              </a:rPr>
              <a:t>correct </a:t>
            </a:r>
            <a:r>
              <a:rPr lang="en-US" sz="2000" spc="-363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spc="-4" dirty="0">
                <a:solidFill>
                  <a:schemeClr val="tx1"/>
                </a:solidFill>
                <a:latin typeface="Calibri"/>
                <a:cs typeface="Calibri"/>
              </a:rPr>
              <a:t>deficiencies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 in</a:t>
            </a:r>
            <a:r>
              <a:rPr lang="en-US" sz="2000" spc="-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the </a:t>
            </a:r>
            <a:r>
              <a:rPr lang="en-US" sz="2000" spc="-21" dirty="0">
                <a:solidFill>
                  <a:schemeClr val="tx1"/>
                </a:solidFill>
                <a:latin typeface="Calibri"/>
                <a:cs typeface="Calibri"/>
              </a:rPr>
              <a:t>way</a:t>
            </a:r>
            <a:r>
              <a:rPr lang="en-US" sz="2000" spc="-4" dirty="0">
                <a:solidFill>
                  <a:schemeClr val="tx1"/>
                </a:solidFill>
                <a:latin typeface="Calibri"/>
                <a:cs typeface="Calibri"/>
              </a:rPr>
              <a:t> meets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 its </a:t>
            </a:r>
            <a:r>
              <a:rPr lang="en-US" sz="2000" spc="-8" dirty="0">
                <a:solidFill>
                  <a:schemeClr val="tx1"/>
                </a:solidFill>
                <a:latin typeface="Calibri"/>
                <a:cs typeface="Calibri"/>
              </a:rPr>
              <a:t>requirements.</a:t>
            </a:r>
            <a:endParaRPr lang="en-US" sz="20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199073" indent="-188595" algn="just">
              <a:spcBef>
                <a:spcPts val="545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400" b="1" spc="-8" dirty="0">
                <a:solidFill>
                  <a:schemeClr val="tx1"/>
                </a:solidFill>
                <a:latin typeface="Calibri"/>
                <a:cs typeface="Calibri"/>
              </a:rPr>
              <a:t>Environmental</a:t>
            </a:r>
            <a:r>
              <a:rPr lang="en-US" sz="2400" b="1" spc="-33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400" b="1" spc="-8" dirty="0">
                <a:solidFill>
                  <a:schemeClr val="tx1"/>
                </a:solidFill>
                <a:latin typeface="Calibri"/>
                <a:cs typeface="Calibri"/>
              </a:rPr>
              <a:t>adaptation</a:t>
            </a:r>
            <a:endParaRPr lang="en-US" sz="24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576263" marR="89059" lvl="1" indent="-188595" algn="just">
              <a:spcBef>
                <a:spcPts val="362"/>
              </a:spcBef>
              <a:buFont typeface="Arial"/>
              <a:buChar char="•"/>
              <a:tabLst>
                <a:tab pos="575739" algn="l"/>
                <a:tab pos="576263" algn="l"/>
              </a:tabLst>
            </a:pPr>
            <a:r>
              <a:rPr lang="en-US" sz="2000" spc="-4" dirty="0">
                <a:solidFill>
                  <a:schemeClr val="tx1"/>
                </a:solidFill>
                <a:latin typeface="Calibri"/>
                <a:cs typeface="Calibri"/>
              </a:rPr>
              <a:t>Maintenance </a:t>
            </a:r>
            <a:r>
              <a:rPr lang="en-US" sz="2000" spc="-8" dirty="0">
                <a:solidFill>
                  <a:schemeClr val="tx1"/>
                </a:solidFill>
                <a:latin typeface="Calibri"/>
                <a:cs typeface="Calibri"/>
              </a:rPr>
              <a:t>to </a:t>
            </a:r>
            <a:r>
              <a:rPr lang="en-US" sz="2000" spc="-4" dirty="0">
                <a:solidFill>
                  <a:schemeClr val="tx1"/>
                </a:solidFill>
                <a:latin typeface="Calibri"/>
                <a:cs typeface="Calibri"/>
              </a:rPr>
              <a:t>adapt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spc="-8" dirty="0">
                <a:solidFill>
                  <a:schemeClr val="tx1"/>
                </a:solidFill>
                <a:latin typeface="Calibri"/>
                <a:cs typeface="Calibri"/>
              </a:rPr>
              <a:t>software</a:t>
            </a:r>
            <a:r>
              <a:rPr lang="en-US" sz="2000" spc="-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spc="-8" dirty="0">
                <a:solidFill>
                  <a:schemeClr val="tx1"/>
                </a:solidFill>
                <a:latin typeface="Calibri"/>
                <a:cs typeface="Calibri"/>
              </a:rPr>
              <a:t>to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a </a:t>
            </a:r>
            <a:r>
              <a:rPr lang="en-US" sz="2000" spc="-12" dirty="0">
                <a:solidFill>
                  <a:schemeClr val="tx1"/>
                </a:solidFill>
                <a:latin typeface="Calibri"/>
                <a:cs typeface="Calibri"/>
              </a:rPr>
              <a:t>different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spc="-8" dirty="0">
                <a:solidFill>
                  <a:schemeClr val="tx1"/>
                </a:solidFill>
                <a:latin typeface="Calibri"/>
                <a:cs typeface="Calibri"/>
              </a:rPr>
              <a:t>operating </a:t>
            </a:r>
            <a:r>
              <a:rPr lang="en-US" sz="2000" spc="-363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spc="-8" dirty="0">
                <a:solidFill>
                  <a:schemeClr val="tx1"/>
                </a:solidFill>
                <a:latin typeface="Calibri"/>
                <a:cs typeface="Calibri"/>
              </a:rPr>
              <a:t>environment</a:t>
            </a:r>
            <a:endParaRPr lang="en-US" sz="20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576263" marR="490871" lvl="1" indent="-188595" algn="just">
              <a:spcBef>
                <a:spcPts val="429"/>
              </a:spcBef>
              <a:buFont typeface="Arial"/>
              <a:buChar char="•"/>
              <a:tabLst>
                <a:tab pos="575739" algn="l"/>
                <a:tab pos="576263" algn="l"/>
              </a:tabLst>
            </a:pPr>
            <a:r>
              <a:rPr lang="en-US" sz="2000" spc="-4" dirty="0">
                <a:solidFill>
                  <a:schemeClr val="tx1"/>
                </a:solidFill>
                <a:latin typeface="Calibri"/>
                <a:cs typeface="Calibri"/>
              </a:rPr>
              <a:t>Changing</a:t>
            </a:r>
            <a:r>
              <a:rPr lang="en-US" sz="2000" spc="-12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a </a:t>
            </a:r>
            <a:r>
              <a:rPr lang="en-US" sz="2000" spc="-17" dirty="0">
                <a:solidFill>
                  <a:schemeClr val="tx1"/>
                </a:solidFill>
                <a:latin typeface="Calibri"/>
                <a:cs typeface="Calibri"/>
              </a:rPr>
              <a:t>system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 so</a:t>
            </a:r>
            <a:r>
              <a:rPr lang="en-US" sz="2000" spc="-8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spc="-4" dirty="0">
                <a:solidFill>
                  <a:schemeClr val="tx1"/>
                </a:solidFill>
                <a:latin typeface="Calibri"/>
                <a:cs typeface="Calibri"/>
              </a:rPr>
              <a:t>that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it </a:t>
            </a:r>
            <a:r>
              <a:rPr lang="en-US" sz="2000" spc="-12" dirty="0">
                <a:solidFill>
                  <a:schemeClr val="tx1"/>
                </a:solidFill>
                <a:latin typeface="Calibri"/>
                <a:cs typeface="Calibri"/>
              </a:rPr>
              <a:t>operates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 in</a:t>
            </a:r>
            <a:r>
              <a:rPr lang="en-US" sz="2000" spc="-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a </a:t>
            </a:r>
            <a:r>
              <a:rPr lang="en-US" sz="2000" spc="-12" dirty="0">
                <a:solidFill>
                  <a:schemeClr val="tx1"/>
                </a:solidFill>
                <a:latin typeface="Calibri"/>
                <a:cs typeface="Calibri"/>
              </a:rPr>
              <a:t>different </a:t>
            </a:r>
            <a:r>
              <a:rPr lang="en-US" sz="2000" spc="-363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spc="-8" dirty="0">
                <a:solidFill>
                  <a:schemeClr val="tx1"/>
                </a:solidFill>
                <a:latin typeface="Calibri"/>
                <a:cs typeface="Calibri"/>
              </a:rPr>
              <a:t>environment</a:t>
            </a:r>
            <a:r>
              <a:rPr lang="en-US" sz="2000" spc="-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spc="-21" dirty="0">
                <a:solidFill>
                  <a:schemeClr val="tx1"/>
                </a:solidFill>
                <a:latin typeface="Calibri"/>
                <a:cs typeface="Calibri"/>
              </a:rPr>
              <a:t>(computer,</a:t>
            </a:r>
            <a:r>
              <a:rPr lang="en-US" sz="2000" spc="-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OS,</a:t>
            </a:r>
            <a:r>
              <a:rPr lang="en-US" sz="2000" spc="-8" dirty="0">
                <a:solidFill>
                  <a:schemeClr val="tx1"/>
                </a:solidFill>
                <a:latin typeface="Calibri"/>
                <a:cs typeface="Calibri"/>
              </a:rPr>
              <a:t> etc.)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spc="-8" dirty="0">
                <a:solidFill>
                  <a:schemeClr val="tx1"/>
                </a:solidFill>
                <a:latin typeface="Calibri"/>
                <a:cs typeface="Calibri"/>
              </a:rPr>
              <a:t>from</a:t>
            </a:r>
            <a:r>
              <a:rPr lang="en-US" sz="2000" spc="-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its initial </a:t>
            </a:r>
            <a:r>
              <a:rPr lang="en-US" sz="2000" spc="-4" dirty="0">
                <a:solidFill>
                  <a:schemeClr val="tx1"/>
                </a:solidFill>
                <a:latin typeface="Calibri"/>
                <a:cs typeface="Calibri"/>
              </a:rPr>
              <a:t>implementation.</a:t>
            </a:r>
            <a:endParaRPr lang="en-US" sz="20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199073" indent="-188595" algn="just">
              <a:spcBef>
                <a:spcPts val="578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400" b="1" spc="-4" dirty="0">
                <a:solidFill>
                  <a:schemeClr val="tx1"/>
                </a:solidFill>
                <a:latin typeface="Calibri"/>
                <a:cs typeface="Calibri"/>
              </a:rPr>
              <a:t>Functionality addition</a:t>
            </a:r>
            <a:r>
              <a:rPr lang="en-US" sz="2400" b="1" spc="-8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400" b="1" spc="-4" dirty="0">
                <a:solidFill>
                  <a:schemeClr val="tx1"/>
                </a:solidFill>
                <a:latin typeface="Calibri"/>
                <a:cs typeface="Calibri"/>
              </a:rPr>
              <a:t>and </a:t>
            </a:r>
            <a:r>
              <a:rPr lang="en-US" sz="2400" b="1" spc="-8" dirty="0">
                <a:solidFill>
                  <a:schemeClr val="tx1"/>
                </a:solidFill>
                <a:latin typeface="Calibri"/>
                <a:cs typeface="Calibri"/>
              </a:rPr>
              <a:t>modification</a:t>
            </a:r>
            <a:endParaRPr lang="en-US" sz="24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576263" marR="1137333" lvl="1" indent="-188595" algn="just">
              <a:spcBef>
                <a:spcPts val="512"/>
              </a:spcBef>
              <a:buFont typeface="Arial"/>
              <a:buChar char="•"/>
              <a:tabLst>
                <a:tab pos="576263" algn="l"/>
              </a:tabLst>
            </a:pPr>
            <a:r>
              <a:rPr lang="en-US" sz="2000" spc="-4" dirty="0">
                <a:solidFill>
                  <a:schemeClr val="tx1"/>
                </a:solidFill>
                <a:latin typeface="Calibri"/>
                <a:cs typeface="Calibri"/>
              </a:rPr>
              <a:t>Modifying</a:t>
            </a:r>
            <a:r>
              <a:rPr lang="en-US" sz="2000" spc="-12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spc="-4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spc="-21" dirty="0">
                <a:solidFill>
                  <a:schemeClr val="tx1"/>
                </a:solidFill>
                <a:latin typeface="Calibri"/>
                <a:cs typeface="Calibri"/>
              </a:rPr>
              <a:t>system</a:t>
            </a:r>
            <a:r>
              <a:rPr lang="en-US" sz="2000" spc="-12" dirty="0">
                <a:solidFill>
                  <a:schemeClr val="tx1"/>
                </a:solidFill>
                <a:latin typeface="Calibri"/>
                <a:cs typeface="Calibri"/>
              </a:rPr>
              <a:t> to</a:t>
            </a:r>
            <a:r>
              <a:rPr lang="en-US" sz="2000" spc="-8" dirty="0">
                <a:solidFill>
                  <a:schemeClr val="tx1"/>
                </a:solidFill>
                <a:latin typeface="Calibri"/>
                <a:cs typeface="Calibri"/>
              </a:rPr>
              <a:t> satisfy</a:t>
            </a:r>
            <a:r>
              <a:rPr lang="en-US" sz="2000" spc="-4" dirty="0">
                <a:solidFill>
                  <a:schemeClr val="tx1"/>
                </a:solidFill>
                <a:latin typeface="Calibri"/>
                <a:cs typeface="Calibri"/>
              </a:rPr>
              <a:t> new </a:t>
            </a:r>
            <a:r>
              <a:rPr lang="en-US" sz="2000" spc="-437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000" spc="-8" dirty="0">
                <a:solidFill>
                  <a:schemeClr val="tx1"/>
                </a:solidFill>
                <a:latin typeface="Calibri"/>
                <a:cs typeface="Calibri"/>
              </a:rPr>
              <a:t>requirements.</a:t>
            </a:r>
            <a:endParaRPr lang="en-US" sz="2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grpSp>
        <p:nvGrpSpPr>
          <p:cNvPr id="2" name="object 4">
            <a:extLst>
              <a:ext uri="{FF2B5EF4-FFF2-40B4-BE49-F238E27FC236}">
                <a16:creationId xmlns:a16="http://schemas.microsoft.com/office/drawing/2014/main" id="{CCC0B840-6083-71F1-0484-13F45D68D505}"/>
              </a:ext>
            </a:extLst>
          </p:cNvPr>
          <p:cNvGrpSpPr/>
          <p:nvPr/>
        </p:nvGrpSpPr>
        <p:grpSpPr>
          <a:xfrm>
            <a:off x="5667444" y="2252919"/>
            <a:ext cx="3142726" cy="3142726"/>
            <a:chOff x="7700373" y="1997897"/>
            <a:chExt cx="3809365" cy="380936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0282209-840D-5B28-9DE8-2E80D9DF3B2A}"/>
                </a:ext>
              </a:extLst>
            </p:cNvPr>
            <p:cNvSpPr/>
            <p:nvPr/>
          </p:nvSpPr>
          <p:spPr>
            <a:xfrm>
              <a:off x="7710765" y="2989943"/>
              <a:ext cx="1894839" cy="2098675"/>
            </a:xfrm>
            <a:custGeom>
              <a:avLst/>
              <a:gdLst/>
              <a:ahLst/>
              <a:cxnLst/>
              <a:rect l="l" t="t" r="r" b="b"/>
              <a:pathLst>
                <a:path w="1894840" h="2098675">
                  <a:moveTo>
                    <a:pt x="234358" y="0"/>
                  </a:moveTo>
                  <a:lnTo>
                    <a:pt x="211591" y="42917"/>
                  </a:lnTo>
                  <a:lnTo>
                    <a:pt x="189852" y="86551"/>
                  </a:lnTo>
                  <a:lnTo>
                    <a:pt x="169163" y="130875"/>
                  </a:lnTo>
                  <a:lnTo>
                    <a:pt x="149549" y="175864"/>
                  </a:lnTo>
                  <a:lnTo>
                    <a:pt x="131032" y="221489"/>
                  </a:lnTo>
                  <a:lnTo>
                    <a:pt x="113635" y="267726"/>
                  </a:lnTo>
                  <a:lnTo>
                    <a:pt x="97382" y="314548"/>
                  </a:lnTo>
                  <a:lnTo>
                    <a:pt x="82296" y="361929"/>
                  </a:lnTo>
                  <a:lnTo>
                    <a:pt x="68400" y="409843"/>
                  </a:lnTo>
                  <a:lnTo>
                    <a:pt x="55717" y="458263"/>
                  </a:lnTo>
                  <a:lnTo>
                    <a:pt x="44271" y="507162"/>
                  </a:lnTo>
                  <a:lnTo>
                    <a:pt x="34084" y="556516"/>
                  </a:lnTo>
                  <a:lnTo>
                    <a:pt x="25181" y="606297"/>
                  </a:lnTo>
                  <a:lnTo>
                    <a:pt x="17583" y="656479"/>
                  </a:lnTo>
                  <a:lnTo>
                    <a:pt x="11315" y="707036"/>
                  </a:lnTo>
                  <a:lnTo>
                    <a:pt x="6399" y="757942"/>
                  </a:lnTo>
                  <a:lnTo>
                    <a:pt x="2859" y="809170"/>
                  </a:lnTo>
                  <a:lnTo>
                    <a:pt x="718" y="860694"/>
                  </a:lnTo>
                  <a:lnTo>
                    <a:pt x="0" y="912488"/>
                  </a:lnTo>
                  <a:lnTo>
                    <a:pt x="717" y="965118"/>
                  </a:lnTo>
                  <a:lnTo>
                    <a:pt x="2856" y="1017393"/>
                  </a:lnTo>
                  <a:lnTo>
                    <a:pt x="6398" y="1069295"/>
                  </a:lnTo>
                  <a:lnTo>
                    <a:pt x="11325" y="1120804"/>
                  </a:lnTo>
                  <a:lnTo>
                    <a:pt x="17618" y="1171903"/>
                  </a:lnTo>
                  <a:lnTo>
                    <a:pt x="25259" y="1222573"/>
                  </a:lnTo>
                  <a:lnTo>
                    <a:pt x="34229" y="1272795"/>
                  </a:lnTo>
                  <a:lnTo>
                    <a:pt x="44510" y="1322551"/>
                  </a:lnTo>
                  <a:lnTo>
                    <a:pt x="56082" y="1371821"/>
                  </a:lnTo>
                  <a:lnTo>
                    <a:pt x="68928" y="1420588"/>
                  </a:lnTo>
                  <a:lnTo>
                    <a:pt x="83028" y="1468833"/>
                  </a:lnTo>
                  <a:lnTo>
                    <a:pt x="98365" y="1516538"/>
                  </a:lnTo>
                  <a:lnTo>
                    <a:pt x="114919" y="1563683"/>
                  </a:lnTo>
                  <a:lnTo>
                    <a:pt x="132672" y="1610250"/>
                  </a:lnTo>
                  <a:lnTo>
                    <a:pt x="151606" y="1656220"/>
                  </a:lnTo>
                  <a:lnTo>
                    <a:pt x="171701" y="1701576"/>
                  </a:lnTo>
                  <a:lnTo>
                    <a:pt x="192940" y="1746297"/>
                  </a:lnTo>
                  <a:lnTo>
                    <a:pt x="215304" y="1790367"/>
                  </a:lnTo>
                  <a:lnTo>
                    <a:pt x="238774" y="1833766"/>
                  </a:lnTo>
                  <a:lnTo>
                    <a:pt x="263331" y="1876475"/>
                  </a:lnTo>
                  <a:lnTo>
                    <a:pt x="288957" y="1918476"/>
                  </a:lnTo>
                  <a:lnTo>
                    <a:pt x="315634" y="1959750"/>
                  </a:lnTo>
                  <a:lnTo>
                    <a:pt x="343343" y="2000280"/>
                  </a:lnTo>
                  <a:lnTo>
                    <a:pt x="372065" y="2040045"/>
                  </a:lnTo>
                  <a:lnTo>
                    <a:pt x="361885" y="2025745"/>
                  </a:lnTo>
                  <a:lnTo>
                    <a:pt x="435127" y="2098407"/>
                  </a:lnTo>
                  <a:lnTo>
                    <a:pt x="1894274" y="912488"/>
                  </a:lnTo>
                  <a:lnTo>
                    <a:pt x="234358" y="0"/>
                  </a:lnTo>
                  <a:close/>
                </a:path>
              </a:pathLst>
            </a:custGeom>
            <a:solidFill>
              <a:srgbClr val="C7E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DC454740-D787-D2D0-C00C-203B8C6F2A0B}"/>
                </a:ext>
              </a:extLst>
            </p:cNvPr>
            <p:cNvSpPr/>
            <p:nvPr/>
          </p:nvSpPr>
          <p:spPr>
            <a:xfrm>
              <a:off x="7941961" y="2022610"/>
              <a:ext cx="2399665" cy="1868170"/>
            </a:xfrm>
            <a:custGeom>
              <a:avLst/>
              <a:gdLst/>
              <a:ahLst/>
              <a:cxnLst/>
              <a:rect l="l" t="t" r="r" b="b"/>
              <a:pathLst>
                <a:path w="2399665" h="1868170">
                  <a:moveTo>
                    <a:pt x="1678278" y="0"/>
                  </a:moveTo>
                  <a:lnTo>
                    <a:pt x="1635769" y="173"/>
                  </a:lnTo>
                  <a:lnTo>
                    <a:pt x="1592586" y="1138"/>
                  </a:lnTo>
                  <a:lnTo>
                    <a:pt x="1548779" y="2945"/>
                  </a:lnTo>
                  <a:lnTo>
                    <a:pt x="1504396" y="5640"/>
                  </a:lnTo>
                  <a:lnTo>
                    <a:pt x="1459485" y="9273"/>
                  </a:lnTo>
                  <a:lnTo>
                    <a:pt x="1414095" y="13892"/>
                  </a:lnTo>
                  <a:lnTo>
                    <a:pt x="1368275" y="19545"/>
                  </a:lnTo>
                  <a:lnTo>
                    <a:pt x="1322074" y="26281"/>
                  </a:lnTo>
                  <a:lnTo>
                    <a:pt x="1275540" y="34148"/>
                  </a:lnTo>
                  <a:lnTo>
                    <a:pt x="1228722" y="43195"/>
                  </a:lnTo>
                  <a:lnTo>
                    <a:pt x="1181668" y="53470"/>
                  </a:lnTo>
                  <a:lnTo>
                    <a:pt x="1134428" y="65021"/>
                  </a:lnTo>
                  <a:lnTo>
                    <a:pt x="1087049" y="77897"/>
                  </a:lnTo>
                  <a:lnTo>
                    <a:pt x="1039581" y="92147"/>
                  </a:lnTo>
                  <a:lnTo>
                    <a:pt x="992072" y="107818"/>
                  </a:lnTo>
                  <a:lnTo>
                    <a:pt x="944571" y="124959"/>
                  </a:lnTo>
                  <a:lnTo>
                    <a:pt x="897126" y="143619"/>
                  </a:lnTo>
                  <a:lnTo>
                    <a:pt x="849786" y="163846"/>
                  </a:lnTo>
                  <a:lnTo>
                    <a:pt x="802600" y="185688"/>
                  </a:lnTo>
                  <a:lnTo>
                    <a:pt x="755617" y="209194"/>
                  </a:lnTo>
                  <a:lnTo>
                    <a:pt x="708884" y="234412"/>
                  </a:lnTo>
                  <a:lnTo>
                    <a:pt x="662452" y="261391"/>
                  </a:lnTo>
                  <a:lnTo>
                    <a:pt x="616368" y="290179"/>
                  </a:lnTo>
                  <a:lnTo>
                    <a:pt x="570680" y="320824"/>
                  </a:lnTo>
                  <a:lnTo>
                    <a:pt x="525439" y="353375"/>
                  </a:lnTo>
                  <a:lnTo>
                    <a:pt x="480692" y="387881"/>
                  </a:lnTo>
                  <a:lnTo>
                    <a:pt x="436488" y="424389"/>
                  </a:lnTo>
                  <a:lnTo>
                    <a:pt x="392875" y="462949"/>
                  </a:lnTo>
                  <a:lnTo>
                    <a:pt x="349903" y="503608"/>
                  </a:lnTo>
                  <a:lnTo>
                    <a:pt x="307620" y="546415"/>
                  </a:lnTo>
                  <a:lnTo>
                    <a:pt x="266075" y="591418"/>
                  </a:lnTo>
                  <a:lnTo>
                    <a:pt x="225316" y="638667"/>
                  </a:lnTo>
                  <a:lnTo>
                    <a:pt x="185392" y="688208"/>
                  </a:lnTo>
                  <a:lnTo>
                    <a:pt x="146351" y="740092"/>
                  </a:lnTo>
                  <a:lnTo>
                    <a:pt x="108243" y="794365"/>
                  </a:lnTo>
                  <a:lnTo>
                    <a:pt x="71116" y="851077"/>
                  </a:lnTo>
                  <a:lnTo>
                    <a:pt x="35019" y="910276"/>
                  </a:lnTo>
                  <a:lnTo>
                    <a:pt x="0" y="972010"/>
                  </a:lnTo>
                  <a:lnTo>
                    <a:pt x="3162" y="967110"/>
                  </a:lnTo>
                  <a:lnTo>
                    <a:pt x="1631716" y="1867726"/>
                  </a:lnTo>
                  <a:lnTo>
                    <a:pt x="2396563" y="123407"/>
                  </a:lnTo>
                  <a:lnTo>
                    <a:pt x="2399065" y="123037"/>
                  </a:lnTo>
                  <a:lnTo>
                    <a:pt x="2399384" y="121958"/>
                  </a:lnTo>
                  <a:lnTo>
                    <a:pt x="2358208" y="103310"/>
                  </a:lnTo>
                  <a:lnTo>
                    <a:pt x="2312107" y="88340"/>
                  </a:lnTo>
                  <a:lnTo>
                    <a:pt x="2272816" y="77156"/>
                  </a:lnTo>
                  <a:lnTo>
                    <a:pt x="2227133" y="65462"/>
                  </a:lnTo>
                  <a:lnTo>
                    <a:pt x="2175447" y="53644"/>
                  </a:lnTo>
                  <a:lnTo>
                    <a:pt x="2118148" y="42090"/>
                  </a:lnTo>
                  <a:lnTo>
                    <a:pt x="2055625" y="31188"/>
                  </a:lnTo>
                  <a:lnTo>
                    <a:pt x="1988268" y="21323"/>
                  </a:lnTo>
                  <a:lnTo>
                    <a:pt x="1916465" y="12885"/>
                  </a:lnTo>
                  <a:lnTo>
                    <a:pt x="1840607" y="6260"/>
                  </a:lnTo>
                  <a:lnTo>
                    <a:pt x="1801278" y="3749"/>
                  </a:lnTo>
                  <a:lnTo>
                    <a:pt x="1761081" y="1836"/>
                  </a:lnTo>
                  <a:lnTo>
                    <a:pt x="1720065" y="570"/>
                  </a:lnTo>
                  <a:lnTo>
                    <a:pt x="1678278" y="0"/>
                  </a:lnTo>
                  <a:close/>
                </a:path>
              </a:pathLst>
            </a:custGeom>
            <a:solidFill>
              <a:srgbClr val="8ED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71ED4820-7892-1BDF-EE40-F57D99D2A5E7}"/>
                </a:ext>
              </a:extLst>
            </p:cNvPr>
            <p:cNvSpPr/>
            <p:nvPr/>
          </p:nvSpPr>
          <p:spPr>
            <a:xfrm>
              <a:off x="7710764" y="2008289"/>
              <a:ext cx="3789045" cy="3788410"/>
            </a:xfrm>
            <a:custGeom>
              <a:avLst/>
              <a:gdLst/>
              <a:ahLst/>
              <a:cxnLst/>
              <a:rect l="l" t="t" r="r" b="b"/>
              <a:pathLst>
                <a:path w="3789045" h="3788410">
                  <a:moveTo>
                    <a:pt x="0" y="1893986"/>
                  </a:moveTo>
                  <a:lnTo>
                    <a:pt x="618" y="1845843"/>
                  </a:lnTo>
                  <a:lnTo>
                    <a:pt x="2465" y="1797996"/>
                  </a:lnTo>
                  <a:lnTo>
                    <a:pt x="5524" y="1750458"/>
                  </a:lnTo>
                  <a:lnTo>
                    <a:pt x="9779" y="1703246"/>
                  </a:lnTo>
                  <a:lnTo>
                    <a:pt x="15216" y="1656371"/>
                  </a:lnTo>
                  <a:lnTo>
                    <a:pt x="21819" y="1609850"/>
                  </a:lnTo>
                  <a:lnTo>
                    <a:pt x="29573" y="1563695"/>
                  </a:lnTo>
                  <a:lnTo>
                    <a:pt x="38462" y="1517922"/>
                  </a:lnTo>
                  <a:lnTo>
                    <a:pt x="48471" y="1472544"/>
                  </a:lnTo>
                  <a:lnTo>
                    <a:pt x="59584" y="1427575"/>
                  </a:lnTo>
                  <a:lnTo>
                    <a:pt x="71786" y="1383030"/>
                  </a:lnTo>
                  <a:lnTo>
                    <a:pt x="85062" y="1338923"/>
                  </a:lnTo>
                  <a:lnTo>
                    <a:pt x="99397" y="1295268"/>
                  </a:lnTo>
                  <a:lnTo>
                    <a:pt x="114774" y="1252079"/>
                  </a:lnTo>
                  <a:lnTo>
                    <a:pt x="131179" y="1209370"/>
                  </a:lnTo>
                  <a:lnTo>
                    <a:pt x="148596" y="1167156"/>
                  </a:lnTo>
                  <a:lnTo>
                    <a:pt x="167010" y="1125451"/>
                  </a:lnTo>
                  <a:lnTo>
                    <a:pt x="186405" y="1084269"/>
                  </a:lnTo>
                  <a:lnTo>
                    <a:pt x="206767" y="1043624"/>
                  </a:lnTo>
                  <a:lnTo>
                    <a:pt x="228078" y="1003530"/>
                  </a:lnTo>
                  <a:lnTo>
                    <a:pt x="250326" y="964002"/>
                  </a:lnTo>
                  <a:lnTo>
                    <a:pt x="273492" y="925054"/>
                  </a:lnTo>
                  <a:lnTo>
                    <a:pt x="297564" y="886699"/>
                  </a:lnTo>
                  <a:lnTo>
                    <a:pt x="322524" y="848953"/>
                  </a:lnTo>
                  <a:lnTo>
                    <a:pt x="348358" y="811829"/>
                  </a:lnTo>
                  <a:lnTo>
                    <a:pt x="375051" y="775341"/>
                  </a:lnTo>
                  <a:lnTo>
                    <a:pt x="402586" y="739504"/>
                  </a:lnTo>
                  <a:lnTo>
                    <a:pt x="430949" y="704332"/>
                  </a:lnTo>
                  <a:lnTo>
                    <a:pt x="460123" y="669839"/>
                  </a:lnTo>
                  <a:lnTo>
                    <a:pt x="490095" y="636039"/>
                  </a:lnTo>
                  <a:lnTo>
                    <a:pt x="520848" y="602946"/>
                  </a:lnTo>
                  <a:lnTo>
                    <a:pt x="552367" y="570575"/>
                  </a:lnTo>
                  <a:lnTo>
                    <a:pt x="584636" y="538940"/>
                  </a:lnTo>
                  <a:lnTo>
                    <a:pt x="617641" y="508055"/>
                  </a:lnTo>
                  <a:lnTo>
                    <a:pt x="651365" y="477934"/>
                  </a:lnTo>
                  <a:lnTo>
                    <a:pt x="685794" y="448591"/>
                  </a:lnTo>
                  <a:lnTo>
                    <a:pt x="720912" y="420041"/>
                  </a:lnTo>
                  <a:lnTo>
                    <a:pt x="756703" y="392298"/>
                  </a:lnTo>
                  <a:lnTo>
                    <a:pt x="793153" y="365375"/>
                  </a:lnTo>
                  <a:lnTo>
                    <a:pt x="830246" y="339287"/>
                  </a:lnTo>
                  <a:lnTo>
                    <a:pt x="867966" y="314049"/>
                  </a:lnTo>
                  <a:lnTo>
                    <a:pt x="906298" y="289674"/>
                  </a:lnTo>
                  <a:lnTo>
                    <a:pt x="945226" y="266177"/>
                  </a:lnTo>
                  <a:lnTo>
                    <a:pt x="984736" y="243572"/>
                  </a:lnTo>
                  <a:lnTo>
                    <a:pt x="1024812" y="221873"/>
                  </a:lnTo>
                  <a:lnTo>
                    <a:pt x="1065439" y="201094"/>
                  </a:lnTo>
                  <a:lnTo>
                    <a:pt x="1106600" y="181249"/>
                  </a:lnTo>
                  <a:lnTo>
                    <a:pt x="1148282" y="162353"/>
                  </a:lnTo>
                  <a:lnTo>
                    <a:pt x="1190467" y="144420"/>
                  </a:lnTo>
                  <a:lnTo>
                    <a:pt x="1233142" y="127463"/>
                  </a:lnTo>
                  <a:lnTo>
                    <a:pt x="1276290" y="111498"/>
                  </a:lnTo>
                  <a:lnTo>
                    <a:pt x="1319897" y="96538"/>
                  </a:lnTo>
                  <a:lnTo>
                    <a:pt x="1363946" y="82598"/>
                  </a:lnTo>
                  <a:lnTo>
                    <a:pt x="1408423" y="69691"/>
                  </a:lnTo>
                  <a:lnTo>
                    <a:pt x="1453311" y="57832"/>
                  </a:lnTo>
                  <a:lnTo>
                    <a:pt x="1498597" y="47036"/>
                  </a:lnTo>
                  <a:lnTo>
                    <a:pt x="1544263" y="37315"/>
                  </a:lnTo>
                  <a:lnTo>
                    <a:pt x="1590296" y="28685"/>
                  </a:lnTo>
                  <a:lnTo>
                    <a:pt x="1636678" y="21160"/>
                  </a:lnTo>
                  <a:lnTo>
                    <a:pt x="1683396" y="14753"/>
                  </a:lnTo>
                  <a:lnTo>
                    <a:pt x="1730434" y="9480"/>
                  </a:lnTo>
                  <a:lnTo>
                    <a:pt x="1777776" y="5353"/>
                  </a:lnTo>
                  <a:lnTo>
                    <a:pt x="1825407" y="2388"/>
                  </a:lnTo>
                  <a:lnTo>
                    <a:pt x="1873311" y="599"/>
                  </a:lnTo>
                  <a:lnTo>
                    <a:pt x="1921474" y="0"/>
                  </a:lnTo>
                  <a:lnTo>
                    <a:pt x="1970348" y="618"/>
                  </a:lnTo>
                  <a:lnTo>
                    <a:pt x="2018878" y="2463"/>
                  </a:lnTo>
                  <a:lnTo>
                    <a:pt x="2067050" y="5521"/>
                  </a:lnTo>
                  <a:lnTo>
                    <a:pt x="2114852" y="9776"/>
                  </a:lnTo>
                  <a:lnTo>
                    <a:pt x="2162269" y="15213"/>
                  </a:lnTo>
                  <a:lnTo>
                    <a:pt x="2209288" y="21818"/>
                  </a:lnTo>
                  <a:lnTo>
                    <a:pt x="2255895" y="29576"/>
                  </a:lnTo>
                  <a:lnTo>
                    <a:pt x="2302077" y="38471"/>
                  </a:lnTo>
                  <a:lnTo>
                    <a:pt x="2347819" y="48489"/>
                  </a:lnTo>
                  <a:lnTo>
                    <a:pt x="2393109" y="59616"/>
                  </a:lnTo>
                  <a:lnTo>
                    <a:pt x="2437933" y="71835"/>
                  </a:lnTo>
                  <a:lnTo>
                    <a:pt x="2482276" y="85133"/>
                  </a:lnTo>
                  <a:lnTo>
                    <a:pt x="2526126" y="99495"/>
                  </a:lnTo>
                  <a:lnTo>
                    <a:pt x="2569468" y="114905"/>
                  </a:lnTo>
                  <a:lnTo>
                    <a:pt x="2612290" y="131349"/>
                  </a:lnTo>
                  <a:lnTo>
                    <a:pt x="2654577" y="148812"/>
                  </a:lnTo>
                  <a:lnTo>
                    <a:pt x="2696316" y="167279"/>
                  </a:lnTo>
                  <a:lnTo>
                    <a:pt x="2737493" y="186735"/>
                  </a:lnTo>
                  <a:lnTo>
                    <a:pt x="2778095" y="207166"/>
                  </a:lnTo>
                  <a:lnTo>
                    <a:pt x="2818108" y="228556"/>
                  </a:lnTo>
                  <a:lnTo>
                    <a:pt x="2857518" y="250890"/>
                  </a:lnTo>
                  <a:lnTo>
                    <a:pt x="2896311" y="274155"/>
                  </a:lnTo>
                  <a:lnTo>
                    <a:pt x="2934475" y="298334"/>
                  </a:lnTo>
                  <a:lnTo>
                    <a:pt x="2971995" y="323413"/>
                  </a:lnTo>
                  <a:lnTo>
                    <a:pt x="3008858" y="349378"/>
                  </a:lnTo>
                  <a:lnTo>
                    <a:pt x="3045050" y="376212"/>
                  </a:lnTo>
                  <a:lnTo>
                    <a:pt x="3080558" y="403902"/>
                  </a:lnTo>
                  <a:lnTo>
                    <a:pt x="3115368" y="432433"/>
                  </a:lnTo>
                  <a:lnTo>
                    <a:pt x="3149465" y="461790"/>
                  </a:lnTo>
                  <a:lnTo>
                    <a:pt x="3182838" y="491957"/>
                  </a:lnTo>
                  <a:lnTo>
                    <a:pt x="3215471" y="522920"/>
                  </a:lnTo>
                  <a:lnTo>
                    <a:pt x="3247352" y="554665"/>
                  </a:lnTo>
                  <a:lnTo>
                    <a:pt x="3278466" y="587176"/>
                  </a:lnTo>
                  <a:lnTo>
                    <a:pt x="3308801" y="620438"/>
                  </a:lnTo>
                  <a:lnTo>
                    <a:pt x="3338342" y="654436"/>
                  </a:lnTo>
                  <a:lnTo>
                    <a:pt x="3367076" y="689157"/>
                  </a:lnTo>
                  <a:lnTo>
                    <a:pt x="3394989" y="724584"/>
                  </a:lnTo>
                  <a:lnTo>
                    <a:pt x="3422068" y="760703"/>
                  </a:lnTo>
                  <a:lnTo>
                    <a:pt x="3448299" y="797499"/>
                  </a:lnTo>
                  <a:lnTo>
                    <a:pt x="3473668" y="834958"/>
                  </a:lnTo>
                  <a:lnTo>
                    <a:pt x="3498161" y="873063"/>
                  </a:lnTo>
                  <a:lnTo>
                    <a:pt x="3521766" y="911802"/>
                  </a:lnTo>
                  <a:lnTo>
                    <a:pt x="3544468" y="951158"/>
                  </a:lnTo>
                  <a:lnTo>
                    <a:pt x="3566254" y="991116"/>
                  </a:lnTo>
                  <a:lnTo>
                    <a:pt x="3587110" y="1031663"/>
                  </a:lnTo>
                  <a:lnTo>
                    <a:pt x="3607022" y="1072783"/>
                  </a:lnTo>
                  <a:lnTo>
                    <a:pt x="3625978" y="1114461"/>
                  </a:lnTo>
                  <a:lnTo>
                    <a:pt x="3643963" y="1156682"/>
                  </a:lnTo>
                  <a:lnTo>
                    <a:pt x="3660963" y="1199431"/>
                  </a:lnTo>
                  <a:lnTo>
                    <a:pt x="3676965" y="1242695"/>
                  </a:lnTo>
                  <a:lnTo>
                    <a:pt x="3691956" y="1286457"/>
                  </a:lnTo>
                  <a:lnTo>
                    <a:pt x="3705922" y="1330703"/>
                  </a:lnTo>
                  <a:lnTo>
                    <a:pt x="3718848" y="1375418"/>
                  </a:lnTo>
                  <a:lnTo>
                    <a:pt x="3730722" y="1420587"/>
                  </a:lnTo>
                  <a:lnTo>
                    <a:pt x="3741530" y="1466195"/>
                  </a:lnTo>
                  <a:lnTo>
                    <a:pt x="3751258" y="1512228"/>
                  </a:lnTo>
                  <a:lnTo>
                    <a:pt x="3759893" y="1558670"/>
                  </a:lnTo>
                  <a:lnTo>
                    <a:pt x="3767420" y="1605507"/>
                  </a:lnTo>
                  <a:lnTo>
                    <a:pt x="3773827" y="1652724"/>
                  </a:lnTo>
                  <a:lnTo>
                    <a:pt x="3779100" y="1700306"/>
                  </a:lnTo>
                  <a:lnTo>
                    <a:pt x="3783224" y="1748238"/>
                  </a:lnTo>
                  <a:lnTo>
                    <a:pt x="3786187" y="1796505"/>
                  </a:lnTo>
                  <a:lnTo>
                    <a:pt x="3787975" y="1845093"/>
                  </a:lnTo>
                  <a:lnTo>
                    <a:pt x="3788574" y="1893986"/>
                  </a:lnTo>
                  <a:lnTo>
                    <a:pt x="3787974" y="1942129"/>
                  </a:lnTo>
                  <a:lnTo>
                    <a:pt x="3786184" y="1989975"/>
                  </a:lnTo>
                  <a:lnTo>
                    <a:pt x="3783218" y="2037513"/>
                  </a:lnTo>
                  <a:lnTo>
                    <a:pt x="3779091" y="2084726"/>
                  </a:lnTo>
                  <a:lnTo>
                    <a:pt x="3773815" y="2131601"/>
                  </a:lnTo>
                  <a:lnTo>
                    <a:pt x="3767407" y="2178124"/>
                  </a:lnTo>
                  <a:lnTo>
                    <a:pt x="3759879" y="2224280"/>
                  </a:lnTo>
                  <a:lnTo>
                    <a:pt x="3751246" y="2270055"/>
                  </a:lnTo>
                  <a:lnTo>
                    <a:pt x="3741523" y="2315435"/>
                  </a:lnTo>
                  <a:lnTo>
                    <a:pt x="3730723" y="2360407"/>
                  </a:lnTo>
                  <a:lnTo>
                    <a:pt x="3718860" y="2404955"/>
                  </a:lnTo>
                  <a:lnTo>
                    <a:pt x="3705950" y="2449065"/>
                  </a:lnTo>
                  <a:lnTo>
                    <a:pt x="3692005" y="2492724"/>
                  </a:lnTo>
                  <a:lnTo>
                    <a:pt x="3677041" y="2535916"/>
                  </a:lnTo>
                  <a:lnTo>
                    <a:pt x="3661071" y="2578629"/>
                  </a:lnTo>
                  <a:lnTo>
                    <a:pt x="3644110" y="2620847"/>
                  </a:lnTo>
                  <a:lnTo>
                    <a:pt x="3626171" y="2662557"/>
                  </a:lnTo>
                  <a:lnTo>
                    <a:pt x="3607270" y="2703744"/>
                  </a:lnTo>
                  <a:lnTo>
                    <a:pt x="3587420" y="2744394"/>
                  </a:lnTo>
                  <a:lnTo>
                    <a:pt x="3566635" y="2784492"/>
                  </a:lnTo>
                  <a:lnTo>
                    <a:pt x="3544930" y="2824026"/>
                  </a:lnTo>
                  <a:lnTo>
                    <a:pt x="3522318" y="2862980"/>
                  </a:lnTo>
                  <a:lnTo>
                    <a:pt x="3498815" y="2901340"/>
                  </a:lnTo>
                  <a:lnTo>
                    <a:pt x="3474434" y="2939092"/>
                  </a:lnTo>
                  <a:lnTo>
                    <a:pt x="3449189" y="2976222"/>
                  </a:lnTo>
                  <a:lnTo>
                    <a:pt x="3423095" y="3012716"/>
                  </a:lnTo>
                  <a:lnTo>
                    <a:pt x="3396166" y="3048559"/>
                  </a:lnTo>
                  <a:lnTo>
                    <a:pt x="3368416" y="3083737"/>
                  </a:lnTo>
                  <a:lnTo>
                    <a:pt x="3339859" y="3118236"/>
                  </a:lnTo>
                  <a:lnTo>
                    <a:pt x="3310509" y="3152043"/>
                  </a:lnTo>
                  <a:lnTo>
                    <a:pt x="3280381" y="3185142"/>
                  </a:lnTo>
                  <a:lnTo>
                    <a:pt x="3249489" y="3217519"/>
                  </a:lnTo>
                  <a:lnTo>
                    <a:pt x="3217847" y="3249161"/>
                  </a:lnTo>
                  <a:lnTo>
                    <a:pt x="3185469" y="3280052"/>
                  </a:lnTo>
                  <a:lnTo>
                    <a:pt x="3152370" y="3310180"/>
                  </a:lnTo>
                  <a:lnTo>
                    <a:pt x="3118563" y="3339529"/>
                  </a:lnTo>
                  <a:lnTo>
                    <a:pt x="3084063" y="3368085"/>
                  </a:lnTo>
                  <a:lnTo>
                    <a:pt x="3048884" y="3395835"/>
                  </a:lnTo>
                  <a:lnTo>
                    <a:pt x="3013040" y="3422764"/>
                  </a:lnTo>
                  <a:lnTo>
                    <a:pt x="2976546" y="3448858"/>
                  </a:lnTo>
                  <a:lnTo>
                    <a:pt x="2939415" y="3474102"/>
                  </a:lnTo>
                  <a:lnTo>
                    <a:pt x="2901662" y="3498483"/>
                  </a:lnTo>
                  <a:lnTo>
                    <a:pt x="2863301" y="3521986"/>
                  </a:lnTo>
                  <a:lnTo>
                    <a:pt x="2824346" y="3544597"/>
                  </a:lnTo>
                  <a:lnTo>
                    <a:pt x="2784812" y="3566302"/>
                  </a:lnTo>
                  <a:lnTo>
                    <a:pt x="2744712" y="3587087"/>
                  </a:lnTo>
                  <a:lnTo>
                    <a:pt x="2704061" y="3606937"/>
                  </a:lnTo>
                  <a:lnTo>
                    <a:pt x="2662873" y="3625838"/>
                  </a:lnTo>
                  <a:lnTo>
                    <a:pt x="2621162" y="3643776"/>
                  </a:lnTo>
                  <a:lnTo>
                    <a:pt x="2578943" y="3660737"/>
                  </a:lnTo>
                  <a:lnTo>
                    <a:pt x="2536229" y="3676707"/>
                  </a:lnTo>
                  <a:lnTo>
                    <a:pt x="2493035" y="3691671"/>
                  </a:lnTo>
                  <a:lnTo>
                    <a:pt x="2449375" y="3705616"/>
                  </a:lnTo>
                  <a:lnTo>
                    <a:pt x="2405263" y="3718526"/>
                  </a:lnTo>
                  <a:lnTo>
                    <a:pt x="2360714" y="3730389"/>
                  </a:lnTo>
                  <a:lnTo>
                    <a:pt x="2315741" y="3741189"/>
                  </a:lnTo>
                  <a:lnTo>
                    <a:pt x="2270359" y="3750912"/>
                  </a:lnTo>
                  <a:lnTo>
                    <a:pt x="2224582" y="3759545"/>
                  </a:lnTo>
                  <a:lnTo>
                    <a:pt x="2178424" y="3767073"/>
                  </a:lnTo>
                  <a:lnTo>
                    <a:pt x="2131900" y="3773481"/>
                  </a:lnTo>
                  <a:lnTo>
                    <a:pt x="2085023" y="3778757"/>
                  </a:lnTo>
                  <a:lnTo>
                    <a:pt x="2037808" y="3782884"/>
                  </a:lnTo>
                  <a:lnTo>
                    <a:pt x="1990269" y="3785850"/>
                  </a:lnTo>
                  <a:lnTo>
                    <a:pt x="1942420" y="3787640"/>
                  </a:lnTo>
                  <a:lnTo>
                    <a:pt x="1894276" y="3788240"/>
                  </a:lnTo>
                  <a:lnTo>
                    <a:pt x="1846133" y="3787640"/>
                  </a:lnTo>
                  <a:lnTo>
                    <a:pt x="1798286" y="3785850"/>
                  </a:lnTo>
                  <a:lnTo>
                    <a:pt x="1750749" y="3782884"/>
                  </a:lnTo>
                  <a:lnTo>
                    <a:pt x="1703536" y="3778757"/>
                  </a:lnTo>
                  <a:lnTo>
                    <a:pt x="1656661" y="3773481"/>
                  </a:lnTo>
                  <a:lnTo>
                    <a:pt x="1610138" y="3767073"/>
                  </a:lnTo>
                  <a:lnTo>
                    <a:pt x="1563981" y="3759545"/>
                  </a:lnTo>
                  <a:lnTo>
                    <a:pt x="1518206" y="3750912"/>
                  </a:lnTo>
                  <a:lnTo>
                    <a:pt x="1472825" y="3741189"/>
                  </a:lnTo>
                  <a:lnTo>
                    <a:pt x="1427854" y="3730389"/>
                  </a:lnTo>
                  <a:lnTo>
                    <a:pt x="1383305" y="3718526"/>
                  </a:lnTo>
                  <a:lnTo>
                    <a:pt x="1339195" y="3705616"/>
                  </a:lnTo>
                  <a:lnTo>
                    <a:pt x="1295536" y="3691671"/>
                  </a:lnTo>
                  <a:lnTo>
                    <a:pt x="1252343" y="3676707"/>
                  </a:lnTo>
                  <a:lnTo>
                    <a:pt x="1209630" y="3660737"/>
                  </a:lnTo>
                  <a:lnTo>
                    <a:pt x="1167411" y="3643776"/>
                  </a:lnTo>
                  <a:lnTo>
                    <a:pt x="1125701" y="3625838"/>
                  </a:lnTo>
                  <a:lnTo>
                    <a:pt x="1084514" y="3606937"/>
                  </a:lnTo>
                  <a:lnTo>
                    <a:pt x="1043864" y="3587087"/>
                  </a:lnTo>
                  <a:lnTo>
                    <a:pt x="1003764" y="3566302"/>
                  </a:lnTo>
                  <a:lnTo>
                    <a:pt x="964230" y="3544597"/>
                  </a:lnTo>
                  <a:lnTo>
                    <a:pt x="925276" y="3521986"/>
                  </a:lnTo>
                  <a:lnTo>
                    <a:pt x="886916" y="3498483"/>
                  </a:lnTo>
                  <a:lnTo>
                    <a:pt x="849163" y="3474102"/>
                  </a:lnTo>
                  <a:lnTo>
                    <a:pt x="812032" y="3448858"/>
                  </a:lnTo>
                  <a:lnTo>
                    <a:pt x="775538" y="3422764"/>
                  </a:lnTo>
                  <a:lnTo>
                    <a:pt x="739695" y="3395835"/>
                  </a:lnTo>
                  <a:lnTo>
                    <a:pt x="704516" y="3368085"/>
                  </a:lnTo>
                  <a:lnTo>
                    <a:pt x="670016" y="3339529"/>
                  </a:lnTo>
                  <a:lnTo>
                    <a:pt x="636209" y="3310180"/>
                  </a:lnTo>
                  <a:lnTo>
                    <a:pt x="603110" y="3280052"/>
                  </a:lnTo>
                  <a:lnTo>
                    <a:pt x="570732" y="3249161"/>
                  </a:lnTo>
                  <a:lnTo>
                    <a:pt x="539090" y="3217519"/>
                  </a:lnTo>
                  <a:lnTo>
                    <a:pt x="508198" y="3185142"/>
                  </a:lnTo>
                  <a:lnTo>
                    <a:pt x="478070" y="3152043"/>
                  </a:lnTo>
                  <a:lnTo>
                    <a:pt x="448720" y="3118236"/>
                  </a:lnTo>
                  <a:lnTo>
                    <a:pt x="420163" y="3083737"/>
                  </a:lnTo>
                  <a:lnTo>
                    <a:pt x="392413" y="3048559"/>
                  </a:lnTo>
                  <a:lnTo>
                    <a:pt x="365483" y="3012716"/>
                  </a:lnTo>
                  <a:lnTo>
                    <a:pt x="339389" y="2976222"/>
                  </a:lnTo>
                  <a:lnTo>
                    <a:pt x="314144" y="2939092"/>
                  </a:lnTo>
                  <a:lnTo>
                    <a:pt x="289763" y="2901340"/>
                  </a:lnTo>
                  <a:lnTo>
                    <a:pt x="266259" y="2862980"/>
                  </a:lnTo>
                  <a:lnTo>
                    <a:pt x="243648" y="2824026"/>
                  </a:lnTo>
                  <a:lnTo>
                    <a:pt x="221943" y="2784492"/>
                  </a:lnTo>
                  <a:lnTo>
                    <a:pt x="201158" y="2744394"/>
                  </a:lnTo>
                  <a:lnTo>
                    <a:pt x="181307" y="2703744"/>
                  </a:lnTo>
                  <a:lnTo>
                    <a:pt x="162405" y="2662557"/>
                  </a:lnTo>
                  <a:lnTo>
                    <a:pt x="144467" y="2620847"/>
                  </a:lnTo>
                  <a:lnTo>
                    <a:pt x="127505" y="2578629"/>
                  </a:lnTo>
                  <a:lnTo>
                    <a:pt x="111535" y="2535916"/>
                  </a:lnTo>
                  <a:lnTo>
                    <a:pt x="96570" y="2492724"/>
                  </a:lnTo>
                  <a:lnTo>
                    <a:pt x="82626" y="2449065"/>
                  </a:lnTo>
                  <a:lnTo>
                    <a:pt x="69715" y="2404955"/>
                  </a:lnTo>
                  <a:lnTo>
                    <a:pt x="57852" y="2360407"/>
                  </a:lnTo>
                  <a:lnTo>
                    <a:pt x="47052" y="2315435"/>
                  </a:lnTo>
                  <a:lnTo>
                    <a:pt x="37328" y="2270055"/>
                  </a:lnTo>
                  <a:lnTo>
                    <a:pt x="28695" y="2224280"/>
                  </a:lnTo>
                  <a:lnTo>
                    <a:pt x="21167" y="2178124"/>
                  </a:lnTo>
                  <a:lnTo>
                    <a:pt x="14759" y="2131601"/>
                  </a:lnTo>
                  <a:lnTo>
                    <a:pt x="9483" y="2084726"/>
                  </a:lnTo>
                  <a:lnTo>
                    <a:pt x="5355" y="2037513"/>
                  </a:lnTo>
                  <a:lnTo>
                    <a:pt x="2389" y="1989975"/>
                  </a:lnTo>
                  <a:lnTo>
                    <a:pt x="599" y="1942129"/>
                  </a:lnTo>
                  <a:lnTo>
                    <a:pt x="0" y="1893986"/>
                  </a:lnTo>
                  <a:close/>
                </a:path>
              </a:pathLst>
            </a:custGeom>
            <a:ln w="2078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60723281-346D-1819-3040-D8C5DDD1B3EA}"/>
                </a:ext>
              </a:extLst>
            </p:cNvPr>
            <p:cNvSpPr/>
            <p:nvPr/>
          </p:nvSpPr>
          <p:spPr>
            <a:xfrm>
              <a:off x="7945124" y="2146017"/>
              <a:ext cx="2393950" cy="2942590"/>
            </a:xfrm>
            <a:custGeom>
              <a:avLst/>
              <a:gdLst/>
              <a:ahLst/>
              <a:cxnLst/>
              <a:rect l="l" t="t" r="r" b="b"/>
              <a:pathLst>
                <a:path w="2393950" h="2942590">
                  <a:moveTo>
                    <a:pt x="1628553" y="1744318"/>
                  </a:moveTo>
                  <a:lnTo>
                    <a:pt x="196981" y="2942288"/>
                  </a:lnTo>
                </a:path>
                <a:path w="2393950" h="2942590">
                  <a:moveTo>
                    <a:pt x="1628553" y="1744318"/>
                  </a:moveTo>
                  <a:lnTo>
                    <a:pt x="0" y="822585"/>
                  </a:lnTo>
                </a:path>
                <a:path w="2393950" h="2942590">
                  <a:moveTo>
                    <a:pt x="1628553" y="1744318"/>
                  </a:moveTo>
                  <a:lnTo>
                    <a:pt x="2393400" y="0"/>
                  </a:lnTo>
                </a:path>
              </a:pathLst>
            </a:custGeom>
            <a:ln w="1042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4F93CD0-DBB8-64C7-7C8F-63D60287DB59}"/>
              </a:ext>
            </a:extLst>
          </p:cNvPr>
          <p:cNvSpPr txBox="1"/>
          <p:nvPr/>
        </p:nvSpPr>
        <p:spPr>
          <a:xfrm>
            <a:off x="6153082" y="2838048"/>
            <a:ext cx="15728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6592" marR="4191" indent="-156639">
              <a:spcBef>
                <a:spcPts val="83"/>
              </a:spcBef>
            </a:pPr>
            <a:r>
              <a:rPr lang="en-US" sz="1200" spc="-12" dirty="0">
                <a:solidFill>
                  <a:srgbClr val="231F20"/>
                </a:solidFill>
                <a:latin typeface="Tahoma"/>
                <a:cs typeface="Tahoma"/>
              </a:rPr>
              <a:t>Fault</a:t>
            </a:r>
            <a:r>
              <a:rPr lang="en-US" sz="1200" spc="-7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lang="en-US" sz="1200" dirty="0">
                <a:solidFill>
                  <a:srgbClr val="231F20"/>
                </a:solidFill>
                <a:latin typeface="Tahoma"/>
                <a:cs typeface="Tahoma"/>
              </a:rPr>
              <a:t>repair </a:t>
            </a:r>
            <a:r>
              <a:rPr lang="en-US" sz="1200" spc="-35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lang="en-US" sz="1200" spc="4" dirty="0">
                <a:solidFill>
                  <a:srgbClr val="231F20"/>
                </a:solidFill>
                <a:latin typeface="Tahoma"/>
                <a:cs typeface="Tahoma"/>
              </a:rPr>
              <a:t>(24%)</a:t>
            </a:r>
            <a:endParaRPr lang="en-US" sz="1200" dirty="0">
              <a:latin typeface="Tahoma"/>
              <a:cs typeface="Tahom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A46B92-0A9A-B3D8-5376-F4F4C7EA426B}"/>
              </a:ext>
            </a:extLst>
          </p:cNvPr>
          <p:cNvSpPr txBox="1"/>
          <p:nvPr/>
        </p:nvSpPr>
        <p:spPr>
          <a:xfrm>
            <a:off x="5433256" y="3601666"/>
            <a:ext cx="18057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478" marR="4191" algn="ctr">
              <a:spcBef>
                <a:spcPts val="83"/>
              </a:spcBef>
            </a:pPr>
            <a:r>
              <a:rPr lang="en-US" sz="1200" spc="8" dirty="0">
                <a:solidFill>
                  <a:srgbClr val="231F20"/>
                </a:solidFill>
                <a:latin typeface="Tahoma"/>
                <a:cs typeface="Tahoma"/>
              </a:rPr>
              <a:t>Environmental  adaptation </a:t>
            </a:r>
            <a:r>
              <a:rPr lang="en-US" sz="1200" spc="1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lang="en-US" sz="1200" dirty="0">
                <a:solidFill>
                  <a:srgbClr val="231F20"/>
                </a:solidFill>
                <a:latin typeface="Tahoma"/>
                <a:cs typeface="Tahoma"/>
              </a:rPr>
              <a:t>(19%)</a:t>
            </a:r>
            <a:endParaRPr lang="en-US" sz="1200" dirty="0">
              <a:latin typeface="Tahoma"/>
              <a:cs typeface="Tahom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F8B0CB-A365-B154-4CBB-DCBAB3819A47}"/>
              </a:ext>
            </a:extLst>
          </p:cNvPr>
          <p:cNvSpPr txBox="1"/>
          <p:nvPr/>
        </p:nvSpPr>
        <p:spPr>
          <a:xfrm>
            <a:off x="6984888" y="3971377"/>
            <a:ext cx="16075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954" marR="4191" algn="ctr">
              <a:spcBef>
                <a:spcPts val="83"/>
              </a:spcBef>
            </a:pPr>
            <a:r>
              <a:rPr lang="en-US" sz="1200" dirty="0">
                <a:solidFill>
                  <a:srgbClr val="231F20"/>
                </a:solidFill>
                <a:latin typeface="Tahoma"/>
                <a:cs typeface="Tahoma"/>
              </a:rPr>
              <a:t>Functionality</a:t>
            </a:r>
            <a:r>
              <a:rPr lang="en-US" sz="1200" spc="-5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lang="en-US" sz="1200" spc="21" dirty="0">
                <a:solidFill>
                  <a:srgbClr val="231F20"/>
                </a:solidFill>
                <a:latin typeface="Tahoma"/>
                <a:cs typeface="Tahoma"/>
              </a:rPr>
              <a:t>addition </a:t>
            </a:r>
            <a:r>
              <a:rPr lang="en-US" sz="1200" spc="-34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lang="en-US" sz="1200" spc="8" dirty="0">
                <a:solidFill>
                  <a:srgbClr val="231F20"/>
                </a:solidFill>
                <a:latin typeface="Tahoma"/>
                <a:cs typeface="Tahoma"/>
              </a:rPr>
              <a:t>or </a:t>
            </a:r>
            <a:r>
              <a:rPr lang="en-US" sz="1200" spc="17" dirty="0">
                <a:solidFill>
                  <a:srgbClr val="231F20"/>
                </a:solidFill>
                <a:latin typeface="Tahoma"/>
                <a:cs typeface="Tahoma"/>
              </a:rPr>
              <a:t>modification </a:t>
            </a:r>
            <a:r>
              <a:rPr lang="en-US" sz="1200" spc="2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lang="en-US" sz="1200" spc="4" dirty="0">
                <a:solidFill>
                  <a:srgbClr val="231F20"/>
                </a:solidFill>
                <a:latin typeface="Tahoma"/>
                <a:cs typeface="Tahoma"/>
              </a:rPr>
              <a:t>(58%)</a:t>
            </a:r>
            <a:endParaRPr lang="en-US" sz="12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51095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spc="41" dirty="0">
                <a:solidFill>
                  <a:schemeClr val="tx1"/>
                </a:solidFill>
              </a:rPr>
              <a:t>Maintenance Costs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6</a:t>
            </a:fld>
            <a:endParaRPr lang="en-US" sz="70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5D61E736-D243-6283-262B-8F259D06C26A}"/>
              </a:ext>
            </a:extLst>
          </p:cNvPr>
          <p:cNvSpPr txBox="1">
            <a:spLocks/>
          </p:cNvSpPr>
          <p:nvPr/>
        </p:nvSpPr>
        <p:spPr>
          <a:xfrm>
            <a:off x="333829" y="1234281"/>
            <a:ext cx="8418285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9073" marR="4191" indent="-188595">
              <a:spcBef>
                <a:spcPts val="413"/>
              </a:spcBef>
              <a:buFont typeface="Arial"/>
              <a:buChar char="•"/>
              <a:tabLst>
                <a:tab pos="199073" algn="l"/>
                <a:tab pos="5932884" algn="l"/>
              </a:tabLst>
            </a:pPr>
            <a:r>
              <a:rPr lang="en-US" sz="2800" b="1" spc="-4" dirty="0">
                <a:solidFill>
                  <a:schemeClr val="tx1"/>
                </a:solidFill>
                <a:latin typeface="Calibri"/>
                <a:cs typeface="Calibri"/>
              </a:rPr>
              <a:t>Usually</a:t>
            </a:r>
            <a:r>
              <a:rPr lang="en-US" sz="2800" b="1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12" dirty="0">
                <a:solidFill>
                  <a:schemeClr val="tx1"/>
                </a:solidFill>
                <a:latin typeface="Calibri"/>
                <a:cs typeface="Calibri"/>
              </a:rPr>
              <a:t>greater</a:t>
            </a:r>
            <a:r>
              <a:rPr lang="en-US" sz="2800" b="1" spc="12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than</a:t>
            </a:r>
            <a:r>
              <a:rPr lang="en-US" sz="2800" b="1" spc="8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8" dirty="0">
                <a:solidFill>
                  <a:schemeClr val="tx1"/>
                </a:solidFill>
                <a:latin typeface="Calibri"/>
                <a:cs typeface="Calibri"/>
              </a:rPr>
              <a:t>development</a:t>
            </a:r>
            <a:r>
              <a:rPr lang="en-US" sz="2800" b="1" spc="8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12" dirty="0">
                <a:solidFill>
                  <a:schemeClr val="tx1"/>
                </a:solidFill>
                <a:latin typeface="Calibri"/>
                <a:cs typeface="Calibri"/>
              </a:rPr>
              <a:t>costs</a:t>
            </a: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(2*</a:t>
            </a:r>
            <a:r>
              <a:rPr lang="en-US" sz="2800" spc="12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lang="en-US" sz="2800" spc="-12" dirty="0">
                <a:solidFill>
                  <a:schemeClr val="tx1"/>
                </a:solidFill>
                <a:latin typeface="Calibri"/>
                <a:cs typeface="Calibri"/>
              </a:rPr>
              <a:t>to 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100*</a:t>
            </a:r>
            <a:r>
              <a:rPr lang="en-US" sz="2800" spc="-29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depending</a:t>
            </a:r>
            <a:r>
              <a:rPr lang="en-US" sz="2800" spc="-33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on </a:t>
            </a:r>
            <a:r>
              <a:rPr lang="en-US" sz="2800" spc="-512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 application).</a:t>
            </a:r>
            <a:endParaRPr lang="en-US" sz="28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199073" indent="-188595">
              <a:spcBef>
                <a:spcPts val="483"/>
              </a:spcBef>
              <a:buFont typeface="Arial"/>
              <a:buChar char="•"/>
              <a:tabLst>
                <a:tab pos="199073" algn="l"/>
                <a:tab pos="5728049" algn="l"/>
              </a:tabLst>
            </a:pPr>
            <a:r>
              <a:rPr lang="en-US" sz="2800" spc="-17" dirty="0">
                <a:solidFill>
                  <a:schemeClr val="tx1"/>
                </a:solidFill>
                <a:latin typeface="Calibri"/>
                <a:cs typeface="Calibri"/>
              </a:rPr>
              <a:t>Affected</a:t>
            </a:r>
            <a:r>
              <a:rPr lang="en-US" sz="2800" spc="17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by</a:t>
            </a:r>
            <a:r>
              <a:rPr lang="en-US" sz="2800" spc="8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both</a:t>
            </a:r>
            <a:r>
              <a:rPr lang="en-US" sz="2800" spc="2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8" dirty="0">
                <a:solidFill>
                  <a:schemeClr val="tx1"/>
                </a:solidFill>
                <a:latin typeface="Calibri"/>
                <a:cs typeface="Calibri"/>
              </a:rPr>
              <a:t>technical</a:t>
            </a:r>
            <a:r>
              <a:rPr lang="en-US" sz="2800" b="1" spc="12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4" dirty="0">
                <a:solidFill>
                  <a:schemeClr val="tx1"/>
                </a:solidFill>
                <a:latin typeface="Calibri"/>
                <a:cs typeface="Calibri"/>
              </a:rPr>
              <a:t>and</a:t>
            </a:r>
            <a:r>
              <a:rPr lang="en-US" sz="2800" b="1" spc="12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8" dirty="0">
                <a:solidFill>
                  <a:schemeClr val="tx1"/>
                </a:solidFill>
                <a:latin typeface="Calibri"/>
                <a:cs typeface="Calibri"/>
              </a:rPr>
              <a:t>non-technical </a:t>
            </a:r>
            <a:r>
              <a:rPr lang="en-US" sz="2800" spc="-17" dirty="0">
                <a:solidFill>
                  <a:schemeClr val="tx1"/>
                </a:solidFill>
                <a:latin typeface="Calibri"/>
                <a:cs typeface="Calibri"/>
              </a:rPr>
              <a:t>factors.</a:t>
            </a:r>
            <a:endParaRPr lang="en-US" sz="28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199073" marR="207455" indent="-188595">
              <a:spcBef>
                <a:spcPts val="833"/>
              </a:spcBef>
              <a:buFont typeface="Arial"/>
              <a:buChar char="•"/>
              <a:tabLst>
                <a:tab pos="199073" algn="l"/>
                <a:tab pos="5736954" algn="l"/>
              </a:tabLst>
            </a:pPr>
            <a:r>
              <a:rPr lang="en-US" sz="2800" b="1" spc="-8" dirty="0">
                <a:solidFill>
                  <a:schemeClr val="tx1"/>
                </a:solidFill>
                <a:latin typeface="Calibri"/>
                <a:cs typeface="Calibri"/>
              </a:rPr>
              <a:t>Ageing</a:t>
            </a:r>
            <a:r>
              <a:rPr lang="en-US" sz="2800" b="1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8" dirty="0">
                <a:solidFill>
                  <a:schemeClr val="tx1"/>
                </a:solidFill>
                <a:latin typeface="Calibri"/>
                <a:cs typeface="Calibri"/>
              </a:rPr>
              <a:t>software</a:t>
            </a:r>
            <a:r>
              <a:rPr lang="en-US" sz="2800" b="1" spc="8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4" dirty="0">
                <a:solidFill>
                  <a:schemeClr val="tx1"/>
                </a:solidFill>
                <a:latin typeface="Calibri"/>
                <a:cs typeface="Calibri"/>
              </a:rPr>
              <a:t>can</a:t>
            </a:r>
            <a:r>
              <a:rPr lang="en-US" sz="2800" b="1" spc="8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17" dirty="0">
                <a:solidFill>
                  <a:schemeClr val="tx1"/>
                </a:solidFill>
                <a:latin typeface="Calibri"/>
                <a:cs typeface="Calibri"/>
              </a:rPr>
              <a:t>have</a:t>
            </a:r>
            <a:r>
              <a:rPr lang="en-US" sz="2800" b="1" spc="8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4" dirty="0">
                <a:solidFill>
                  <a:schemeClr val="tx1"/>
                </a:solidFill>
                <a:latin typeface="Calibri"/>
                <a:cs typeface="Calibri"/>
              </a:rPr>
              <a:t>high</a:t>
            </a:r>
            <a:r>
              <a:rPr lang="en-US" sz="2800" b="1" spc="8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4" dirty="0">
                <a:solidFill>
                  <a:schemeClr val="tx1"/>
                </a:solidFill>
                <a:latin typeface="Calibri"/>
                <a:cs typeface="Calibri"/>
              </a:rPr>
              <a:t>support</a:t>
            </a:r>
            <a:r>
              <a:rPr lang="en-US" sz="2800" b="1" spc="12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12" dirty="0">
                <a:solidFill>
                  <a:schemeClr val="tx1"/>
                </a:solidFill>
                <a:latin typeface="Calibri"/>
                <a:cs typeface="Calibri"/>
              </a:rPr>
              <a:t>costs 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(e.g.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old </a:t>
            </a: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languages, </a:t>
            </a:r>
            <a:r>
              <a:rPr lang="en-US" sz="2800" spc="-507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compilers</a:t>
            </a:r>
            <a:r>
              <a:rPr lang="en-US" sz="28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etc.).</a:t>
            </a:r>
            <a:endParaRPr lang="en-US" sz="2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952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Autofit/>
          </a:bodyPr>
          <a:lstStyle/>
          <a:p>
            <a:r>
              <a:rPr lang="en-US" b="1" spc="41" dirty="0">
                <a:solidFill>
                  <a:schemeClr val="tx1"/>
                </a:solidFill>
              </a:rPr>
              <a:t>Maintenance Prediction 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7</a:t>
            </a:fld>
            <a:endParaRPr lang="en-US" sz="70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6F63D35-7784-DACF-EA20-7B7C09723BFD}"/>
              </a:ext>
            </a:extLst>
          </p:cNvPr>
          <p:cNvSpPr txBox="1">
            <a:spLocks/>
          </p:cNvSpPr>
          <p:nvPr/>
        </p:nvSpPr>
        <p:spPr>
          <a:xfrm>
            <a:off x="325168" y="1206173"/>
            <a:ext cx="8418285" cy="192891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4191" indent="-457200"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199073" algn="l"/>
              </a:tabLst>
            </a:pPr>
            <a:r>
              <a:rPr lang="en-US" b="1" spc="-8" dirty="0">
                <a:solidFill>
                  <a:schemeClr val="tx1"/>
                </a:solidFill>
                <a:latin typeface="Calibri"/>
                <a:cs typeface="Calibri"/>
              </a:rPr>
              <a:t>Maintenance</a:t>
            </a:r>
            <a:r>
              <a:rPr lang="en-US" b="1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b="1" spc="-8" dirty="0">
                <a:solidFill>
                  <a:schemeClr val="tx1"/>
                </a:solidFill>
                <a:latin typeface="Calibri"/>
                <a:cs typeface="Calibri"/>
              </a:rPr>
              <a:t>prediction</a:t>
            </a:r>
            <a:r>
              <a:rPr lang="en-US" b="1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pc="-4" dirty="0">
                <a:solidFill>
                  <a:schemeClr val="tx1"/>
                </a:solidFill>
                <a:latin typeface="Calibri"/>
                <a:cs typeface="Calibri"/>
              </a:rPr>
              <a:t>is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pc="-4" dirty="0">
                <a:solidFill>
                  <a:schemeClr val="tx1"/>
                </a:solidFill>
                <a:latin typeface="Calibri"/>
                <a:cs typeface="Calibri"/>
              </a:rPr>
              <a:t>concerned</a:t>
            </a:r>
            <a:r>
              <a:rPr lang="en-US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pc="-4" dirty="0">
                <a:solidFill>
                  <a:schemeClr val="tx1"/>
                </a:solidFill>
                <a:latin typeface="Calibri"/>
                <a:cs typeface="Calibri"/>
              </a:rPr>
              <a:t>with</a:t>
            </a:r>
            <a:r>
              <a:rPr lang="en-US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pc="-4" dirty="0">
                <a:solidFill>
                  <a:schemeClr val="tx1"/>
                </a:solidFill>
                <a:latin typeface="Calibri"/>
                <a:cs typeface="Calibri"/>
              </a:rPr>
              <a:t>assessing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pc="-4" dirty="0">
                <a:solidFill>
                  <a:schemeClr val="tx1"/>
                </a:solidFill>
                <a:latin typeface="Calibri"/>
                <a:cs typeface="Calibri"/>
              </a:rPr>
              <a:t>which</a:t>
            </a:r>
            <a:r>
              <a:rPr lang="en-US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pc="-4" dirty="0">
                <a:solidFill>
                  <a:schemeClr val="tx1"/>
                </a:solidFill>
                <a:latin typeface="Calibri"/>
                <a:cs typeface="Calibri"/>
              </a:rPr>
              <a:t>parts</a:t>
            </a:r>
            <a:r>
              <a:rPr lang="en-US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pc="-4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lang="en-US" spc="8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pc="-4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lang="en-US" spc="8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pc="-21" dirty="0">
                <a:solidFill>
                  <a:schemeClr val="tx1"/>
                </a:solidFill>
                <a:latin typeface="Calibri"/>
                <a:cs typeface="Calibri"/>
              </a:rPr>
              <a:t>system </a:t>
            </a:r>
            <a:r>
              <a:rPr lang="en-US" spc="-437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pc="-17" dirty="0">
                <a:solidFill>
                  <a:schemeClr val="tx1"/>
                </a:solidFill>
                <a:latin typeface="Calibri"/>
                <a:cs typeface="Calibri"/>
              </a:rPr>
              <a:t>may</a:t>
            </a:r>
            <a:r>
              <a:rPr lang="en-US" spc="-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pc="-8" dirty="0">
                <a:solidFill>
                  <a:schemeClr val="tx1"/>
                </a:solidFill>
                <a:latin typeface="Calibri"/>
                <a:cs typeface="Calibri"/>
              </a:rPr>
              <a:t>cause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pc="-8" dirty="0">
                <a:solidFill>
                  <a:schemeClr val="tx1"/>
                </a:solidFill>
                <a:latin typeface="Calibri"/>
                <a:cs typeface="Calibri"/>
              </a:rPr>
              <a:t>problems</a:t>
            </a:r>
            <a:r>
              <a:rPr lang="en-US" spc="-4" dirty="0">
                <a:solidFill>
                  <a:schemeClr val="tx1"/>
                </a:solidFill>
                <a:latin typeface="Calibri"/>
                <a:cs typeface="Calibri"/>
              </a:rPr>
              <a:t> and </a:t>
            </a:r>
            <a:r>
              <a:rPr lang="en-US" spc="-17" dirty="0">
                <a:solidFill>
                  <a:schemeClr val="tx1"/>
                </a:solidFill>
                <a:latin typeface="Calibri"/>
                <a:cs typeface="Calibri"/>
              </a:rPr>
              <a:t>have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pc="-4" dirty="0">
                <a:solidFill>
                  <a:schemeClr val="tx1"/>
                </a:solidFill>
                <a:latin typeface="Calibri"/>
                <a:cs typeface="Calibri"/>
              </a:rPr>
              <a:t>high </a:t>
            </a:r>
            <a:r>
              <a:rPr lang="en-US" spc="-8" dirty="0">
                <a:solidFill>
                  <a:schemeClr val="tx1"/>
                </a:solidFill>
                <a:latin typeface="Calibri"/>
                <a:cs typeface="Calibri"/>
              </a:rPr>
              <a:t>maintenance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pc="-12" dirty="0">
                <a:solidFill>
                  <a:schemeClr val="tx1"/>
                </a:solidFill>
                <a:latin typeface="Calibri"/>
                <a:cs typeface="Calibri"/>
              </a:rPr>
              <a:t>costs</a:t>
            </a:r>
            <a:endParaRPr lang="en-US" dirty="0">
              <a:solidFill>
                <a:schemeClr val="tx1"/>
              </a:solidFill>
              <a:latin typeface="Calibri"/>
              <a:cs typeface="Calibri"/>
            </a:endParaRPr>
          </a:p>
          <a:p>
            <a:pPr marR="324803" lvl="1" indent="-457200">
              <a:spcBef>
                <a:spcPts val="0"/>
              </a:spcBef>
              <a:buClr>
                <a:srgbClr val="84CDEA"/>
              </a:buClr>
              <a:buFont typeface="Arial" panose="020B0604020202020204" pitchFamily="34" charset="0"/>
              <a:buChar char="•"/>
              <a:tabLst>
                <a:tab pos="575739" algn="l"/>
                <a:tab pos="576263" algn="l"/>
              </a:tabLst>
            </a:pP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Change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acceptance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depends</a:t>
            </a:r>
            <a:r>
              <a:rPr lang="en-US" sz="28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on 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lang="en-US" sz="28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maintainability</a:t>
            </a: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lang="en-US" sz="28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the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components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12" dirty="0">
                <a:solidFill>
                  <a:schemeClr val="tx1"/>
                </a:solidFill>
                <a:latin typeface="Calibri"/>
                <a:cs typeface="Calibri"/>
              </a:rPr>
              <a:t>affected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by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the </a:t>
            </a:r>
            <a:r>
              <a:rPr lang="en-US" sz="2800" spc="-358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change</a:t>
            </a:r>
            <a:endParaRPr lang="en-US" sz="2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697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" name="object 17">
            <a:extLst>
              <a:ext uri="{FF2B5EF4-FFF2-40B4-BE49-F238E27FC236}">
                <a16:creationId xmlns:a16="http://schemas.microsoft.com/office/drawing/2014/main" id="{94578660-0372-C2E8-CC59-AE75F87504D7}"/>
              </a:ext>
            </a:extLst>
          </p:cNvPr>
          <p:cNvSpPr/>
          <p:nvPr/>
        </p:nvSpPr>
        <p:spPr>
          <a:xfrm>
            <a:off x="6580211" y="4004321"/>
            <a:ext cx="2273311" cy="754703"/>
          </a:xfrm>
          <a:custGeom>
            <a:avLst/>
            <a:gdLst/>
            <a:ahLst/>
            <a:cxnLst/>
            <a:rect l="l" t="t" r="r" b="b"/>
            <a:pathLst>
              <a:path w="2077720" h="645795">
                <a:moveTo>
                  <a:pt x="2077631" y="0"/>
                </a:moveTo>
                <a:lnTo>
                  <a:pt x="0" y="0"/>
                </a:lnTo>
                <a:lnTo>
                  <a:pt x="0" y="589597"/>
                </a:lnTo>
                <a:lnTo>
                  <a:pt x="0" y="645744"/>
                </a:lnTo>
                <a:lnTo>
                  <a:pt x="2077631" y="645744"/>
                </a:lnTo>
                <a:lnTo>
                  <a:pt x="2077631" y="589597"/>
                </a:lnTo>
                <a:lnTo>
                  <a:pt x="2077631" y="0"/>
                </a:lnTo>
                <a:close/>
              </a:path>
            </a:pathLst>
          </a:custGeom>
          <a:solidFill>
            <a:srgbClr val="6DCFF6"/>
          </a:solidFill>
        </p:spPr>
        <p:txBody>
          <a:bodyPr wrap="square" lIns="0" tIns="0" rIns="0" bIns="0" rtlCol="0"/>
          <a:lstStyle/>
          <a:p>
            <a:endParaRPr sz="1100"/>
          </a:p>
        </p:txBody>
      </p:sp>
      <p:sp>
        <p:nvSpPr>
          <p:cNvPr id="9225" name="object 6">
            <a:extLst>
              <a:ext uri="{FF2B5EF4-FFF2-40B4-BE49-F238E27FC236}">
                <a16:creationId xmlns:a16="http://schemas.microsoft.com/office/drawing/2014/main" id="{5C256335-8795-3115-3A64-97D9DDDFAA4C}"/>
              </a:ext>
            </a:extLst>
          </p:cNvPr>
          <p:cNvSpPr/>
          <p:nvPr/>
        </p:nvSpPr>
        <p:spPr>
          <a:xfrm>
            <a:off x="6531178" y="3969103"/>
            <a:ext cx="2273311" cy="754703"/>
          </a:xfrm>
          <a:custGeom>
            <a:avLst/>
            <a:gdLst/>
            <a:ahLst/>
            <a:cxnLst/>
            <a:rect l="l" t="t" r="r" b="b"/>
            <a:pathLst>
              <a:path w="2077720" h="645794">
                <a:moveTo>
                  <a:pt x="2077633" y="0"/>
                </a:moveTo>
                <a:lnTo>
                  <a:pt x="0" y="0"/>
                </a:lnTo>
                <a:lnTo>
                  <a:pt x="0" y="645741"/>
                </a:lnTo>
                <a:lnTo>
                  <a:pt x="2077633" y="645741"/>
                </a:lnTo>
                <a:lnTo>
                  <a:pt x="207763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100" dirty="0"/>
          </a:p>
        </p:txBody>
      </p:sp>
      <p:sp>
        <p:nvSpPr>
          <p:cNvPr id="60" name="object 10">
            <a:extLst>
              <a:ext uri="{FF2B5EF4-FFF2-40B4-BE49-F238E27FC236}">
                <a16:creationId xmlns:a16="http://schemas.microsoft.com/office/drawing/2014/main" id="{00A15717-EE80-418B-2968-1AE921AA5532}"/>
              </a:ext>
            </a:extLst>
          </p:cNvPr>
          <p:cNvSpPr/>
          <p:nvPr/>
        </p:nvSpPr>
        <p:spPr>
          <a:xfrm>
            <a:off x="5819235" y="1981435"/>
            <a:ext cx="2273311" cy="754703"/>
          </a:xfrm>
          <a:custGeom>
            <a:avLst/>
            <a:gdLst/>
            <a:ahLst/>
            <a:cxnLst/>
            <a:rect l="l" t="t" r="r" b="b"/>
            <a:pathLst>
              <a:path w="2077720" h="645794">
                <a:moveTo>
                  <a:pt x="2077631" y="0"/>
                </a:moveTo>
                <a:lnTo>
                  <a:pt x="0" y="0"/>
                </a:lnTo>
                <a:lnTo>
                  <a:pt x="0" y="589597"/>
                </a:lnTo>
                <a:lnTo>
                  <a:pt x="0" y="645744"/>
                </a:lnTo>
                <a:lnTo>
                  <a:pt x="2077631" y="645744"/>
                </a:lnTo>
                <a:lnTo>
                  <a:pt x="2077631" y="589597"/>
                </a:lnTo>
                <a:lnTo>
                  <a:pt x="2077631" y="0"/>
                </a:lnTo>
                <a:close/>
              </a:path>
            </a:pathLst>
          </a:custGeom>
          <a:solidFill>
            <a:srgbClr val="6DCFF6"/>
          </a:solidFill>
        </p:spPr>
        <p:txBody>
          <a:bodyPr wrap="square" lIns="0" tIns="0" rIns="0" bIns="0" rtlCol="0"/>
          <a:lstStyle/>
          <a:p>
            <a:endParaRPr sz="1100"/>
          </a:p>
        </p:txBody>
      </p:sp>
      <p:sp>
        <p:nvSpPr>
          <p:cNvPr id="9224" name="object 6">
            <a:extLst>
              <a:ext uri="{FF2B5EF4-FFF2-40B4-BE49-F238E27FC236}">
                <a16:creationId xmlns:a16="http://schemas.microsoft.com/office/drawing/2014/main" id="{DF289FAE-5B93-DF9A-868C-A1929EDA6ACA}"/>
              </a:ext>
            </a:extLst>
          </p:cNvPr>
          <p:cNvSpPr/>
          <p:nvPr/>
        </p:nvSpPr>
        <p:spPr>
          <a:xfrm>
            <a:off x="5772196" y="1929087"/>
            <a:ext cx="2273311" cy="754703"/>
          </a:xfrm>
          <a:custGeom>
            <a:avLst/>
            <a:gdLst/>
            <a:ahLst/>
            <a:cxnLst/>
            <a:rect l="l" t="t" r="r" b="b"/>
            <a:pathLst>
              <a:path w="2077720" h="645794">
                <a:moveTo>
                  <a:pt x="2077633" y="0"/>
                </a:moveTo>
                <a:lnTo>
                  <a:pt x="0" y="0"/>
                </a:lnTo>
                <a:lnTo>
                  <a:pt x="0" y="645741"/>
                </a:lnTo>
                <a:lnTo>
                  <a:pt x="2077633" y="645741"/>
                </a:lnTo>
                <a:lnTo>
                  <a:pt x="207763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100" dirty="0"/>
          </a:p>
        </p:txBody>
      </p:sp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pPr algn="ctr" defTabSz="914400" rtl="1" eaLnBrk="1" latinLnBrk="0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en-US" b="1" dirty="0">
                <a:solidFill>
                  <a:schemeClr val="tx1"/>
                </a:solidFill>
              </a:rPr>
              <a:t>Maintenance Prediction</a:t>
            </a: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110264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1100" b="1" dirty="0"/>
          </a:p>
          <a:p>
            <a:pPr marL="91440" indent="0">
              <a:buNone/>
            </a:pPr>
            <a:endParaRPr lang="en-US" sz="1100" dirty="0"/>
          </a:p>
          <a:p>
            <a:pPr marL="605790" indent="-514350">
              <a:buFont typeface="+mj-lt"/>
              <a:buAutoNum type="arabicPeriod"/>
            </a:pPr>
            <a:endParaRPr lang="en-US" sz="1100" dirty="0"/>
          </a:p>
          <a:p>
            <a:pPr marL="91440" indent="0">
              <a:buNone/>
            </a:pPr>
            <a:endParaRPr lang="en-US" sz="1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8</a:t>
            </a:fld>
            <a:endParaRPr lang="en-US" sz="700"/>
          </a:p>
        </p:txBody>
      </p:sp>
      <p:sp>
        <p:nvSpPr>
          <p:cNvPr id="45" name="object 5">
            <a:extLst>
              <a:ext uri="{FF2B5EF4-FFF2-40B4-BE49-F238E27FC236}">
                <a16:creationId xmlns:a16="http://schemas.microsoft.com/office/drawing/2014/main" id="{AC8319A9-1B5D-62E2-DB61-B43796714F98}"/>
              </a:ext>
            </a:extLst>
          </p:cNvPr>
          <p:cNvSpPr/>
          <p:nvPr/>
        </p:nvSpPr>
        <p:spPr>
          <a:xfrm>
            <a:off x="2440156" y="3064173"/>
            <a:ext cx="245951" cy="788097"/>
          </a:xfrm>
          <a:custGeom>
            <a:avLst/>
            <a:gdLst/>
            <a:ahLst/>
            <a:cxnLst/>
            <a:rect l="l" t="t" r="r" b="b"/>
            <a:pathLst>
              <a:path w="224789" h="674370">
                <a:moveTo>
                  <a:pt x="0" y="0"/>
                </a:moveTo>
                <a:lnTo>
                  <a:pt x="224597" y="673831"/>
                </a:lnTo>
              </a:path>
            </a:pathLst>
          </a:custGeom>
          <a:ln w="927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1100"/>
          </a:p>
        </p:txBody>
      </p:sp>
      <p:sp>
        <p:nvSpPr>
          <p:cNvPr id="46" name="object 8">
            <a:extLst>
              <a:ext uri="{FF2B5EF4-FFF2-40B4-BE49-F238E27FC236}">
                <a16:creationId xmlns:a16="http://schemas.microsoft.com/office/drawing/2014/main" id="{DC47D6C5-C10C-75EE-E309-DAA7ECB79D7F}"/>
              </a:ext>
            </a:extLst>
          </p:cNvPr>
          <p:cNvSpPr/>
          <p:nvPr/>
        </p:nvSpPr>
        <p:spPr>
          <a:xfrm>
            <a:off x="2655183" y="5426551"/>
            <a:ext cx="522472" cy="230047"/>
          </a:xfrm>
          <a:custGeom>
            <a:avLst/>
            <a:gdLst/>
            <a:ahLst/>
            <a:cxnLst/>
            <a:rect l="l" t="t" r="r" b="b"/>
            <a:pathLst>
              <a:path w="477520" h="196850">
                <a:moveTo>
                  <a:pt x="0" y="196547"/>
                </a:moveTo>
                <a:lnTo>
                  <a:pt x="477283" y="0"/>
                </a:lnTo>
              </a:path>
            </a:pathLst>
          </a:custGeom>
          <a:ln w="927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1100"/>
          </a:p>
        </p:txBody>
      </p:sp>
      <p:sp>
        <p:nvSpPr>
          <p:cNvPr id="47" name="object 11">
            <a:extLst>
              <a:ext uri="{FF2B5EF4-FFF2-40B4-BE49-F238E27FC236}">
                <a16:creationId xmlns:a16="http://schemas.microsoft.com/office/drawing/2014/main" id="{DD932B96-F285-4B68-951E-40DCABFBC312}"/>
              </a:ext>
            </a:extLst>
          </p:cNvPr>
          <p:cNvSpPr/>
          <p:nvPr/>
        </p:nvSpPr>
        <p:spPr>
          <a:xfrm>
            <a:off x="4989824" y="2276730"/>
            <a:ext cx="768424" cy="328745"/>
          </a:xfrm>
          <a:custGeom>
            <a:avLst/>
            <a:gdLst/>
            <a:ahLst/>
            <a:cxnLst/>
            <a:rect l="l" t="t" r="r" b="b"/>
            <a:pathLst>
              <a:path w="702309" h="281305">
                <a:moveTo>
                  <a:pt x="0" y="280756"/>
                </a:moveTo>
                <a:lnTo>
                  <a:pt x="701900" y="0"/>
                </a:lnTo>
              </a:path>
            </a:pathLst>
          </a:custGeom>
          <a:ln w="927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1100"/>
          </a:p>
        </p:txBody>
      </p:sp>
      <p:sp>
        <p:nvSpPr>
          <p:cNvPr id="48" name="object 15">
            <a:extLst>
              <a:ext uri="{FF2B5EF4-FFF2-40B4-BE49-F238E27FC236}">
                <a16:creationId xmlns:a16="http://schemas.microsoft.com/office/drawing/2014/main" id="{B11458F4-61ED-F493-FE9F-A2721CCEF531}"/>
              </a:ext>
            </a:extLst>
          </p:cNvPr>
          <p:cNvSpPr/>
          <p:nvPr/>
        </p:nvSpPr>
        <p:spPr>
          <a:xfrm>
            <a:off x="5665642" y="5131274"/>
            <a:ext cx="553042" cy="328745"/>
          </a:xfrm>
          <a:custGeom>
            <a:avLst/>
            <a:gdLst/>
            <a:ahLst/>
            <a:cxnLst/>
            <a:rect l="l" t="t" r="r" b="b"/>
            <a:pathLst>
              <a:path w="505459" h="281304">
                <a:moveTo>
                  <a:pt x="505373" y="280756"/>
                </a:moveTo>
                <a:lnTo>
                  <a:pt x="0" y="0"/>
                </a:lnTo>
              </a:path>
            </a:pathLst>
          </a:custGeom>
          <a:ln w="927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1100"/>
          </a:p>
        </p:txBody>
      </p:sp>
      <p:sp>
        <p:nvSpPr>
          <p:cNvPr id="49" name="object 18">
            <a:extLst>
              <a:ext uri="{FF2B5EF4-FFF2-40B4-BE49-F238E27FC236}">
                <a16:creationId xmlns:a16="http://schemas.microsoft.com/office/drawing/2014/main" id="{6229ECF5-585D-E736-62EE-D77E741FCB6C}"/>
              </a:ext>
            </a:extLst>
          </p:cNvPr>
          <p:cNvSpPr/>
          <p:nvPr/>
        </p:nvSpPr>
        <p:spPr>
          <a:xfrm>
            <a:off x="5942116" y="4278178"/>
            <a:ext cx="576665" cy="0"/>
          </a:xfrm>
          <a:custGeom>
            <a:avLst/>
            <a:gdLst/>
            <a:ahLst/>
            <a:cxnLst/>
            <a:rect l="l" t="t" r="r" b="b"/>
            <a:pathLst>
              <a:path w="527050">
                <a:moveTo>
                  <a:pt x="0" y="0"/>
                </a:moveTo>
                <a:lnTo>
                  <a:pt x="527044" y="0"/>
                </a:lnTo>
              </a:path>
            </a:pathLst>
          </a:custGeom>
          <a:ln w="927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1100"/>
          </a:p>
        </p:txBody>
      </p:sp>
      <p:sp>
        <p:nvSpPr>
          <p:cNvPr id="50" name="object 19">
            <a:extLst>
              <a:ext uri="{FF2B5EF4-FFF2-40B4-BE49-F238E27FC236}">
                <a16:creationId xmlns:a16="http://schemas.microsoft.com/office/drawing/2014/main" id="{D2F0F328-A077-7C57-0BB9-9F0675E9F6B5}"/>
              </a:ext>
            </a:extLst>
          </p:cNvPr>
          <p:cNvSpPr/>
          <p:nvPr/>
        </p:nvSpPr>
        <p:spPr>
          <a:xfrm>
            <a:off x="2655178" y="2440772"/>
            <a:ext cx="6136967" cy="3478163"/>
          </a:xfrm>
          <a:custGeom>
            <a:avLst/>
            <a:gdLst/>
            <a:ahLst/>
            <a:cxnLst/>
            <a:rect l="l" t="t" r="r" b="b"/>
            <a:pathLst>
              <a:path w="5608955" h="2976245">
                <a:moveTo>
                  <a:pt x="3004134" y="1488033"/>
                </a:moveTo>
                <a:lnTo>
                  <a:pt x="3003359" y="1439875"/>
                </a:lnTo>
                <a:lnTo>
                  <a:pt x="3001060" y="1392097"/>
                </a:lnTo>
                <a:lnTo>
                  <a:pt x="2997250" y="1344726"/>
                </a:lnTo>
                <a:lnTo>
                  <a:pt x="2991967" y="1297787"/>
                </a:lnTo>
                <a:lnTo>
                  <a:pt x="2985224" y="1251292"/>
                </a:lnTo>
                <a:lnTo>
                  <a:pt x="2977045" y="1205268"/>
                </a:lnTo>
                <a:lnTo>
                  <a:pt x="2967456" y="1159751"/>
                </a:lnTo>
                <a:lnTo>
                  <a:pt x="2956471" y="1114755"/>
                </a:lnTo>
                <a:lnTo>
                  <a:pt x="2944139" y="1070292"/>
                </a:lnTo>
                <a:lnTo>
                  <a:pt x="2930448" y="1026401"/>
                </a:lnTo>
                <a:lnTo>
                  <a:pt x="2915450" y="983107"/>
                </a:lnTo>
                <a:lnTo>
                  <a:pt x="2899156" y="940422"/>
                </a:lnTo>
                <a:lnTo>
                  <a:pt x="2881579" y="898372"/>
                </a:lnTo>
                <a:lnTo>
                  <a:pt x="2862757" y="856983"/>
                </a:lnTo>
                <a:lnTo>
                  <a:pt x="2842717" y="816267"/>
                </a:lnTo>
                <a:lnTo>
                  <a:pt x="2821482" y="776262"/>
                </a:lnTo>
                <a:lnTo>
                  <a:pt x="2799054" y="736993"/>
                </a:lnTo>
                <a:lnTo>
                  <a:pt x="2775483" y="698474"/>
                </a:lnTo>
                <a:lnTo>
                  <a:pt x="2750769" y="660717"/>
                </a:lnTo>
                <a:lnTo>
                  <a:pt x="2724950" y="623773"/>
                </a:lnTo>
                <a:lnTo>
                  <a:pt x="2698051" y="587641"/>
                </a:lnTo>
                <a:lnTo>
                  <a:pt x="2670086" y="552361"/>
                </a:lnTo>
                <a:lnTo>
                  <a:pt x="2641079" y="517931"/>
                </a:lnTo>
                <a:lnTo>
                  <a:pt x="2611069" y="484403"/>
                </a:lnTo>
                <a:lnTo>
                  <a:pt x="2580055" y="451789"/>
                </a:lnTo>
                <a:lnTo>
                  <a:pt x="2548077" y="420116"/>
                </a:lnTo>
                <a:lnTo>
                  <a:pt x="2515158" y="389394"/>
                </a:lnTo>
                <a:lnTo>
                  <a:pt x="2481313" y="359651"/>
                </a:lnTo>
                <a:lnTo>
                  <a:pt x="2446566" y="330923"/>
                </a:lnTo>
                <a:lnTo>
                  <a:pt x="2410955" y="303225"/>
                </a:lnTo>
                <a:lnTo>
                  <a:pt x="2374481" y="276567"/>
                </a:lnTo>
                <a:lnTo>
                  <a:pt x="2337181" y="250990"/>
                </a:lnTo>
                <a:lnTo>
                  <a:pt x="2299081" y="226517"/>
                </a:lnTo>
                <a:lnTo>
                  <a:pt x="2260193" y="203161"/>
                </a:lnTo>
                <a:lnTo>
                  <a:pt x="2220544" y="180949"/>
                </a:lnTo>
                <a:lnTo>
                  <a:pt x="2180158" y="159905"/>
                </a:lnTo>
                <a:lnTo>
                  <a:pt x="2139073" y="140042"/>
                </a:lnTo>
                <a:lnTo>
                  <a:pt x="2097290" y="121412"/>
                </a:lnTo>
                <a:lnTo>
                  <a:pt x="2054834" y="104000"/>
                </a:lnTo>
                <a:lnTo>
                  <a:pt x="2011756" y="87858"/>
                </a:lnTo>
                <a:lnTo>
                  <a:pt x="1968042" y="72999"/>
                </a:lnTo>
                <a:lnTo>
                  <a:pt x="1923745" y="59436"/>
                </a:lnTo>
                <a:lnTo>
                  <a:pt x="1878863" y="47205"/>
                </a:lnTo>
                <a:lnTo>
                  <a:pt x="1833435" y="36334"/>
                </a:lnTo>
                <a:lnTo>
                  <a:pt x="1787486" y="26835"/>
                </a:lnTo>
                <a:lnTo>
                  <a:pt x="1741030" y="18732"/>
                </a:lnTo>
                <a:lnTo>
                  <a:pt x="1694103" y="12052"/>
                </a:lnTo>
                <a:lnTo>
                  <a:pt x="1646720" y="6819"/>
                </a:lnTo>
                <a:lnTo>
                  <a:pt x="1598891" y="3048"/>
                </a:lnTo>
                <a:lnTo>
                  <a:pt x="1550670" y="774"/>
                </a:lnTo>
                <a:lnTo>
                  <a:pt x="1502054" y="0"/>
                </a:lnTo>
                <a:lnTo>
                  <a:pt x="1453438" y="774"/>
                </a:lnTo>
                <a:lnTo>
                  <a:pt x="1405216" y="3048"/>
                </a:lnTo>
                <a:lnTo>
                  <a:pt x="1357388" y="6819"/>
                </a:lnTo>
                <a:lnTo>
                  <a:pt x="1310005" y="12052"/>
                </a:lnTo>
                <a:lnTo>
                  <a:pt x="1263078" y="18732"/>
                </a:lnTo>
                <a:lnTo>
                  <a:pt x="1216621" y="26835"/>
                </a:lnTo>
                <a:lnTo>
                  <a:pt x="1170673" y="36334"/>
                </a:lnTo>
                <a:lnTo>
                  <a:pt x="1125258" y="47205"/>
                </a:lnTo>
                <a:lnTo>
                  <a:pt x="1080376" y="59436"/>
                </a:lnTo>
                <a:lnTo>
                  <a:pt x="1036078" y="72999"/>
                </a:lnTo>
                <a:lnTo>
                  <a:pt x="992365" y="87858"/>
                </a:lnTo>
                <a:lnTo>
                  <a:pt x="949274" y="104000"/>
                </a:lnTo>
                <a:lnTo>
                  <a:pt x="906830" y="121412"/>
                </a:lnTo>
                <a:lnTo>
                  <a:pt x="865047" y="140042"/>
                </a:lnTo>
                <a:lnTo>
                  <a:pt x="823963" y="159905"/>
                </a:lnTo>
                <a:lnTo>
                  <a:pt x="783577" y="180949"/>
                </a:lnTo>
                <a:lnTo>
                  <a:pt x="743927" y="203161"/>
                </a:lnTo>
                <a:lnTo>
                  <a:pt x="705053" y="226517"/>
                </a:lnTo>
                <a:lnTo>
                  <a:pt x="666940" y="250990"/>
                </a:lnTo>
                <a:lnTo>
                  <a:pt x="629640" y="276567"/>
                </a:lnTo>
                <a:lnTo>
                  <a:pt x="593178" y="303225"/>
                </a:lnTo>
                <a:lnTo>
                  <a:pt x="557555" y="330923"/>
                </a:lnTo>
                <a:lnTo>
                  <a:pt x="522808" y="359651"/>
                </a:lnTo>
                <a:lnTo>
                  <a:pt x="488962" y="389394"/>
                </a:lnTo>
                <a:lnTo>
                  <a:pt x="456044" y="420116"/>
                </a:lnTo>
                <a:lnTo>
                  <a:pt x="424065" y="451789"/>
                </a:lnTo>
                <a:lnTo>
                  <a:pt x="393065" y="484403"/>
                </a:lnTo>
                <a:lnTo>
                  <a:pt x="363042" y="517931"/>
                </a:lnTo>
                <a:lnTo>
                  <a:pt x="334035" y="552361"/>
                </a:lnTo>
                <a:lnTo>
                  <a:pt x="306070" y="587641"/>
                </a:lnTo>
                <a:lnTo>
                  <a:pt x="279171" y="623773"/>
                </a:lnTo>
                <a:lnTo>
                  <a:pt x="253352" y="660717"/>
                </a:lnTo>
                <a:lnTo>
                  <a:pt x="228650" y="698474"/>
                </a:lnTo>
                <a:lnTo>
                  <a:pt x="205066" y="736993"/>
                </a:lnTo>
                <a:lnTo>
                  <a:pt x="182651" y="776262"/>
                </a:lnTo>
                <a:lnTo>
                  <a:pt x="161404" y="816267"/>
                </a:lnTo>
                <a:lnTo>
                  <a:pt x="141363" y="856983"/>
                </a:lnTo>
                <a:lnTo>
                  <a:pt x="122542" y="898372"/>
                </a:lnTo>
                <a:lnTo>
                  <a:pt x="104978" y="940422"/>
                </a:lnTo>
                <a:lnTo>
                  <a:pt x="88684" y="983107"/>
                </a:lnTo>
                <a:lnTo>
                  <a:pt x="73672" y="1026401"/>
                </a:lnTo>
                <a:lnTo>
                  <a:pt x="59994" y="1070292"/>
                </a:lnTo>
                <a:lnTo>
                  <a:pt x="47650" y="1114755"/>
                </a:lnTo>
                <a:lnTo>
                  <a:pt x="36677" y="1159751"/>
                </a:lnTo>
                <a:lnTo>
                  <a:pt x="27076" y="1205268"/>
                </a:lnTo>
                <a:lnTo>
                  <a:pt x="18910" y="1251292"/>
                </a:lnTo>
                <a:lnTo>
                  <a:pt x="12166" y="1297787"/>
                </a:lnTo>
                <a:lnTo>
                  <a:pt x="6870" y="1344726"/>
                </a:lnTo>
                <a:lnTo>
                  <a:pt x="3073" y="1392097"/>
                </a:lnTo>
                <a:lnTo>
                  <a:pt x="774" y="1439875"/>
                </a:lnTo>
                <a:lnTo>
                  <a:pt x="0" y="1488033"/>
                </a:lnTo>
                <a:lnTo>
                  <a:pt x="774" y="1536192"/>
                </a:lnTo>
                <a:lnTo>
                  <a:pt x="3073" y="1583969"/>
                </a:lnTo>
                <a:lnTo>
                  <a:pt x="6870" y="1631353"/>
                </a:lnTo>
                <a:lnTo>
                  <a:pt x="12166" y="1678292"/>
                </a:lnTo>
                <a:lnTo>
                  <a:pt x="18910" y="1724787"/>
                </a:lnTo>
                <a:lnTo>
                  <a:pt x="27076" y="1770799"/>
                </a:lnTo>
                <a:lnTo>
                  <a:pt x="36677" y="1816328"/>
                </a:lnTo>
                <a:lnTo>
                  <a:pt x="47650" y="1861324"/>
                </a:lnTo>
                <a:lnTo>
                  <a:pt x="59994" y="1905787"/>
                </a:lnTo>
                <a:lnTo>
                  <a:pt x="73672" y="1949665"/>
                </a:lnTo>
                <a:lnTo>
                  <a:pt x="88684" y="1992972"/>
                </a:lnTo>
                <a:lnTo>
                  <a:pt x="104978" y="2035657"/>
                </a:lnTo>
                <a:lnTo>
                  <a:pt x="122542" y="2077707"/>
                </a:lnTo>
                <a:lnTo>
                  <a:pt x="141363" y="2119096"/>
                </a:lnTo>
                <a:lnTo>
                  <a:pt x="161404" y="2159812"/>
                </a:lnTo>
                <a:lnTo>
                  <a:pt x="182651" y="2199805"/>
                </a:lnTo>
                <a:lnTo>
                  <a:pt x="205066" y="2239086"/>
                </a:lnTo>
                <a:lnTo>
                  <a:pt x="228650" y="2277605"/>
                </a:lnTo>
                <a:lnTo>
                  <a:pt x="253352" y="2315362"/>
                </a:lnTo>
                <a:lnTo>
                  <a:pt x="279171" y="2352306"/>
                </a:lnTo>
                <a:lnTo>
                  <a:pt x="306070" y="2388438"/>
                </a:lnTo>
                <a:lnTo>
                  <a:pt x="334035" y="2423718"/>
                </a:lnTo>
                <a:lnTo>
                  <a:pt x="363042" y="2458135"/>
                </a:lnTo>
                <a:lnTo>
                  <a:pt x="393065" y="2491663"/>
                </a:lnTo>
                <a:lnTo>
                  <a:pt x="424065" y="2524290"/>
                </a:lnTo>
                <a:lnTo>
                  <a:pt x="456044" y="2555964"/>
                </a:lnTo>
                <a:lnTo>
                  <a:pt x="488962" y="2586685"/>
                </a:lnTo>
                <a:lnTo>
                  <a:pt x="522808" y="2616416"/>
                </a:lnTo>
                <a:lnTo>
                  <a:pt x="557555" y="2645156"/>
                </a:lnTo>
                <a:lnTo>
                  <a:pt x="593178" y="2672854"/>
                </a:lnTo>
                <a:lnTo>
                  <a:pt x="629640" y="2699499"/>
                </a:lnTo>
                <a:lnTo>
                  <a:pt x="666940" y="2725077"/>
                </a:lnTo>
                <a:lnTo>
                  <a:pt x="705053" y="2749550"/>
                </a:lnTo>
                <a:lnTo>
                  <a:pt x="743927" y="2772918"/>
                </a:lnTo>
                <a:lnTo>
                  <a:pt x="783577" y="2795130"/>
                </a:lnTo>
                <a:lnTo>
                  <a:pt x="823963" y="2816174"/>
                </a:lnTo>
                <a:lnTo>
                  <a:pt x="865047" y="2836024"/>
                </a:lnTo>
                <a:lnTo>
                  <a:pt x="906830" y="2854668"/>
                </a:lnTo>
                <a:lnTo>
                  <a:pt x="949274" y="2872067"/>
                </a:lnTo>
                <a:lnTo>
                  <a:pt x="992365" y="2888208"/>
                </a:lnTo>
                <a:lnTo>
                  <a:pt x="1036078" y="2903080"/>
                </a:lnTo>
                <a:lnTo>
                  <a:pt x="1080376" y="2916631"/>
                </a:lnTo>
                <a:lnTo>
                  <a:pt x="1125258" y="2928861"/>
                </a:lnTo>
                <a:lnTo>
                  <a:pt x="1170673" y="2939732"/>
                </a:lnTo>
                <a:lnTo>
                  <a:pt x="1216621" y="2949232"/>
                </a:lnTo>
                <a:lnTo>
                  <a:pt x="1263078" y="2957334"/>
                </a:lnTo>
                <a:lnTo>
                  <a:pt x="1310005" y="2964015"/>
                </a:lnTo>
                <a:lnTo>
                  <a:pt x="1357388" y="2969260"/>
                </a:lnTo>
                <a:lnTo>
                  <a:pt x="1405216" y="2973019"/>
                </a:lnTo>
                <a:lnTo>
                  <a:pt x="1453438" y="2975305"/>
                </a:lnTo>
                <a:lnTo>
                  <a:pt x="1502054" y="2976067"/>
                </a:lnTo>
                <a:lnTo>
                  <a:pt x="1550670" y="2975305"/>
                </a:lnTo>
                <a:lnTo>
                  <a:pt x="1598891" y="2973019"/>
                </a:lnTo>
                <a:lnTo>
                  <a:pt x="1646720" y="2969260"/>
                </a:lnTo>
                <a:lnTo>
                  <a:pt x="1694103" y="2964015"/>
                </a:lnTo>
                <a:lnTo>
                  <a:pt x="1741030" y="2957334"/>
                </a:lnTo>
                <a:lnTo>
                  <a:pt x="1787486" y="2949232"/>
                </a:lnTo>
                <a:lnTo>
                  <a:pt x="1833435" y="2939732"/>
                </a:lnTo>
                <a:lnTo>
                  <a:pt x="1878863" y="2928861"/>
                </a:lnTo>
                <a:lnTo>
                  <a:pt x="1923745" y="2916631"/>
                </a:lnTo>
                <a:lnTo>
                  <a:pt x="1968042" y="2903080"/>
                </a:lnTo>
                <a:lnTo>
                  <a:pt x="2011756" y="2888208"/>
                </a:lnTo>
                <a:lnTo>
                  <a:pt x="2054834" y="2872067"/>
                </a:lnTo>
                <a:lnTo>
                  <a:pt x="2097290" y="2854668"/>
                </a:lnTo>
                <a:lnTo>
                  <a:pt x="2139073" y="2836024"/>
                </a:lnTo>
                <a:lnTo>
                  <a:pt x="2180158" y="2816174"/>
                </a:lnTo>
                <a:lnTo>
                  <a:pt x="2220544" y="2795130"/>
                </a:lnTo>
                <a:lnTo>
                  <a:pt x="2260193" y="2772918"/>
                </a:lnTo>
                <a:lnTo>
                  <a:pt x="2299081" y="2749550"/>
                </a:lnTo>
                <a:lnTo>
                  <a:pt x="2337181" y="2725077"/>
                </a:lnTo>
                <a:lnTo>
                  <a:pt x="2374481" y="2699499"/>
                </a:lnTo>
                <a:lnTo>
                  <a:pt x="2410955" y="2672854"/>
                </a:lnTo>
                <a:lnTo>
                  <a:pt x="2446566" y="2645156"/>
                </a:lnTo>
                <a:lnTo>
                  <a:pt x="2481313" y="2616416"/>
                </a:lnTo>
                <a:lnTo>
                  <a:pt x="2515158" y="2586685"/>
                </a:lnTo>
                <a:lnTo>
                  <a:pt x="2548077" y="2555964"/>
                </a:lnTo>
                <a:lnTo>
                  <a:pt x="2580055" y="2524290"/>
                </a:lnTo>
                <a:lnTo>
                  <a:pt x="2611069" y="2491663"/>
                </a:lnTo>
                <a:lnTo>
                  <a:pt x="2641079" y="2458135"/>
                </a:lnTo>
                <a:lnTo>
                  <a:pt x="2670086" y="2423718"/>
                </a:lnTo>
                <a:lnTo>
                  <a:pt x="2698051" y="2388438"/>
                </a:lnTo>
                <a:lnTo>
                  <a:pt x="2724950" y="2352306"/>
                </a:lnTo>
                <a:lnTo>
                  <a:pt x="2750769" y="2315362"/>
                </a:lnTo>
                <a:lnTo>
                  <a:pt x="2775483" y="2277605"/>
                </a:lnTo>
                <a:lnTo>
                  <a:pt x="2799054" y="2239086"/>
                </a:lnTo>
                <a:lnTo>
                  <a:pt x="2821482" y="2199805"/>
                </a:lnTo>
                <a:lnTo>
                  <a:pt x="2842717" y="2159812"/>
                </a:lnTo>
                <a:lnTo>
                  <a:pt x="2862757" y="2119096"/>
                </a:lnTo>
                <a:lnTo>
                  <a:pt x="2881579" y="2077707"/>
                </a:lnTo>
                <a:lnTo>
                  <a:pt x="2899156" y="2035657"/>
                </a:lnTo>
                <a:lnTo>
                  <a:pt x="2915450" y="1992972"/>
                </a:lnTo>
                <a:lnTo>
                  <a:pt x="2930448" y="1949665"/>
                </a:lnTo>
                <a:lnTo>
                  <a:pt x="2944139" y="1905787"/>
                </a:lnTo>
                <a:lnTo>
                  <a:pt x="2956471" y="1861324"/>
                </a:lnTo>
                <a:lnTo>
                  <a:pt x="2967456" y="1816328"/>
                </a:lnTo>
                <a:lnTo>
                  <a:pt x="2977045" y="1770799"/>
                </a:lnTo>
                <a:lnTo>
                  <a:pt x="2985224" y="1724787"/>
                </a:lnTo>
                <a:lnTo>
                  <a:pt x="2991967" y="1678292"/>
                </a:lnTo>
                <a:lnTo>
                  <a:pt x="2997250" y="1631353"/>
                </a:lnTo>
                <a:lnTo>
                  <a:pt x="3001060" y="1583969"/>
                </a:lnTo>
                <a:lnTo>
                  <a:pt x="3003359" y="1536192"/>
                </a:lnTo>
                <a:lnTo>
                  <a:pt x="3004134" y="1488033"/>
                </a:lnTo>
                <a:close/>
              </a:path>
              <a:path w="5608955" h="2976245">
                <a:moveTo>
                  <a:pt x="5608802" y="1281760"/>
                </a:moveTo>
                <a:lnTo>
                  <a:pt x="3531171" y="1281760"/>
                </a:lnTo>
                <a:lnTo>
                  <a:pt x="3531171" y="1927517"/>
                </a:lnTo>
                <a:lnTo>
                  <a:pt x="5608802" y="1927517"/>
                </a:lnTo>
                <a:lnTo>
                  <a:pt x="5608802" y="12817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100"/>
          </a:p>
        </p:txBody>
      </p:sp>
      <p:sp>
        <p:nvSpPr>
          <p:cNvPr id="51" name="object 21">
            <a:extLst>
              <a:ext uri="{FF2B5EF4-FFF2-40B4-BE49-F238E27FC236}">
                <a16:creationId xmlns:a16="http://schemas.microsoft.com/office/drawing/2014/main" id="{ACF31CD7-6B7C-0C4B-5B01-5063156B6CBE}"/>
              </a:ext>
            </a:extLst>
          </p:cNvPr>
          <p:cNvSpPr/>
          <p:nvPr/>
        </p:nvSpPr>
        <p:spPr>
          <a:xfrm>
            <a:off x="2778032" y="3523537"/>
            <a:ext cx="3011165" cy="2395458"/>
          </a:xfrm>
          <a:custGeom>
            <a:avLst/>
            <a:gdLst/>
            <a:ahLst/>
            <a:cxnLst/>
            <a:rect l="l" t="t" r="r" b="b"/>
            <a:pathLst>
              <a:path w="2752090" h="2049779">
                <a:moveTo>
                  <a:pt x="1403821" y="561512"/>
                </a:moveTo>
                <a:lnTo>
                  <a:pt x="1403821" y="2049543"/>
                </a:lnTo>
              </a:path>
              <a:path w="2752090" h="2049779">
                <a:moveTo>
                  <a:pt x="0" y="56139"/>
                </a:moveTo>
                <a:lnTo>
                  <a:pt x="1403821" y="561512"/>
                </a:lnTo>
              </a:path>
              <a:path w="2752090" h="2049779">
                <a:moveTo>
                  <a:pt x="1403821" y="561512"/>
                </a:moveTo>
                <a:lnTo>
                  <a:pt x="2751484" y="0"/>
                </a:lnTo>
              </a:path>
            </a:pathLst>
          </a:custGeom>
          <a:ln w="927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1100"/>
          </a:p>
        </p:txBody>
      </p:sp>
      <p:sp>
        <p:nvSpPr>
          <p:cNvPr id="52" name="object 22">
            <a:extLst>
              <a:ext uri="{FF2B5EF4-FFF2-40B4-BE49-F238E27FC236}">
                <a16:creationId xmlns:a16="http://schemas.microsoft.com/office/drawing/2014/main" id="{95C43A55-628A-E64A-0A64-4756404E445E}"/>
              </a:ext>
            </a:extLst>
          </p:cNvPr>
          <p:cNvSpPr txBox="1"/>
          <p:nvPr/>
        </p:nvSpPr>
        <p:spPr>
          <a:xfrm>
            <a:off x="3779086" y="2979473"/>
            <a:ext cx="1162363" cy="340783"/>
          </a:xfrm>
          <a:prstGeom prst="rect">
            <a:avLst/>
          </a:prstGeom>
        </p:spPr>
        <p:txBody>
          <a:bodyPr vert="horz" wrap="square" lIns="0" tIns="3667" rIns="0" bIns="0" rtlCol="0">
            <a:spAutoFit/>
          </a:bodyPr>
          <a:lstStyle/>
          <a:p>
            <a:pPr marL="10478" marR="4191" indent="138827">
              <a:lnSpc>
                <a:spcPct val="104000"/>
              </a:lnSpc>
              <a:spcBef>
                <a:spcPts val="29"/>
              </a:spcBef>
            </a:pPr>
            <a:r>
              <a:rPr sz="1100" spc="4" dirty="0">
                <a:solidFill>
                  <a:srgbClr val="231F20"/>
                </a:solidFill>
                <a:latin typeface="Tahoma"/>
                <a:cs typeface="Tahoma"/>
              </a:rPr>
              <a:t>Predicting </a:t>
            </a:r>
            <a:r>
              <a:rPr sz="1100" spc="8" dirty="0">
                <a:solidFill>
                  <a:srgbClr val="231F20"/>
                </a:solidFill>
                <a:latin typeface="Tahoma"/>
                <a:cs typeface="Tahoma"/>
              </a:rPr>
              <a:t> maintainability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3" name="object 23">
            <a:extLst>
              <a:ext uri="{FF2B5EF4-FFF2-40B4-BE49-F238E27FC236}">
                <a16:creationId xmlns:a16="http://schemas.microsoft.com/office/drawing/2014/main" id="{364B1D6A-A3A0-C5C8-A562-F1E212F0AE5D}"/>
              </a:ext>
            </a:extLst>
          </p:cNvPr>
          <p:cNvSpPr txBox="1"/>
          <p:nvPr/>
        </p:nvSpPr>
        <p:spPr>
          <a:xfrm>
            <a:off x="2872211" y="4423156"/>
            <a:ext cx="1379133" cy="340783"/>
          </a:xfrm>
          <a:prstGeom prst="rect">
            <a:avLst/>
          </a:prstGeom>
        </p:spPr>
        <p:txBody>
          <a:bodyPr vert="horz" wrap="square" lIns="0" tIns="3667" rIns="0" bIns="0" rtlCol="0">
            <a:spAutoFit/>
          </a:bodyPr>
          <a:lstStyle/>
          <a:p>
            <a:pPr marL="281321" marR="4191" indent="-271367">
              <a:lnSpc>
                <a:spcPct val="104000"/>
              </a:lnSpc>
              <a:spcBef>
                <a:spcPts val="29"/>
              </a:spcBef>
            </a:pPr>
            <a:r>
              <a:rPr sz="1100" spc="4" dirty="0">
                <a:solidFill>
                  <a:srgbClr val="231F20"/>
                </a:solidFill>
                <a:latin typeface="Tahoma"/>
                <a:cs typeface="Tahoma"/>
              </a:rPr>
              <a:t>Predicting</a:t>
            </a:r>
            <a:r>
              <a:rPr sz="1100" spc="-8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-4" dirty="0">
                <a:solidFill>
                  <a:srgbClr val="231F20"/>
                </a:solidFill>
                <a:latin typeface="Tahoma"/>
                <a:cs typeface="Tahoma"/>
              </a:rPr>
              <a:t>system </a:t>
            </a:r>
            <a:r>
              <a:rPr sz="1100" spc="-30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31F20"/>
                </a:solidFill>
                <a:latin typeface="Tahoma"/>
                <a:cs typeface="Tahoma"/>
              </a:rPr>
              <a:t>changes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54" name="object 24">
            <a:extLst>
              <a:ext uri="{FF2B5EF4-FFF2-40B4-BE49-F238E27FC236}">
                <a16:creationId xmlns:a16="http://schemas.microsoft.com/office/drawing/2014/main" id="{DFFF8167-7CD8-F554-C61D-C327E9B53356}"/>
              </a:ext>
            </a:extLst>
          </p:cNvPr>
          <p:cNvSpPr txBox="1"/>
          <p:nvPr/>
        </p:nvSpPr>
        <p:spPr>
          <a:xfrm>
            <a:off x="4482366" y="4390357"/>
            <a:ext cx="1032439" cy="516857"/>
          </a:xfrm>
          <a:prstGeom prst="rect">
            <a:avLst/>
          </a:prstGeom>
        </p:spPr>
        <p:txBody>
          <a:bodyPr vert="horz" wrap="square" lIns="0" tIns="3667" rIns="0" bIns="0" rtlCol="0">
            <a:spAutoFit/>
          </a:bodyPr>
          <a:lstStyle/>
          <a:p>
            <a:pPr marL="9954" marR="4191" algn="ctr">
              <a:lnSpc>
                <a:spcPct val="104000"/>
              </a:lnSpc>
              <a:spcBef>
                <a:spcPts val="29"/>
              </a:spcBef>
            </a:pPr>
            <a:r>
              <a:rPr sz="1100" spc="4" dirty="0">
                <a:solidFill>
                  <a:srgbClr val="231F20"/>
                </a:solidFill>
                <a:latin typeface="Tahoma"/>
                <a:cs typeface="Tahoma"/>
              </a:rPr>
              <a:t>Predicting </a:t>
            </a:r>
            <a:r>
              <a:rPr sz="1100" spc="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12" dirty="0">
                <a:solidFill>
                  <a:srgbClr val="231F20"/>
                </a:solidFill>
                <a:latin typeface="Tahoma"/>
                <a:cs typeface="Tahoma"/>
              </a:rPr>
              <a:t>maintenance  </a:t>
            </a:r>
            <a:r>
              <a:rPr sz="1100" spc="-4" dirty="0">
                <a:solidFill>
                  <a:srgbClr val="231F20"/>
                </a:solidFill>
                <a:latin typeface="Tahoma"/>
                <a:cs typeface="Tahoma"/>
              </a:rPr>
              <a:t>costs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5" name="object 20">
            <a:extLst>
              <a:ext uri="{FF2B5EF4-FFF2-40B4-BE49-F238E27FC236}">
                <a16:creationId xmlns:a16="http://schemas.microsoft.com/office/drawing/2014/main" id="{6060462C-3A0F-76B2-6D3E-F349F6542B6D}"/>
              </a:ext>
            </a:extLst>
          </p:cNvPr>
          <p:cNvSpPr/>
          <p:nvPr/>
        </p:nvSpPr>
        <p:spPr>
          <a:xfrm>
            <a:off x="2655183" y="2440770"/>
            <a:ext cx="3286991" cy="3478163"/>
          </a:xfrm>
          <a:custGeom>
            <a:avLst/>
            <a:gdLst/>
            <a:ahLst/>
            <a:cxnLst/>
            <a:rect l="l" t="t" r="r" b="b"/>
            <a:pathLst>
              <a:path w="3004184" h="2976245">
                <a:moveTo>
                  <a:pt x="0" y="1488030"/>
                </a:moveTo>
                <a:lnTo>
                  <a:pt x="771" y="1439871"/>
                </a:lnTo>
                <a:lnTo>
                  <a:pt x="3071" y="1392094"/>
                </a:lnTo>
                <a:lnTo>
                  <a:pt x="6875" y="1344722"/>
                </a:lnTo>
                <a:lnTo>
                  <a:pt x="12161" y="1297778"/>
                </a:lnTo>
                <a:lnTo>
                  <a:pt x="18905" y="1251285"/>
                </a:lnTo>
                <a:lnTo>
                  <a:pt x="27083" y="1205267"/>
                </a:lnTo>
                <a:lnTo>
                  <a:pt x="36673" y="1159747"/>
                </a:lnTo>
                <a:lnTo>
                  <a:pt x="47651" y="1114747"/>
                </a:lnTo>
                <a:lnTo>
                  <a:pt x="59994" y="1070291"/>
                </a:lnTo>
                <a:lnTo>
                  <a:pt x="73679" y="1026402"/>
                </a:lnTo>
                <a:lnTo>
                  <a:pt x="88681" y="983102"/>
                </a:lnTo>
                <a:lnTo>
                  <a:pt x="104978" y="940416"/>
                </a:lnTo>
                <a:lnTo>
                  <a:pt x="122547" y="898366"/>
                </a:lnTo>
                <a:lnTo>
                  <a:pt x="141364" y="856975"/>
                </a:lnTo>
                <a:lnTo>
                  <a:pt x="161407" y="816266"/>
                </a:lnTo>
                <a:lnTo>
                  <a:pt x="182650" y="776263"/>
                </a:lnTo>
                <a:lnTo>
                  <a:pt x="205072" y="736988"/>
                </a:lnTo>
                <a:lnTo>
                  <a:pt x="228649" y="698465"/>
                </a:lnTo>
                <a:lnTo>
                  <a:pt x="253358" y="660717"/>
                </a:lnTo>
                <a:lnTo>
                  <a:pt x="279175" y="623766"/>
                </a:lnTo>
                <a:lnTo>
                  <a:pt x="306077" y="587637"/>
                </a:lnTo>
                <a:lnTo>
                  <a:pt x="334040" y="552351"/>
                </a:lnTo>
                <a:lnTo>
                  <a:pt x="363043" y="517932"/>
                </a:lnTo>
                <a:lnTo>
                  <a:pt x="393060" y="484403"/>
                </a:lnTo>
                <a:lnTo>
                  <a:pt x="424069" y="451788"/>
                </a:lnTo>
                <a:lnTo>
                  <a:pt x="456046" y="420109"/>
                </a:lnTo>
                <a:lnTo>
                  <a:pt x="488969" y="389390"/>
                </a:lnTo>
                <a:lnTo>
                  <a:pt x="522814" y="359653"/>
                </a:lnTo>
                <a:lnTo>
                  <a:pt x="557557" y="330921"/>
                </a:lnTo>
                <a:lnTo>
                  <a:pt x="593175" y="303219"/>
                </a:lnTo>
                <a:lnTo>
                  <a:pt x="629646" y="276568"/>
                </a:lnTo>
                <a:lnTo>
                  <a:pt x="666944" y="250992"/>
                </a:lnTo>
                <a:lnTo>
                  <a:pt x="705049" y="226514"/>
                </a:lnTo>
                <a:lnTo>
                  <a:pt x="743935" y="203157"/>
                </a:lnTo>
                <a:lnTo>
                  <a:pt x="783580" y="180945"/>
                </a:lnTo>
                <a:lnTo>
                  <a:pt x="823960" y="159899"/>
                </a:lnTo>
                <a:lnTo>
                  <a:pt x="865052" y="140044"/>
                </a:lnTo>
                <a:lnTo>
                  <a:pt x="906833" y="121403"/>
                </a:lnTo>
                <a:lnTo>
                  <a:pt x="949280" y="103998"/>
                </a:lnTo>
                <a:lnTo>
                  <a:pt x="992368" y="87853"/>
                </a:lnTo>
                <a:lnTo>
                  <a:pt x="1036076" y="72991"/>
                </a:lnTo>
                <a:lnTo>
                  <a:pt x="1080379" y="59434"/>
                </a:lnTo>
                <a:lnTo>
                  <a:pt x="1125254" y="47207"/>
                </a:lnTo>
                <a:lnTo>
                  <a:pt x="1170678" y="36331"/>
                </a:lnTo>
                <a:lnTo>
                  <a:pt x="1216627" y="26831"/>
                </a:lnTo>
                <a:lnTo>
                  <a:pt x="1263079" y="18728"/>
                </a:lnTo>
                <a:lnTo>
                  <a:pt x="1310010" y="12048"/>
                </a:lnTo>
                <a:lnTo>
                  <a:pt x="1357396" y="6811"/>
                </a:lnTo>
                <a:lnTo>
                  <a:pt x="1405214" y="3042"/>
                </a:lnTo>
                <a:lnTo>
                  <a:pt x="1453442" y="764"/>
                </a:lnTo>
                <a:lnTo>
                  <a:pt x="1502055" y="0"/>
                </a:lnTo>
                <a:lnTo>
                  <a:pt x="1550670" y="764"/>
                </a:lnTo>
                <a:lnTo>
                  <a:pt x="1598898" y="3042"/>
                </a:lnTo>
                <a:lnTo>
                  <a:pt x="1646718" y="6811"/>
                </a:lnTo>
                <a:lnTo>
                  <a:pt x="1694105" y="12048"/>
                </a:lnTo>
                <a:lnTo>
                  <a:pt x="1741037" y="18728"/>
                </a:lnTo>
                <a:lnTo>
                  <a:pt x="1787489" y="26831"/>
                </a:lnTo>
                <a:lnTo>
                  <a:pt x="1833440" y="36331"/>
                </a:lnTo>
                <a:lnTo>
                  <a:pt x="1878865" y="47207"/>
                </a:lnTo>
                <a:lnTo>
                  <a:pt x="1923740" y="59434"/>
                </a:lnTo>
                <a:lnTo>
                  <a:pt x="1968044" y="72991"/>
                </a:lnTo>
                <a:lnTo>
                  <a:pt x="2011752" y="87853"/>
                </a:lnTo>
                <a:lnTo>
                  <a:pt x="2054842" y="103998"/>
                </a:lnTo>
                <a:lnTo>
                  <a:pt x="2097289" y="121403"/>
                </a:lnTo>
                <a:lnTo>
                  <a:pt x="2139070" y="140044"/>
                </a:lnTo>
                <a:lnTo>
                  <a:pt x="2180163" y="159899"/>
                </a:lnTo>
                <a:lnTo>
                  <a:pt x="2220544" y="180945"/>
                </a:lnTo>
                <a:lnTo>
                  <a:pt x="2260189" y="203157"/>
                </a:lnTo>
                <a:lnTo>
                  <a:pt x="2299076" y="226514"/>
                </a:lnTo>
                <a:lnTo>
                  <a:pt x="2337181" y="250992"/>
                </a:lnTo>
                <a:lnTo>
                  <a:pt x="2374480" y="276568"/>
                </a:lnTo>
                <a:lnTo>
                  <a:pt x="2410951" y="303219"/>
                </a:lnTo>
                <a:lnTo>
                  <a:pt x="2446570" y="330921"/>
                </a:lnTo>
                <a:lnTo>
                  <a:pt x="2481313" y="359653"/>
                </a:lnTo>
                <a:lnTo>
                  <a:pt x="2515158" y="389390"/>
                </a:lnTo>
                <a:lnTo>
                  <a:pt x="2548081" y="420109"/>
                </a:lnTo>
                <a:lnTo>
                  <a:pt x="2580059" y="451788"/>
                </a:lnTo>
                <a:lnTo>
                  <a:pt x="2611068" y="484403"/>
                </a:lnTo>
                <a:lnTo>
                  <a:pt x="2641086" y="517932"/>
                </a:lnTo>
                <a:lnTo>
                  <a:pt x="2670088" y="552351"/>
                </a:lnTo>
                <a:lnTo>
                  <a:pt x="2698052" y="587637"/>
                </a:lnTo>
                <a:lnTo>
                  <a:pt x="2724954" y="623766"/>
                </a:lnTo>
                <a:lnTo>
                  <a:pt x="2750772" y="660717"/>
                </a:lnTo>
                <a:lnTo>
                  <a:pt x="2775480" y="698465"/>
                </a:lnTo>
                <a:lnTo>
                  <a:pt x="2799057" y="736988"/>
                </a:lnTo>
                <a:lnTo>
                  <a:pt x="2821479" y="776263"/>
                </a:lnTo>
                <a:lnTo>
                  <a:pt x="2842723" y="816266"/>
                </a:lnTo>
                <a:lnTo>
                  <a:pt x="2862765" y="856975"/>
                </a:lnTo>
                <a:lnTo>
                  <a:pt x="2881583" y="898366"/>
                </a:lnTo>
                <a:lnTo>
                  <a:pt x="2899152" y="940416"/>
                </a:lnTo>
                <a:lnTo>
                  <a:pt x="2915449" y="983102"/>
                </a:lnTo>
                <a:lnTo>
                  <a:pt x="2930451" y="1026402"/>
                </a:lnTo>
                <a:lnTo>
                  <a:pt x="2944136" y="1070291"/>
                </a:lnTo>
                <a:lnTo>
                  <a:pt x="2956479" y="1114747"/>
                </a:lnTo>
                <a:lnTo>
                  <a:pt x="2967457" y="1159747"/>
                </a:lnTo>
                <a:lnTo>
                  <a:pt x="2977047" y="1205267"/>
                </a:lnTo>
                <a:lnTo>
                  <a:pt x="2985225" y="1251285"/>
                </a:lnTo>
                <a:lnTo>
                  <a:pt x="2991969" y="1297778"/>
                </a:lnTo>
                <a:lnTo>
                  <a:pt x="2997255" y="1344722"/>
                </a:lnTo>
                <a:lnTo>
                  <a:pt x="3001059" y="1392094"/>
                </a:lnTo>
                <a:lnTo>
                  <a:pt x="3003359" y="1439871"/>
                </a:lnTo>
                <a:lnTo>
                  <a:pt x="3004131" y="1488030"/>
                </a:lnTo>
                <a:lnTo>
                  <a:pt x="3003359" y="1536191"/>
                </a:lnTo>
                <a:lnTo>
                  <a:pt x="3001059" y="1583969"/>
                </a:lnTo>
                <a:lnTo>
                  <a:pt x="2997255" y="1631342"/>
                </a:lnTo>
                <a:lnTo>
                  <a:pt x="2991969" y="1678287"/>
                </a:lnTo>
                <a:lnTo>
                  <a:pt x="2985225" y="1724780"/>
                </a:lnTo>
                <a:lnTo>
                  <a:pt x="2977047" y="1770799"/>
                </a:lnTo>
                <a:lnTo>
                  <a:pt x="2967457" y="1816320"/>
                </a:lnTo>
                <a:lnTo>
                  <a:pt x="2956479" y="1861320"/>
                </a:lnTo>
                <a:lnTo>
                  <a:pt x="2944136" y="1905777"/>
                </a:lnTo>
                <a:lnTo>
                  <a:pt x="2930451" y="1949666"/>
                </a:lnTo>
                <a:lnTo>
                  <a:pt x="2915449" y="1992966"/>
                </a:lnTo>
                <a:lnTo>
                  <a:pt x="2899152" y="2035653"/>
                </a:lnTo>
                <a:lnTo>
                  <a:pt x="2881583" y="2077703"/>
                </a:lnTo>
                <a:lnTo>
                  <a:pt x="2862765" y="2119094"/>
                </a:lnTo>
                <a:lnTo>
                  <a:pt x="2842723" y="2159803"/>
                </a:lnTo>
                <a:lnTo>
                  <a:pt x="2821479" y="2199806"/>
                </a:lnTo>
                <a:lnTo>
                  <a:pt x="2799057" y="2239081"/>
                </a:lnTo>
                <a:lnTo>
                  <a:pt x="2775480" y="2277604"/>
                </a:lnTo>
                <a:lnTo>
                  <a:pt x="2750772" y="2315352"/>
                </a:lnTo>
                <a:lnTo>
                  <a:pt x="2724954" y="2352303"/>
                </a:lnTo>
                <a:lnTo>
                  <a:pt x="2698052" y="2388433"/>
                </a:lnTo>
                <a:lnTo>
                  <a:pt x="2670088" y="2423718"/>
                </a:lnTo>
                <a:lnTo>
                  <a:pt x="2641086" y="2458137"/>
                </a:lnTo>
                <a:lnTo>
                  <a:pt x="2611068" y="2491665"/>
                </a:lnTo>
                <a:lnTo>
                  <a:pt x="2580059" y="2524280"/>
                </a:lnTo>
                <a:lnTo>
                  <a:pt x="2548081" y="2555959"/>
                </a:lnTo>
                <a:lnTo>
                  <a:pt x="2515158" y="2586678"/>
                </a:lnTo>
                <a:lnTo>
                  <a:pt x="2481313" y="2616415"/>
                </a:lnTo>
                <a:lnTo>
                  <a:pt x="2446570" y="2645146"/>
                </a:lnTo>
                <a:lnTo>
                  <a:pt x="2410951" y="2672848"/>
                </a:lnTo>
                <a:lnTo>
                  <a:pt x="2374480" y="2699498"/>
                </a:lnTo>
                <a:lnTo>
                  <a:pt x="2337181" y="2725074"/>
                </a:lnTo>
                <a:lnTo>
                  <a:pt x="2299076" y="2749551"/>
                </a:lnTo>
                <a:lnTo>
                  <a:pt x="2260189" y="2772908"/>
                </a:lnTo>
                <a:lnTo>
                  <a:pt x="2220544" y="2795120"/>
                </a:lnTo>
                <a:lnTo>
                  <a:pt x="2180163" y="2816165"/>
                </a:lnTo>
                <a:lnTo>
                  <a:pt x="2139070" y="2836019"/>
                </a:lnTo>
                <a:lnTo>
                  <a:pt x="2097289" y="2854660"/>
                </a:lnTo>
                <a:lnTo>
                  <a:pt x="2054842" y="2872065"/>
                </a:lnTo>
                <a:lnTo>
                  <a:pt x="2011752" y="2888210"/>
                </a:lnTo>
                <a:lnTo>
                  <a:pt x="1968044" y="2903072"/>
                </a:lnTo>
                <a:lnTo>
                  <a:pt x="1923740" y="2916628"/>
                </a:lnTo>
                <a:lnTo>
                  <a:pt x="1878865" y="2928855"/>
                </a:lnTo>
                <a:lnTo>
                  <a:pt x="1833440" y="2939731"/>
                </a:lnTo>
                <a:lnTo>
                  <a:pt x="1787489" y="2949231"/>
                </a:lnTo>
                <a:lnTo>
                  <a:pt x="1741037" y="2957333"/>
                </a:lnTo>
                <a:lnTo>
                  <a:pt x="1694105" y="2964013"/>
                </a:lnTo>
                <a:lnTo>
                  <a:pt x="1646718" y="2969250"/>
                </a:lnTo>
                <a:lnTo>
                  <a:pt x="1598898" y="2973018"/>
                </a:lnTo>
                <a:lnTo>
                  <a:pt x="1550670" y="2975297"/>
                </a:lnTo>
                <a:lnTo>
                  <a:pt x="1502055" y="2976061"/>
                </a:lnTo>
                <a:lnTo>
                  <a:pt x="1453442" y="2975297"/>
                </a:lnTo>
                <a:lnTo>
                  <a:pt x="1405214" y="2973018"/>
                </a:lnTo>
                <a:lnTo>
                  <a:pt x="1357396" y="2969250"/>
                </a:lnTo>
                <a:lnTo>
                  <a:pt x="1310010" y="2964013"/>
                </a:lnTo>
                <a:lnTo>
                  <a:pt x="1263079" y="2957333"/>
                </a:lnTo>
                <a:lnTo>
                  <a:pt x="1216627" y="2949231"/>
                </a:lnTo>
                <a:lnTo>
                  <a:pt x="1170678" y="2939731"/>
                </a:lnTo>
                <a:lnTo>
                  <a:pt x="1125254" y="2928855"/>
                </a:lnTo>
                <a:lnTo>
                  <a:pt x="1080379" y="2916628"/>
                </a:lnTo>
                <a:lnTo>
                  <a:pt x="1036076" y="2903072"/>
                </a:lnTo>
                <a:lnTo>
                  <a:pt x="992368" y="2888210"/>
                </a:lnTo>
                <a:lnTo>
                  <a:pt x="949280" y="2872065"/>
                </a:lnTo>
                <a:lnTo>
                  <a:pt x="906833" y="2854660"/>
                </a:lnTo>
                <a:lnTo>
                  <a:pt x="865052" y="2836019"/>
                </a:lnTo>
                <a:lnTo>
                  <a:pt x="823960" y="2816165"/>
                </a:lnTo>
                <a:lnTo>
                  <a:pt x="783580" y="2795120"/>
                </a:lnTo>
                <a:lnTo>
                  <a:pt x="743935" y="2772908"/>
                </a:lnTo>
                <a:lnTo>
                  <a:pt x="705049" y="2749551"/>
                </a:lnTo>
                <a:lnTo>
                  <a:pt x="666944" y="2725074"/>
                </a:lnTo>
                <a:lnTo>
                  <a:pt x="629646" y="2699498"/>
                </a:lnTo>
                <a:lnTo>
                  <a:pt x="593175" y="2672848"/>
                </a:lnTo>
                <a:lnTo>
                  <a:pt x="557557" y="2645146"/>
                </a:lnTo>
                <a:lnTo>
                  <a:pt x="522814" y="2616415"/>
                </a:lnTo>
                <a:lnTo>
                  <a:pt x="488969" y="2586678"/>
                </a:lnTo>
                <a:lnTo>
                  <a:pt x="456046" y="2555959"/>
                </a:lnTo>
                <a:lnTo>
                  <a:pt x="424069" y="2524280"/>
                </a:lnTo>
                <a:lnTo>
                  <a:pt x="393060" y="2491665"/>
                </a:lnTo>
                <a:lnTo>
                  <a:pt x="363043" y="2458137"/>
                </a:lnTo>
                <a:lnTo>
                  <a:pt x="334040" y="2423718"/>
                </a:lnTo>
                <a:lnTo>
                  <a:pt x="306077" y="2388433"/>
                </a:lnTo>
                <a:lnTo>
                  <a:pt x="279175" y="2352303"/>
                </a:lnTo>
                <a:lnTo>
                  <a:pt x="253358" y="2315352"/>
                </a:lnTo>
                <a:lnTo>
                  <a:pt x="228649" y="2277604"/>
                </a:lnTo>
                <a:lnTo>
                  <a:pt x="205072" y="2239081"/>
                </a:lnTo>
                <a:lnTo>
                  <a:pt x="182650" y="2199806"/>
                </a:lnTo>
                <a:lnTo>
                  <a:pt x="161407" y="2159803"/>
                </a:lnTo>
                <a:lnTo>
                  <a:pt x="141364" y="2119094"/>
                </a:lnTo>
                <a:lnTo>
                  <a:pt x="122547" y="2077703"/>
                </a:lnTo>
                <a:lnTo>
                  <a:pt x="104978" y="2035653"/>
                </a:lnTo>
                <a:lnTo>
                  <a:pt x="88681" y="1992966"/>
                </a:lnTo>
                <a:lnTo>
                  <a:pt x="73679" y="1949666"/>
                </a:lnTo>
                <a:lnTo>
                  <a:pt x="59994" y="1905777"/>
                </a:lnTo>
                <a:lnTo>
                  <a:pt x="47651" y="1861320"/>
                </a:lnTo>
                <a:lnTo>
                  <a:pt x="36673" y="1816320"/>
                </a:lnTo>
                <a:lnTo>
                  <a:pt x="27083" y="1770799"/>
                </a:lnTo>
                <a:lnTo>
                  <a:pt x="18905" y="1724780"/>
                </a:lnTo>
                <a:lnTo>
                  <a:pt x="12161" y="1678287"/>
                </a:lnTo>
                <a:lnTo>
                  <a:pt x="6875" y="1631342"/>
                </a:lnTo>
                <a:lnTo>
                  <a:pt x="3071" y="1583969"/>
                </a:lnTo>
                <a:lnTo>
                  <a:pt x="771" y="1536191"/>
                </a:lnTo>
                <a:lnTo>
                  <a:pt x="0" y="1488030"/>
                </a:lnTo>
                <a:close/>
              </a:path>
            </a:pathLst>
          </a:custGeom>
          <a:ln w="18482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1100"/>
          </a:p>
        </p:txBody>
      </p:sp>
      <p:sp>
        <p:nvSpPr>
          <p:cNvPr id="56" name="object 4">
            <a:extLst>
              <a:ext uri="{FF2B5EF4-FFF2-40B4-BE49-F238E27FC236}">
                <a16:creationId xmlns:a16="http://schemas.microsoft.com/office/drawing/2014/main" id="{0FEE3124-4DD3-7C19-D894-8E3742AC631A}"/>
              </a:ext>
            </a:extLst>
          </p:cNvPr>
          <p:cNvSpPr/>
          <p:nvPr/>
        </p:nvSpPr>
        <p:spPr>
          <a:xfrm>
            <a:off x="228363" y="2407958"/>
            <a:ext cx="2273311" cy="754703"/>
          </a:xfrm>
          <a:custGeom>
            <a:avLst/>
            <a:gdLst/>
            <a:ahLst/>
            <a:cxnLst/>
            <a:rect l="l" t="t" r="r" b="b"/>
            <a:pathLst>
              <a:path w="2077720" h="645794">
                <a:moveTo>
                  <a:pt x="2077631" y="0"/>
                </a:moveTo>
                <a:lnTo>
                  <a:pt x="0" y="0"/>
                </a:lnTo>
                <a:lnTo>
                  <a:pt x="0" y="589597"/>
                </a:lnTo>
                <a:lnTo>
                  <a:pt x="0" y="645756"/>
                </a:lnTo>
                <a:lnTo>
                  <a:pt x="2077631" y="645756"/>
                </a:lnTo>
                <a:lnTo>
                  <a:pt x="2077631" y="589597"/>
                </a:lnTo>
                <a:lnTo>
                  <a:pt x="2077631" y="0"/>
                </a:lnTo>
                <a:close/>
              </a:path>
            </a:pathLst>
          </a:custGeom>
          <a:solidFill>
            <a:srgbClr val="6DCFF6"/>
          </a:solidFill>
        </p:spPr>
        <p:txBody>
          <a:bodyPr wrap="square" lIns="0" tIns="0" rIns="0" bIns="0" rtlCol="0"/>
          <a:lstStyle/>
          <a:p>
            <a:endParaRPr sz="1100"/>
          </a:p>
        </p:txBody>
      </p:sp>
      <p:sp>
        <p:nvSpPr>
          <p:cNvPr id="57" name="object 6">
            <a:extLst>
              <a:ext uri="{FF2B5EF4-FFF2-40B4-BE49-F238E27FC236}">
                <a16:creationId xmlns:a16="http://schemas.microsoft.com/office/drawing/2014/main" id="{E9C67241-4D4D-F1C5-60BC-FFE55234A5E3}"/>
              </a:ext>
            </a:extLst>
          </p:cNvPr>
          <p:cNvSpPr/>
          <p:nvPr/>
        </p:nvSpPr>
        <p:spPr>
          <a:xfrm>
            <a:off x="166918" y="2342336"/>
            <a:ext cx="2273311" cy="754703"/>
          </a:xfrm>
          <a:custGeom>
            <a:avLst/>
            <a:gdLst/>
            <a:ahLst/>
            <a:cxnLst/>
            <a:rect l="l" t="t" r="r" b="b"/>
            <a:pathLst>
              <a:path w="2077720" h="645794">
                <a:moveTo>
                  <a:pt x="2077633" y="0"/>
                </a:moveTo>
                <a:lnTo>
                  <a:pt x="0" y="0"/>
                </a:lnTo>
                <a:lnTo>
                  <a:pt x="0" y="645741"/>
                </a:lnTo>
                <a:lnTo>
                  <a:pt x="2077633" y="645741"/>
                </a:lnTo>
                <a:lnTo>
                  <a:pt x="207763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100"/>
          </a:p>
        </p:txBody>
      </p:sp>
      <p:sp>
        <p:nvSpPr>
          <p:cNvPr id="58" name="object 7">
            <a:extLst>
              <a:ext uri="{FF2B5EF4-FFF2-40B4-BE49-F238E27FC236}">
                <a16:creationId xmlns:a16="http://schemas.microsoft.com/office/drawing/2014/main" id="{C463E0DD-3C9C-0E64-4052-9A4E2E0064F7}"/>
              </a:ext>
            </a:extLst>
          </p:cNvPr>
          <p:cNvSpPr/>
          <p:nvPr/>
        </p:nvSpPr>
        <p:spPr>
          <a:xfrm>
            <a:off x="443382" y="5721852"/>
            <a:ext cx="2273311" cy="754703"/>
          </a:xfrm>
          <a:custGeom>
            <a:avLst/>
            <a:gdLst/>
            <a:ahLst/>
            <a:cxnLst/>
            <a:rect l="l" t="t" r="r" b="b"/>
            <a:pathLst>
              <a:path w="2077720" h="645795">
                <a:moveTo>
                  <a:pt x="2077631" y="0"/>
                </a:moveTo>
                <a:lnTo>
                  <a:pt x="0" y="0"/>
                </a:lnTo>
                <a:lnTo>
                  <a:pt x="0" y="589610"/>
                </a:lnTo>
                <a:lnTo>
                  <a:pt x="0" y="645769"/>
                </a:lnTo>
                <a:lnTo>
                  <a:pt x="2077631" y="645769"/>
                </a:lnTo>
                <a:lnTo>
                  <a:pt x="2077631" y="589610"/>
                </a:lnTo>
                <a:lnTo>
                  <a:pt x="2077631" y="0"/>
                </a:lnTo>
                <a:close/>
              </a:path>
            </a:pathLst>
          </a:custGeom>
          <a:solidFill>
            <a:srgbClr val="6DCFF6"/>
          </a:solidFill>
        </p:spPr>
        <p:txBody>
          <a:bodyPr wrap="square" lIns="0" tIns="0" rIns="0" bIns="0" rtlCol="0"/>
          <a:lstStyle/>
          <a:p>
            <a:endParaRPr sz="1100"/>
          </a:p>
        </p:txBody>
      </p:sp>
      <p:sp>
        <p:nvSpPr>
          <p:cNvPr id="59" name="object 9">
            <a:extLst>
              <a:ext uri="{FF2B5EF4-FFF2-40B4-BE49-F238E27FC236}">
                <a16:creationId xmlns:a16="http://schemas.microsoft.com/office/drawing/2014/main" id="{7B387A56-35B0-E6FC-64C0-FA9C6FC18B3C}"/>
              </a:ext>
            </a:extLst>
          </p:cNvPr>
          <p:cNvSpPr/>
          <p:nvPr/>
        </p:nvSpPr>
        <p:spPr>
          <a:xfrm>
            <a:off x="381967" y="5656244"/>
            <a:ext cx="2273311" cy="754703"/>
          </a:xfrm>
          <a:custGeom>
            <a:avLst/>
            <a:gdLst/>
            <a:ahLst/>
            <a:cxnLst/>
            <a:rect l="l" t="t" r="r" b="b"/>
            <a:pathLst>
              <a:path w="2077720" h="645795">
                <a:moveTo>
                  <a:pt x="2077633" y="0"/>
                </a:moveTo>
                <a:lnTo>
                  <a:pt x="0" y="0"/>
                </a:lnTo>
                <a:lnTo>
                  <a:pt x="0" y="645741"/>
                </a:lnTo>
                <a:lnTo>
                  <a:pt x="2077633" y="645741"/>
                </a:lnTo>
                <a:lnTo>
                  <a:pt x="207763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100"/>
          </a:p>
        </p:txBody>
      </p:sp>
      <p:sp>
        <p:nvSpPr>
          <p:cNvPr id="61" name="object 13">
            <a:extLst>
              <a:ext uri="{FF2B5EF4-FFF2-40B4-BE49-F238E27FC236}">
                <a16:creationId xmlns:a16="http://schemas.microsoft.com/office/drawing/2014/main" id="{75BC00CB-4C86-0988-F1C2-CDCDF5088976}"/>
              </a:ext>
            </a:extLst>
          </p:cNvPr>
          <p:cNvSpPr/>
          <p:nvPr/>
        </p:nvSpPr>
        <p:spPr>
          <a:xfrm>
            <a:off x="5757800" y="1915799"/>
            <a:ext cx="2273311" cy="754703"/>
          </a:xfrm>
          <a:custGeom>
            <a:avLst/>
            <a:gdLst/>
            <a:ahLst/>
            <a:cxnLst/>
            <a:rect l="l" t="t" r="r" b="b"/>
            <a:pathLst>
              <a:path w="2077720" h="645794">
                <a:moveTo>
                  <a:pt x="0" y="645761"/>
                </a:moveTo>
                <a:lnTo>
                  <a:pt x="2077633" y="645761"/>
                </a:lnTo>
                <a:lnTo>
                  <a:pt x="2077633" y="0"/>
                </a:lnTo>
                <a:lnTo>
                  <a:pt x="0" y="0"/>
                </a:lnTo>
                <a:lnTo>
                  <a:pt x="0" y="645761"/>
                </a:lnTo>
                <a:close/>
              </a:path>
            </a:pathLst>
          </a:custGeom>
          <a:ln w="18482">
            <a:solidFill>
              <a:srgbClr val="00AEEF"/>
            </a:solidFill>
          </a:ln>
        </p:spPr>
        <p:txBody>
          <a:bodyPr wrap="square" lIns="0" tIns="0" rIns="0" bIns="0" rtlCol="0"/>
          <a:lstStyle/>
          <a:p>
            <a:endParaRPr sz="1100"/>
          </a:p>
        </p:txBody>
      </p:sp>
      <p:sp>
        <p:nvSpPr>
          <p:cNvPr id="62" name="object 14">
            <a:extLst>
              <a:ext uri="{FF2B5EF4-FFF2-40B4-BE49-F238E27FC236}">
                <a16:creationId xmlns:a16="http://schemas.microsoft.com/office/drawing/2014/main" id="{AEA0100B-0137-20B5-9F29-FF6F5C327ECF}"/>
              </a:ext>
            </a:extLst>
          </p:cNvPr>
          <p:cNvSpPr/>
          <p:nvPr/>
        </p:nvSpPr>
        <p:spPr>
          <a:xfrm>
            <a:off x="6280026" y="5531195"/>
            <a:ext cx="2273311" cy="754703"/>
          </a:xfrm>
          <a:custGeom>
            <a:avLst/>
            <a:gdLst/>
            <a:ahLst/>
            <a:cxnLst/>
            <a:rect l="l" t="t" r="r" b="b"/>
            <a:pathLst>
              <a:path w="2077720" h="645795">
                <a:moveTo>
                  <a:pt x="2077631" y="0"/>
                </a:moveTo>
                <a:lnTo>
                  <a:pt x="0" y="0"/>
                </a:lnTo>
                <a:lnTo>
                  <a:pt x="0" y="589597"/>
                </a:lnTo>
                <a:lnTo>
                  <a:pt x="0" y="645756"/>
                </a:lnTo>
                <a:lnTo>
                  <a:pt x="2077631" y="645756"/>
                </a:lnTo>
                <a:lnTo>
                  <a:pt x="2077631" y="589597"/>
                </a:lnTo>
                <a:lnTo>
                  <a:pt x="2077631" y="0"/>
                </a:lnTo>
                <a:close/>
              </a:path>
            </a:pathLst>
          </a:custGeom>
          <a:solidFill>
            <a:srgbClr val="6DCFF6"/>
          </a:solidFill>
        </p:spPr>
        <p:txBody>
          <a:bodyPr wrap="square" lIns="0" tIns="0" rIns="0" bIns="0" rtlCol="0"/>
          <a:lstStyle/>
          <a:p>
            <a:endParaRPr sz="1100"/>
          </a:p>
        </p:txBody>
      </p:sp>
      <p:sp>
        <p:nvSpPr>
          <p:cNvPr id="63" name="object 16">
            <a:extLst>
              <a:ext uri="{FF2B5EF4-FFF2-40B4-BE49-F238E27FC236}">
                <a16:creationId xmlns:a16="http://schemas.microsoft.com/office/drawing/2014/main" id="{D51984A4-9493-2916-B151-B608D2A2D657}"/>
              </a:ext>
            </a:extLst>
          </p:cNvPr>
          <p:cNvSpPr/>
          <p:nvPr/>
        </p:nvSpPr>
        <p:spPr>
          <a:xfrm>
            <a:off x="6218590" y="5465582"/>
            <a:ext cx="2273311" cy="754703"/>
          </a:xfrm>
          <a:custGeom>
            <a:avLst/>
            <a:gdLst/>
            <a:ahLst/>
            <a:cxnLst/>
            <a:rect l="l" t="t" r="r" b="b"/>
            <a:pathLst>
              <a:path w="2077720" h="645795">
                <a:moveTo>
                  <a:pt x="2077633" y="0"/>
                </a:moveTo>
                <a:lnTo>
                  <a:pt x="0" y="0"/>
                </a:lnTo>
                <a:lnTo>
                  <a:pt x="0" y="645741"/>
                </a:lnTo>
                <a:lnTo>
                  <a:pt x="2077633" y="645741"/>
                </a:lnTo>
                <a:lnTo>
                  <a:pt x="207763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100"/>
          </a:p>
        </p:txBody>
      </p:sp>
      <p:sp>
        <p:nvSpPr>
          <p:cNvPr id="9217" name="object 25">
            <a:extLst>
              <a:ext uri="{FF2B5EF4-FFF2-40B4-BE49-F238E27FC236}">
                <a16:creationId xmlns:a16="http://schemas.microsoft.com/office/drawing/2014/main" id="{BEBE0A41-8661-1FC5-0607-BCEBCB11521A}"/>
              </a:ext>
            </a:extLst>
          </p:cNvPr>
          <p:cNvSpPr txBox="1"/>
          <p:nvPr/>
        </p:nvSpPr>
        <p:spPr>
          <a:xfrm>
            <a:off x="6518774" y="3938684"/>
            <a:ext cx="2273311" cy="503311"/>
          </a:xfrm>
          <a:prstGeom prst="rect">
            <a:avLst/>
          </a:prstGeom>
          <a:ln w="18482">
            <a:solidFill>
              <a:srgbClr val="00AEEF"/>
            </a:solidFill>
          </a:ln>
        </p:spPr>
        <p:txBody>
          <a:bodyPr vert="horz" wrap="square" lIns="0" tIns="3143" rIns="0" bIns="0" rtlCol="0">
            <a:spAutoFit/>
          </a:bodyPr>
          <a:lstStyle/>
          <a:p>
            <a:pPr marL="114729" marR="107918" indent="-524" algn="ctr">
              <a:lnSpc>
                <a:spcPts val="1287"/>
              </a:lnSpc>
              <a:spcBef>
                <a:spcPts val="25"/>
              </a:spcBef>
            </a:pPr>
            <a:r>
              <a:rPr sz="1100" spc="-17" dirty="0">
                <a:solidFill>
                  <a:srgbClr val="231F20"/>
                </a:solidFill>
                <a:latin typeface="Tahoma"/>
                <a:cs typeface="Tahoma"/>
              </a:rPr>
              <a:t>What </a:t>
            </a:r>
            <a:r>
              <a:rPr sz="1100" spc="25" dirty="0">
                <a:solidFill>
                  <a:srgbClr val="231F20"/>
                </a:solidFill>
                <a:latin typeface="Tahoma"/>
                <a:cs typeface="Tahoma"/>
              </a:rPr>
              <a:t>will </a:t>
            </a:r>
            <a:r>
              <a:rPr sz="1100" spc="21" dirty="0">
                <a:solidFill>
                  <a:srgbClr val="231F20"/>
                </a:solidFill>
                <a:latin typeface="Tahoma"/>
                <a:cs typeface="Tahoma"/>
              </a:rPr>
              <a:t>be </a:t>
            </a:r>
            <a:r>
              <a:rPr sz="1100" spc="4" dirty="0">
                <a:solidFill>
                  <a:srgbClr val="231F20"/>
                </a:solidFill>
                <a:latin typeface="Tahoma"/>
                <a:cs typeface="Tahoma"/>
              </a:rPr>
              <a:t>the </a:t>
            </a:r>
            <a:r>
              <a:rPr sz="1100" spc="12" dirty="0">
                <a:solidFill>
                  <a:srgbClr val="231F20"/>
                </a:solidFill>
                <a:latin typeface="Tahoma"/>
                <a:cs typeface="Tahoma"/>
              </a:rPr>
              <a:t>lifetime </a:t>
            </a:r>
            <a:r>
              <a:rPr sz="1100" spc="1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12" dirty="0">
                <a:solidFill>
                  <a:srgbClr val="231F20"/>
                </a:solidFill>
                <a:latin typeface="Tahoma"/>
                <a:cs typeface="Tahoma"/>
              </a:rPr>
              <a:t>maintenance</a:t>
            </a:r>
            <a:r>
              <a:rPr sz="1100" spc="-4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-4" dirty="0">
                <a:solidFill>
                  <a:srgbClr val="231F20"/>
                </a:solidFill>
                <a:latin typeface="Tahoma"/>
                <a:cs typeface="Tahoma"/>
              </a:rPr>
              <a:t>costs</a:t>
            </a:r>
            <a:r>
              <a:rPr sz="1100" spc="-3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4" dirty="0">
                <a:solidFill>
                  <a:srgbClr val="231F20"/>
                </a:solidFill>
                <a:latin typeface="Tahoma"/>
                <a:cs typeface="Tahoma"/>
              </a:rPr>
              <a:t>of</a:t>
            </a:r>
            <a:r>
              <a:rPr sz="1100" spc="-3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31F20"/>
                </a:solidFill>
                <a:latin typeface="Tahoma"/>
                <a:cs typeface="Tahoma"/>
              </a:rPr>
              <a:t>this </a:t>
            </a:r>
            <a:r>
              <a:rPr sz="1100" spc="-30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-12" dirty="0">
                <a:solidFill>
                  <a:srgbClr val="231F20"/>
                </a:solidFill>
                <a:latin typeface="Tahoma"/>
                <a:cs typeface="Tahoma"/>
              </a:rPr>
              <a:t>system?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220" name="object 26">
            <a:extLst>
              <a:ext uri="{FF2B5EF4-FFF2-40B4-BE49-F238E27FC236}">
                <a16:creationId xmlns:a16="http://schemas.microsoft.com/office/drawing/2014/main" id="{EB17361A-0A6B-9D36-7B99-013A5811E994}"/>
              </a:ext>
            </a:extLst>
          </p:cNvPr>
          <p:cNvSpPr txBox="1"/>
          <p:nvPr/>
        </p:nvSpPr>
        <p:spPr>
          <a:xfrm>
            <a:off x="6218589" y="5465583"/>
            <a:ext cx="2273311" cy="503310"/>
          </a:xfrm>
          <a:prstGeom prst="rect">
            <a:avLst/>
          </a:prstGeom>
          <a:ln w="18482">
            <a:solidFill>
              <a:srgbClr val="00AEEF"/>
            </a:solidFill>
          </a:ln>
        </p:spPr>
        <p:txBody>
          <a:bodyPr vert="horz" wrap="square" lIns="0" tIns="3143" rIns="0" bIns="0" rtlCol="0">
            <a:spAutoFit/>
          </a:bodyPr>
          <a:lstStyle/>
          <a:p>
            <a:pPr marL="141446" marR="135160" algn="ctr">
              <a:lnSpc>
                <a:spcPts val="1287"/>
              </a:lnSpc>
              <a:spcBef>
                <a:spcPts val="25"/>
              </a:spcBef>
            </a:pPr>
            <a:r>
              <a:rPr sz="1100" spc="-17" dirty="0">
                <a:solidFill>
                  <a:srgbClr val="231F20"/>
                </a:solidFill>
                <a:latin typeface="Tahoma"/>
                <a:cs typeface="Tahoma"/>
              </a:rPr>
              <a:t>What</a:t>
            </a:r>
            <a:r>
              <a:rPr sz="1100" spc="-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25" dirty="0">
                <a:solidFill>
                  <a:srgbClr val="231F20"/>
                </a:solidFill>
                <a:latin typeface="Tahoma"/>
                <a:cs typeface="Tahoma"/>
              </a:rPr>
              <a:t>will</a:t>
            </a:r>
            <a:r>
              <a:rPr sz="1100" spc="-2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21" dirty="0">
                <a:solidFill>
                  <a:srgbClr val="231F20"/>
                </a:solidFill>
                <a:latin typeface="Tahoma"/>
                <a:cs typeface="Tahoma"/>
              </a:rPr>
              <a:t>be</a:t>
            </a:r>
            <a:r>
              <a:rPr sz="1100" spc="-2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4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100" spc="-2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-4" dirty="0">
                <a:solidFill>
                  <a:srgbClr val="231F20"/>
                </a:solidFill>
                <a:latin typeface="Tahoma"/>
                <a:cs typeface="Tahoma"/>
              </a:rPr>
              <a:t>costs</a:t>
            </a:r>
            <a:r>
              <a:rPr sz="1100" spc="-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4" dirty="0">
                <a:solidFill>
                  <a:srgbClr val="231F20"/>
                </a:solidFill>
                <a:latin typeface="Tahoma"/>
                <a:cs typeface="Tahoma"/>
              </a:rPr>
              <a:t>of </a:t>
            </a:r>
            <a:r>
              <a:rPr sz="1100" spc="-30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8" dirty="0">
                <a:solidFill>
                  <a:srgbClr val="231F20"/>
                </a:solidFill>
                <a:latin typeface="Tahoma"/>
                <a:cs typeface="Tahoma"/>
              </a:rPr>
              <a:t>maintaining </a:t>
            </a:r>
            <a:r>
              <a:rPr sz="1100" dirty="0">
                <a:solidFill>
                  <a:srgbClr val="231F20"/>
                </a:solidFill>
                <a:latin typeface="Tahoma"/>
                <a:cs typeface="Tahoma"/>
              </a:rPr>
              <a:t>this </a:t>
            </a:r>
            <a:r>
              <a:rPr sz="1100" spc="-4" dirty="0">
                <a:solidFill>
                  <a:srgbClr val="231F20"/>
                </a:solidFill>
                <a:latin typeface="Tahoma"/>
                <a:cs typeface="Tahoma"/>
              </a:rPr>
              <a:t>system </a:t>
            </a:r>
            <a:r>
              <a:rPr sz="110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-4" dirty="0">
                <a:solidFill>
                  <a:srgbClr val="231F20"/>
                </a:solidFill>
                <a:latin typeface="Tahoma"/>
                <a:cs typeface="Tahoma"/>
              </a:rPr>
              <a:t>over</a:t>
            </a:r>
            <a:r>
              <a:rPr sz="1100" spc="-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4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100" spc="-2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-8" dirty="0">
                <a:solidFill>
                  <a:srgbClr val="231F20"/>
                </a:solidFill>
                <a:latin typeface="Tahoma"/>
                <a:cs typeface="Tahoma"/>
              </a:rPr>
              <a:t>next</a:t>
            </a:r>
            <a:r>
              <a:rPr sz="1100" spc="-2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231F20"/>
                </a:solidFill>
                <a:latin typeface="Tahoma"/>
                <a:cs typeface="Tahoma"/>
              </a:rPr>
              <a:t>year?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9221" name="object 27">
            <a:extLst>
              <a:ext uri="{FF2B5EF4-FFF2-40B4-BE49-F238E27FC236}">
                <a16:creationId xmlns:a16="http://schemas.microsoft.com/office/drawing/2014/main" id="{D33E4B1A-6023-DA79-D9DB-293C584EEA99}"/>
              </a:ext>
            </a:extLst>
          </p:cNvPr>
          <p:cNvSpPr txBox="1"/>
          <p:nvPr/>
        </p:nvSpPr>
        <p:spPr>
          <a:xfrm>
            <a:off x="5866798" y="1905558"/>
            <a:ext cx="2054456" cy="340783"/>
          </a:xfrm>
          <a:prstGeom prst="rect">
            <a:avLst/>
          </a:prstGeom>
        </p:spPr>
        <p:txBody>
          <a:bodyPr vert="horz" wrap="square" lIns="0" tIns="3667" rIns="0" bIns="0" rtlCol="0">
            <a:spAutoFit/>
          </a:bodyPr>
          <a:lstStyle/>
          <a:p>
            <a:pPr marL="10478" marR="4191" indent="524" algn="ctr">
              <a:lnSpc>
                <a:spcPct val="104000"/>
              </a:lnSpc>
              <a:spcBef>
                <a:spcPts val="29"/>
              </a:spcBef>
            </a:pPr>
            <a:r>
              <a:rPr sz="1100" spc="-17" dirty="0">
                <a:solidFill>
                  <a:srgbClr val="231F20"/>
                </a:solidFill>
                <a:latin typeface="Tahoma"/>
                <a:cs typeface="Tahoma"/>
              </a:rPr>
              <a:t>What </a:t>
            </a:r>
            <a:r>
              <a:rPr sz="1100" spc="-4" dirty="0">
                <a:solidFill>
                  <a:srgbClr val="231F20"/>
                </a:solidFill>
                <a:latin typeface="Tahoma"/>
                <a:cs typeface="Tahoma"/>
              </a:rPr>
              <a:t>parts </a:t>
            </a:r>
            <a:r>
              <a:rPr sz="1100" spc="4" dirty="0">
                <a:solidFill>
                  <a:srgbClr val="231F20"/>
                </a:solidFill>
                <a:latin typeface="Tahoma"/>
                <a:cs typeface="Tahoma"/>
              </a:rPr>
              <a:t>of the </a:t>
            </a:r>
            <a:r>
              <a:rPr sz="1100" spc="-4" dirty="0">
                <a:solidFill>
                  <a:srgbClr val="231F20"/>
                </a:solidFill>
                <a:latin typeface="Tahoma"/>
                <a:cs typeface="Tahoma"/>
              </a:rPr>
              <a:t>system </a:t>
            </a:r>
            <a:r>
              <a:rPr sz="110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21" dirty="0">
                <a:solidFill>
                  <a:srgbClr val="231F20"/>
                </a:solidFill>
                <a:latin typeface="Tahoma"/>
                <a:cs typeface="Tahoma"/>
              </a:rPr>
              <a:t>will</a:t>
            </a:r>
            <a:r>
              <a:rPr sz="1100" spc="-5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17" dirty="0">
                <a:solidFill>
                  <a:srgbClr val="231F20"/>
                </a:solidFill>
                <a:latin typeface="Tahoma"/>
                <a:cs typeface="Tahoma"/>
              </a:rPr>
              <a:t>be</a:t>
            </a:r>
            <a:r>
              <a:rPr sz="1100" spc="-5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100" spc="-5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8" dirty="0">
                <a:solidFill>
                  <a:srgbClr val="231F20"/>
                </a:solidFill>
                <a:latin typeface="Tahoma"/>
                <a:cs typeface="Tahoma"/>
              </a:rPr>
              <a:t>most</a:t>
            </a:r>
            <a:r>
              <a:rPr sz="1100" spc="-5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-8" dirty="0">
                <a:solidFill>
                  <a:srgbClr val="231F20"/>
                </a:solidFill>
                <a:latin typeface="Tahoma"/>
                <a:cs typeface="Tahoma"/>
              </a:rPr>
              <a:t>expensive </a:t>
            </a:r>
            <a:r>
              <a:rPr sz="1100" spc="-30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8" dirty="0">
                <a:solidFill>
                  <a:srgbClr val="231F20"/>
                </a:solidFill>
                <a:latin typeface="Tahoma"/>
                <a:cs typeface="Tahoma"/>
              </a:rPr>
              <a:t>to</a:t>
            </a:r>
            <a:r>
              <a:rPr sz="1100" spc="-2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4" dirty="0">
                <a:solidFill>
                  <a:srgbClr val="231F20"/>
                </a:solidFill>
                <a:latin typeface="Tahoma"/>
                <a:cs typeface="Tahoma"/>
              </a:rPr>
              <a:t>maintain?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222" name="object 28">
            <a:extLst>
              <a:ext uri="{FF2B5EF4-FFF2-40B4-BE49-F238E27FC236}">
                <a16:creationId xmlns:a16="http://schemas.microsoft.com/office/drawing/2014/main" id="{1D314191-4683-A895-F313-365DA91F93BA}"/>
              </a:ext>
            </a:extLst>
          </p:cNvPr>
          <p:cNvSpPr txBox="1"/>
          <p:nvPr/>
        </p:nvSpPr>
        <p:spPr>
          <a:xfrm>
            <a:off x="381967" y="5656245"/>
            <a:ext cx="2273311" cy="503311"/>
          </a:xfrm>
          <a:prstGeom prst="rect">
            <a:avLst/>
          </a:prstGeom>
          <a:ln w="18482">
            <a:solidFill>
              <a:srgbClr val="00AEEF"/>
            </a:solidFill>
          </a:ln>
        </p:spPr>
        <p:txBody>
          <a:bodyPr vert="horz" wrap="square" lIns="0" tIns="3143" rIns="0" bIns="0" rtlCol="0">
            <a:spAutoFit/>
          </a:bodyPr>
          <a:lstStyle/>
          <a:p>
            <a:pPr marL="312230" marR="305419" algn="ctr">
              <a:lnSpc>
                <a:spcPts val="1287"/>
              </a:lnSpc>
              <a:spcBef>
                <a:spcPts val="25"/>
              </a:spcBef>
            </a:pPr>
            <a:r>
              <a:rPr sz="1100" spc="37" dirty="0">
                <a:solidFill>
                  <a:srgbClr val="231F20"/>
                </a:solidFill>
                <a:latin typeface="Tahoma"/>
                <a:cs typeface="Tahoma"/>
              </a:rPr>
              <a:t>How</a:t>
            </a:r>
            <a:r>
              <a:rPr sz="1100" spc="-5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8" dirty="0">
                <a:solidFill>
                  <a:srgbClr val="231F20"/>
                </a:solidFill>
                <a:latin typeface="Tahoma"/>
                <a:cs typeface="Tahoma"/>
              </a:rPr>
              <a:t>many</a:t>
            </a:r>
            <a:r>
              <a:rPr sz="1100" spc="-5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31F20"/>
                </a:solidFill>
                <a:latin typeface="Tahoma"/>
                <a:cs typeface="Tahoma"/>
              </a:rPr>
              <a:t>change </a:t>
            </a:r>
            <a:r>
              <a:rPr sz="1100" spc="-30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31F20"/>
                </a:solidFill>
                <a:latin typeface="Tahoma"/>
                <a:cs typeface="Tahoma"/>
              </a:rPr>
              <a:t>requests </a:t>
            </a:r>
            <a:r>
              <a:rPr sz="1100" spc="4" dirty="0">
                <a:solidFill>
                  <a:srgbClr val="231F20"/>
                </a:solidFill>
                <a:latin typeface="Tahoma"/>
                <a:cs typeface="Tahoma"/>
              </a:rPr>
              <a:t>can </a:t>
            </a:r>
            <a:r>
              <a:rPr sz="1100" spc="21" dirty="0">
                <a:solidFill>
                  <a:srgbClr val="231F20"/>
                </a:solidFill>
                <a:latin typeface="Tahoma"/>
                <a:cs typeface="Tahoma"/>
              </a:rPr>
              <a:t>be </a:t>
            </a:r>
            <a:r>
              <a:rPr sz="1100" spc="2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-4" dirty="0">
                <a:solidFill>
                  <a:srgbClr val="231F20"/>
                </a:solidFill>
                <a:latin typeface="Tahoma"/>
                <a:cs typeface="Tahoma"/>
              </a:rPr>
              <a:t>expected?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223" name="object 29">
            <a:extLst>
              <a:ext uri="{FF2B5EF4-FFF2-40B4-BE49-F238E27FC236}">
                <a16:creationId xmlns:a16="http://schemas.microsoft.com/office/drawing/2014/main" id="{E9393B5D-A99D-EDC7-A1F2-4DF962F31658}"/>
              </a:ext>
            </a:extLst>
          </p:cNvPr>
          <p:cNvSpPr txBox="1"/>
          <p:nvPr/>
        </p:nvSpPr>
        <p:spPr>
          <a:xfrm>
            <a:off x="166918" y="2342335"/>
            <a:ext cx="2273311" cy="503310"/>
          </a:xfrm>
          <a:prstGeom prst="rect">
            <a:avLst/>
          </a:prstGeom>
          <a:ln w="18482">
            <a:solidFill>
              <a:srgbClr val="00AEEF"/>
            </a:solidFill>
          </a:ln>
        </p:spPr>
        <p:txBody>
          <a:bodyPr vert="horz" wrap="square" lIns="0" tIns="3143" rIns="0" bIns="0" rtlCol="0">
            <a:spAutoFit/>
          </a:bodyPr>
          <a:lstStyle/>
          <a:p>
            <a:pPr marL="57626" marR="51340" algn="ctr">
              <a:lnSpc>
                <a:spcPts val="1287"/>
              </a:lnSpc>
              <a:spcBef>
                <a:spcPts val="25"/>
              </a:spcBef>
            </a:pPr>
            <a:r>
              <a:rPr sz="1100" spc="-41" dirty="0">
                <a:solidFill>
                  <a:srgbClr val="231F20"/>
                </a:solidFill>
                <a:latin typeface="Tahoma"/>
                <a:cs typeface="Tahoma"/>
              </a:rPr>
              <a:t>W</a:t>
            </a:r>
            <a:r>
              <a:rPr sz="1100" spc="-21" dirty="0">
                <a:solidFill>
                  <a:srgbClr val="231F20"/>
                </a:solidFill>
                <a:latin typeface="Tahoma"/>
                <a:cs typeface="Tahoma"/>
              </a:rPr>
              <a:t>h</a:t>
            </a:r>
            <a:r>
              <a:rPr sz="1100" spc="-25" dirty="0">
                <a:solidFill>
                  <a:srgbClr val="231F20"/>
                </a:solidFill>
                <a:latin typeface="Tahoma"/>
                <a:cs typeface="Tahoma"/>
              </a:rPr>
              <a:t>at</a:t>
            </a:r>
            <a:r>
              <a:rPr sz="1100" spc="-7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12" dirty="0">
                <a:solidFill>
                  <a:srgbClr val="231F20"/>
                </a:solidFill>
                <a:latin typeface="Tahoma"/>
                <a:cs typeface="Tahoma"/>
              </a:rPr>
              <a:t>p</a:t>
            </a:r>
            <a:r>
              <a:rPr sz="1100" spc="-25" dirty="0">
                <a:solidFill>
                  <a:srgbClr val="231F20"/>
                </a:solidFill>
                <a:latin typeface="Tahoma"/>
                <a:cs typeface="Tahoma"/>
              </a:rPr>
              <a:t>ar</a:t>
            </a:r>
            <a:r>
              <a:rPr sz="1100" spc="-41" dirty="0">
                <a:solidFill>
                  <a:srgbClr val="231F20"/>
                </a:solidFill>
                <a:latin typeface="Tahoma"/>
                <a:cs typeface="Tahoma"/>
              </a:rPr>
              <a:t>t</a:t>
            </a:r>
            <a:r>
              <a:rPr sz="1100" spc="-12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z="1100" spc="-7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21" dirty="0">
                <a:solidFill>
                  <a:srgbClr val="231F20"/>
                </a:solidFill>
                <a:latin typeface="Tahoma"/>
                <a:cs typeface="Tahoma"/>
              </a:rPr>
              <a:t>o</a:t>
            </a:r>
            <a:r>
              <a:rPr sz="1100" spc="-29" dirty="0">
                <a:solidFill>
                  <a:srgbClr val="231F20"/>
                </a:solidFill>
                <a:latin typeface="Tahoma"/>
                <a:cs typeface="Tahoma"/>
              </a:rPr>
              <a:t>f</a:t>
            </a:r>
            <a:r>
              <a:rPr sz="1100" spc="-7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-41" dirty="0">
                <a:solidFill>
                  <a:srgbClr val="231F20"/>
                </a:solidFill>
                <a:latin typeface="Tahoma"/>
                <a:cs typeface="Tahoma"/>
              </a:rPr>
              <a:t>t</a:t>
            </a:r>
            <a:r>
              <a:rPr sz="1100" spc="8" dirty="0">
                <a:solidFill>
                  <a:srgbClr val="231F20"/>
                </a:solidFill>
                <a:latin typeface="Tahoma"/>
                <a:cs typeface="Tahoma"/>
              </a:rPr>
              <a:t>h</a:t>
            </a:r>
            <a:r>
              <a:rPr sz="1100" spc="12" dirty="0">
                <a:solidFill>
                  <a:srgbClr val="231F20"/>
                </a:solidFill>
                <a:latin typeface="Tahoma"/>
                <a:cs typeface="Tahoma"/>
              </a:rPr>
              <a:t>e</a:t>
            </a:r>
            <a:r>
              <a:rPr sz="1100" spc="-7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-29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z="1100" spc="-62" dirty="0">
                <a:solidFill>
                  <a:srgbClr val="231F20"/>
                </a:solidFill>
                <a:latin typeface="Tahoma"/>
                <a:cs typeface="Tahoma"/>
              </a:rPr>
              <a:t>y</a:t>
            </a:r>
            <a:r>
              <a:rPr sz="1100" spc="-29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z="1100" spc="-41" dirty="0">
                <a:solidFill>
                  <a:srgbClr val="231F20"/>
                </a:solidFill>
                <a:latin typeface="Tahoma"/>
                <a:cs typeface="Tahoma"/>
              </a:rPr>
              <a:t>t</a:t>
            </a:r>
            <a:r>
              <a:rPr sz="1100" spc="-4" dirty="0">
                <a:solidFill>
                  <a:srgbClr val="231F20"/>
                </a:solidFill>
                <a:latin typeface="Tahoma"/>
                <a:cs typeface="Tahoma"/>
              </a:rPr>
              <a:t>e</a:t>
            </a:r>
            <a:r>
              <a:rPr sz="1100" spc="54" dirty="0">
                <a:solidFill>
                  <a:srgbClr val="231F20"/>
                </a:solidFill>
                <a:latin typeface="Tahoma"/>
                <a:cs typeface="Tahoma"/>
              </a:rPr>
              <a:t>m</a:t>
            </a:r>
            <a:r>
              <a:rPr sz="1100" spc="-7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sz="1100" spc="-45" dirty="0">
                <a:solidFill>
                  <a:srgbClr val="231F20"/>
                </a:solidFill>
                <a:latin typeface="Tahoma"/>
                <a:cs typeface="Tahoma"/>
              </a:rPr>
              <a:t>r</a:t>
            </a:r>
            <a:r>
              <a:rPr sz="1100" spc="8" dirty="0">
                <a:solidFill>
                  <a:srgbClr val="231F20"/>
                </a:solidFill>
                <a:latin typeface="Tahoma"/>
                <a:cs typeface="Tahoma"/>
              </a:rPr>
              <a:t>e  </a:t>
            </a:r>
            <a:r>
              <a:rPr sz="1100" spc="4" dirty="0">
                <a:solidFill>
                  <a:srgbClr val="231F20"/>
                </a:solidFill>
                <a:latin typeface="Tahoma"/>
                <a:cs typeface="Tahoma"/>
              </a:rPr>
              <a:t>most</a:t>
            </a:r>
            <a:r>
              <a:rPr sz="1100" spc="-6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-4" dirty="0">
                <a:solidFill>
                  <a:srgbClr val="231F20"/>
                </a:solidFill>
                <a:latin typeface="Tahoma"/>
                <a:cs typeface="Tahoma"/>
              </a:rPr>
              <a:t>likely</a:t>
            </a:r>
            <a:r>
              <a:rPr sz="1100" spc="-6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31F20"/>
                </a:solidFill>
                <a:latin typeface="Tahoma"/>
                <a:cs typeface="Tahoma"/>
              </a:rPr>
              <a:t>to</a:t>
            </a:r>
            <a:r>
              <a:rPr sz="1100" spc="-6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17" dirty="0">
                <a:solidFill>
                  <a:srgbClr val="231F20"/>
                </a:solidFill>
                <a:latin typeface="Tahoma"/>
                <a:cs typeface="Tahoma"/>
              </a:rPr>
              <a:t>be</a:t>
            </a:r>
            <a:r>
              <a:rPr sz="1100" spc="-6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-17" dirty="0">
                <a:solidFill>
                  <a:srgbClr val="231F20"/>
                </a:solidFill>
                <a:latin typeface="Tahoma"/>
                <a:cs typeface="Tahoma"/>
              </a:rPr>
              <a:t>affected</a:t>
            </a:r>
            <a:r>
              <a:rPr sz="1100" spc="-6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-21" dirty="0">
                <a:solidFill>
                  <a:srgbClr val="231F20"/>
                </a:solidFill>
                <a:latin typeface="Tahoma"/>
                <a:cs typeface="Tahoma"/>
              </a:rPr>
              <a:t>by </a:t>
            </a:r>
            <a:r>
              <a:rPr sz="1100" spc="-30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31F20"/>
                </a:solidFill>
                <a:latin typeface="Tahoma"/>
                <a:cs typeface="Tahoma"/>
              </a:rPr>
              <a:t>change</a:t>
            </a:r>
            <a:r>
              <a:rPr sz="1100" spc="-2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100" spc="-8" dirty="0">
                <a:solidFill>
                  <a:srgbClr val="231F20"/>
                </a:solidFill>
                <a:latin typeface="Tahoma"/>
                <a:cs typeface="Tahoma"/>
              </a:rPr>
              <a:t>requests?</a:t>
            </a:r>
            <a:endParaRPr sz="11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81756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Software Reengineering 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  <a:p>
            <a:pPr marL="9144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9</a:t>
            </a:fld>
            <a:endParaRPr lang="en-US" sz="70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76E30AE-1E0B-ACEA-C11D-68184E6F9D13}"/>
              </a:ext>
            </a:extLst>
          </p:cNvPr>
          <p:cNvSpPr txBox="1">
            <a:spLocks/>
          </p:cNvSpPr>
          <p:nvPr/>
        </p:nvSpPr>
        <p:spPr>
          <a:xfrm>
            <a:off x="333829" y="1234281"/>
            <a:ext cx="8418285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7678" marR="4191" indent="-457200">
              <a:spcBef>
                <a:spcPts val="334"/>
              </a:spcBef>
              <a:buFont typeface="Arial" panose="020B0604020202020204" pitchFamily="34" charset="0"/>
              <a:buChar char="•"/>
              <a:tabLst>
                <a:tab pos="199073" algn="l"/>
                <a:tab pos="4536758" algn="l"/>
              </a:tabLst>
            </a:pPr>
            <a:r>
              <a:rPr lang="en-US" sz="2600" b="1" spc="-8" dirty="0">
                <a:solidFill>
                  <a:schemeClr val="tx1"/>
                </a:solidFill>
                <a:latin typeface="Calibri"/>
                <a:cs typeface="Calibri"/>
              </a:rPr>
              <a:t>Restructuring</a:t>
            </a:r>
            <a:r>
              <a:rPr lang="en-US" sz="2600" b="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b="1" spc="-4" dirty="0">
                <a:solidFill>
                  <a:schemeClr val="tx1"/>
                </a:solidFill>
                <a:latin typeface="Calibri"/>
                <a:cs typeface="Calibri"/>
              </a:rPr>
              <a:t>or</a:t>
            </a:r>
            <a:r>
              <a:rPr lang="en-US" sz="2600" b="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b="1" spc="-8" dirty="0">
                <a:solidFill>
                  <a:schemeClr val="tx1"/>
                </a:solidFill>
                <a:latin typeface="Calibri"/>
                <a:cs typeface="Calibri"/>
              </a:rPr>
              <a:t>rewriting</a:t>
            </a:r>
            <a:r>
              <a:rPr lang="en-US" sz="2600" b="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b="1" spc="-4" dirty="0">
                <a:solidFill>
                  <a:schemeClr val="tx1"/>
                </a:solidFill>
                <a:latin typeface="Calibri"/>
                <a:cs typeface="Calibri"/>
              </a:rPr>
              <a:t>part</a:t>
            </a:r>
            <a:r>
              <a:rPr lang="en-US" sz="2600" b="1" spc="8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b="1" spc="-4" dirty="0">
                <a:solidFill>
                  <a:schemeClr val="tx1"/>
                </a:solidFill>
                <a:latin typeface="Calibri"/>
                <a:cs typeface="Calibri"/>
              </a:rPr>
              <a:t>or</a:t>
            </a:r>
            <a:r>
              <a:rPr lang="en-US" sz="2600" b="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b="1" spc="-4" dirty="0">
                <a:solidFill>
                  <a:schemeClr val="tx1"/>
                </a:solidFill>
                <a:latin typeface="Calibri"/>
                <a:cs typeface="Calibri"/>
              </a:rPr>
              <a:t>all</a:t>
            </a:r>
            <a:r>
              <a:rPr lang="en-US" sz="2600" b="1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b="1" spc="-4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lang="en-US" sz="2600" b="1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b="1" dirty="0">
                <a:solidFill>
                  <a:schemeClr val="tx1"/>
                </a:solidFill>
                <a:latin typeface="Calibri"/>
                <a:cs typeface="Calibri"/>
              </a:rPr>
              <a:t>a </a:t>
            </a:r>
            <a:r>
              <a:rPr lang="en-US" sz="2600" b="1" spc="-8" dirty="0">
                <a:solidFill>
                  <a:schemeClr val="tx1"/>
                </a:solidFill>
                <a:latin typeface="Calibri"/>
                <a:cs typeface="Calibri"/>
              </a:rPr>
              <a:t>legacy </a:t>
            </a:r>
            <a:r>
              <a:rPr lang="en-US" sz="2600" b="1" spc="-17" dirty="0">
                <a:solidFill>
                  <a:schemeClr val="tx1"/>
                </a:solidFill>
                <a:latin typeface="Calibri"/>
                <a:cs typeface="Calibri"/>
              </a:rPr>
              <a:t>system </a:t>
            </a:r>
            <a:r>
              <a:rPr lang="en-US" sz="2600" b="1" spc="-4" dirty="0">
                <a:solidFill>
                  <a:schemeClr val="tx1"/>
                </a:solidFill>
                <a:latin typeface="Calibri"/>
                <a:cs typeface="Calibri"/>
              </a:rPr>
              <a:t>without changing </a:t>
            </a:r>
            <a:r>
              <a:rPr lang="en-US" sz="2600" b="1" dirty="0">
                <a:solidFill>
                  <a:schemeClr val="tx1"/>
                </a:solidFill>
                <a:latin typeface="Calibri"/>
                <a:cs typeface="Calibri"/>
              </a:rPr>
              <a:t>its </a:t>
            </a:r>
            <a:r>
              <a:rPr lang="en-US" sz="2600" b="1" spc="-437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b="1" spc="-4" dirty="0">
                <a:solidFill>
                  <a:schemeClr val="tx1"/>
                </a:solidFill>
                <a:latin typeface="Calibri"/>
                <a:cs typeface="Calibri"/>
              </a:rPr>
              <a:t>functionality</a:t>
            </a:r>
            <a:r>
              <a:rPr lang="en-US" sz="2600" spc="-4" dirty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endParaRPr lang="en-US" sz="26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924878" marR="464677" lvl="1" indent="-457200">
              <a:spcBef>
                <a:spcPts val="705"/>
              </a:spcBef>
              <a:buClr>
                <a:srgbClr val="84CDEA"/>
              </a:buClr>
              <a:buFont typeface="Arial" panose="020B0604020202020204" pitchFamily="34" charset="0"/>
              <a:buChar char="•"/>
              <a:tabLst>
                <a:tab pos="199073" algn="l"/>
                <a:tab pos="1203341" algn="l"/>
                <a:tab pos="5097304" algn="l"/>
              </a:tabLst>
            </a:pPr>
            <a:r>
              <a:rPr lang="en-US" sz="2600" spc="-4" dirty="0">
                <a:solidFill>
                  <a:schemeClr val="tx1"/>
                </a:solidFill>
                <a:latin typeface="Calibri"/>
                <a:cs typeface="Calibri"/>
              </a:rPr>
              <a:t>Applicable</a:t>
            </a:r>
            <a:r>
              <a:rPr lang="en-US" sz="26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spc="-8" dirty="0">
                <a:solidFill>
                  <a:schemeClr val="tx1"/>
                </a:solidFill>
                <a:latin typeface="Calibri"/>
                <a:cs typeface="Calibri"/>
              </a:rPr>
              <a:t>where</a:t>
            </a:r>
            <a:r>
              <a:rPr lang="en-US" sz="2600" spc="8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spc="-4" dirty="0">
                <a:solidFill>
                  <a:schemeClr val="tx1"/>
                </a:solidFill>
                <a:latin typeface="Calibri"/>
                <a:cs typeface="Calibri"/>
              </a:rPr>
              <a:t>some</a:t>
            </a:r>
            <a:r>
              <a:rPr lang="en-US" sz="2600" spc="8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dirty="0">
                <a:solidFill>
                  <a:schemeClr val="tx1"/>
                </a:solidFill>
                <a:latin typeface="Calibri"/>
                <a:cs typeface="Calibri"/>
              </a:rPr>
              <a:t>but </a:t>
            </a:r>
            <a:r>
              <a:rPr lang="en-US" sz="2600" spc="-4" dirty="0">
                <a:solidFill>
                  <a:schemeClr val="tx1"/>
                </a:solidFill>
                <a:latin typeface="Calibri"/>
                <a:cs typeface="Calibri"/>
              </a:rPr>
              <a:t>not all</a:t>
            </a:r>
            <a:r>
              <a:rPr lang="en-US" sz="26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spc="-12" dirty="0">
                <a:solidFill>
                  <a:schemeClr val="tx1"/>
                </a:solidFill>
                <a:latin typeface="Calibri"/>
                <a:cs typeface="Calibri"/>
              </a:rPr>
              <a:t>sub-systems </a:t>
            </a:r>
            <a:r>
              <a:rPr lang="en-US" sz="2600" spc="-4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lang="en-US" sz="2600" spc="-17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dirty="0">
                <a:solidFill>
                  <a:schemeClr val="tx1"/>
                </a:solidFill>
                <a:latin typeface="Calibri"/>
                <a:cs typeface="Calibri"/>
              </a:rPr>
              <a:t>a</a:t>
            </a:r>
            <a:r>
              <a:rPr lang="en-US" sz="2600" spc="-17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spc="-8" dirty="0">
                <a:solidFill>
                  <a:schemeClr val="tx1"/>
                </a:solidFill>
                <a:latin typeface="Calibri"/>
                <a:cs typeface="Calibri"/>
              </a:rPr>
              <a:t>larger</a:t>
            </a:r>
            <a:r>
              <a:rPr lang="en-US" sz="2600" spc="-21" dirty="0">
                <a:solidFill>
                  <a:schemeClr val="tx1"/>
                </a:solidFill>
                <a:latin typeface="Calibri"/>
                <a:cs typeface="Calibri"/>
              </a:rPr>
              <a:t> system </a:t>
            </a:r>
            <a:r>
              <a:rPr lang="en-US" sz="2600" spc="-8" dirty="0">
                <a:solidFill>
                  <a:schemeClr val="tx1"/>
                </a:solidFill>
                <a:latin typeface="Calibri"/>
                <a:cs typeface="Calibri"/>
              </a:rPr>
              <a:t>require </a:t>
            </a:r>
            <a:r>
              <a:rPr lang="en-US" sz="2600" spc="-437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spc="-4" dirty="0">
                <a:solidFill>
                  <a:schemeClr val="tx1"/>
                </a:solidFill>
                <a:latin typeface="Calibri"/>
                <a:cs typeface="Calibri"/>
              </a:rPr>
              <a:t>frequent maintenance.</a:t>
            </a:r>
            <a:endParaRPr lang="en-US" sz="26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924878" marR="300180" lvl="1" indent="-457200">
              <a:spcBef>
                <a:spcPts val="825"/>
              </a:spcBef>
              <a:buClr>
                <a:srgbClr val="84CDEA"/>
              </a:buClr>
              <a:buFont typeface="Arial" panose="020B0604020202020204" pitchFamily="34" charset="0"/>
              <a:buChar char="•"/>
              <a:tabLst>
                <a:tab pos="199073" algn="l"/>
                <a:tab pos="4919186" algn="l"/>
              </a:tabLst>
            </a:pPr>
            <a:r>
              <a:rPr lang="en-US" sz="2600" spc="-4" dirty="0">
                <a:solidFill>
                  <a:schemeClr val="tx1"/>
                </a:solidFill>
                <a:latin typeface="Calibri"/>
                <a:cs typeface="Calibri"/>
              </a:rPr>
              <a:t>Reengineering</a:t>
            </a:r>
            <a:r>
              <a:rPr lang="en-US" sz="26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spc="-12" dirty="0">
                <a:solidFill>
                  <a:schemeClr val="tx1"/>
                </a:solidFill>
                <a:latin typeface="Calibri"/>
                <a:cs typeface="Calibri"/>
              </a:rPr>
              <a:t>involves</a:t>
            </a:r>
            <a:r>
              <a:rPr lang="en-US" sz="26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spc="-4" dirty="0">
                <a:solidFill>
                  <a:schemeClr val="tx1"/>
                </a:solidFill>
                <a:latin typeface="Calibri"/>
                <a:cs typeface="Calibri"/>
              </a:rPr>
              <a:t>adding</a:t>
            </a:r>
            <a:r>
              <a:rPr lang="en-US" sz="26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spc="-17" dirty="0">
                <a:solidFill>
                  <a:schemeClr val="tx1"/>
                </a:solidFill>
                <a:latin typeface="Calibri"/>
                <a:cs typeface="Calibri"/>
              </a:rPr>
              <a:t>effort</a:t>
            </a:r>
            <a:r>
              <a:rPr lang="en-US" sz="26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spc="-12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lang="en-US" sz="2600" spc="8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spc="-21" dirty="0">
                <a:solidFill>
                  <a:schemeClr val="tx1"/>
                </a:solidFill>
                <a:latin typeface="Calibri"/>
                <a:cs typeface="Calibri"/>
              </a:rPr>
              <a:t>make </a:t>
            </a:r>
            <a:r>
              <a:rPr lang="en-US" sz="2600" dirty="0">
                <a:solidFill>
                  <a:schemeClr val="tx1"/>
                </a:solidFill>
                <a:latin typeface="Calibri"/>
                <a:cs typeface="Calibri"/>
              </a:rPr>
              <a:t>them</a:t>
            </a:r>
            <a:r>
              <a:rPr lang="en-US" sz="26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dirty="0">
                <a:solidFill>
                  <a:schemeClr val="tx1"/>
                </a:solidFill>
                <a:latin typeface="Calibri"/>
                <a:cs typeface="Calibri"/>
              </a:rPr>
              <a:t>easier</a:t>
            </a:r>
            <a:r>
              <a:rPr lang="en-US" sz="2600" spc="-2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spc="-12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lang="en-US" sz="26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spc="-8" dirty="0">
                <a:solidFill>
                  <a:schemeClr val="tx1"/>
                </a:solidFill>
                <a:latin typeface="Calibri"/>
                <a:cs typeface="Calibri"/>
              </a:rPr>
              <a:t>maintain.</a:t>
            </a:r>
            <a:r>
              <a:rPr lang="en-US" sz="2600" spc="-29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</a:p>
          <a:p>
            <a:pPr marL="467678" marR="300180" indent="-457200">
              <a:spcBef>
                <a:spcPts val="825"/>
              </a:spcBef>
              <a:buFont typeface="Arial" panose="020B0604020202020204" pitchFamily="34" charset="0"/>
              <a:buChar char="•"/>
              <a:tabLst>
                <a:tab pos="199073" algn="l"/>
                <a:tab pos="4919186" algn="l"/>
              </a:tabLst>
            </a:pPr>
            <a:r>
              <a:rPr lang="en-US" sz="2600" dirty="0">
                <a:solidFill>
                  <a:schemeClr val="tx1"/>
                </a:solidFill>
                <a:latin typeface="Calibri"/>
                <a:cs typeface="Calibri"/>
              </a:rPr>
              <a:t>The </a:t>
            </a:r>
            <a:r>
              <a:rPr lang="en-US" sz="2600" spc="-433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spc="-21" dirty="0">
                <a:solidFill>
                  <a:schemeClr val="tx1"/>
                </a:solidFill>
                <a:latin typeface="Calibri"/>
                <a:cs typeface="Calibri"/>
              </a:rPr>
              <a:t>system</a:t>
            </a:r>
            <a:r>
              <a:rPr lang="en-US" sz="2600" spc="-12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spc="-17" dirty="0">
                <a:solidFill>
                  <a:schemeClr val="tx1"/>
                </a:solidFill>
                <a:latin typeface="Calibri"/>
                <a:cs typeface="Calibri"/>
              </a:rPr>
              <a:t>may</a:t>
            </a:r>
            <a:r>
              <a:rPr lang="en-US" sz="2600" spc="-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dirty="0">
                <a:solidFill>
                  <a:schemeClr val="tx1"/>
                </a:solidFill>
                <a:latin typeface="Calibri"/>
                <a:cs typeface="Calibri"/>
              </a:rPr>
              <a:t>be </a:t>
            </a:r>
            <a:r>
              <a:rPr lang="en-US" sz="2600" spc="-8" dirty="0">
                <a:solidFill>
                  <a:schemeClr val="tx1"/>
                </a:solidFill>
                <a:latin typeface="Calibri"/>
                <a:cs typeface="Calibri"/>
              </a:rPr>
              <a:t>re-structured</a:t>
            </a:r>
            <a:r>
              <a:rPr lang="en-US" sz="2600" spc="-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dirty="0">
                <a:solidFill>
                  <a:schemeClr val="tx1"/>
                </a:solidFill>
                <a:latin typeface="Calibri"/>
                <a:cs typeface="Calibri"/>
              </a:rPr>
              <a:t>and</a:t>
            </a:r>
            <a:r>
              <a:rPr lang="en-US" sz="2600" spc="-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spc="-8" dirty="0">
                <a:solidFill>
                  <a:schemeClr val="tx1"/>
                </a:solidFill>
                <a:latin typeface="Calibri"/>
                <a:cs typeface="Calibri"/>
              </a:rPr>
              <a:t>re-documented.</a:t>
            </a:r>
            <a:endParaRPr lang="en-US" sz="26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8430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Advantages of Reengineering</a:t>
            </a:r>
            <a:endParaRPr lang="en-US" sz="2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10</a:t>
            </a:fld>
            <a:endParaRPr lang="en-US" sz="70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27F92E7-CBC9-03F5-B8D9-936965871782}"/>
              </a:ext>
            </a:extLst>
          </p:cNvPr>
          <p:cNvSpPr txBox="1">
            <a:spLocks/>
          </p:cNvSpPr>
          <p:nvPr/>
        </p:nvSpPr>
        <p:spPr>
          <a:xfrm>
            <a:off x="350037" y="1234281"/>
            <a:ext cx="8418285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7678" indent="-457200">
              <a:spcBef>
                <a:spcPts val="305"/>
              </a:spcBef>
              <a:buFont typeface="Arial" panose="020B0604020202020204" pitchFamily="34" charset="0"/>
              <a:buChar char="•"/>
              <a:tabLst>
                <a:tab pos="199073" algn="l"/>
              </a:tabLst>
            </a:pPr>
            <a:r>
              <a:rPr lang="en-US" sz="2600" b="1" spc="-8" dirty="0">
                <a:latin typeface="Calibri"/>
                <a:cs typeface="Calibri"/>
              </a:rPr>
              <a:t>Reduced</a:t>
            </a:r>
            <a:r>
              <a:rPr lang="en-US" sz="2600" b="1" spc="-25" dirty="0">
                <a:latin typeface="Calibri"/>
                <a:cs typeface="Calibri"/>
              </a:rPr>
              <a:t> </a:t>
            </a:r>
            <a:r>
              <a:rPr lang="en-US" sz="2600" b="1" spc="-4" dirty="0">
                <a:latin typeface="Calibri"/>
                <a:cs typeface="Calibri"/>
              </a:rPr>
              <a:t>risk</a:t>
            </a:r>
            <a:endParaRPr lang="en-US" sz="2600" dirty="0">
              <a:latin typeface="Calibri"/>
              <a:cs typeface="Calibri"/>
            </a:endParaRPr>
          </a:p>
          <a:p>
            <a:pPr marL="844868" marR="4191" lvl="1" indent="-457200">
              <a:spcBef>
                <a:spcPts val="462"/>
              </a:spcBef>
              <a:buClr>
                <a:srgbClr val="84CDEA"/>
              </a:buClr>
              <a:buFont typeface="Arial" panose="020B0604020202020204" pitchFamily="34" charset="0"/>
              <a:buChar char="•"/>
              <a:tabLst>
                <a:tab pos="576263" algn="l"/>
              </a:tabLst>
            </a:pPr>
            <a:r>
              <a:rPr lang="en-US" sz="2600" spc="-4" dirty="0">
                <a:latin typeface="Calibri"/>
                <a:cs typeface="Calibri"/>
              </a:rPr>
              <a:t>There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lang="en-US" sz="2600" spc="-4" dirty="0">
                <a:latin typeface="Calibri"/>
                <a:cs typeface="Calibri"/>
              </a:rPr>
              <a:t>is </a:t>
            </a:r>
            <a:r>
              <a:rPr lang="en-US" sz="2600" dirty="0">
                <a:latin typeface="Calibri"/>
                <a:cs typeface="Calibri"/>
              </a:rPr>
              <a:t>a </a:t>
            </a:r>
            <a:r>
              <a:rPr lang="en-US" sz="2600" spc="-4" dirty="0">
                <a:latin typeface="Calibri"/>
                <a:cs typeface="Calibri"/>
              </a:rPr>
              <a:t>high risk in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lang="en-US" sz="2600" spc="-4" dirty="0">
                <a:latin typeface="Calibri"/>
                <a:cs typeface="Calibri"/>
              </a:rPr>
              <a:t>new </a:t>
            </a:r>
            <a:r>
              <a:rPr lang="en-US" sz="2600" spc="-8" dirty="0">
                <a:latin typeface="Calibri"/>
                <a:cs typeface="Calibri"/>
              </a:rPr>
              <a:t>software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lang="en-US" sz="2600" spc="-8" dirty="0">
                <a:latin typeface="Calibri"/>
                <a:cs typeface="Calibri"/>
              </a:rPr>
              <a:t>development. </a:t>
            </a:r>
            <a:r>
              <a:rPr lang="en-US" sz="2600" spc="-4" dirty="0">
                <a:latin typeface="Calibri"/>
                <a:cs typeface="Calibri"/>
              </a:rPr>
              <a:t>There</a:t>
            </a:r>
            <a:r>
              <a:rPr lang="en-US" sz="2600" spc="4" dirty="0">
                <a:latin typeface="Calibri"/>
                <a:cs typeface="Calibri"/>
              </a:rPr>
              <a:t> </a:t>
            </a:r>
            <a:r>
              <a:rPr lang="en-US" sz="2600" spc="-17" dirty="0">
                <a:latin typeface="Calibri"/>
                <a:cs typeface="Calibri"/>
              </a:rPr>
              <a:t>may</a:t>
            </a:r>
            <a:r>
              <a:rPr lang="en-US" sz="2600" dirty="0">
                <a:latin typeface="Calibri"/>
                <a:cs typeface="Calibri"/>
              </a:rPr>
              <a:t> be </a:t>
            </a:r>
            <a:r>
              <a:rPr lang="en-US" sz="2600" spc="-8" dirty="0">
                <a:latin typeface="Calibri"/>
                <a:cs typeface="Calibri"/>
              </a:rPr>
              <a:t>development </a:t>
            </a:r>
            <a:r>
              <a:rPr lang="en-US" sz="2600" spc="-433" dirty="0">
                <a:latin typeface="Calibri"/>
                <a:cs typeface="Calibri"/>
              </a:rPr>
              <a:t> </a:t>
            </a:r>
            <a:r>
              <a:rPr lang="en-US" sz="2600" spc="-8" dirty="0">
                <a:latin typeface="Calibri"/>
                <a:cs typeface="Calibri"/>
              </a:rPr>
              <a:t>problems,</a:t>
            </a:r>
            <a:r>
              <a:rPr lang="en-US" sz="2600" spc="-4" dirty="0">
                <a:latin typeface="Calibri"/>
                <a:cs typeface="Calibri"/>
              </a:rPr>
              <a:t> </a:t>
            </a:r>
            <a:r>
              <a:rPr lang="en-US" sz="2600" spc="-12" dirty="0">
                <a:latin typeface="Calibri"/>
                <a:cs typeface="Calibri"/>
              </a:rPr>
              <a:t>staffing</a:t>
            </a:r>
            <a:r>
              <a:rPr lang="en-US" sz="2600" spc="-8" dirty="0">
                <a:latin typeface="Calibri"/>
                <a:cs typeface="Calibri"/>
              </a:rPr>
              <a:t> problems</a:t>
            </a:r>
            <a:r>
              <a:rPr lang="en-US" sz="2600" spc="-4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and</a:t>
            </a:r>
            <a:r>
              <a:rPr lang="en-US" sz="2600" spc="-4" dirty="0">
                <a:latin typeface="Calibri"/>
                <a:cs typeface="Calibri"/>
              </a:rPr>
              <a:t> </a:t>
            </a:r>
            <a:r>
              <a:rPr lang="en-US" sz="2600" spc="-8" dirty="0">
                <a:latin typeface="Calibri"/>
                <a:cs typeface="Calibri"/>
              </a:rPr>
              <a:t>specification</a:t>
            </a:r>
            <a:r>
              <a:rPr lang="en-US" sz="2600" spc="-4" dirty="0">
                <a:latin typeface="Calibri"/>
                <a:cs typeface="Calibri"/>
              </a:rPr>
              <a:t> </a:t>
            </a:r>
            <a:r>
              <a:rPr lang="en-US" sz="2600" spc="-8" dirty="0">
                <a:latin typeface="Calibri"/>
                <a:cs typeface="Calibri"/>
              </a:rPr>
              <a:t>problems.</a:t>
            </a:r>
            <a:endParaRPr lang="en-US" sz="2600" dirty="0">
              <a:latin typeface="Calibri"/>
              <a:cs typeface="Calibri"/>
            </a:endParaRPr>
          </a:p>
          <a:p>
            <a:pPr marL="467678" indent="-457200">
              <a:spcBef>
                <a:spcPts val="491"/>
              </a:spcBef>
              <a:buFont typeface="Arial" panose="020B0604020202020204" pitchFamily="34" charset="0"/>
              <a:buChar char="•"/>
              <a:tabLst>
                <a:tab pos="199073" algn="l"/>
              </a:tabLst>
            </a:pPr>
            <a:r>
              <a:rPr lang="en-US" sz="2600" b="1" spc="-8" dirty="0">
                <a:latin typeface="Calibri"/>
                <a:cs typeface="Calibri"/>
              </a:rPr>
              <a:t>Reduced</a:t>
            </a:r>
            <a:r>
              <a:rPr lang="en-US" sz="2600" b="1" spc="-29" dirty="0">
                <a:latin typeface="Calibri"/>
                <a:cs typeface="Calibri"/>
              </a:rPr>
              <a:t> </a:t>
            </a:r>
            <a:r>
              <a:rPr lang="en-US" sz="2600" b="1" spc="-12" dirty="0">
                <a:latin typeface="Calibri"/>
                <a:cs typeface="Calibri"/>
              </a:rPr>
              <a:t>cost</a:t>
            </a:r>
            <a:endParaRPr lang="en-US" sz="2600" dirty="0">
              <a:latin typeface="Calibri"/>
              <a:cs typeface="Calibri"/>
            </a:endParaRPr>
          </a:p>
          <a:p>
            <a:pPr marL="844868" marR="972836" lvl="1" indent="-457200">
              <a:spcBef>
                <a:spcPts val="441"/>
              </a:spcBef>
              <a:buClr>
                <a:srgbClr val="84CDEA"/>
              </a:buClr>
              <a:buFont typeface="Arial" panose="020B0604020202020204" pitchFamily="34" charset="0"/>
              <a:buChar char="•"/>
              <a:tabLst>
                <a:tab pos="576263" algn="l"/>
              </a:tabLst>
            </a:pPr>
            <a:r>
              <a:rPr lang="en-US" sz="2600" dirty="0">
                <a:latin typeface="Calibri"/>
                <a:cs typeface="Calibri"/>
              </a:rPr>
              <a:t>The </a:t>
            </a:r>
            <a:r>
              <a:rPr lang="en-US" sz="2600" spc="-12" dirty="0">
                <a:latin typeface="Calibri"/>
                <a:cs typeface="Calibri"/>
              </a:rPr>
              <a:t>cost</a:t>
            </a:r>
            <a:r>
              <a:rPr lang="en-US" sz="2600" spc="-4" dirty="0">
                <a:latin typeface="Calibri"/>
                <a:cs typeface="Calibri"/>
              </a:rPr>
              <a:t> of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lang="en-US" sz="2600" spc="-4" dirty="0">
                <a:latin typeface="Calibri"/>
                <a:cs typeface="Calibri"/>
              </a:rPr>
              <a:t>re-engineering is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lang="en-US" sz="2600" spc="-4" dirty="0">
                <a:latin typeface="Calibri"/>
                <a:cs typeface="Calibri"/>
              </a:rPr>
              <a:t>often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lang="en-US" sz="2600" spc="-8" dirty="0">
                <a:latin typeface="Calibri"/>
                <a:cs typeface="Calibri"/>
              </a:rPr>
              <a:t>significantly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lang="en-US" sz="2600" spc="-4" dirty="0">
                <a:latin typeface="Calibri"/>
                <a:cs typeface="Calibri"/>
              </a:rPr>
              <a:t>less than</a:t>
            </a:r>
            <a:r>
              <a:rPr lang="en-US" sz="2600" spc="4" dirty="0">
                <a:latin typeface="Calibri"/>
                <a:cs typeface="Calibri"/>
              </a:rPr>
              <a:t> </a:t>
            </a:r>
            <a:r>
              <a:rPr lang="en-US" sz="2600" spc="-4" dirty="0">
                <a:latin typeface="Calibri"/>
                <a:cs typeface="Calibri"/>
              </a:rPr>
              <a:t>the</a:t>
            </a:r>
            <a:r>
              <a:rPr lang="en-US" sz="2600" spc="4" dirty="0">
                <a:latin typeface="Calibri"/>
                <a:cs typeface="Calibri"/>
              </a:rPr>
              <a:t> </a:t>
            </a:r>
            <a:r>
              <a:rPr lang="en-US" sz="2600" spc="-12" dirty="0">
                <a:latin typeface="Calibri"/>
                <a:cs typeface="Calibri"/>
              </a:rPr>
              <a:t>costs</a:t>
            </a:r>
            <a:r>
              <a:rPr lang="en-US" sz="2600" spc="-4" dirty="0">
                <a:latin typeface="Calibri"/>
                <a:cs typeface="Calibri"/>
              </a:rPr>
              <a:t> of </a:t>
            </a:r>
            <a:r>
              <a:rPr lang="en-US" sz="2600" spc="-433" dirty="0">
                <a:latin typeface="Calibri"/>
                <a:cs typeface="Calibri"/>
              </a:rPr>
              <a:t> </a:t>
            </a:r>
            <a:r>
              <a:rPr lang="en-US" sz="2600" spc="-4" dirty="0">
                <a:latin typeface="Calibri"/>
                <a:cs typeface="Calibri"/>
              </a:rPr>
              <a:t>developing</a:t>
            </a:r>
            <a:r>
              <a:rPr lang="en-US" sz="2600" spc="-17" dirty="0">
                <a:latin typeface="Calibri"/>
                <a:cs typeface="Calibri"/>
              </a:rPr>
              <a:t> </a:t>
            </a:r>
            <a:r>
              <a:rPr lang="en-US" sz="2600" spc="-4" dirty="0">
                <a:latin typeface="Calibri"/>
                <a:cs typeface="Calibri"/>
              </a:rPr>
              <a:t>new</a:t>
            </a:r>
            <a:r>
              <a:rPr lang="en-US" sz="2600" spc="-8" dirty="0">
                <a:latin typeface="Calibri"/>
                <a:cs typeface="Calibri"/>
              </a:rPr>
              <a:t> software.</a:t>
            </a:r>
            <a:endParaRPr lang="en-US" sz="2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7751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The Reengineering Process</a:t>
            </a:r>
            <a:endParaRPr lang="en-US" sz="31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11</a:t>
            </a:fld>
            <a:endParaRPr lang="en-US" sz="700"/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1A8998E6-BE61-384F-3408-9BD3557440C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217" y="1983671"/>
            <a:ext cx="8759566" cy="3816205"/>
          </a:xfrm>
          <a:prstGeom prst="rect">
            <a:avLst/>
          </a:prstGeom>
        </p:spPr>
      </p:pic>
      <p:sp>
        <p:nvSpPr>
          <p:cNvPr id="7" name="object 4">
            <a:extLst>
              <a:ext uri="{FF2B5EF4-FFF2-40B4-BE49-F238E27FC236}">
                <a16:creationId xmlns:a16="http://schemas.microsoft.com/office/drawing/2014/main" id="{EFF82DB9-C1D5-E5B9-5B8A-7B7C9171EF42}"/>
              </a:ext>
            </a:extLst>
          </p:cNvPr>
          <p:cNvSpPr txBox="1"/>
          <p:nvPr/>
        </p:nvSpPr>
        <p:spPr>
          <a:xfrm>
            <a:off x="2218453" y="2892359"/>
            <a:ext cx="949785" cy="444497"/>
          </a:xfrm>
          <a:prstGeom prst="rect">
            <a:avLst/>
          </a:prstGeom>
        </p:spPr>
        <p:txBody>
          <a:bodyPr vert="horz" wrap="square" lIns="0" tIns="524" rIns="0" bIns="0" rtlCol="0">
            <a:spAutoFit/>
          </a:bodyPr>
          <a:lstStyle/>
          <a:p>
            <a:pPr marL="10478" marR="4191" indent="159782">
              <a:lnSpc>
                <a:spcPct val="106200"/>
              </a:lnSpc>
              <a:spcBef>
                <a:spcPts val="4"/>
              </a:spcBef>
            </a:pPr>
            <a:r>
              <a:rPr sz="1361" spc="17" dirty="0">
                <a:solidFill>
                  <a:srgbClr val="231F20"/>
                </a:solidFill>
                <a:latin typeface="Cambria"/>
                <a:cs typeface="Cambria"/>
              </a:rPr>
              <a:t>Reverse </a:t>
            </a:r>
            <a:r>
              <a:rPr sz="1361" spc="21" dirty="0">
                <a:solidFill>
                  <a:srgbClr val="231F20"/>
                </a:solidFill>
                <a:latin typeface="Cambria"/>
                <a:cs typeface="Cambria"/>
              </a:rPr>
              <a:t> </a:t>
            </a:r>
            <a:r>
              <a:rPr sz="1361" spc="62" dirty="0">
                <a:solidFill>
                  <a:srgbClr val="231F20"/>
                </a:solidFill>
                <a:latin typeface="Cambria"/>
                <a:cs typeface="Cambria"/>
              </a:rPr>
              <a:t>en</a:t>
            </a:r>
            <a:r>
              <a:rPr sz="1361" spc="87" dirty="0">
                <a:solidFill>
                  <a:srgbClr val="231F20"/>
                </a:solidFill>
                <a:latin typeface="Cambria"/>
                <a:cs typeface="Cambria"/>
              </a:rPr>
              <a:t>g</a:t>
            </a:r>
            <a:r>
              <a:rPr sz="1361" spc="17" dirty="0">
                <a:solidFill>
                  <a:srgbClr val="231F20"/>
                </a:solidFill>
                <a:latin typeface="Cambria"/>
                <a:cs typeface="Cambria"/>
              </a:rPr>
              <a:t>ineering</a:t>
            </a:r>
            <a:endParaRPr sz="1361">
              <a:latin typeface="Cambria"/>
              <a:cs typeface="Cambria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928C4BB8-C946-D4F0-D8F5-DA213A0F6067}"/>
              </a:ext>
            </a:extLst>
          </p:cNvPr>
          <p:cNvSpPr txBox="1"/>
          <p:nvPr/>
        </p:nvSpPr>
        <p:spPr>
          <a:xfrm>
            <a:off x="3988755" y="2094528"/>
            <a:ext cx="1217486" cy="444497"/>
          </a:xfrm>
          <a:prstGeom prst="rect">
            <a:avLst/>
          </a:prstGeom>
        </p:spPr>
        <p:txBody>
          <a:bodyPr vert="horz" wrap="square" lIns="0" tIns="524" rIns="0" bIns="0" rtlCol="0">
            <a:spAutoFit/>
          </a:bodyPr>
          <a:lstStyle/>
          <a:p>
            <a:pPr marL="10478" marR="4191" indent="267176">
              <a:lnSpc>
                <a:spcPct val="106200"/>
              </a:lnSpc>
              <a:spcBef>
                <a:spcPts val="4"/>
              </a:spcBef>
            </a:pPr>
            <a:r>
              <a:rPr sz="1361" spc="17" dirty="0">
                <a:solidFill>
                  <a:srgbClr val="231F20"/>
                </a:solidFill>
                <a:latin typeface="Cambria"/>
                <a:cs typeface="Cambria"/>
              </a:rPr>
              <a:t>Program </a:t>
            </a:r>
            <a:r>
              <a:rPr sz="1361" spc="21" dirty="0">
                <a:solidFill>
                  <a:srgbClr val="231F20"/>
                </a:solidFill>
                <a:latin typeface="Cambria"/>
                <a:cs typeface="Cambria"/>
              </a:rPr>
              <a:t> </a:t>
            </a:r>
            <a:r>
              <a:rPr sz="1361" spc="41" dirty="0">
                <a:solidFill>
                  <a:srgbClr val="231F20"/>
                </a:solidFill>
                <a:latin typeface="Cambria"/>
                <a:cs typeface="Cambria"/>
              </a:rPr>
              <a:t>documentation</a:t>
            </a:r>
            <a:endParaRPr sz="1361">
              <a:latin typeface="Cambria"/>
              <a:cs typeface="Cambria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D5036AD0-1D2E-17C7-F4DA-08444ADA0018}"/>
              </a:ext>
            </a:extLst>
          </p:cNvPr>
          <p:cNvSpPr txBox="1"/>
          <p:nvPr/>
        </p:nvSpPr>
        <p:spPr>
          <a:xfrm>
            <a:off x="6662626" y="3390796"/>
            <a:ext cx="1100138" cy="436690"/>
          </a:xfrm>
          <a:prstGeom prst="rect">
            <a:avLst/>
          </a:prstGeom>
        </p:spPr>
        <p:txBody>
          <a:bodyPr vert="horz" wrap="square" lIns="0" tIns="9430" rIns="0" bIns="0" rtlCol="0">
            <a:spAutoFit/>
          </a:bodyPr>
          <a:lstStyle/>
          <a:p>
            <a:pPr marL="10478" marR="4191" indent="357807">
              <a:lnSpc>
                <a:spcPct val="101899"/>
              </a:lnSpc>
              <a:spcBef>
                <a:spcPts val="74"/>
              </a:spcBef>
            </a:pPr>
            <a:r>
              <a:rPr sz="1361" spc="41" dirty="0">
                <a:solidFill>
                  <a:srgbClr val="231F20"/>
                </a:solidFill>
                <a:latin typeface="Cambria"/>
                <a:cs typeface="Cambria"/>
              </a:rPr>
              <a:t>Data </a:t>
            </a:r>
            <a:r>
              <a:rPr sz="1361" spc="45" dirty="0">
                <a:solidFill>
                  <a:srgbClr val="231F20"/>
                </a:solidFill>
                <a:latin typeface="Cambria"/>
                <a:cs typeface="Cambria"/>
              </a:rPr>
              <a:t> </a:t>
            </a:r>
            <a:r>
              <a:rPr sz="1361" spc="25" dirty="0">
                <a:solidFill>
                  <a:srgbClr val="231F20"/>
                </a:solidFill>
                <a:latin typeface="Cambria"/>
                <a:cs typeface="Cambria"/>
              </a:rPr>
              <a:t>reengineering</a:t>
            </a:r>
            <a:endParaRPr sz="1361">
              <a:latin typeface="Cambria"/>
              <a:cs typeface="Cambria"/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AF7B281E-FC64-0847-F625-0C757680CB06}"/>
              </a:ext>
            </a:extLst>
          </p:cNvPr>
          <p:cNvSpPr txBox="1"/>
          <p:nvPr/>
        </p:nvSpPr>
        <p:spPr>
          <a:xfrm>
            <a:off x="7678873" y="2129970"/>
            <a:ext cx="1027319" cy="223170"/>
          </a:xfrm>
          <a:prstGeom prst="rect">
            <a:avLst/>
          </a:prstGeom>
        </p:spPr>
        <p:txBody>
          <a:bodyPr vert="horz" wrap="square" lIns="0" tIns="13621" rIns="0" bIns="0" rtlCol="0">
            <a:spAutoFit/>
          </a:bodyPr>
          <a:lstStyle/>
          <a:p>
            <a:pPr marL="10478">
              <a:spcBef>
                <a:spcPts val="107"/>
              </a:spcBef>
            </a:pPr>
            <a:r>
              <a:rPr sz="1361" spc="17" dirty="0">
                <a:solidFill>
                  <a:srgbClr val="231F20"/>
                </a:solidFill>
                <a:latin typeface="Cambria"/>
                <a:cs typeface="Cambria"/>
              </a:rPr>
              <a:t>Original</a:t>
            </a:r>
            <a:r>
              <a:rPr sz="1361" spc="58" dirty="0">
                <a:solidFill>
                  <a:srgbClr val="231F20"/>
                </a:solidFill>
                <a:latin typeface="Cambria"/>
                <a:cs typeface="Cambria"/>
              </a:rPr>
              <a:t> </a:t>
            </a:r>
            <a:r>
              <a:rPr sz="1361" spc="33" dirty="0">
                <a:solidFill>
                  <a:srgbClr val="231F20"/>
                </a:solidFill>
                <a:latin typeface="Cambria"/>
                <a:cs typeface="Cambria"/>
              </a:rPr>
              <a:t>data</a:t>
            </a:r>
            <a:endParaRPr sz="1361">
              <a:latin typeface="Cambria"/>
              <a:cs typeface="Cambria"/>
            </a:endParaRP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A2CC54AF-35A1-0A4D-8E07-99FF78143EA5}"/>
              </a:ext>
            </a:extLst>
          </p:cNvPr>
          <p:cNvSpPr txBox="1"/>
          <p:nvPr/>
        </p:nvSpPr>
        <p:spPr>
          <a:xfrm>
            <a:off x="4014030" y="3580932"/>
            <a:ext cx="1199150" cy="444497"/>
          </a:xfrm>
          <a:prstGeom prst="rect">
            <a:avLst/>
          </a:prstGeom>
        </p:spPr>
        <p:txBody>
          <a:bodyPr vert="horz" wrap="square" lIns="0" tIns="524" rIns="0" bIns="0" rtlCol="0">
            <a:spAutoFit/>
          </a:bodyPr>
          <a:lstStyle/>
          <a:p>
            <a:pPr marL="10478" marR="4191" indent="254603">
              <a:lnSpc>
                <a:spcPct val="106200"/>
              </a:lnSpc>
              <a:spcBef>
                <a:spcPts val="4"/>
              </a:spcBef>
            </a:pPr>
            <a:r>
              <a:rPr sz="1361" spc="21" dirty="0">
                <a:solidFill>
                  <a:srgbClr val="231F20"/>
                </a:solidFill>
                <a:latin typeface="Cambria"/>
                <a:cs typeface="Cambria"/>
              </a:rPr>
              <a:t>Program </a:t>
            </a:r>
            <a:r>
              <a:rPr sz="1361" spc="25" dirty="0">
                <a:solidFill>
                  <a:srgbClr val="231F20"/>
                </a:solidFill>
                <a:latin typeface="Cambria"/>
                <a:cs typeface="Cambria"/>
              </a:rPr>
              <a:t> </a:t>
            </a:r>
            <a:r>
              <a:rPr sz="1361" spc="21" dirty="0">
                <a:solidFill>
                  <a:srgbClr val="231F20"/>
                </a:solidFill>
                <a:latin typeface="Cambria"/>
                <a:cs typeface="Cambria"/>
              </a:rPr>
              <a:t>modularization</a:t>
            </a:r>
            <a:endParaRPr sz="1361">
              <a:latin typeface="Cambria"/>
              <a:cs typeface="Cambria"/>
            </a:endParaRP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2C7066C2-61D3-7B06-9EFD-019F9DDBC52F}"/>
              </a:ext>
            </a:extLst>
          </p:cNvPr>
          <p:cNvSpPr txBox="1"/>
          <p:nvPr/>
        </p:nvSpPr>
        <p:spPr>
          <a:xfrm>
            <a:off x="4113996" y="5197248"/>
            <a:ext cx="1012127" cy="444497"/>
          </a:xfrm>
          <a:prstGeom prst="rect">
            <a:avLst/>
          </a:prstGeom>
        </p:spPr>
        <p:txBody>
          <a:bodyPr vert="horz" wrap="square" lIns="0" tIns="524" rIns="0" bIns="0" rtlCol="0">
            <a:spAutoFit/>
          </a:bodyPr>
          <a:lstStyle/>
          <a:p>
            <a:pPr marL="171830" marR="4191" indent="-161877">
              <a:lnSpc>
                <a:spcPct val="106200"/>
              </a:lnSpc>
              <a:spcBef>
                <a:spcPts val="4"/>
              </a:spcBef>
            </a:pPr>
            <a:r>
              <a:rPr sz="1361" spc="8" dirty="0">
                <a:solidFill>
                  <a:srgbClr val="231F20"/>
                </a:solidFill>
                <a:latin typeface="Cambria"/>
                <a:cs typeface="Cambria"/>
              </a:rPr>
              <a:t>Restructured  </a:t>
            </a:r>
            <a:r>
              <a:rPr sz="1361" spc="25" dirty="0">
                <a:solidFill>
                  <a:srgbClr val="231F20"/>
                </a:solidFill>
                <a:latin typeface="Cambria"/>
                <a:cs typeface="Cambria"/>
              </a:rPr>
              <a:t>program</a:t>
            </a:r>
            <a:endParaRPr sz="1361">
              <a:latin typeface="Cambria"/>
              <a:cs typeface="Cambria"/>
            </a:endParaRPr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EDFF543C-5915-BBD0-E586-AA2E1E6690A5}"/>
              </a:ext>
            </a:extLst>
          </p:cNvPr>
          <p:cNvSpPr txBox="1"/>
          <p:nvPr/>
        </p:nvSpPr>
        <p:spPr>
          <a:xfrm>
            <a:off x="6761247" y="5221647"/>
            <a:ext cx="1107996" cy="436690"/>
          </a:xfrm>
          <a:prstGeom prst="rect">
            <a:avLst/>
          </a:prstGeom>
        </p:spPr>
        <p:txBody>
          <a:bodyPr vert="horz" wrap="square" lIns="0" tIns="9430" rIns="0" bIns="0" rtlCol="0">
            <a:spAutoFit/>
          </a:bodyPr>
          <a:lstStyle/>
          <a:p>
            <a:pPr marL="382952" marR="4191" indent="-372999">
              <a:lnSpc>
                <a:spcPct val="101899"/>
              </a:lnSpc>
              <a:spcBef>
                <a:spcPts val="74"/>
              </a:spcBef>
            </a:pPr>
            <a:r>
              <a:rPr sz="1361" spc="37" dirty="0">
                <a:solidFill>
                  <a:srgbClr val="231F20"/>
                </a:solidFill>
                <a:latin typeface="Cambria"/>
                <a:cs typeface="Cambria"/>
              </a:rPr>
              <a:t>Reengineered  </a:t>
            </a:r>
            <a:r>
              <a:rPr sz="1361" spc="33" dirty="0">
                <a:solidFill>
                  <a:srgbClr val="231F20"/>
                </a:solidFill>
                <a:latin typeface="Cambria"/>
                <a:cs typeface="Cambria"/>
              </a:rPr>
              <a:t>data</a:t>
            </a:r>
            <a:endParaRPr sz="1361">
              <a:latin typeface="Cambria"/>
              <a:cs typeface="Cambria"/>
            </a:endParaRPr>
          </a:p>
        </p:txBody>
      </p:sp>
      <p:sp>
        <p:nvSpPr>
          <p:cNvPr id="15" name="object 11">
            <a:extLst>
              <a:ext uri="{FF2B5EF4-FFF2-40B4-BE49-F238E27FC236}">
                <a16:creationId xmlns:a16="http://schemas.microsoft.com/office/drawing/2014/main" id="{7D9CAD0A-82CB-8229-4292-719583C9632B}"/>
              </a:ext>
            </a:extLst>
          </p:cNvPr>
          <p:cNvSpPr txBox="1"/>
          <p:nvPr/>
        </p:nvSpPr>
        <p:spPr>
          <a:xfrm>
            <a:off x="5878794" y="2069923"/>
            <a:ext cx="1170337" cy="444497"/>
          </a:xfrm>
          <a:prstGeom prst="rect">
            <a:avLst/>
          </a:prstGeom>
        </p:spPr>
        <p:txBody>
          <a:bodyPr vert="horz" wrap="square" lIns="0" tIns="524" rIns="0" bIns="0" rtlCol="0">
            <a:spAutoFit/>
          </a:bodyPr>
          <a:lstStyle/>
          <a:p>
            <a:pPr marL="250412" marR="4191" indent="-240459">
              <a:lnSpc>
                <a:spcPct val="106200"/>
              </a:lnSpc>
              <a:spcBef>
                <a:spcPts val="4"/>
              </a:spcBef>
            </a:pPr>
            <a:r>
              <a:rPr sz="1361" spc="45" dirty="0">
                <a:solidFill>
                  <a:srgbClr val="231F20"/>
                </a:solidFill>
                <a:latin typeface="Cambria"/>
                <a:cs typeface="Cambria"/>
              </a:rPr>
              <a:t>Re-en</a:t>
            </a:r>
            <a:r>
              <a:rPr sz="1361" spc="74" dirty="0">
                <a:solidFill>
                  <a:srgbClr val="231F20"/>
                </a:solidFill>
                <a:latin typeface="Cambria"/>
                <a:cs typeface="Cambria"/>
              </a:rPr>
              <a:t>g</a:t>
            </a:r>
            <a:r>
              <a:rPr sz="1361" spc="29" dirty="0">
                <a:solidFill>
                  <a:srgbClr val="231F20"/>
                </a:solidFill>
                <a:latin typeface="Cambria"/>
                <a:cs typeface="Cambria"/>
              </a:rPr>
              <a:t>ineered  </a:t>
            </a:r>
            <a:r>
              <a:rPr sz="1361" spc="25" dirty="0">
                <a:solidFill>
                  <a:srgbClr val="231F20"/>
                </a:solidFill>
                <a:latin typeface="Cambria"/>
                <a:cs typeface="Cambria"/>
              </a:rPr>
              <a:t>program</a:t>
            </a:r>
            <a:endParaRPr sz="1361">
              <a:latin typeface="Cambria"/>
              <a:cs typeface="Cambria"/>
            </a:endParaRPr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6778DEE0-0E9C-CC39-07D8-041955893147}"/>
              </a:ext>
            </a:extLst>
          </p:cNvPr>
          <p:cNvSpPr txBox="1"/>
          <p:nvPr/>
        </p:nvSpPr>
        <p:spPr>
          <a:xfrm>
            <a:off x="590607" y="2158186"/>
            <a:ext cx="689420" cy="445026"/>
          </a:xfrm>
          <a:prstGeom prst="rect">
            <a:avLst/>
          </a:prstGeom>
        </p:spPr>
        <p:txBody>
          <a:bodyPr vert="horz" wrap="square" lIns="0" tIns="1048" rIns="0" bIns="0" rtlCol="0">
            <a:spAutoFit/>
          </a:bodyPr>
          <a:lstStyle/>
          <a:p>
            <a:pPr marL="10478" marR="4191" indent="27242">
              <a:lnSpc>
                <a:spcPct val="106100"/>
              </a:lnSpc>
              <a:spcBef>
                <a:spcPts val="8"/>
              </a:spcBef>
            </a:pPr>
            <a:r>
              <a:rPr sz="1361" spc="17" dirty="0">
                <a:solidFill>
                  <a:srgbClr val="231F20"/>
                </a:solidFill>
                <a:latin typeface="Cambria"/>
                <a:cs typeface="Cambria"/>
              </a:rPr>
              <a:t>Original </a:t>
            </a:r>
            <a:r>
              <a:rPr sz="1361" spc="-289" dirty="0">
                <a:solidFill>
                  <a:srgbClr val="231F20"/>
                </a:solidFill>
                <a:latin typeface="Cambria"/>
                <a:cs typeface="Cambria"/>
              </a:rPr>
              <a:t> </a:t>
            </a:r>
            <a:r>
              <a:rPr sz="1361" spc="21" dirty="0">
                <a:solidFill>
                  <a:srgbClr val="231F20"/>
                </a:solidFill>
                <a:latin typeface="Cambria"/>
                <a:cs typeface="Cambria"/>
              </a:rPr>
              <a:t>pro</a:t>
            </a:r>
            <a:r>
              <a:rPr sz="1361" spc="50" dirty="0">
                <a:solidFill>
                  <a:srgbClr val="231F20"/>
                </a:solidFill>
                <a:latin typeface="Cambria"/>
                <a:cs typeface="Cambria"/>
              </a:rPr>
              <a:t>g</a:t>
            </a:r>
            <a:r>
              <a:rPr sz="1361" spc="21" dirty="0">
                <a:solidFill>
                  <a:srgbClr val="231F20"/>
                </a:solidFill>
                <a:latin typeface="Cambria"/>
                <a:cs typeface="Cambria"/>
              </a:rPr>
              <a:t>ram</a:t>
            </a:r>
            <a:endParaRPr sz="1361">
              <a:latin typeface="Cambria"/>
              <a:cs typeface="Cambria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9CA4DDE3-A845-3A5C-32D1-09F1870E593B}"/>
              </a:ext>
            </a:extLst>
          </p:cNvPr>
          <p:cNvSpPr txBox="1"/>
          <p:nvPr/>
        </p:nvSpPr>
        <p:spPr>
          <a:xfrm>
            <a:off x="414424" y="3613106"/>
            <a:ext cx="990124" cy="444497"/>
          </a:xfrm>
          <a:prstGeom prst="rect">
            <a:avLst/>
          </a:prstGeom>
        </p:spPr>
        <p:txBody>
          <a:bodyPr vert="horz" wrap="square" lIns="0" tIns="524" rIns="0" bIns="0" rtlCol="0">
            <a:spAutoFit/>
          </a:bodyPr>
          <a:lstStyle/>
          <a:p>
            <a:pPr marL="81725" marR="4191" indent="-71771">
              <a:lnSpc>
                <a:spcPct val="106200"/>
              </a:lnSpc>
              <a:spcBef>
                <a:spcPts val="4"/>
              </a:spcBef>
            </a:pPr>
            <a:r>
              <a:rPr sz="1361" spc="37" dirty="0">
                <a:solidFill>
                  <a:srgbClr val="231F20"/>
                </a:solidFill>
                <a:latin typeface="Cambria"/>
                <a:cs typeface="Cambria"/>
              </a:rPr>
              <a:t>Source</a:t>
            </a:r>
            <a:r>
              <a:rPr sz="1361" spc="54" dirty="0">
                <a:solidFill>
                  <a:srgbClr val="231F20"/>
                </a:solidFill>
                <a:latin typeface="Cambria"/>
                <a:cs typeface="Cambria"/>
              </a:rPr>
              <a:t> </a:t>
            </a:r>
            <a:r>
              <a:rPr sz="1361" spc="62" dirty="0">
                <a:solidFill>
                  <a:srgbClr val="231F20"/>
                </a:solidFill>
                <a:latin typeface="Cambria"/>
                <a:cs typeface="Cambria"/>
              </a:rPr>
              <a:t>code </a:t>
            </a:r>
            <a:r>
              <a:rPr sz="1361" spc="-285" dirty="0">
                <a:solidFill>
                  <a:srgbClr val="231F20"/>
                </a:solidFill>
                <a:latin typeface="Cambria"/>
                <a:cs typeface="Cambria"/>
              </a:rPr>
              <a:t> </a:t>
            </a:r>
            <a:r>
              <a:rPr sz="1361" spc="8" dirty="0">
                <a:solidFill>
                  <a:srgbClr val="231F20"/>
                </a:solidFill>
                <a:latin typeface="Cambria"/>
                <a:cs typeface="Cambria"/>
              </a:rPr>
              <a:t>translation</a:t>
            </a:r>
            <a:endParaRPr sz="1361">
              <a:latin typeface="Cambria"/>
              <a:cs typeface="Cambria"/>
            </a:endParaRPr>
          </a:p>
        </p:txBody>
      </p:sp>
      <p:sp>
        <p:nvSpPr>
          <p:cNvPr id="18" name="object 14">
            <a:extLst>
              <a:ext uri="{FF2B5EF4-FFF2-40B4-BE49-F238E27FC236}">
                <a16:creationId xmlns:a16="http://schemas.microsoft.com/office/drawing/2014/main" id="{EB6CBFFE-114F-9169-1BD5-44E7FFEB3279}"/>
              </a:ext>
            </a:extLst>
          </p:cNvPr>
          <p:cNvSpPr txBox="1"/>
          <p:nvPr/>
        </p:nvSpPr>
        <p:spPr>
          <a:xfrm>
            <a:off x="532142" y="4304455"/>
            <a:ext cx="830342" cy="319094"/>
          </a:xfrm>
          <a:prstGeom prst="rect">
            <a:avLst/>
          </a:prstGeom>
        </p:spPr>
        <p:txBody>
          <a:bodyPr vert="horz" wrap="square" lIns="0" tIns="5239" rIns="0" bIns="0" rtlCol="0">
            <a:spAutoFit/>
          </a:bodyPr>
          <a:lstStyle/>
          <a:p>
            <a:pPr marL="10478" marR="4191" indent="6810">
              <a:lnSpc>
                <a:spcPct val="103299"/>
              </a:lnSpc>
              <a:spcBef>
                <a:spcPts val="41"/>
              </a:spcBef>
            </a:pPr>
            <a:r>
              <a:rPr sz="990" i="1" spc="-8" dirty="0">
                <a:latin typeface="Calibri"/>
                <a:cs typeface="Calibri"/>
              </a:rPr>
              <a:t>Convert </a:t>
            </a:r>
            <a:r>
              <a:rPr sz="990" i="1" spc="-4" dirty="0">
                <a:latin typeface="Calibri"/>
                <a:cs typeface="Calibri"/>
              </a:rPr>
              <a:t>code </a:t>
            </a:r>
            <a:r>
              <a:rPr sz="990" i="1" spc="-8" dirty="0">
                <a:latin typeface="Calibri"/>
                <a:cs typeface="Calibri"/>
              </a:rPr>
              <a:t>to </a:t>
            </a:r>
            <a:r>
              <a:rPr sz="990" i="1" spc="-215" dirty="0">
                <a:latin typeface="Calibri"/>
                <a:cs typeface="Calibri"/>
              </a:rPr>
              <a:t> </a:t>
            </a:r>
            <a:r>
              <a:rPr sz="990" i="1" dirty="0">
                <a:latin typeface="Calibri"/>
                <a:cs typeface="Calibri"/>
              </a:rPr>
              <a:t>a</a:t>
            </a:r>
            <a:r>
              <a:rPr sz="990" i="1" spc="-45" dirty="0">
                <a:latin typeface="Calibri"/>
                <a:cs typeface="Calibri"/>
              </a:rPr>
              <a:t> </a:t>
            </a:r>
            <a:r>
              <a:rPr sz="990" i="1" spc="-4" dirty="0">
                <a:latin typeface="Calibri"/>
                <a:cs typeface="Calibri"/>
              </a:rPr>
              <a:t>new</a:t>
            </a:r>
            <a:r>
              <a:rPr sz="990" i="1" spc="-33" dirty="0">
                <a:latin typeface="Calibri"/>
                <a:cs typeface="Calibri"/>
              </a:rPr>
              <a:t> </a:t>
            </a:r>
            <a:r>
              <a:rPr sz="990" i="1" spc="-4" dirty="0">
                <a:latin typeface="Calibri"/>
                <a:cs typeface="Calibri"/>
              </a:rPr>
              <a:t>language</a:t>
            </a:r>
            <a:endParaRPr sz="990">
              <a:latin typeface="Calibri"/>
              <a:cs typeface="Calibri"/>
            </a:endParaRPr>
          </a:p>
        </p:txBody>
      </p:sp>
      <p:sp>
        <p:nvSpPr>
          <p:cNvPr id="19" name="object 15">
            <a:extLst>
              <a:ext uri="{FF2B5EF4-FFF2-40B4-BE49-F238E27FC236}">
                <a16:creationId xmlns:a16="http://schemas.microsoft.com/office/drawing/2014/main" id="{9C4CBCCA-7A4B-268E-C101-1FFEB4A4E77F}"/>
              </a:ext>
            </a:extLst>
          </p:cNvPr>
          <p:cNvSpPr txBox="1"/>
          <p:nvPr/>
        </p:nvSpPr>
        <p:spPr>
          <a:xfrm>
            <a:off x="2174193" y="3555105"/>
            <a:ext cx="1082850" cy="319094"/>
          </a:xfrm>
          <a:prstGeom prst="rect">
            <a:avLst/>
          </a:prstGeom>
        </p:spPr>
        <p:txBody>
          <a:bodyPr vert="horz" wrap="square" lIns="0" tIns="5239" rIns="0" bIns="0" rtlCol="0">
            <a:spAutoFit/>
          </a:bodyPr>
          <a:lstStyle/>
          <a:p>
            <a:pPr marL="136731" marR="4191" indent="-126778">
              <a:lnSpc>
                <a:spcPct val="103299"/>
              </a:lnSpc>
              <a:spcBef>
                <a:spcPts val="41"/>
              </a:spcBef>
            </a:pPr>
            <a:r>
              <a:rPr sz="990" i="1" spc="-4" dirty="0">
                <a:latin typeface="Calibri"/>
                <a:cs typeface="Calibri"/>
              </a:rPr>
              <a:t>Analyze</a:t>
            </a:r>
            <a:r>
              <a:rPr sz="990" i="1" spc="-25" dirty="0">
                <a:latin typeface="Calibri"/>
                <a:cs typeface="Calibri"/>
              </a:rPr>
              <a:t> </a:t>
            </a:r>
            <a:r>
              <a:rPr sz="990" i="1" spc="-4" dirty="0">
                <a:latin typeface="Calibri"/>
                <a:cs typeface="Calibri"/>
              </a:rPr>
              <a:t>the</a:t>
            </a:r>
            <a:r>
              <a:rPr sz="990" i="1" spc="-25" dirty="0">
                <a:latin typeface="Calibri"/>
                <a:cs typeface="Calibri"/>
              </a:rPr>
              <a:t> </a:t>
            </a:r>
            <a:r>
              <a:rPr sz="990" i="1" spc="-4" dirty="0">
                <a:latin typeface="Calibri"/>
                <a:cs typeface="Calibri"/>
              </a:rPr>
              <a:t>program </a:t>
            </a:r>
            <a:r>
              <a:rPr sz="990" i="1" spc="-215" dirty="0">
                <a:latin typeface="Calibri"/>
                <a:cs typeface="Calibri"/>
              </a:rPr>
              <a:t> </a:t>
            </a:r>
            <a:r>
              <a:rPr sz="990" i="1" spc="-8" dirty="0">
                <a:latin typeface="Calibri"/>
                <a:cs typeface="Calibri"/>
              </a:rPr>
              <a:t>to understand</a:t>
            </a:r>
            <a:r>
              <a:rPr sz="990" i="1" spc="-12" dirty="0">
                <a:latin typeface="Calibri"/>
                <a:cs typeface="Calibri"/>
              </a:rPr>
              <a:t> </a:t>
            </a:r>
            <a:r>
              <a:rPr sz="990" i="1" spc="-4" dirty="0">
                <a:latin typeface="Calibri"/>
                <a:cs typeface="Calibri"/>
              </a:rPr>
              <a:t>it</a:t>
            </a:r>
            <a:endParaRPr sz="990">
              <a:latin typeface="Calibri"/>
              <a:cs typeface="Calibri"/>
            </a:endParaRPr>
          </a:p>
        </p:txBody>
      </p:sp>
      <p:sp>
        <p:nvSpPr>
          <p:cNvPr id="20" name="object 16">
            <a:extLst>
              <a:ext uri="{FF2B5EF4-FFF2-40B4-BE49-F238E27FC236}">
                <a16:creationId xmlns:a16="http://schemas.microsoft.com/office/drawing/2014/main" id="{1490EA1A-B21D-C494-E629-54AB2945005B}"/>
              </a:ext>
            </a:extLst>
          </p:cNvPr>
          <p:cNvSpPr txBox="1"/>
          <p:nvPr/>
        </p:nvSpPr>
        <p:spPr>
          <a:xfrm>
            <a:off x="2049877" y="4335912"/>
            <a:ext cx="1331166" cy="1114680"/>
          </a:xfrm>
          <a:prstGeom prst="rect">
            <a:avLst/>
          </a:prstGeom>
        </p:spPr>
        <p:txBody>
          <a:bodyPr vert="horz" wrap="square" lIns="0" tIns="524" rIns="0" bIns="0" rtlCol="0">
            <a:spAutoFit/>
          </a:bodyPr>
          <a:lstStyle/>
          <a:p>
            <a:pPr marL="118920" marR="152972" indent="-524" algn="ctr">
              <a:lnSpc>
                <a:spcPct val="106200"/>
              </a:lnSpc>
              <a:spcBef>
                <a:spcPts val="4"/>
              </a:spcBef>
            </a:pPr>
            <a:r>
              <a:rPr sz="1361" spc="21" dirty="0">
                <a:solidFill>
                  <a:srgbClr val="231F20"/>
                </a:solidFill>
                <a:latin typeface="Cambria"/>
                <a:cs typeface="Cambria"/>
              </a:rPr>
              <a:t>Program </a:t>
            </a:r>
            <a:r>
              <a:rPr sz="1361" spc="25" dirty="0">
                <a:solidFill>
                  <a:srgbClr val="231F20"/>
                </a:solidFill>
                <a:latin typeface="Cambria"/>
                <a:cs typeface="Cambria"/>
              </a:rPr>
              <a:t> </a:t>
            </a:r>
            <a:r>
              <a:rPr sz="1361" dirty="0">
                <a:solidFill>
                  <a:srgbClr val="231F20"/>
                </a:solidFill>
                <a:latin typeface="Cambria"/>
                <a:cs typeface="Cambria"/>
              </a:rPr>
              <a:t>structure </a:t>
            </a:r>
            <a:r>
              <a:rPr sz="1361" spc="4" dirty="0">
                <a:solidFill>
                  <a:srgbClr val="231F20"/>
                </a:solidFill>
                <a:latin typeface="Cambria"/>
                <a:cs typeface="Cambria"/>
              </a:rPr>
              <a:t> </a:t>
            </a:r>
            <a:r>
              <a:rPr sz="1361" spc="33" dirty="0">
                <a:solidFill>
                  <a:srgbClr val="231F20"/>
                </a:solidFill>
                <a:latin typeface="Cambria"/>
                <a:cs typeface="Cambria"/>
              </a:rPr>
              <a:t>improvement</a:t>
            </a:r>
            <a:endParaRPr sz="1361">
              <a:latin typeface="Cambria"/>
              <a:cs typeface="Cambria"/>
            </a:endParaRPr>
          </a:p>
          <a:p>
            <a:pPr marL="10478" marR="4191" algn="ctr">
              <a:lnSpc>
                <a:spcPct val="105000"/>
              </a:lnSpc>
              <a:spcBef>
                <a:spcPts val="982"/>
              </a:spcBef>
            </a:pPr>
            <a:r>
              <a:rPr sz="990" i="1" spc="-8" dirty="0">
                <a:latin typeface="Calibri"/>
                <a:cs typeface="Calibri"/>
              </a:rPr>
              <a:t>Restructure</a:t>
            </a:r>
            <a:r>
              <a:rPr sz="990" i="1" spc="4" dirty="0">
                <a:latin typeface="Calibri"/>
                <a:cs typeface="Calibri"/>
              </a:rPr>
              <a:t> </a:t>
            </a:r>
            <a:r>
              <a:rPr sz="990" i="1" spc="-8" dirty="0">
                <a:latin typeface="Calibri"/>
                <a:cs typeface="Calibri"/>
              </a:rPr>
              <a:t>automatically </a:t>
            </a:r>
            <a:r>
              <a:rPr sz="990" i="1" spc="-215" dirty="0">
                <a:latin typeface="Calibri"/>
                <a:cs typeface="Calibri"/>
              </a:rPr>
              <a:t> </a:t>
            </a:r>
            <a:r>
              <a:rPr sz="990" i="1" spc="-8" dirty="0">
                <a:latin typeface="Calibri"/>
                <a:cs typeface="Calibri"/>
              </a:rPr>
              <a:t>for</a:t>
            </a:r>
            <a:r>
              <a:rPr sz="990" i="1" dirty="0">
                <a:latin typeface="Calibri"/>
                <a:cs typeface="Calibri"/>
              </a:rPr>
              <a:t> </a:t>
            </a:r>
            <a:r>
              <a:rPr sz="990" i="1" spc="-8" dirty="0">
                <a:latin typeface="Calibri"/>
                <a:cs typeface="Calibri"/>
              </a:rPr>
              <a:t>understandability</a:t>
            </a:r>
            <a:endParaRPr sz="990">
              <a:latin typeface="Calibri"/>
              <a:cs typeface="Calibri"/>
            </a:endParaRPr>
          </a:p>
        </p:txBody>
      </p:sp>
      <p:sp>
        <p:nvSpPr>
          <p:cNvPr id="21" name="object 17">
            <a:extLst>
              <a:ext uri="{FF2B5EF4-FFF2-40B4-BE49-F238E27FC236}">
                <a16:creationId xmlns:a16="http://schemas.microsoft.com/office/drawing/2014/main" id="{35295819-687E-4149-AE29-589C1E4E9B61}"/>
              </a:ext>
            </a:extLst>
          </p:cNvPr>
          <p:cNvSpPr txBox="1"/>
          <p:nvPr/>
        </p:nvSpPr>
        <p:spPr>
          <a:xfrm>
            <a:off x="4719087" y="4304455"/>
            <a:ext cx="950309" cy="319094"/>
          </a:xfrm>
          <a:prstGeom prst="rect">
            <a:avLst/>
          </a:prstGeom>
        </p:spPr>
        <p:txBody>
          <a:bodyPr vert="horz" wrap="square" lIns="0" tIns="5239" rIns="0" bIns="0" rtlCol="0">
            <a:spAutoFit/>
          </a:bodyPr>
          <a:lstStyle/>
          <a:p>
            <a:pPr marL="10478" marR="4191" indent="85392">
              <a:lnSpc>
                <a:spcPct val="103299"/>
              </a:lnSpc>
              <a:spcBef>
                <a:spcPts val="41"/>
              </a:spcBef>
            </a:pPr>
            <a:r>
              <a:rPr sz="990" i="1" spc="-8" dirty="0">
                <a:latin typeface="Calibri"/>
                <a:cs typeface="Calibri"/>
              </a:rPr>
              <a:t>Reorganize </a:t>
            </a:r>
            <a:r>
              <a:rPr sz="990" i="1" spc="-4" dirty="0">
                <a:latin typeface="Calibri"/>
                <a:cs typeface="Calibri"/>
              </a:rPr>
              <a:t>the </a:t>
            </a:r>
            <a:r>
              <a:rPr sz="990" i="1" dirty="0">
                <a:latin typeface="Calibri"/>
                <a:cs typeface="Calibri"/>
              </a:rPr>
              <a:t> </a:t>
            </a:r>
            <a:r>
              <a:rPr sz="990" i="1" spc="-4" dirty="0">
                <a:latin typeface="Calibri"/>
                <a:cs typeface="Calibri"/>
              </a:rPr>
              <a:t>p</a:t>
            </a:r>
            <a:r>
              <a:rPr sz="990" i="1" dirty="0">
                <a:latin typeface="Calibri"/>
                <a:cs typeface="Calibri"/>
              </a:rPr>
              <a:t>r</a:t>
            </a:r>
            <a:r>
              <a:rPr sz="990" i="1" spc="-4" dirty="0">
                <a:latin typeface="Calibri"/>
                <a:cs typeface="Calibri"/>
              </a:rPr>
              <a:t>og</a:t>
            </a:r>
            <a:r>
              <a:rPr sz="990" i="1" dirty="0">
                <a:latin typeface="Calibri"/>
                <a:cs typeface="Calibri"/>
              </a:rPr>
              <a:t>r</a:t>
            </a:r>
            <a:r>
              <a:rPr sz="990" i="1" spc="-4" dirty="0">
                <a:latin typeface="Calibri"/>
                <a:cs typeface="Calibri"/>
              </a:rPr>
              <a:t>a</a:t>
            </a:r>
            <a:r>
              <a:rPr sz="990" i="1" dirty="0">
                <a:latin typeface="Calibri"/>
                <a:cs typeface="Calibri"/>
              </a:rPr>
              <a:t>m </a:t>
            </a:r>
            <a:r>
              <a:rPr sz="990" i="1" spc="-17" dirty="0">
                <a:latin typeface="Calibri"/>
                <a:cs typeface="Calibri"/>
              </a:rPr>
              <a:t>s</a:t>
            </a:r>
            <a:r>
              <a:rPr sz="990" i="1" spc="-4" dirty="0">
                <a:latin typeface="Calibri"/>
                <a:cs typeface="Calibri"/>
              </a:rPr>
              <a:t>t</a:t>
            </a:r>
            <a:r>
              <a:rPr sz="990" i="1" dirty="0">
                <a:latin typeface="Calibri"/>
                <a:cs typeface="Calibri"/>
              </a:rPr>
              <a:t>r</a:t>
            </a:r>
            <a:r>
              <a:rPr sz="990" i="1" spc="-4" dirty="0">
                <a:latin typeface="Calibri"/>
                <a:cs typeface="Calibri"/>
              </a:rPr>
              <a:t>u</a:t>
            </a:r>
            <a:r>
              <a:rPr sz="990" i="1" dirty="0">
                <a:latin typeface="Calibri"/>
                <a:cs typeface="Calibri"/>
              </a:rPr>
              <a:t>c</a:t>
            </a:r>
            <a:r>
              <a:rPr sz="990" i="1" spc="-4" dirty="0">
                <a:latin typeface="Calibri"/>
                <a:cs typeface="Calibri"/>
              </a:rPr>
              <a:t>tu</a:t>
            </a:r>
            <a:r>
              <a:rPr sz="990" i="1" dirty="0">
                <a:latin typeface="Calibri"/>
                <a:cs typeface="Calibri"/>
              </a:rPr>
              <a:t>re</a:t>
            </a:r>
            <a:endParaRPr sz="990">
              <a:latin typeface="Calibri"/>
              <a:cs typeface="Calibri"/>
            </a:endParaRPr>
          </a:p>
        </p:txBody>
      </p:sp>
      <p:sp>
        <p:nvSpPr>
          <p:cNvPr id="22" name="object 18">
            <a:extLst>
              <a:ext uri="{FF2B5EF4-FFF2-40B4-BE49-F238E27FC236}">
                <a16:creationId xmlns:a16="http://schemas.microsoft.com/office/drawing/2014/main" id="{885E6BCD-8CBC-E7D7-B9AE-5199EE21AA80}"/>
              </a:ext>
            </a:extLst>
          </p:cNvPr>
          <p:cNvSpPr txBox="1"/>
          <p:nvPr/>
        </p:nvSpPr>
        <p:spPr>
          <a:xfrm>
            <a:off x="7306525" y="4113346"/>
            <a:ext cx="1281922" cy="322604"/>
          </a:xfrm>
          <a:prstGeom prst="rect">
            <a:avLst/>
          </a:prstGeom>
        </p:spPr>
        <p:txBody>
          <a:bodyPr vert="horz" wrap="square" lIns="0" tIns="2619" rIns="0" bIns="0" rtlCol="0">
            <a:spAutoFit/>
          </a:bodyPr>
          <a:lstStyle/>
          <a:p>
            <a:pPr marL="335280" marR="4191" indent="-325326">
              <a:lnSpc>
                <a:spcPct val="105000"/>
              </a:lnSpc>
              <a:spcBef>
                <a:spcPts val="21"/>
              </a:spcBef>
            </a:pPr>
            <a:r>
              <a:rPr sz="990" i="1" spc="-4" dirty="0">
                <a:latin typeface="Calibri"/>
                <a:cs typeface="Calibri"/>
              </a:rPr>
              <a:t>Clean-up</a:t>
            </a:r>
            <a:r>
              <a:rPr sz="990" i="1" spc="-33" dirty="0">
                <a:latin typeface="Calibri"/>
                <a:cs typeface="Calibri"/>
              </a:rPr>
              <a:t> </a:t>
            </a:r>
            <a:r>
              <a:rPr sz="990" i="1" spc="-4" dirty="0">
                <a:latin typeface="Calibri"/>
                <a:cs typeface="Calibri"/>
              </a:rPr>
              <a:t>and</a:t>
            </a:r>
            <a:r>
              <a:rPr sz="990" i="1" spc="-29" dirty="0">
                <a:latin typeface="Calibri"/>
                <a:cs typeface="Calibri"/>
              </a:rPr>
              <a:t> </a:t>
            </a:r>
            <a:r>
              <a:rPr sz="990" i="1" spc="-4" dirty="0">
                <a:latin typeface="Calibri"/>
                <a:cs typeface="Calibri"/>
              </a:rPr>
              <a:t>restructure </a:t>
            </a:r>
            <a:r>
              <a:rPr sz="990" i="1" spc="-215" dirty="0">
                <a:latin typeface="Calibri"/>
                <a:cs typeface="Calibri"/>
              </a:rPr>
              <a:t> </a:t>
            </a:r>
            <a:r>
              <a:rPr sz="990" i="1" spc="-12" dirty="0">
                <a:latin typeface="Calibri"/>
                <a:cs typeface="Calibri"/>
              </a:rPr>
              <a:t>system</a:t>
            </a:r>
            <a:r>
              <a:rPr sz="990" i="1" spc="-8" dirty="0">
                <a:latin typeface="Calibri"/>
                <a:cs typeface="Calibri"/>
              </a:rPr>
              <a:t> data</a:t>
            </a:r>
            <a:endParaRPr sz="99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0405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Reengineering Cost Factors</a:t>
            </a:r>
            <a:endParaRPr lang="en-US" sz="3100" b="1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12</a:t>
            </a:fld>
            <a:endParaRPr lang="en-US" sz="7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E6EB4-C80F-E439-7FCD-1A8D99555497}"/>
              </a:ext>
            </a:extLst>
          </p:cNvPr>
          <p:cNvSpPr txBox="1">
            <a:spLocks/>
          </p:cNvSpPr>
          <p:nvPr/>
        </p:nvSpPr>
        <p:spPr>
          <a:xfrm>
            <a:off x="333829" y="1234281"/>
            <a:ext cx="8505371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7678" indent="-457200">
              <a:spcBef>
                <a:spcPts val="594"/>
              </a:spcBef>
              <a:buFont typeface="Arial" panose="020B0604020202020204" pitchFamily="34" charset="0"/>
              <a:buChar char="•"/>
              <a:tabLst>
                <a:tab pos="199073" algn="l"/>
              </a:tabLst>
            </a:pPr>
            <a:r>
              <a:rPr lang="en-US" sz="2600" spc="-4" dirty="0">
                <a:solidFill>
                  <a:schemeClr val="tx1"/>
                </a:solidFill>
                <a:latin typeface="Calibri"/>
                <a:cs typeface="Calibri"/>
              </a:rPr>
              <a:t>The quality of the </a:t>
            </a:r>
            <a:r>
              <a:rPr lang="en-US" sz="2600" spc="-12" dirty="0">
                <a:solidFill>
                  <a:schemeClr val="tx1"/>
                </a:solidFill>
                <a:latin typeface="Calibri"/>
                <a:cs typeface="Calibri"/>
              </a:rPr>
              <a:t>software</a:t>
            </a:r>
            <a:r>
              <a:rPr lang="en-US" sz="2600" spc="-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spc="-12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lang="en-US" sz="2600" dirty="0">
                <a:solidFill>
                  <a:schemeClr val="tx1"/>
                </a:solidFill>
                <a:latin typeface="Calibri"/>
                <a:cs typeface="Calibri"/>
              </a:rPr>
              <a:t> be</a:t>
            </a:r>
            <a:r>
              <a:rPr lang="en-US" sz="2600" spc="-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spc="-12" dirty="0">
                <a:solidFill>
                  <a:schemeClr val="tx1"/>
                </a:solidFill>
                <a:latin typeface="Calibri"/>
                <a:cs typeface="Calibri"/>
              </a:rPr>
              <a:t>reengineered.</a:t>
            </a:r>
            <a:endParaRPr lang="en-US" sz="26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467678" indent="-457200">
              <a:spcBef>
                <a:spcPts val="516"/>
              </a:spcBef>
              <a:buFont typeface="Arial" panose="020B0604020202020204" pitchFamily="34" charset="0"/>
              <a:buChar char="•"/>
              <a:tabLst>
                <a:tab pos="199073" algn="l"/>
              </a:tabLst>
            </a:pPr>
            <a:r>
              <a:rPr lang="en-US" sz="2600" spc="-4" dirty="0">
                <a:solidFill>
                  <a:schemeClr val="tx1"/>
                </a:solidFill>
                <a:latin typeface="Calibri"/>
                <a:cs typeface="Calibri"/>
              </a:rPr>
              <a:t>The </a:t>
            </a:r>
            <a:r>
              <a:rPr lang="en-US" sz="2600" spc="-8" dirty="0">
                <a:solidFill>
                  <a:schemeClr val="tx1"/>
                </a:solidFill>
                <a:latin typeface="Calibri"/>
                <a:cs typeface="Calibri"/>
              </a:rPr>
              <a:t>tool</a:t>
            </a:r>
            <a:r>
              <a:rPr lang="en-US" sz="2600" spc="-4" dirty="0">
                <a:solidFill>
                  <a:schemeClr val="tx1"/>
                </a:solidFill>
                <a:latin typeface="Calibri"/>
                <a:cs typeface="Calibri"/>
              </a:rPr>
              <a:t> support</a:t>
            </a:r>
            <a:r>
              <a:rPr lang="en-US" sz="26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spc="-17" dirty="0">
                <a:solidFill>
                  <a:schemeClr val="tx1"/>
                </a:solidFill>
                <a:latin typeface="Calibri"/>
                <a:cs typeface="Calibri"/>
              </a:rPr>
              <a:t>available</a:t>
            </a:r>
            <a:r>
              <a:rPr lang="en-US" sz="2600" spc="-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spc="-21" dirty="0">
                <a:solidFill>
                  <a:schemeClr val="tx1"/>
                </a:solidFill>
                <a:latin typeface="Calibri"/>
                <a:cs typeface="Calibri"/>
              </a:rPr>
              <a:t>for</a:t>
            </a:r>
            <a:r>
              <a:rPr lang="en-US" sz="26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spc="-8" dirty="0">
                <a:solidFill>
                  <a:schemeClr val="tx1"/>
                </a:solidFill>
                <a:latin typeface="Calibri"/>
                <a:cs typeface="Calibri"/>
              </a:rPr>
              <a:t>reengineering.</a:t>
            </a:r>
            <a:endParaRPr lang="en-US" sz="26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467678" indent="-457200">
              <a:spcBef>
                <a:spcPts val="615"/>
              </a:spcBef>
              <a:buFont typeface="Arial" panose="020B0604020202020204" pitchFamily="34" charset="0"/>
              <a:buChar char="•"/>
              <a:tabLst>
                <a:tab pos="199073" algn="l"/>
              </a:tabLst>
            </a:pPr>
            <a:r>
              <a:rPr lang="en-US" sz="2600" spc="-4" dirty="0">
                <a:solidFill>
                  <a:schemeClr val="tx1"/>
                </a:solidFill>
                <a:latin typeface="Calibri"/>
                <a:cs typeface="Calibri"/>
              </a:rPr>
              <a:t>The </a:t>
            </a:r>
            <a:r>
              <a:rPr lang="en-US" sz="2600" spc="-12" dirty="0">
                <a:solidFill>
                  <a:schemeClr val="tx1"/>
                </a:solidFill>
                <a:latin typeface="Calibri"/>
                <a:cs typeface="Calibri"/>
              </a:rPr>
              <a:t>availability</a:t>
            </a:r>
            <a:r>
              <a:rPr lang="en-US" sz="2600" spc="-4" dirty="0">
                <a:solidFill>
                  <a:schemeClr val="tx1"/>
                </a:solidFill>
                <a:latin typeface="Calibri"/>
                <a:cs typeface="Calibri"/>
              </a:rPr>
              <a:t> of</a:t>
            </a:r>
            <a:r>
              <a:rPr lang="en-US" sz="26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spc="-12" dirty="0">
                <a:solidFill>
                  <a:schemeClr val="tx1"/>
                </a:solidFill>
                <a:latin typeface="Calibri"/>
                <a:cs typeface="Calibri"/>
              </a:rPr>
              <a:t>expert</a:t>
            </a:r>
            <a:r>
              <a:rPr lang="en-US" sz="26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spc="-21" dirty="0">
                <a:solidFill>
                  <a:schemeClr val="tx1"/>
                </a:solidFill>
                <a:latin typeface="Calibri"/>
                <a:cs typeface="Calibri"/>
              </a:rPr>
              <a:t>staff</a:t>
            </a:r>
            <a:r>
              <a:rPr lang="en-US" sz="26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spc="-21" dirty="0">
                <a:solidFill>
                  <a:schemeClr val="tx1"/>
                </a:solidFill>
                <a:latin typeface="Calibri"/>
                <a:cs typeface="Calibri"/>
              </a:rPr>
              <a:t>for</a:t>
            </a:r>
            <a:r>
              <a:rPr lang="en-US" sz="26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spc="-8" dirty="0">
                <a:solidFill>
                  <a:schemeClr val="tx1"/>
                </a:solidFill>
                <a:latin typeface="Calibri"/>
                <a:cs typeface="Calibri"/>
              </a:rPr>
              <a:t>reengineering.</a:t>
            </a:r>
            <a:endParaRPr lang="en-US" sz="26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844868" marR="4191" lvl="1" indent="-457200">
              <a:spcBef>
                <a:spcPts val="520"/>
              </a:spcBef>
              <a:buClr>
                <a:srgbClr val="84CDEA"/>
              </a:buClr>
              <a:buFont typeface="Arial" panose="020B0604020202020204" pitchFamily="34" charset="0"/>
              <a:buChar char="•"/>
              <a:tabLst>
                <a:tab pos="576263" algn="l"/>
              </a:tabLst>
            </a:pPr>
            <a:r>
              <a:rPr lang="en-US" sz="2600" dirty="0">
                <a:solidFill>
                  <a:schemeClr val="tx1"/>
                </a:solidFill>
                <a:latin typeface="Calibri"/>
                <a:cs typeface="Calibri"/>
              </a:rPr>
              <a:t>This </a:t>
            </a:r>
            <a:r>
              <a:rPr lang="en-US" sz="2600" spc="-8" dirty="0">
                <a:solidFill>
                  <a:schemeClr val="tx1"/>
                </a:solidFill>
                <a:latin typeface="Calibri"/>
                <a:cs typeface="Calibri"/>
              </a:rPr>
              <a:t>can </a:t>
            </a:r>
            <a:r>
              <a:rPr lang="en-US" sz="2600" dirty="0">
                <a:solidFill>
                  <a:schemeClr val="tx1"/>
                </a:solidFill>
                <a:latin typeface="Calibri"/>
                <a:cs typeface="Calibri"/>
              </a:rPr>
              <a:t>be a </a:t>
            </a:r>
            <a:r>
              <a:rPr lang="en-US" sz="2600" spc="-8" dirty="0">
                <a:solidFill>
                  <a:schemeClr val="tx1"/>
                </a:solidFill>
                <a:latin typeface="Calibri"/>
                <a:cs typeface="Calibri"/>
              </a:rPr>
              <a:t>problem </a:t>
            </a:r>
            <a:r>
              <a:rPr lang="en-US" sz="2600" spc="-4" dirty="0">
                <a:solidFill>
                  <a:schemeClr val="tx1"/>
                </a:solidFill>
                <a:latin typeface="Calibri"/>
                <a:cs typeface="Calibri"/>
              </a:rPr>
              <a:t>with old </a:t>
            </a:r>
            <a:r>
              <a:rPr lang="en-US" sz="2600" spc="-17" dirty="0">
                <a:solidFill>
                  <a:schemeClr val="tx1"/>
                </a:solidFill>
                <a:latin typeface="Calibri"/>
                <a:cs typeface="Calibri"/>
              </a:rPr>
              <a:t>systems </a:t>
            </a:r>
            <a:r>
              <a:rPr lang="en-US" sz="2600" dirty="0">
                <a:solidFill>
                  <a:schemeClr val="tx1"/>
                </a:solidFill>
                <a:latin typeface="Calibri"/>
                <a:cs typeface="Calibri"/>
              </a:rPr>
              <a:t>based </a:t>
            </a:r>
            <a:r>
              <a:rPr lang="en-US" sz="2600" spc="-4" dirty="0">
                <a:solidFill>
                  <a:schemeClr val="tx1"/>
                </a:solidFill>
                <a:latin typeface="Calibri"/>
                <a:cs typeface="Calibri"/>
              </a:rPr>
              <a:t>on technology </a:t>
            </a:r>
            <a:r>
              <a:rPr lang="en-US" sz="2600" spc="-8" dirty="0">
                <a:solidFill>
                  <a:schemeClr val="tx1"/>
                </a:solidFill>
                <a:latin typeface="Calibri"/>
                <a:cs typeface="Calibri"/>
              </a:rPr>
              <a:t>that </a:t>
            </a:r>
            <a:r>
              <a:rPr lang="en-US" sz="2600" spc="-4" dirty="0">
                <a:solidFill>
                  <a:schemeClr val="tx1"/>
                </a:solidFill>
                <a:latin typeface="Calibri"/>
                <a:cs typeface="Calibri"/>
              </a:rPr>
              <a:t>is </a:t>
            </a:r>
            <a:r>
              <a:rPr lang="en-US" sz="2600" dirty="0">
                <a:solidFill>
                  <a:schemeClr val="tx1"/>
                </a:solidFill>
                <a:latin typeface="Calibri"/>
                <a:cs typeface="Calibri"/>
              </a:rPr>
              <a:t>no </a:t>
            </a:r>
            <a:r>
              <a:rPr lang="en-US" sz="2600" spc="-4" dirty="0">
                <a:solidFill>
                  <a:schemeClr val="tx1"/>
                </a:solidFill>
                <a:latin typeface="Calibri"/>
                <a:cs typeface="Calibri"/>
              </a:rPr>
              <a:t>longer </a:t>
            </a:r>
            <a:r>
              <a:rPr lang="en-US" sz="2600" spc="-437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dirty="0">
                <a:solidFill>
                  <a:schemeClr val="tx1"/>
                </a:solidFill>
                <a:latin typeface="Calibri"/>
                <a:cs typeface="Calibri"/>
              </a:rPr>
              <a:t>widely</a:t>
            </a:r>
            <a:r>
              <a:rPr lang="en-US" sz="2600" spc="-8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600" dirty="0">
                <a:solidFill>
                  <a:schemeClr val="tx1"/>
                </a:solidFill>
                <a:latin typeface="Calibri"/>
                <a:cs typeface="Calibri"/>
              </a:rPr>
              <a:t>used.</a:t>
            </a:r>
          </a:p>
        </p:txBody>
      </p:sp>
    </p:spTree>
    <p:extLst>
      <p:ext uri="{BB962C8B-B14F-4D97-AF65-F5344CB8AC3E}">
        <p14:creationId xmlns:p14="http://schemas.microsoft.com/office/powerpoint/2010/main" val="12798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Refactoring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13</a:t>
            </a:fld>
            <a:endParaRPr lang="en-US" sz="70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B7E56D9-9BF5-2773-7C7B-0F26A19E3ACA}"/>
              </a:ext>
            </a:extLst>
          </p:cNvPr>
          <p:cNvSpPr txBox="1">
            <a:spLocks/>
          </p:cNvSpPr>
          <p:nvPr/>
        </p:nvSpPr>
        <p:spPr>
          <a:xfrm>
            <a:off x="333829" y="1234281"/>
            <a:ext cx="8495211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7678" marR="4191" indent="-457200">
              <a:spcBef>
                <a:spcPts val="413"/>
              </a:spcBef>
              <a:buFont typeface="Arial" panose="020B0604020202020204" pitchFamily="34" charset="0"/>
              <a:buChar char="•"/>
              <a:tabLst>
                <a:tab pos="199073" algn="l"/>
              </a:tabLst>
            </a:pPr>
            <a:r>
              <a:rPr lang="en-US" sz="2800" spc="-17" dirty="0">
                <a:solidFill>
                  <a:schemeClr val="tx1"/>
                </a:solidFill>
                <a:latin typeface="Calibri"/>
                <a:cs typeface="Calibri"/>
              </a:rPr>
              <a:t>Refactoring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 is</a:t>
            </a:r>
            <a:r>
              <a:rPr lang="en-US" sz="2800" spc="8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lang="en-US" sz="2800" spc="-12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8" dirty="0">
                <a:solidFill>
                  <a:schemeClr val="tx1"/>
                </a:solidFill>
                <a:latin typeface="Calibri"/>
                <a:cs typeface="Calibri"/>
              </a:rPr>
              <a:t>process</a:t>
            </a: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4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lang="en-US" sz="2800" b="1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4" dirty="0">
                <a:solidFill>
                  <a:schemeClr val="tx1"/>
                </a:solidFill>
                <a:latin typeface="Calibri"/>
                <a:cs typeface="Calibri"/>
              </a:rPr>
              <a:t>making</a:t>
            </a: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8" dirty="0">
                <a:solidFill>
                  <a:schemeClr val="tx1"/>
                </a:solidFill>
                <a:latin typeface="Calibri"/>
                <a:cs typeface="Calibri"/>
              </a:rPr>
              <a:t>improvements</a:t>
            </a: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12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lang="en-US" sz="2800" b="1" spc="-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a</a:t>
            </a:r>
            <a:r>
              <a:rPr lang="en-US" sz="2800" b="1" spc="8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12" dirty="0">
                <a:solidFill>
                  <a:schemeClr val="tx1"/>
                </a:solidFill>
                <a:latin typeface="Calibri"/>
                <a:cs typeface="Calibri"/>
              </a:rPr>
              <a:t>program</a:t>
            </a: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12" dirty="0">
                <a:solidFill>
                  <a:schemeClr val="tx1"/>
                </a:solidFill>
                <a:latin typeface="Calibri"/>
                <a:cs typeface="Calibri"/>
              </a:rPr>
              <a:t>to </a:t>
            </a:r>
            <a:r>
              <a:rPr lang="en-US" sz="2800" b="1" spc="-512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8" dirty="0">
                <a:solidFill>
                  <a:schemeClr val="tx1"/>
                </a:solidFill>
                <a:latin typeface="Calibri"/>
                <a:cs typeface="Calibri"/>
              </a:rPr>
              <a:t>slow</a:t>
            </a:r>
            <a:r>
              <a:rPr lang="en-US" sz="2800" b="1" spc="-4" dirty="0">
                <a:solidFill>
                  <a:schemeClr val="tx1"/>
                </a:solidFill>
                <a:latin typeface="Calibri"/>
                <a:cs typeface="Calibri"/>
              </a:rPr>
              <a:t> down</a:t>
            </a: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12" dirty="0">
                <a:solidFill>
                  <a:schemeClr val="tx1"/>
                </a:solidFill>
                <a:latin typeface="Calibri"/>
                <a:cs typeface="Calibri"/>
              </a:rPr>
              <a:t>degradation</a:t>
            </a: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8" dirty="0">
                <a:solidFill>
                  <a:schemeClr val="tx1"/>
                </a:solidFill>
                <a:latin typeface="Calibri"/>
                <a:cs typeface="Calibri"/>
              </a:rPr>
              <a:t>through</a:t>
            </a: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4" dirty="0">
                <a:solidFill>
                  <a:schemeClr val="tx1"/>
                </a:solidFill>
                <a:latin typeface="Calibri"/>
                <a:cs typeface="Calibri"/>
              </a:rPr>
              <a:t>change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endParaRPr lang="en-US" sz="28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467678" marR="142494" indent="-457200">
              <a:spcBef>
                <a:spcPts val="792"/>
              </a:spcBef>
              <a:buFont typeface="Arial" panose="020B0604020202020204" pitchFamily="34" charset="0"/>
              <a:buChar char="•"/>
              <a:tabLst>
                <a:tab pos="199073" algn="l"/>
              </a:tabLst>
            </a:pPr>
            <a:r>
              <a:rPr lang="en-US" sz="2800" spc="-17" dirty="0">
                <a:solidFill>
                  <a:schemeClr val="tx1"/>
                </a:solidFill>
                <a:latin typeface="Calibri"/>
                <a:cs typeface="Calibri"/>
              </a:rPr>
              <a:t>Refactoring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17" dirty="0">
                <a:solidFill>
                  <a:schemeClr val="tx1"/>
                </a:solidFill>
                <a:latin typeface="Calibri"/>
                <a:cs typeface="Calibri"/>
              </a:rPr>
              <a:t>involves</a:t>
            </a:r>
            <a:r>
              <a:rPr lang="en-US" sz="28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4" dirty="0">
                <a:solidFill>
                  <a:schemeClr val="tx1"/>
                </a:solidFill>
                <a:latin typeface="Calibri"/>
                <a:cs typeface="Calibri"/>
              </a:rPr>
              <a:t>modifying</a:t>
            </a:r>
            <a:r>
              <a:rPr lang="en-US" sz="2800" b="1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a</a:t>
            </a:r>
            <a:r>
              <a:rPr lang="en-US" sz="2800" b="1" spc="8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12" dirty="0">
                <a:solidFill>
                  <a:schemeClr val="tx1"/>
                </a:solidFill>
                <a:latin typeface="Calibri"/>
                <a:cs typeface="Calibri"/>
              </a:rPr>
              <a:t>program</a:t>
            </a: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12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12" dirty="0">
                <a:solidFill>
                  <a:schemeClr val="tx1"/>
                </a:solidFill>
                <a:latin typeface="Calibri"/>
                <a:cs typeface="Calibri"/>
              </a:rPr>
              <a:t>improve</a:t>
            </a:r>
            <a:r>
              <a:rPr lang="en-US" sz="2800" b="1" spc="8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its</a:t>
            </a:r>
            <a:r>
              <a:rPr lang="en-US" sz="2800" b="1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8" dirty="0">
                <a:solidFill>
                  <a:schemeClr val="tx1"/>
                </a:solidFill>
                <a:latin typeface="Calibri"/>
                <a:cs typeface="Calibri"/>
              </a:rPr>
              <a:t>structure</a:t>
            </a: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, </a:t>
            </a:r>
            <a:r>
              <a:rPr lang="en-US" sz="2800" spc="-507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8" dirty="0">
                <a:solidFill>
                  <a:schemeClr val="tx1"/>
                </a:solidFill>
                <a:latin typeface="Calibri"/>
                <a:cs typeface="Calibri"/>
              </a:rPr>
              <a:t>reduce</a:t>
            </a:r>
            <a:r>
              <a:rPr lang="en-US" sz="2800" b="1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its</a:t>
            </a:r>
            <a:r>
              <a:rPr lang="en-US" sz="2800" b="1" spc="-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8" dirty="0">
                <a:solidFill>
                  <a:schemeClr val="tx1"/>
                </a:solidFill>
                <a:latin typeface="Calibri"/>
                <a:cs typeface="Calibri"/>
              </a:rPr>
              <a:t>complexity</a:t>
            </a: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4" dirty="0">
                <a:solidFill>
                  <a:schemeClr val="tx1"/>
                </a:solidFill>
                <a:latin typeface="Calibri"/>
                <a:cs typeface="Calibri"/>
              </a:rPr>
              <a:t>or</a:t>
            </a:r>
            <a:r>
              <a:rPr lang="en-US" sz="2800" b="1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17" dirty="0">
                <a:solidFill>
                  <a:schemeClr val="tx1"/>
                </a:solidFill>
                <a:latin typeface="Calibri"/>
                <a:cs typeface="Calibri"/>
              </a:rPr>
              <a:t>make</a:t>
            </a:r>
            <a:r>
              <a:rPr lang="en-US" sz="2800" b="1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it</a:t>
            </a:r>
            <a:r>
              <a:rPr lang="en-US" sz="2800" b="1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4" dirty="0">
                <a:solidFill>
                  <a:schemeClr val="tx1"/>
                </a:solidFill>
                <a:latin typeface="Calibri"/>
                <a:cs typeface="Calibri"/>
              </a:rPr>
              <a:t>easier</a:t>
            </a:r>
            <a:r>
              <a:rPr lang="en-US" sz="2800" b="1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12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12" dirty="0">
                <a:solidFill>
                  <a:schemeClr val="tx1"/>
                </a:solidFill>
                <a:latin typeface="Calibri"/>
                <a:cs typeface="Calibri"/>
              </a:rPr>
              <a:t>understand</a:t>
            </a:r>
            <a:r>
              <a:rPr lang="en-US" sz="2800" spc="-12" dirty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endParaRPr lang="en-US" sz="28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467678" marR="44529" indent="-457200">
              <a:spcBef>
                <a:spcPts val="767"/>
              </a:spcBef>
              <a:buFont typeface="Arial" panose="020B0604020202020204" pitchFamily="34" charset="0"/>
              <a:buChar char="•"/>
              <a:tabLst>
                <a:tab pos="199073" algn="l"/>
              </a:tabLst>
            </a:pP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When</a:t>
            </a:r>
            <a:r>
              <a:rPr lang="en-US" sz="28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12" dirty="0">
                <a:solidFill>
                  <a:schemeClr val="tx1"/>
                </a:solidFill>
                <a:latin typeface="Calibri"/>
                <a:cs typeface="Calibri"/>
              </a:rPr>
              <a:t>you</a:t>
            </a:r>
            <a:r>
              <a:rPr lang="en-US" sz="28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17" dirty="0">
                <a:solidFill>
                  <a:schemeClr val="tx1"/>
                </a:solidFill>
                <a:latin typeface="Calibri"/>
                <a:cs typeface="Calibri"/>
              </a:rPr>
              <a:t>re-factor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 a </a:t>
            </a:r>
            <a:r>
              <a:rPr lang="en-US" sz="2800" spc="-17" dirty="0">
                <a:solidFill>
                  <a:schemeClr val="tx1"/>
                </a:solidFill>
                <a:latin typeface="Calibri"/>
                <a:cs typeface="Calibri"/>
              </a:rPr>
              <a:t>program,</a:t>
            </a:r>
            <a:r>
              <a:rPr lang="en-US" sz="28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12" dirty="0">
                <a:solidFill>
                  <a:schemeClr val="tx1"/>
                </a:solidFill>
                <a:latin typeface="Calibri"/>
                <a:cs typeface="Calibri"/>
              </a:rPr>
              <a:t>you</a:t>
            </a:r>
            <a:r>
              <a:rPr lang="en-US" sz="2800" spc="8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should</a:t>
            </a:r>
            <a:r>
              <a:rPr lang="en-US" sz="28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4" dirty="0">
                <a:solidFill>
                  <a:schemeClr val="tx1"/>
                </a:solidFill>
                <a:latin typeface="Calibri"/>
                <a:cs typeface="Calibri"/>
              </a:rPr>
              <a:t>not</a:t>
            </a:r>
            <a:r>
              <a:rPr lang="en-US" sz="2800" b="1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add</a:t>
            </a:r>
            <a:r>
              <a:rPr lang="en-US" sz="28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functionality 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but </a:t>
            </a:r>
            <a:r>
              <a:rPr lang="en-US" sz="2800" spc="-507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17" dirty="0">
                <a:solidFill>
                  <a:schemeClr val="tx1"/>
                </a:solidFill>
                <a:latin typeface="Calibri"/>
                <a:cs typeface="Calibri"/>
              </a:rPr>
              <a:t>rather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17" dirty="0">
                <a:solidFill>
                  <a:schemeClr val="tx1"/>
                </a:solidFill>
                <a:latin typeface="Calibri"/>
                <a:cs typeface="Calibri"/>
              </a:rPr>
              <a:t>concentrate</a:t>
            </a:r>
            <a:r>
              <a:rPr lang="en-US" sz="2800" b="1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4" dirty="0">
                <a:solidFill>
                  <a:schemeClr val="tx1"/>
                </a:solidFill>
                <a:latin typeface="Calibri"/>
                <a:cs typeface="Calibri"/>
              </a:rPr>
              <a:t>on</a:t>
            </a: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12" dirty="0">
                <a:solidFill>
                  <a:schemeClr val="tx1"/>
                </a:solidFill>
                <a:latin typeface="Calibri"/>
                <a:cs typeface="Calibri"/>
              </a:rPr>
              <a:t>program</a:t>
            </a: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8" dirty="0">
                <a:solidFill>
                  <a:schemeClr val="tx1"/>
                </a:solidFill>
                <a:latin typeface="Calibri"/>
                <a:cs typeface="Calibri"/>
              </a:rPr>
              <a:t>improvement</a:t>
            </a: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endParaRPr lang="en-US" sz="2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1862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Refactoring and Reengineering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14</a:t>
            </a:fld>
            <a:endParaRPr lang="en-US" sz="70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B7E56D9-9BF5-2773-7C7B-0F26A19E3ACA}"/>
              </a:ext>
            </a:extLst>
          </p:cNvPr>
          <p:cNvSpPr txBox="1">
            <a:spLocks/>
          </p:cNvSpPr>
          <p:nvPr/>
        </p:nvSpPr>
        <p:spPr>
          <a:xfrm>
            <a:off x="333829" y="1234281"/>
            <a:ext cx="8485051" cy="438943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9073" marR="4191" indent="-188595">
              <a:spcBef>
                <a:spcPts val="355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pc="-8" dirty="0">
                <a:solidFill>
                  <a:schemeClr val="tx1"/>
                </a:solidFill>
                <a:latin typeface="Calibri"/>
                <a:cs typeface="Calibri"/>
              </a:rPr>
              <a:t>Re-engineering</a:t>
            </a:r>
            <a:r>
              <a:rPr lang="en-US" spc="-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b="1" spc="-17" dirty="0">
                <a:solidFill>
                  <a:schemeClr val="tx1"/>
                </a:solidFill>
                <a:latin typeface="Calibri"/>
                <a:cs typeface="Calibri"/>
              </a:rPr>
              <a:t>takes</a:t>
            </a:r>
            <a:r>
              <a:rPr lang="en-US" b="1" spc="-4" dirty="0">
                <a:solidFill>
                  <a:schemeClr val="tx1"/>
                </a:solidFill>
                <a:latin typeface="Calibri"/>
                <a:cs typeface="Calibri"/>
              </a:rPr>
              <a:t> place</a:t>
            </a:r>
            <a:r>
              <a:rPr lang="en-US" b="1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b="1" spc="-8" dirty="0">
                <a:solidFill>
                  <a:schemeClr val="tx1"/>
                </a:solidFill>
                <a:latin typeface="Calibri"/>
                <a:cs typeface="Calibri"/>
              </a:rPr>
              <a:t>after</a:t>
            </a:r>
            <a:r>
              <a:rPr lang="en-US" b="1" spc="8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Calibri"/>
                <a:cs typeface="Calibri"/>
              </a:rPr>
              <a:t>a</a:t>
            </a:r>
            <a:r>
              <a:rPr lang="en-US" b="1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b="1" spc="-21" dirty="0">
                <a:solidFill>
                  <a:schemeClr val="tx1"/>
                </a:solidFill>
                <a:latin typeface="Calibri"/>
                <a:cs typeface="Calibri"/>
              </a:rPr>
              <a:t>system</a:t>
            </a:r>
            <a:r>
              <a:rPr lang="en-US" b="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b="1" spc="-4" dirty="0">
                <a:solidFill>
                  <a:schemeClr val="tx1"/>
                </a:solidFill>
                <a:latin typeface="Calibri"/>
                <a:cs typeface="Calibri"/>
              </a:rPr>
              <a:t>has</a:t>
            </a:r>
            <a:r>
              <a:rPr lang="en-US" b="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b="1" spc="-4" dirty="0">
                <a:solidFill>
                  <a:schemeClr val="tx1"/>
                </a:solidFill>
                <a:latin typeface="Calibri"/>
                <a:cs typeface="Calibri"/>
              </a:rPr>
              <a:t>been</a:t>
            </a:r>
            <a:r>
              <a:rPr lang="en-US" b="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b="1" spc="-8" dirty="0">
                <a:solidFill>
                  <a:schemeClr val="tx1"/>
                </a:solidFill>
                <a:latin typeface="Calibri"/>
                <a:cs typeface="Calibri"/>
              </a:rPr>
              <a:t>maintained</a:t>
            </a:r>
            <a:r>
              <a:rPr lang="en-US" b="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b="1" spc="-17" dirty="0">
                <a:solidFill>
                  <a:schemeClr val="tx1"/>
                </a:solidFill>
                <a:latin typeface="Calibri"/>
                <a:cs typeface="Calibri"/>
              </a:rPr>
              <a:t>for </a:t>
            </a:r>
            <a:r>
              <a:rPr lang="en-US" b="1" spc="-12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b="1" spc="-4" dirty="0">
                <a:solidFill>
                  <a:schemeClr val="tx1"/>
                </a:solidFill>
                <a:latin typeface="Calibri"/>
                <a:cs typeface="Calibri"/>
              </a:rPr>
              <a:t>some</a:t>
            </a:r>
            <a:r>
              <a:rPr lang="en-US" b="1" spc="2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b="1" spc="-4" dirty="0">
                <a:solidFill>
                  <a:schemeClr val="tx1"/>
                </a:solidFill>
                <a:latin typeface="Calibri"/>
                <a:cs typeface="Calibri"/>
              </a:rPr>
              <a:t>time</a:t>
            </a:r>
            <a:r>
              <a:rPr lang="en-US" b="1" spc="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b="1" spc="-4" dirty="0">
                <a:solidFill>
                  <a:schemeClr val="tx1"/>
                </a:solidFill>
                <a:latin typeface="Calibri"/>
                <a:cs typeface="Calibri"/>
              </a:rPr>
              <a:t>and</a:t>
            </a:r>
            <a:r>
              <a:rPr lang="en-US" b="1" spc="17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b="1" spc="-8" dirty="0">
                <a:solidFill>
                  <a:schemeClr val="tx1"/>
                </a:solidFill>
                <a:latin typeface="Calibri"/>
                <a:cs typeface="Calibri"/>
              </a:rPr>
              <a:t>maintenance</a:t>
            </a:r>
            <a:r>
              <a:rPr lang="en-US" b="1" spc="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b="1" spc="-12" dirty="0">
                <a:solidFill>
                  <a:schemeClr val="tx1"/>
                </a:solidFill>
                <a:latin typeface="Calibri"/>
                <a:cs typeface="Calibri"/>
              </a:rPr>
              <a:t>costs</a:t>
            </a:r>
            <a:r>
              <a:rPr lang="en-US" b="1" spc="12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b="1" spc="-8" dirty="0">
                <a:solidFill>
                  <a:schemeClr val="tx1"/>
                </a:solidFill>
                <a:latin typeface="Calibri"/>
                <a:cs typeface="Calibri"/>
              </a:rPr>
              <a:t>are</a:t>
            </a:r>
            <a:r>
              <a:rPr lang="en-US" b="1" spc="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b="1" spc="-4" dirty="0">
                <a:solidFill>
                  <a:schemeClr val="tx1"/>
                </a:solidFill>
                <a:latin typeface="Calibri"/>
                <a:cs typeface="Calibri"/>
              </a:rPr>
              <a:t>increasing</a:t>
            </a:r>
            <a:r>
              <a:rPr lang="en-US" spc="-4" dirty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r>
              <a:rPr lang="en-US" spc="2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</a:p>
          <a:p>
            <a:pPr marL="656273" marR="4191" lvl="1" indent="-188595">
              <a:spcBef>
                <a:spcPts val="355"/>
              </a:spcBef>
              <a:buClr>
                <a:srgbClr val="84CDEA"/>
              </a:buClr>
              <a:buFont typeface="Arial"/>
              <a:buChar char="•"/>
              <a:tabLst>
                <a:tab pos="199073" algn="l"/>
              </a:tabLst>
            </a:pPr>
            <a:r>
              <a:rPr lang="en-US" sz="2800" spc="-62" dirty="0">
                <a:solidFill>
                  <a:schemeClr val="tx1"/>
                </a:solidFill>
                <a:latin typeface="Calibri"/>
                <a:cs typeface="Calibri"/>
              </a:rPr>
              <a:t>You</a:t>
            </a:r>
            <a:r>
              <a:rPr lang="en-US" sz="2800" spc="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use</a:t>
            </a:r>
            <a:r>
              <a:rPr lang="en-US" sz="28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12" dirty="0">
                <a:solidFill>
                  <a:schemeClr val="tx1"/>
                </a:solidFill>
                <a:latin typeface="Calibri"/>
                <a:cs typeface="Calibri"/>
              </a:rPr>
              <a:t>automated</a:t>
            </a:r>
            <a:r>
              <a:rPr lang="en-US" sz="28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tools</a:t>
            </a:r>
            <a:r>
              <a:rPr lang="en-US" sz="28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12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process</a:t>
            </a:r>
            <a:r>
              <a:rPr lang="en-US" sz="28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and</a:t>
            </a:r>
            <a:r>
              <a:rPr lang="en-US" sz="28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re-engineer</a:t>
            </a:r>
            <a:r>
              <a:rPr lang="en-US" sz="28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a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12" dirty="0">
                <a:solidFill>
                  <a:schemeClr val="tx1"/>
                </a:solidFill>
                <a:latin typeface="Calibri"/>
                <a:cs typeface="Calibri"/>
              </a:rPr>
              <a:t>legacy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25" dirty="0">
                <a:solidFill>
                  <a:schemeClr val="tx1"/>
                </a:solidFill>
                <a:latin typeface="Calibri"/>
                <a:cs typeface="Calibri"/>
              </a:rPr>
              <a:t>system</a:t>
            </a:r>
            <a:r>
              <a:rPr lang="en-US" sz="28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12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17" dirty="0">
                <a:solidFill>
                  <a:schemeClr val="tx1"/>
                </a:solidFill>
                <a:latin typeface="Calibri"/>
                <a:cs typeface="Calibri"/>
              </a:rPr>
              <a:t>create </a:t>
            </a:r>
            <a:r>
              <a:rPr lang="en-US" sz="2800" spc="-507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a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new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25" dirty="0">
                <a:solidFill>
                  <a:schemeClr val="tx1"/>
                </a:solidFill>
                <a:latin typeface="Calibri"/>
                <a:cs typeface="Calibri"/>
              </a:rPr>
              <a:t>system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that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is</a:t>
            </a:r>
            <a:r>
              <a:rPr lang="en-US" sz="28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12" dirty="0">
                <a:solidFill>
                  <a:schemeClr val="tx1"/>
                </a:solidFill>
                <a:latin typeface="Calibri"/>
                <a:cs typeface="Calibri"/>
              </a:rPr>
              <a:t>more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maintainable.</a:t>
            </a:r>
            <a:endParaRPr lang="en-US" sz="28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199073" marR="83296" indent="-188595">
              <a:spcBef>
                <a:spcPts val="804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pc="-17" dirty="0">
                <a:solidFill>
                  <a:schemeClr val="tx1"/>
                </a:solidFill>
                <a:latin typeface="Calibri"/>
                <a:cs typeface="Calibri"/>
              </a:rPr>
              <a:t>Refactoring</a:t>
            </a:r>
            <a:r>
              <a:rPr lang="en-US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pc="-4" dirty="0">
                <a:solidFill>
                  <a:schemeClr val="tx1"/>
                </a:solidFill>
                <a:latin typeface="Calibri"/>
                <a:cs typeface="Calibri"/>
              </a:rPr>
              <a:t>is</a:t>
            </a:r>
            <a:r>
              <a:rPr lang="en-US" spc="17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a </a:t>
            </a:r>
            <a:r>
              <a:rPr lang="en-US" b="1" spc="-8" dirty="0">
                <a:solidFill>
                  <a:schemeClr val="tx1"/>
                </a:solidFill>
                <a:latin typeface="Calibri"/>
                <a:cs typeface="Calibri"/>
              </a:rPr>
              <a:t>continuous</a:t>
            </a:r>
            <a:r>
              <a:rPr lang="en-US" b="1" spc="8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b="1" spc="-8" dirty="0">
                <a:solidFill>
                  <a:schemeClr val="tx1"/>
                </a:solidFill>
                <a:latin typeface="Calibri"/>
                <a:cs typeface="Calibri"/>
              </a:rPr>
              <a:t>process</a:t>
            </a:r>
            <a:r>
              <a:rPr lang="en-US" b="1" spc="8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b="1" spc="-4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lang="en-US" b="1" spc="12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b="1" spc="-12" dirty="0">
                <a:solidFill>
                  <a:schemeClr val="tx1"/>
                </a:solidFill>
                <a:latin typeface="Calibri"/>
                <a:cs typeface="Calibri"/>
              </a:rPr>
              <a:t>improvement</a:t>
            </a:r>
            <a:r>
              <a:rPr lang="en-US" b="1" spc="12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b="1" spc="-8" dirty="0">
                <a:solidFill>
                  <a:schemeClr val="tx1"/>
                </a:solidFill>
                <a:latin typeface="Calibri"/>
                <a:cs typeface="Calibri"/>
              </a:rPr>
              <a:t>throughout</a:t>
            </a:r>
            <a:r>
              <a:rPr lang="en-US" b="1" spc="12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b="1" spc="-4" dirty="0">
                <a:solidFill>
                  <a:schemeClr val="tx1"/>
                </a:solidFill>
                <a:latin typeface="Calibri"/>
                <a:cs typeface="Calibri"/>
              </a:rPr>
              <a:t>the </a:t>
            </a:r>
            <a:r>
              <a:rPr lang="en-US" b="1" spc="-512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b="1" spc="-8" dirty="0">
                <a:solidFill>
                  <a:schemeClr val="tx1"/>
                </a:solidFill>
                <a:latin typeface="Calibri"/>
                <a:cs typeface="Calibri"/>
              </a:rPr>
              <a:t>development</a:t>
            </a:r>
            <a:r>
              <a:rPr lang="en-US" b="1" spc="8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Calibri"/>
                <a:cs typeface="Calibri"/>
              </a:rPr>
              <a:t>and </a:t>
            </a:r>
            <a:r>
              <a:rPr lang="en-US" b="1" spc="-8" dirty="0">
                <a:solidFill>
                  <a:schemeClr val="tx1"/>
                </a:solidFill>
                <a:latin typeface="Calibri"/>
                <a:cs typeface="Calibri"/>
              </a:rPr>
              <a:t>evolution</a:t>
            </a:r>
            <a:r>
              <a:rPr lang="en-US" b="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b="1" spc="-8" dirty="0">
                <a:solidFill>
                  <a:schemeClr val="tx1"/>
                </a:solidFill>
                <a:latin typeface="Calibri"/>
                <a:cs typeface="Calibri"/>
              </a:rPr>
              <a:t>process</a:t>
            </a:r>
            <a:r>
              <a:rPr lang="en-US" spc="-8" dirty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r>
              <a:rPr lang="en-US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</a:p>
          <a:p>
            <a:pPr marL="656273" marR="83296" lvl="1" indent="-188595">
              <a:spcBef>
                <a:spcPts val="804"/>
              </a:spcBef>
              <a:buClr>
                <a:srgbClr val="84CDEA"/>
              </a:buClr>
              <a:buFont typeface="Arial"/>
              <a:buChar char="•"/>
              <a:tabLst>
                <a:tab pos="199073" algn="l"/>
              </a:tabLst>
            </a:pP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It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is</a:t>
            </a:r>
            <a:r>
              <a:rPr lang="en-US" sz="28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12" dirty="0">
                <a:solidFill>
                  <a:schemeClr val="tx1"/>
                </a:solidFill>
                <a:latin typeface="Calibri"/>
                <a:cs typeface="Calibri"/>
              </a:rPr>
              <a:t>intended</a:t>
            </a:r>
            <a:r>
              <a:rPr lang="en-US" sz="28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12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17" dirty="0">
                <a:solidFill>
                  <a:schemeClr val="tx1"/>
                </a:solidFill>
                <a:latin typeface="Calibri"/>
                <a:cs typeface="Calibri"/>
              </a:rPr>
              <a:t>avoid</a:t>
            </a:r>
            <a:r>
              <a:rPr lang="en-US" sz="28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the 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structure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 and</a:t>
            </a:r>
            <a:r>
              <a:rPr lang="en-US" sz="28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code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12" dirty="0">
                <a:solidFill>
                  <a:schemeClr val="tx1"/>
                </a:solidFill>
                <a:latin typeface="Calibri"/>
                <a:cs typeface="Calibri"/>
              </a:rPr>
              <a:t>degradation</a:t>
            </a:r>
            <a:r>
              <a:rPr lang="en-US" sz="28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that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increases</a:t>
            </a:r>
            <a:r>
              <a:rPr lang="en-US" sz="28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the </a:t>
            </a:r>
            <a:r>
              <a:rPr lang="en-US" sz="2800" spc="-12" dirty="0">
                <a:solidFill>
                  <a:schemeClr val="tx1"/>
                </a:solidFill>
                <a:latin typeface="Calibri"/>
                <a:cs typeface="Calibri"/>
              </a:rPr>
              <a:t>costs</a:t>
            </a:r>
            <a:r>
              <a:rPr lang="en-US" sz="2800" spc="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and </a:t>
            </a: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difficulties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maintaining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a </a:t>
            </a:r>
            <a:r>
              <a:rPr lang="en-US" sz="2800" spc="-21" dirty="0">
                <a:solidFill>
                  <a:schemeClr val="tx1"/>
                </a:solidFill>
                <a:latin typeface="Calibri"/>
                <a:cs typeface="Calibri"/>
              </a:rPr>
              <a:t>system.</a:t>
            </a:r>
            <a:endParaRPr lang="en-US" sz="2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69152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“Bad Smells” in program code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15</a:t>
            </a:fld>
            <a:endParaRPr lang="en-US" sz="700"/>
          </a:p>
        </p:txBody>
      </p:sp>
      <p:pic>
        <p:nvPicPr>
          <p:cNvPr id="2" name="Picture 2" descr="What Bad Smells Coming From Your AC System Might Mean | The Finest Indoor  Comfort Solutions | HVAC Services In Chelan, Washington">
            <a:extLst>
              <a:ext uri="{FF2B5EF4-FFF2-40B4-BE49-F238E27FC236}">
                <a16:creationId xmlns:a16="http://schemas.microsoft.com/office/drawing/2014/main" id="{8D8DEFCD-9D9D-E3BD-7488-7BD7E14E8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0105" y="1875973"/>
            <a:ext cx="8058150" cy="42195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52780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“Bad Smells” in program code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16</a:t>
            </a:fld>
            <a:endParaRPr lang="en-US" sz="70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B7E56D9-9BF5-2773-7C7B-0F26A19E3ACA}"/>
              </a:ext>
            </a:extLst>
          </p:cNvPr>
          <p:cNvSpPr txBox="1">
            <a:spLocks/>
          </p:cNvSpPr>
          <p:nvPr/>
        </p:nvSpPr>
        <p:spPr>
          <a:xfrm>
            <a:off x="333829" y="1234281"/>
            <a:ext cx="8485051" cy="438943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Duplicate code </a:t>
            </a:r>
          </a:p>
          <a:p>
            <a:pPr lvl="1">
              <a:buClr>
                <a:srgbClr val="84CDEA"/>
              </a:buClr>
            </a:pPr>
            <a:r>
              <a:rPr lang="en-US" sz="2800" dirty="0">
                <a:solidFill>
                  <a:schemeClr val="tx1"/>
                </a:solidFill>
              </a:rPr>
              <a:t>The same or very similar code may be included at different places in a program. </a:t>
            </a:r>
          </a:p>
          <a:p>
            <a:pPr lvl="1">
              <a:buClr>
                <a:srgbClr val="84CDEA"/>
              </a:buClr>
            </a:pPr>
            <a:r>
              <a:rPr lang="en-US" sz="2800" dirty="0">
                <a:solidFill>
                  <a:schemeClr val="tx1"/>
                </a:solidFill>
              </a:rPr>
              <a:t>This can be removed and implemented as a single method or function that is called as required.</a:t>
            </a:r>
            <a:endParaRPr lang="en-GB" sz="2800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Long methods</a:t>
            </a:r>
          </a:p>
          <a:p>
            <a:pPr lvl="1">
              <a:buClr>
                <a:srgbClr val="84CDEA"/>
              </a:buClr>
            </a:pPr>
            <a:r>
              <a:rPr lang="en-US" sz="2800" dirty="0">
                <a:solidFill>
                  <a:schemeClr val="tx1"/>
                </a:solidFill>
              </a:rPr>
              <a:t> If a method is too long, it should be redesigned as a number of shorter methods.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74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“Bad Smells” in program code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17</a:t>
            </a:fld>
            <a:endParaRPr lang="en-US" sz="70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B7E56D9-9BF5-2773-7C7B-0F26A19E3ACA}"/>
              </a:ext>
            </a:extLst>
          </p:cNvPr>
          <p:cNvSpPr txBox="1">
            <a:spLocks/>
          </p:cNvSpPr>
          <p:nvPr/>
        </p:nvSpPr>
        <p:spPr>
          <a:xfrm>
            <a:off x="333829" y="1234281"/>
            <a:ext cx="8485051" cy="438943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Switch (case) statements </a:t>
            </a:r>
          </a:p>
          <a:p>
            <a:pPr lvl="1">
              <a:buClr>
                <a:srgbClr val="84CDEA"/>
              </a:buClr>
            </a:pPr>
            <a:r>
              <a:rPr lang="en-US" dirty="0">
                <a:solidFill>
                  <a:schemeClr val="tx1"/>
                </a:solidFill>
              </a:rPr>
              <a:t>These often involve duplication, where the switch depends on the type of a value. </a:t>
            </a:r>
          </a:p>
          <a:p>
            <a:pPr lvl="1">
              <a:buClr>
                <a:srgbClr val="84CDEA"/>
              </a:buClr>
            </a:pPr>
            <a:r>
              <a:rPr lang="en-US" dirty="0">
                <a:solidFill>
                  <a:schemeClr val="tx1"/>
                </a:solidFill>
              </a:rPr>
              <a:t>The switch statements may be scattered around a program. In object-oriented languages, you can often use polymorphism to achieve the same thing.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8429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18</a:t>
            </a:fld>
            <a:endParaRPr lang="en-US" sz="700"/>
          </a:p>
        </p:txBody>
      </p:sp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2A002781-409A-B931-0D4A-D280912027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843" y="0"/>
            <a:ext cx="5044542" cy="655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034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+mn-lt"/>
              </a:rPr>
              <a:t>Reading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19</a:t>
            </a:fld>
            <a:endParaRPr lang="en-US" sz="70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A656E32-1156-FEA0-19B6-F14CFAE5A8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6120" y="1400727"/>
            <a:ext cx="8496839" cy="3429000"/>
          </a:xfrm>
        </p:spPr>
        <p:txBody>
          <a:bodyPr/>
          <a:lstStyle/>
          <a:p>
            <a:pPr marL="548640" lvl="1" indent="-274320" eaLnBrk="1" fontAlgn="auto" hangingPunct="1">
              <a:spcAft>
                <a:spcPts val="0"/>
              </a:spcAft>
              <a:buClr>
                <a:srgbClr val="84CDEA"/>
              </a:buClr>
              <a:buFont typeface="Wingdings 3"/>
              <a:buChar char=""/>
              <a:defRPr/>
            </a:pPr>
            <a:r>
              <a:rPr lang="en-US" sz="2800" dirty="0">
                <a:solidFill>
                  <a:schemeClr val="tx1"/>
                </a:solidFill>
              </a:rPr>
              <a:t>Software Engineering 10</a:t>
            </a:r>
            <a:r>
              <a:rPr lang="en-US" sz="2800" baseline="30000" dirty="0">
                <a:solidFill>
                  <a:schemeClr val="tx1"/>
                </a:solidFill>
              </a:rPr>
              <a:t>th</a:t>
            </a:r>
            <a:r>
              <a:rPr lang="en-US" sz="2800" dirty="0">
                <a:solidFill>
                  <a:schemeClr val="tx1"/>
                </a:solidFill>
              </a:rPr>
              <a:t> Edition, Ian Somerville</a:t>
            </a:r>
          </a:p>
          <a:p>
            <a:pPr marL="822960" lvl="2" eaLnBrk="1" fontAlgn="auto" hangingPunct="1">
              <a:spcAft>
                <a:spcPts val="0"/>
              </a:spcAft>
              <a:buClr>
                <a:srgbClr val="84CDEA"/>
              </a:buClr>
              <a:buFont typeface="Wingdings 3"/>
              <a:buChar char=""/>
              <a:defRPr/>
            </a:pPr>
            <a:r>
              <a:rPr lang="en-US" sz="2800" dirty="0">
                <a:solidFill>
                  <a:schemeClr val="tx1"/>
                </a:solidFill>
              </a:rPr>
              <a:t>Chapter 9</a:t>
            </a:r>
          </a:p>
          <a:p>
            <a:pPr marL="533400" lvl="1" indent="-533400" eaLnBrk="1" hangingPunct="1">
              <a:lnSpc>
                <a:spcPct val="115000"/>
              </a:lnSpc>
              <a:spcBef>
                <a:spcPct val="40000"/>
              </a:spcBef>
              <a:buClr>
                <a:srgbClr val="0BD0D9"/>
              </a:buClr>
              <a:buSzPct val="95000"/>
              <a:buFont typeface="Wingdings 2" pitchFamily="18" charset="2"/>
              <a:buNone/>
              <a:defRPr/>
            </a:pPr>
            <a:endParaRPr lang="en-NZ" altLang="en-US" dirty="0"/>
          </a:p>
        </p:txBody>
      </p:sp>
      <p:pic>
        <p:nvPicPr>
          <p:cNvPr id="2" name="Picture 2" descr="Software Engineering : 10th Edition: Buy Online at Best Prices in SriLanka  | Daraz.lk">
            <a:extLst>
              <a:ext uri="{FF2B5EF4-FFF2-40B4-BE49-F238E27FC236}">
                <a16:creationId xmlns:a16="http://schemas.microsoft.com/office/drawing/2014/main" id="{91183D39-8969-EAAC-47E5-179C8BE21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95457" y="1994454"/>
            <a:ext cx="4588514" cy="45189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5685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20</a:t>
            </a:fld>
            <a:endParaRPr lang="en-US" sz="7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360D8-06EC-45E1-9F03-07203CCB8D4E}"/>
              </a:ext>
            </a:extLst>
          </p:cNvPr>
          <p:cNvSpPr txBox="1"/>
          <p:nvPr/>
        </p:nvSpPr>
        <p:spPr>
          <a:xfrm>
            <a:off x="1721224" y="2286000"/>
            <a:ext cx="570155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>
                <a:solidFill>
                  <a:srgbClr val="404040"/>
                </a:solidFill>
                <a:cs typeface="Calibri"/>
              </a:rPr>
              <a:t>Any questions? ​</a:t>
            </a:r>
          </a:p>
          <a:p>
            <a:pPr algn="ctr"/>
            <a:r>
              <a:rPr lang="en-US" sz="3600">
                <a:solidFill>
                  <a:srgbClr val="404040"/>
                </a:solidFill>
                <a:cs typeface="Calibri"/>
              </a:rPr>
              <a:t>Please feel free to raise your hands and ask.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0711CCF-C1F4-43F6-B9FC-0A5338AB8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508" y="675881"/>
            <a:ext cx="1299457" cy="128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6050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CPIT 110">
  <a:themeElements>
    <a:clrScheme name="Custom 1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A2B7C0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CPIT 110" id="{8B30B5B8-1EAF-4AD4-A47C-55C6155E0564}" vid="{0F986C0D-D438-41BC-BADF-01C576FE679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91684B4F51014982BED21342ACE24F" ma:contentTypeVersion="12" ma:contentTypeDescription="Create a new document." ma:contentTypeScope="" ma:versionID="a6d97c19bf0848d1afa7cfd1ece83864">
  <xsd:schema xmlns:xsd="http://www.w3.org/2001/XMLSchema" xmlns:xs="http://www.w3.org/2001/XMLSchema" xmlns:p="http://schemas.microsoft.com/office/2006/metadata/properties" xmlns:ns2="d55b910c-306d-4260-bef9-52053e20f3ad" xmlns:ns3="9c7ea19a-b04b-43f3-b15e-cde561b15e5b" targetNamespace="http://schemas.microsoft.com/office/2006/metadata/properties" ma:root="true" ma:fieldsID="c0bbd26d2dc288229e6760ed0810afc6" ns2:_="" ns3:_="">
    <xsd:import namespace="d55b910c-306d-4260-bef9-52053e20f3ad"/>
    <xsd:import namespace="9c7ea19a-b04b-43f3-b15e-cde561b15e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5b910c-306d-4260-bef9-52053e20f3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7ea19a-b04b-43f3-b15e-cde561b15e5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198D305-912F-4EDA-B366-83F8180D3B01}">
  <ds:schemaRefs>
    <ds:schemaRef ds:uri="9c7ea19a-b04b-43f3-b15e-cde561b15e5b"/>
    <ds:schemaRef ds:uri="d55b910c-306d-4260-bef9-52053e20f3a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D0BDFD9-B336-410C-8C70-E8CCE7AD7C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02E0C92-AC64-42CA-94F8-4CA15E127DA0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CPIT 110</Template>
  <TotalTime>1427</TotalTime>
  <Words>809</Words>
  <Application>Microsoft Office PowerPoint</Application>
  <PresentationFormat>On-screen Show (4:3)</PresentationFormat>
  <Paragraphs>124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Arial</vt:lpstr>
      <vt:lpstr>Calibri</vt:lpstr>
      <vt:lpstr>Calibri Light</vt:lpstr>
      <vt:lpstr>Cambria</vt:lpstr>
      <vt:lpstr>Eurostile</vt:lpstr>
      <vt:lpstr>Söhne</vt:lpstr>
      <vt:lpstr>Tahoma</vt:lpstr>
      <vt:lpstr>Wingdings</vt:lpstr>
      <vt:lpstr>Wingdings 2</vt:lpstr>
      <vt:lpstr>Wingdings 3</vt:lpstr>
      <vt:lpstr>Theme CPIT 110</vt:lpstr>
      <vt:lpstr>Custom Design</vt:lpstr>
      <vt:lpstr>Chapter  7 Software Maintenance</vt:lpstr>
      <vt:lpstr>Outline</vt:lpstr>
      <vt:lpstr>Software Maintenance</vt:lpstr>
      <vt:lpstr>Software Maintenance</vt:lpstr>
      <vt:lpstr>Types of Maintenance </vt:lpstr>
      <vt:lpstr>Maintenance Costs</vt:lpstr>
      <vt:lpstr>Maintenance Prediction </vt:lpstr>
      <vt:lpstr>Maintenance Prediction</vt:lpstr>
      <vt:lpstr>Software Reengineering </vt:lpstr>
      <vt:lpstr>Advantages of Reengineering</vt:lpstr>
      <vt:lpstr>The Reengineering Process</vt:lpstr>
      <vt:lpstr>Reengineering Cost Factors</vt:lpstr>
      <vt:lpstr>Refactoring</vt:lpstr>
      <vt:lpstr>Refactoring and Reengineering</vt:lpstr>
      <vt:lpstr>“Bad Smells” in program code</vt:lpstr>
      <vt:lpstr>“Bad Smells” in program code</vt:lpstr>
      <vt:lpstr>“Bad Smells” in program code</vt:lpstr>
      <vt:lpstr>PowerPoint Presentation</vt:lpstr>
      <vt:lpstr>Reading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  Introduction to Problem-Solving</dc:title>
  <dc:creator>Ahmad Tayeb;ajtayeb@kau.edu.sa</dc:creator>
  <cp:lastModifiedBy>Mohammad Dakhilallah Mohammad Alahmadi</cp:lastModifiedBy>
  <cp:revision>45</cp:revision>
  <dcterms:created xsi:type="dcterms:W3CDTF">2019-06-07T16:06:41Z</dcterms:created>
  <dcterms:modified xsi:type="dcterms:W3CDTF">2024-05-08T05:52:27Z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0x0101007D91684B4F51014982BED21342ACE24F</vt:lpwstr>
  </property>
</Properties>
</file>