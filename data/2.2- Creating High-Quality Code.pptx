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 id="2147483757" r:id="rId5"/>
  </p:sldMasterIdLst>
  <p:notesMasterIdLst>
    <p:notesMasterId r:id="rId22"/>
  </p:notesMasterIdLst>
  <p:sldIdLst>
    <p:sldId id="330" r:id="rId6"/>
    <p:sldId id="416" r:id="rId7"/>
    <p:sldId id="417" r:id="rId8"/>
    <p:sldId id="419" r:id="rId9"/>
    <p:sldId id="420" r:id="rId10"/>
    <p:sldId id="421" r:id="rId11"/>
    <p:sldId id="415" r:id="rId12"/>
    <p:sldId id="431" r:id="rId13"/>
    <p:sldId id="432" r:id="rId14"/>
    <p:sldId id="433" r:id="rId15"/>
    <p:sldId id="434" r:id="rId16"/>
    <p:sldId id="435" r:id="rId17"/>
    <p:sldId id="436" r:id="rId18"/>
    <p:sldId id="437" r:id="rId19"/>
    <p:sldId id="438" r:id="rId20"/>
    <p:sldId id="413"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id="{EB54229A-E673-4F50-937B-310B31E2AF04}">
          <p14:sldIdLst>
            <p14:sldId id="330"/>
            <p14:sldId id="416"/>
            <p14:sldId id="417"/>
            <p14:sldId id="419"/>
            <p14:sldId id="420"/>
            <p14:sldId id="421"/>
            <p14:sldId id="415"/>
            <p14:sldId id="431"/>
            <p14:sldId id="432"/>
            <p14:sldId id="433"/>
            <p14:sldId id="434"/>
            <p14:sldId id="435"/>
            <p14:sldId id="436"/>
            <p14:sldId id="437"/>
            <p14:sldId id="438"/>
            <p14:sldId id="4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CDEA"/>
    <a:srgbClr val="0A4B67"/>
    <a:srgbClr val="88A6B1"/>
    <a:srgbClr val="565351"/>
    <a:srgbClr val="767270"/>
    <a:srgbClr val="FFFFD1"/>
    <a:srgbClr val="6E96A2"/>
    <a:srgbClr val="6B9F25"/>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77" autoAdjust="0"/>
    <p:restoredTop sz="94660"/>
  </p:normalViewPr>
  <p:slideViewPr>
    <p:cSldViewPr snapToGrid="0">
      <p:cViewPr varScale="1">
        <p:scale>
          <a:sx n="105" d="100"/>
          <a:sy n="105" d="100"/>
        </p:scale>
        <p:origin x="164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Dakhilallah Mohammad Alahmadi" userId="S::04100753@uj.edu.sa::9b436a58-7297-423f-8410-66c59c69358a" providerId="AD" clId="Web-{DF0EFC8F-A817-9FFA-7211-FB564606D585}"/>
    <pc:docChg chg="delSld modSld modSection">
      <pc:chgData name="Mohammad Dakhilallah Mohammad Alahmadi" userId="S::04100753@uj.edu.sa::9b436a58-7297-423f-8410-66c59c69358a" providerId="AD" clId="Web-{DF0EFC8F-A817-9FFA-7211-FB564606D585}" dt="2023-08-25T12:11:03.290" v="14"/>
      <pc:docMkLst>
        <pc:docMk/>
      </pc:docMkLst>
      <pc:sldChg chg="modSp">
        <pc:chgData name="Mohammad Dakhilallah Mohammad Alahmadi" userId="S::04100753@uj.edu.sa::9b436a58-7297-423f-8410-66c59c69358a" providerId="AD" clId="Web-{DF0EFC8F-A817-9FFA-7211-FB564606D585}" dt="2023-08-25T12:11:02.009" v="13" actId="20577"/>
        <pc:sldMkLst>
          <pc:docMk/>
          <pc:sldMk cId="0" sldId="330"/>
        </pc:sldMkLst>
        <pc:spChg chg="mod">
          <ac:chgData name="Mohammad Dakhilallah Mohammad Alahmadi" userId="S::04100753@uj.edu.sa::9b436a58-7297-423f-8410-66c59c69358a" providerId="AD" clId="Web-{DF0EFC8F-A817-9FFA-7211-FB564606D585}" dt="2023-08-25T12:11:02.009" v="13" actId="20577"/>
          <ac:spMkLst>
            <pc:docMk/>
            <pc:sldMk cId="0" sldId="330"/>
            <ac:spMk id="4098" creationId="{5F092033-53A0-4557-BC8C-EDF7C4004F50}"/>
          </ac:spMkLst>
        </pc:spChg>
      </pc:sldChg>
      <pc:sldChg chg="del">
        <pc:chgData name="Mohammad Dakhilallah Mohammad Alahmadi" userId="S::04100753@uj.edu.sa::9b436a58-7297-423f-8410-66c59c69358a" providerId="AD" clId="Web-{DF0EFC8F-A817-9FFA-7211-FB564606D585}" dt="2023-08-25T12:06:55.831" v="0"/>
        <pc:sldMkLst>
          <pc:docMk/>
          <pc:sldMk cId="0" sldId="333"/>
        </pc:sldMkLst>
      </pc:sldChg>
      <pc:sldChg chg="del">
        <pc:chgData name="Mohammad Dakhilallah Mohammad Alahmadi" userId="S::04100753@uj.edu.sa::9b436a58-7297-423f-8410-66c59c69358a" providerId="AD" clId="Web-{DF0EFC8F-A817-9FFA-7211-FB564606D585}" dt="2023-08-25T12:06:57.003" v="1"/>
        <pc:sldMkLst>
          <pc:docMk/>
          <pc:sldMk cId="419306763" sldId="414"/>
        </pc:sldMkLst>
      </pc:sldChg>
      <pc:sldChg chg="addSp delSp modSp">
        <pc:chgData name="Mohammad Dakhilallah Mohammad Alahmadi" userId="S::04100753@uj.edu.sa::9b436a58-7297-423f-8410-66c59c69358a" providerId="AD" clId="Web-{DF0EFC8F-A817-9FFA-7211-FB564606D585}" dt="2023-08-25T12:07:09.879" v="2"/>
        <pc:sldMkLst>
          <pc:docMk/>
          <pc:sldMk cId="1076553011" sldId="416"/>
        </pc:sldMkLst>
        <pc:spChg chg="del">
          <ac:chgData name="Mohammad Dakhilallah Mohammad Alahmadi" userId="S::04100753@uj.edu.sa::9b436a58-7297-423f-8410-66c59c69358a" providerId="AD" clId="Web-{DF0EFC8F-A817-9FFA-7211-FB564606D585}" dt="2023-08-25T12:07:09.879" v="2"/>
          <ac:spMkLst>
            <pc:docMk/>
            <pc:sldMk cId="1076553011" sldId="416"/>
            <ac:spMk id="3" creationId="{1846F605-CDDF-C3AE-6A94-70E3378FB036}"/>
          </ac:spMkLst>
        </pc:spChg>
        <pc:spChg chg="add mod">
          <ac:chgData name="Mohammad Dakhilallah Mohammad Alahmadi" userId="S::04100753@uj.edu.sa::9b436a58-7297-423f-8410-66c59c69358a" providerId="AD" clId="Web-{DF0EFC8F-A817-9FFA-7211-FB564606D585}" dt="2023-08-25T12:07:09.879" v="2"/>
          <ac:spMkLst>
            <pc:docMk/>
            <pc:sldMk cId="1076553011" sldId="416"/>
            <ac:spMk id="6" creationId="{9195AACE-0FDE-EFF1-91A6-1ADF50E44F36}"/>
          </ac:spMkLst>
        </pc:spChg>
      </pc:sldChg>
      <pc:sldChg chg="del">
        <pc:chgData name="Mohammad Dakhilallah Mohammad Alahmadi" userId="S::04100753@uj.edu.sa::9b436a58-7297-423f-8410-66c59c69358a" providerId="AD" clId="Web-{DF0EFC8F-A817-9FFA-7211-FB564606D585}" dt="2023-08-25T12:11:03.290" v="14"/>
        <pc:sldMkLst>
          <pc:docMk/>
          <pc:sldMk cId="2586610191" sldId="423"/>
        </pc:sldMkLst>
      </pc:sldChg>
    </pc:docChg>
  </pc:docChgLst>
  <pc:docChgLst>
    <pc:chgData name="Mohammad Dakhilallah Mohammad Alahmadi" userId="9b436a58-7297-423f-8410-66c59c69358a" providerId="ADAL" clId="{0C891518-FCFF-4403-9F39-41720AC2DDA9}"/>
    <pc:docChg chg="undo custSel modSld">
      <pc:chgData name="Mohammad Dakhilallah Mohammad Alahmadi" userId="9b436a58-7297-423f-8410-66c59c69358a" providerId="ADAL" clId="{0C891518-FCFF-4403-9F39-41720AC2DDA9}" dt="2023-09-09T20:02:00.199" v="15" actId="20577"/>
      <pc:docMkLst>
        <pc:docMk/>
      </pc:docMkLst>
      <pc:sldChg chg="modNotesTx">
        <pc:chgData name="Mohammad Dakhilallah Mohammad Alahmadi" userId="9b436a58-7297-423f-8410-66c59c69358a" providerId="ADAL" clId="{0C891518-FCFF-4403-9F39-41720AC2DDA9}" dt="2023-09-09T19:58:49.173" v="6" actId="20577"/>
        <pc:sldMkLst>
          <pc:docMk/>
          <pc:sldMk cId="251095777" sldId="415"/>
        </pc:sldMkLst>
      </pc:sldChg>
      <pc:sldChg chg="delSp mod">
        <pc:chgData name="Mohammad Dakhilallah Mohammad Alahmadi" userId="9b436a58-7297-423f-8410-66c59c69358a" providerId="ADAL" clId="{0C891518-FCFF-4403-9F39-41720AC2DDA9}" dt="2023-09-09T19:46:15.848" v="0" actId="478"/>
        <pc:sldMkLst>
          <pc:docMk/>
          <pc:sldMk cId="1076553011" sldId="416"/>
        </pc:sldMkLst>
        <pc:spChg chg="del">
          <ac:chgData name="Mohammad Dakhilallah Mohammad Alahmadi" userId="9b436a58-7297-423f-8410-66c59c69358a" providerId="ADAL" clId="{0C891518-FCFF-4403-9F39-41720AC2DDA9}" dt="2023-09-09T19:46:15.848" v="0" actId="478"/>
          <ac:spMkLst>
            <pc:docMk/>
            <pc:sldMk cId="1076553011" sldId="416"/>
            <ac:spMk id="6" creationId="{9195AACE-0FDE-EFF1-91A6-1ADF50E44F36}"/>
          </ac:spMkLst>
        </pc:spChg>
      </pc:sldChg>
      <pc:sldChg chg="modSp mod">
        <pc:chgData name="Mohammad Dakhilallah Mohammad Alahmadi" userId="9b436a58-7297-423f-8410-66c59c69358a" providerId="ADAL" clId="{0C891518-FCFF-4403-9F39-41720AC2DDA9}" dt="2023-09-09T20:00:38.421" v="11" actId="1036"/>
        <pc:sldMkLst>
          <pc:docMk/>
          <pc:sldMk cId="156507082" sldId="434"/>
        </pc:sldMkLst>
        <pc:spChg chg="mod">
          <ac:chgData name="Mohammad Dakhilallah Mohammad Alahmadi" userId="9b436a58-7297-423f-8410-66c59c69358a" providerId="ADAL" clId="{0C891518-FCFF-4403-9F39-41720AC2DDA9}" dt="2023-09-09T20:00:38.421" v="11" actId="1036"/>
          <ac:spMkLst>
            <pc:docMk/>
            <pc:sldMk cId="156507082" sldId="434"/>
            <ac:spMk id="6" creationId="{EB49F7D7-8A98-E1FA-4130-0A7174E5B1DE}"/>
          </ac:spMkLst>
        </pc:spChg>
      </pc:sldChg>
      <pc:sldChg chg="modSp mod">
        <pc:chgData name="Mohammad Dakhilallah Mohammad Alahmadi" userId="9b436a58-7297-423f-8410-66c59c69358a" providerId="ADAL" clId="{0C891518-FCFF-4403-9F39-41720AC2DDA9}" dt="2023-09-09T20:01:32.840" v="13" actId="14100"/>
        <pc:sldMkLst>
          <pc:docMk/>
          <pc:sldMk cId="1478326121" sldId="436"/>
        </pc:sldMkLst>
        <pc:spChg chg="mod">
          <ac:chgData name="Mohammad Dakhilallah Mohammad Alahmadi" userId="9b436a58-7297-423f-8410-66c59c69358a" providerId="ADAL" clId="{0C891518-FCFF-4403-9F39-41720AC2DDA9}" dt="2023-09-09T20:01:32.840" v="13" actId="14100"/>
          <ac:spMkLst>
            <pc:docMk/>
            <pc:sldMk cId="1478326121" sldId="436"/>
            <ac:spMk id="3" creationId="{D86D086A-336A-56E2-8EA1-6D560D820815}"/>
          </ac:spMkLst>
        </pc:spChg>
      </pc:sldChg>
      <pc:sldChg chg="modSp mod">
        <pc:chgData name="Mohammad Dakhilallah Mohammad Alahmadi" userId="9b436a58-7297-423f-8410-66c59c69358a" providerId="ADAL" clId="{0C891518-FCFF-4403-9F39-41720AC2DDA9}" dt="2023-09-09T20:02:00.199" v="15" actId="20577"/>
        <pc:sldMkLst>
          <pc:docMk/>
          <pc:sldMk cId="1589293789" sldId="437"/>
        </pc:sldMkLst>
        <pc:spChg chg="mod">
          <ac:chgData name="Mohammad Dakhilallah Mohammad Alahmadi" userId="9b436a58-7297-423f-8410-66c59c69358a" providerId="ADAL" clId="{0C891518-FCFF-4403-9F39-41720AC2DDA9}" dt="2023-09-09T20:02:00.199" v="15" actId="20577"/>
          <ac:spMkLst>
            <pc:docMk/>
            <pc:sldMk cId="1589293789" sldId="437"/>
            <ac:spMk id="3" creationId="{1554EE3F-095D-AEB8-5222-AE0FCB3517B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C8B844-FEB7-40E9-8905-10D1181F788D}" type="datetimeFigureOut">
              <a:rPr lang="en-US" smtClean="0"/>
              <a:t>9/9/2023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48F4A1-044F-45DC-A6AA-9EC3247C362C}" type="slidenum">
              <a:rPr lang="en-US" smtClean="0"/>
              <a:t>‹#›</a:t>
            </a:fld>
            <a:endParaRPr lang="en-US"/>
          </a:p>
        </p:txBody>
      </p:sp>
    </p:spTree>
    <p:extLst>
      <p:ext uri="{BB962C8B-B14F-4D97-AF65-F5344CB8AC3E}">
        <p14:creationId xmlns:p14="http://schemas.microsoft.com/office/powerpoint/2010/main" val="2990148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C9B6E0E-3217-4A19-A07B-3D01EE03876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3" name="Rectangle 3">
            <a:extLst>
              <a:ext uri="{FF2B5EF4-FFF2-40B4-BE49-F238E27FC236}">
                <a16:creationId xmlns:a16="http://schemas.microsoft.com/office/drawing/2014/main" id="{1FDB8EE8-7C53-490C-9686-35338E0B09C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Last Update: 22/8/2019</a:t>
            </a:r>
          </a:p>
          <a:p>
            <a:r>
              <a:rPr lang="en-US" altLang="en-US"/>
              <a:t>Version 1.0</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1" i="0" dirty="0">
                <a:effectLst/>
                <a:latin typeface="Söhne"/>
              </a:rPr>
              <a:t>Needlessly Proliferating: </a:t>
            </a:r>
            <a:r>
              <a:rPr lang="en-US" b="0" i="0" dirty="0">
                <a:solidFill>
                  <a:srgbClr val="374151"/>
                </a:solidFill>
                <a:effectLst/>
                <a:latin typeface="Söhne"/>
              </a:rPr>
              <a:t>complexity should not be allowed to grow or spread unnecessarily throughout the software system. In other words, it's important to avoid introducing complexity that doesn't provide significant value or is not required to address the problem at hand.</a:t>
            </a:r>
            <a:endParaRPr lang="en-US" dirty="0"/>
          </a:p>
        </p:txBody>
      </p:sp>
      <p:sp>
        <p:nvSpPr>
          <p:cNvPr id="4" name="Slide Number Placeholder 3"/>
          <p:cNvSpPr>
            <a:spLocks noGrp="1"/>
          </p:cNvSpPr>
          <p:nvPr>
            <p:ph type="sldNum" sz="quarter" idx="5"/>
          </p:nvPr>
        </p:nvSpPr>
        <p:spPr/>
        <p:txBody>
          <a:bodyPr/>
          <a:lstStyle/>
          <a:p>
            <a:fld id="{8248F4A1-044F-45DC-A6AA-9EC3247C362C}" type="slidenum">
              <a:rPr lang="en-US" smtClean="0"/>
              <a:t>7</a:t>
            </a:fld>
            <a:endParaRPr lang="en-US"/>
          </a:p>
        </p:txBody>
      </p:sp>
    </p:spTree>
    <p:extLst>
      <p:ext uri="{BB962C8B-B14F-4D97-AF65-F5344CB8AC3E}">
        <p14:creationId xmlns:p14="http://schemas.microsoft.com/office/powerpoint/2010/main" val="36438041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740" y="3183624"/>
            <a:ext cx="8380520" cy="1922733"/>
          </a:xfrm>
        </p:spPr>
        <p:txBody>
          <a:bodyPr anchor="b">
            <a:normAutofit/>
          </a:bodyPr>
          <a:lstStyle>
            <a:lvl1pPr algn="l">
              <a:lnSpc>
                <a:spcPct val="85000"/>
              </a:lnSpc>
              <a:defRPr sz="48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hasCustomPrompt="1"/>
          </p:nvPr>
        </p:nvSpPr>
        <p:spPr>
          <a:xfrm>
            <a:off x="381740" y="5236867"/>
            <a:ext cx="8380520" cy="1143000"/>
          </a:xfrm>
        </p:spPr>
        <p:txBody>
          <a:bodyPr lIns="91440" rIns="91440">
            <a:normAutofit/>
          </a:bodyPr>
          <a:lstStyle>
            <a:lvl1pPr marL="0" indent="0" algn="l">
              <a:buNone/>
              <a:defRPr sz="2400" cap="none"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a:xfrm>
            <a:off x="822961" y="6646272"/>
            <a:ext cx="1854203" cy="187517"/>
          </a:xfrm>
        </p:spPr>
        <p:txBody>
          <a:bodyPr/>
          <a:lstStyle/>
          <a:p>
            <a:fld id="{03C5C922-B9DD-9745-A816-802923AFBE71}" type="datetime1">
              <a:rPr lang="en-US" smtClean="0"/>
              <a:t>9/9/2023</a:t>
            </a:fld>
            <a:endParaRPr lang="en-US"/>
          </a:p>
        </p:txBody>
      </p:sp>
      <p:sp>
        <p:nvSpPr>
          <p:cNvPr id="5" name="Footer Placeholder 4"/>
          <p:cNvSpPr>
            <a:spLocks noGrp="1"/>
          </p:cNvSpPr>
          <p:nvPr>
            <p:ph type="ftr" sz="quarter" idx="11"/>
          </p:nvPr>
        </p:nvSpPr>
        <p:spPr>
          <a:xfrm>
            <a:off x="2764639" y="6646272"/>
            <a:ext cx="3617103" cy="187517"/>
          </a:xfrm>
        </p:spPr>
        <p:txBody>
          <a:bodyPr/>
          <a:lstStyle>
            <a:lvl1pPr>
              <a:defRPr cap="none"/>
            </a:lvl1pPr>
          </a:lstStyle>
          <a:p>
            <a:endParaRPr lang="en-US"/>
          </a:p>
        </p:txBody>
      </p:sp>
      <p:sp>
        <p:nvSpPr>
          <p:cNvPr id="6" name="Slide Number Placeholder 5"/>
          <p:cNvSpPr>
            <a:spLocks noGrp="1"/>
          </p:cNvSpPr>
          <p:nvPr>
            <p:ph type="sldNum" sz="quarter" idx="12"/>
          </p:nvPr>
        </p:nvSpPr>
        <p:spPr>
          <a:xfrm>
            <a:off x="7425344" y="6646272"/>
            <a:ext cx="984019" cy="187517"/>
          </a:xfrm>
        </p:spPr>
        <p:txBody>
          <a:bodyPr/>
          <a:lstStyle>
            <a:lvl1pPr>
              <a:defRPr b="1">
                <a:solidFill>
                  <a:schemeClr val="bg1"/>
                </a:solidFill>
              </a:defRPr>
            </a:lvl1pPr>
          </a:lstStyle>
          <a:p>
            <a:fld id="{9C8A9BBF-D171-497A-B4A2-0767A13C4597}" type="slidenum">
              <a:rPr lang="en-US" smtClean="0"/>
              <a:pPr/>
              <a:t>‹#›</a:t>
            </a:fld>
            <a:endParaRPr lang="en-US"/>
          </a:p>
        </p:txBody>
      </p:sp>
      <p:cxnSp>
        <p:nvCxnSpPr>
          <p:cNvPr id="9" name="Straight Connector 8"/>
          <p:cNvCxnSpPr>
            <a:cxnSpLocks/>
          </p:cNvCxnSpPr>
          <p:nvPr/>
        </p:nvCxnSpPr>
        <p:spPr>
          <a:xfrm flipV="1">
            <a:off x="381740" y="5106357"/>
            <a:ext cx="8380520" cy="18289"/>
          </a:xfrm>
          <a:prstGeom prst="line">
            <a:avLst/>
          </a:prstGeom>
          <a:ln w="38100">
            <a:solidFill>
              <a:srgbClr val="84CDEA"/>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11AE1EE2-4846-41F9-AC6B-D9834B0B3586}"/>
              </a:ext>
            </a:extLst>
          </p:cNvPr>
          <p:cNvCxnSpPr>
            <a:cxnSpLocks/>
          </p:cNvCxnSpPr>
          <p:nvPr/>
        </p:nvCxnSpPr>
        <p:spPr>
          <a:xfrm flipV="1">
            <a:off x="9129643" y="1"/>
            <a:ext cx="12147" cy="687476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11AE4F96-0037-4F43-91BD-25588C022845}"/>
              </a:ext>
            </a:extLst>
          </p:cNvPr>
          <p:cNvSpPr/>
          <p:nvPr userDrawn="1"/>
        </p:nvSpPr>
        <p:spPr>
          <a:xfrm>
            <a:off x="-14359" y="6646273"/>
            <a:ext cx="9144000" cy="237744"/>
          </a:xfrm>
          <a:prstGeom prst="rect">
            <a:avLst/>
          </a:prstGeom>
          <a:solidFill>
            <a:srgbClr val="0A4B67"/>
          </a:solidFill>
          <a:ln>
            <a:solidFill>
              <a:srgbClr val="0A4B67"/>
            </a:solid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BF5B4F-FC83-4FAA-82F0-2510D3F32F49}"/>
              </a:ext>
            </a:extLst>
          </p:cNvPr>
          <p:cNvSpPr/>
          <p:nvPr userDrawn="1"/>
        </p:nvSpPr>
        <p:spPr>
          <a:xfrm>
            <a:off x="-26504" y="6546958"/>
            <a:ext cx="9144001" cy="103220"/>
          </a:xfrm>
          <a:prstGeom prst="rect">
            <a:avLst/>
          </a:prstGeom>
          <a:solidFill>
            <a:srgbClr val="84CDEA"/>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cxnSp>
        <p:nvCxnSpPr>
          <p:cNvPr id="18" name="Straight Connector 17">
            <a:extLst>
              <a:ext uri="{FF2B5EF4-FFF2-40B4-BE49-F238E27FC236}">
                <a16:creationId xmlns:a16="http://schemas.microsoft.com/office/drawing/2014/main" id="{5F0B8816-EFF8-4E7C-AEC1-987D4EE648F1}"/>
              </a:ext>
            </a:extLst>
          </p:cNvPr>
          <p:cNvCxnSpPr>
            <a:cxnSpLocks/>
          </p:cNvCxnSpPr>
          <p:nvPr userDrawn="1"/>
        </p:nvCxnSpPr>
        <p:spPr>
          <a:xfrm flipH="1" flipV="1">
            <a:off x="-5932" y="0"/>
            <a:ext cx="3809" cy="685799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2B5B64A5-A6D5-4050-BAC4-E246829DF430}"/>
              </a:ext>
            </a:extLst>
          </p:cNvPr>
          <p:cNvCxnSpPr>
            <a:cxnSpLocks/>
          </p:cNvCxnSpPr>
          <p:nvPr userDrawn="1"/>
        </p:nvCxnSpPr>
        <p:spPr>
          <a:xfrm flipV="1">
            <a:off x="-32436" y="8261"/>
            <a:ext cx="9235440" cy="1"/>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pic>
        <p:nvPicPr>
          <p:cNvPr id="31" name="Picture 30" descr="Logo&#10;&#10;Description automatically generated">
            <a:extLst>
              <a:ext uri="{FF2B5EF4-FFF2-40B4-BE49-F238E27FC236}">
                <a16:creationId xmlns:a16="http://schemas.microsoft.com/office/drawing/2014/main" id="{370668AB-6B94-4243-A6A5-4EDC87C8B508}"/>
              </a:ext>
            </a:extLst>
          </p:cNvPr>
          <p:cNvPicPr>
            <a:picLocks noChangeAspect="1"/>
          </p:cNvPicPr>
          <p:nvPr userDrawn="1"/>
        </p:nvPicPr>
        <p:blipFill>
          <a:blip r:embed="rId3"/>
          <a:stretch>
            <a:fillRect/>
          </a:stretch>
        </p:blipFill>
        <p:spPr>
          <a:xfrm>
            <a:off x="3004824" y="46971"/>
            <a:ext cx="3278818" cy="2319734"/>
          </a:xfrm>
          <a:prstGeom prst="rect">
            <a:avLst/>
          </a:prstGeom>
        </p:spPr>
      </p:pic>
      <p:sp>
        <p:nvSpPr>
          <p:cNvPr id="32" name="TextBox 31">
            <a:extLst>
              <a:ext uri="{FF2B5EF4-FFF2-40B4-BE49-F238E27FC236}">
                <a16:creationId xmlns:a16="http://schemas.microsoft.com/office/drawing/2014/main" id="{A723C23A-9829-0C47-85AC-FD590BD245D5}"/>
              </a:ext>
            </a:extLst>
          </p:cNvPr>
          <p:cNvSpPr txBox="1"/>
          <p:nvPr userDrawn="1"/>
        </p:nvSpPr>
        <p:spPr>
          <a:xfrm>
            <a:off x="185737" y="852895"/>
            <a:ext cx="3278818" cy="707886"/>
          </a:xfrm>
          <a:prstGeom prst="rect">
            <a:avLst/>
          </a:prstGeom>
          <a:noFill/>
        </p:spPr>
        <p:txBody>
          <a:bodyPr wrap="square" rtlCol="0">
            <a:spAutoFit/>
          </a:bodyPr>
          <a:lstStyle/>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COLLAGE OF COMPUTER</a:t>
            </a:r>
          </a:p>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 SCIENCE &amp; ENGINEERING </a:t>
            </a:r>
          </a:p>
        </p:txBody>
      </p:sp>
      <p:cxnSp>
        <p:nvCxnSpPr>
          <p:cNvPr id="33" name="Straight Connector 32">
            <a:extLst>
              <a:ext uri="{FF2B5EF4-FFF2-40B4-BE49-F238E27FC236}">
                <a16:creationId xmlns:a16="http://schemas.microsoft.com/office/drawing/2014/main" id="{322341BA-F8B4-5440-8DF5-89AF9CF24FED}"/>
              </a:ext>
            </a:extLst>
          </p:cNvPr>
          <p:cNvCxnSpPr>
            <a:cxnSpLocks/>
          </p:cNvCxnSpPr>
          <p:nvPr userDrawn="1"/>
        </p:nvCxnSpPr>
        <p:spPr>
          <a:xfrm flipV="1">
            <a:off x="375762" y="1574983"/>
            <a:ext cx="2926080" cy="468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369ACA3-551E-D542-BD71-4881E6644B70}"/>
              </a:ext>
            </a:extLst>
          </p:cNvPr>
          <p:cNvSpPr txBox="1"/>
          <p:nvPr userDrawn="1"/>
        </p:nvSpPr>
        <p:spPr>
          <a:xfrm>
            <a:off x="-785970" y="1579097"/>
            <a:ext cx="5072063" cy="292388"/>
          </a:xfrm>
          <a:prstGeom prst="rect">
            <a:avLst/>
          </a:prstGeom>
          <a:noFill/>
        </p:spPr>
        <p:txBody>
          <a:bodyPr wrap="square" rtlCol="0">
            <a:spAutoFit/>
          </a:bodyPr>
          <a:lstStyle/>
          <a:p>
            <a:pPr marL="0" algn="ctr" defTabSz="914400" rtl="1" eaLnBrk="1" latinLnBrk="0" hangingPunct="1"/>
            <a:r>
              <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UNIVERSITY OF JEDDAH</a:t>
            </a:r>
          </a:p>
        </p:txBody>
      </p:sp>
      <p:sp>
        <p:nvSpPr>
          <p:cNvPr id="35" name="TextBox 34">
            <a:extLst>
              <a:ext uri="{FF2B5EF4-FFF2-40B4-BE49-F238E27FC236}">
                <a16:creationId xmlns:a16="http://schemas.microsoft.com/office/drawing/2014/main" id="{E72639E4-89B5-1D49-B470-747E56896B62}"/>
              </a:ext>
            </a:extLst>
          </p:cNvPr>
          <p:cNvSpPr txBox="1"/>
          <p:nvPr userDrawn="1"/>
        </p:nvSpPr>
        <p:spPr>
          <a:xfrm>
            <a:off x="5679447" y="865829"/>
            <a:ext cx="3278818" cy="707886"/>
          </a:xfrm>
          <a:prstGeom prst="rect">
            <a:avLst/>
          </a:prstGeom>
          <a:noFill/>
        </p:spPr>
        <p:txBody>
          <a:bodyPr wrap="square" rtlCol="0">
            <a:spAutoFit/>
          </a:bodyPr>
          <a:lstStyle/>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كــلـــية عــلــــــــــوم </a:t>
            </a:r>
          </a:p>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و هـنــدســـة الحـــــــاســــب</a:t>
            </a:r>
            <a:endPar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sp>
        <p:nvSpPr>
          <p:cNvPr id="36" name="TextBox 35">
            <a:extLst>
              <a:ext uri="{FF2B5EF4-FFF2-40B4-BE49-F238E27FC236}">
                <a16:creationId xmlns:a16="http://schemas.microsoft.com/office/drawing/2014/main" id="{36F4847C-B76C-6846-8360-9D2AD3FA67B2}"/>
              </a:ext>
            </a:extLst>
          </p:cNvPr>
          <p:cNvSpPr txBox="1"/>
          <p:nvPr userDrawn="1"/>
        </p:nvSpPr>
        <p:spPr>
          <a:xfrm>
            <a:off x="4782824" y="1579097"/>
            <a:ext cx="5072063" cy="292388"/>
          </a:xfrm>
          <a:prstGeom prst="rect">
            <a:avLst/>
          </a:prstGeom>
          <a:noFill/>
        </p:spPr>
        <p:txBody>
          <a:bodyPr wrap="square" rtlCol="0">
            <a:spAutoFit/>
          </a:bodyPr>
          <a:lstStyle/>
          <a:p>
            <a:pPr marL="0" algn="ctr" defTabSz="914400" rtl="1" eaLnBrk="1" latinLnBrk="0" hangingPunct="1"/>
            <a:r>
              <a:rPr lang="ar-SA"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جــــامعـــة جــــــــــــــدة </a:t>
            </a:r>
            <a:endPar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cxnSp>
        <p:nvCxnSpPr>
          <p:cNvPr id="37" name="Straight Connector 36">
            <a:extLst>
              <a:ext uri="{FF2B5EF4-FFF2-40B4-BE49-F238E27FC236}">
                <a16:creationId xmlns:a16="http://schemas.microsoft.com/office/drawing/2014/main" id="{73D420C2-74C6-E448-ABF8-408E3C156421}"/>
              </a:ext>
            </a:extLst>
          </p:cNvPr>
          <p:cNvCxnSpPr>
            <a:cxnSpLocks/>
          </p:cNvCxnSpPr>
          <p:nvPr userDrawn="1"/>
        </p:nvCxnSpPr>
        <p:spPr>
          <a:xfrm>
            <a:off x="5770786" y="1573715"/>
            <a:ext cx="301752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83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428B66AD-B9AD-6E48-A7F8-A3C7D94EDF8F}" type="datetime1">
              <a:rPr lang="en-US" smtClean="0"/>
              <a:t>9/9/2023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4CDEA"/>
              </a:buClr>
              <a:defRPr sz="2600">
                <a:solidFill>
                  <a:srgbClr val="565351"/>
                </a:solidFill>
              </a:defRPr>
            </a:lvl1pPr>
            <a:lvl2pPr>
              <a:buClr>
                <a:srgbClr val="565351"/>
              </a:buClr>
              <a:defRPr>
                <a:solidFill>
                  <a:srgbClr val="565351"/>
                </a:solidFill>
              </a:defRPr>
            </a:lvl2pPr>
            <a:lvl3pPr marL="731520" indent="-274320">
              <a:buClr>
                <a:srgbClr val="565351"/>
              </a:buClr>
              <a:buFont typeface="Wingdings" panose="05000000000000000000" pitchFamily="2" charset="2"/>
              <a:buChar char="§"/>
              <a:defRPr sz="2000">
                <a:solidFill>
                  <a:srgbClr val="565351"/>
                </a:solidFill>
              </a:defRPr>
            </a:lvl3pPr>
            <a:lvl4pPr marL="914400" indent="-274320">
              <a:buClr>
                <a:srgbClr val="565351"/>
              </a:buClr>
              <a:buFont typeface="Wingdings" panose="05000000000000000000" pitchFamily="2" charset="2"/>
              <a:buChar char="§"/>
              <a:defRPr sz="2000">
                <a:solidFill>
                  <a:srgbClr val="565351"/>
                </a:solidFill>
              </a:defRPr>
            </a:lvl4pPr>
            <a:lvl5pPr marL="1097280" indent="-274320">
              <a:buClr>
                <a:srgbClr val="565351"/>
              </a:buClr>
              <a:buFont typeface="Wingdings" panose="05000000000000000000" pitchFamily="2" charset="2"/>
              <a:buChar char="§"/>
              <a:defRPr sz="2000">
                <a:solidFill>
                  <a:srgbClr val="56535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4559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BBAECC06-C7D4-1747-9BAC-5ADF6973C413}" type="datetime1">
              <a:rPr lang="en-US" smtClean="0"/>
              <a:t>9/9/2023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8A6B1"/>
              </a:buClr>
              <a:defRPr sz="2600">
                <a:solidFill>
                  <a:srgbClr val="88A6B1"/>
                </a:solidFill>
              </a:defRPr>
            </a:lvl1pPr>
            <a:lvl2pPr>
              <a:buClr>
                <a:srgbClr val="88A6B1"/>
              </a:buClr>
              <a:defRPr>
                <a:solidFill>
                  <a:srgbClr val="88A6B1"/>
                </a:solidFill>
              </a:defRPr>
            </a:lvl2pPr>
            <a:lvl3pPr marL="731520" indent="-274320">
              <a:buClr>
                <a:srgbClr val="88A6B1"/>
              </a:buClr>
              <a:buFont typeface="Wingdings" panose="05000000000000000000" pitchFamily="2" charset="2"/>
              <a:buChar char="§"/>
              <a:defRPr sz="2000">
                <a:solidFill>
                  <a:srgbClr val="88A6B1"/>
                </a:solidFill>
              </a:defRPr>
            </a:lvl3pPr>
            <a:lvl4pPr marL="914400" indent="-274320">
              <a:buClr>
                <a:srgbClr val="88A6B1"/>
              </a:buClr>
              <a:buFont typeface="Wingdings" panose="05000000000000000000" pitchFamily="2" charset="2"/>
              <a:buChar char="§"/>
              <a:defRPr sz="2000">
                <a:solidFill>
                  <a:srgbClr val="88A6B1"/>
                </a:solidFill>
              </a:defRPr>
            </a:lvl4pPr>
            <a:lvl5pPr marL="1097280" indent="-274320">
              <a:buClr>
                <a:srgbClr val="88A6B1"/>
              </a:buClr>
              <a:buFont typeface="Wingdings" panose="05000000000000000000" pitchFamily="2" charset="2"/>
              <a:buChar char="§"/>
              <a:defRPr sz="2000">
                <a:solidFill>
                  <a:srgbClr val="88A6B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9183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16C63C-7E12-D040-9BFC-CED05FF7D470}" type="datetime1">
              <a:rPr lang="en-US" smtClean="0"/>
              <a:t>9/9/2023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4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p>
        </p:txBody>
      </p:sp>
      <p:sp>
        <p:nvSpPr>
          <p:cNvPr id="3" name="Content Placeholder 2"/>
          <p:cNvSpPr>
            <a:spLocks noGrp="1"/>
          </p:cNvSpPr>
          <p:nvPr>
            <p:ph sz="half" idx="1"/>
          </p:nvPr>
        </p:nvSpPr>
        <p:spPr>
          <a:xfrm>
            <a:off x="822960" y="1845734"/>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3440" y="1845735"/>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987DC-EF00-9844-8C8C-DB85411C810C}" type="datetime1">
              <a:rPr lang="en-US" smtClean="0"/>
              <a:t>9/9/2023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745288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15C23F-C598-3F49-9FE3-6071741BE353}" type="datetime1">
              <a:rPr lang="en-US" smtClean="0"/>
              <a:t>9/9/2023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19233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66BD12-5D01-AB4B-A157-4C071A505070}" type="datetime1">
              <a:rPr lang="en-US" smtClean="0"/>
              <a:t>9/9/2023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9915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CD5D1259-9E66-E241-B0DB-D3144AF5C20E}" type="datetime1">
              <a:rPr lang="en-US" smtClean="0"/>
              <a:t>9/9/2023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47562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A59F509-0EC8-5246-80F7-C95CE727AFCC}" type="datetime1">
              <a:rPr lang="en-US" smtClean="0"/>
              <a:t>9/9/2023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924215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rgbClr val="0A4B67"/>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6CBA62D3-B106-3146-B5B5-E66A18E804C2}" type="datetime1">
              <a:rPr lang="en-US" smtClean="0"/>
              <a:t>9/9/2023</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C8A9BBF-D171-497A-B4A2-0767A13C4597}" type="slidenum">
              <a:rPr lang="en-US" smtClean="0"/>
              <a:t>‹#›</a:t>
            </a:fld>
            <a:endParaRPr lang="en-US"/>
          </a:p>
        </p:txBody>
      </p:sp>
    </p:spTree>
    <p:extLst>
      <p:ext uri="{BB962C8B-B14F-4D97-AF65-F5344CB8AC3E}">
        <p14:creationId xmlns:p14="http://schemas.microsoft.com/office/powerpoint/2010/main" val="2444531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08B15B-E63B-A741-9DEA-9AA37D2B7DBF}" type="datetime1">
              <a:rPr lang="en-US" smtClean="0"/>
              <a:t>9/9/2023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4142510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489117-AA99-A343-9D72-6FCA37B5BE17}" type="datetime1">
              <a:rPr lang="en-US" smtClean="0"/>
              <a:t>9/9/2023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479478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2144E2-60F2-DF46-A244-D7B3522DD83D}" type="datetime1">
              <a:rPr lang="en-US" smtClean="0"/>
              <a:t>9/9/2023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38673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5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B5C5D66-23E7-0C4F-8B0A-A1C9C050780A}" type="datetime1">
              <a:rPr lang="en-US" smtClean="0"/>
              <a:t>9/9/2023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spTree>
    <p:extLst>
      <p:ext uri="{BB962C8B-B14F-4D97-AF65-F5344CB8AC3E}">
        <p14:creationId xmlns:p14="http://schemas.microsoft.com/office/powerpoint/2010/main" val="3543591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8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87DCCB30-1A6D-2E42-BCC5-3E80F21AA084}" type="datetime1">
              <a:rPr lang="en-US" smtClean="0"/>
              <a:t>9/9/2023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
        <p:nvSpPr>
          <p:cNvPr id="10" name="Text Placeholder 2">
            <a:extLst>
              <a:ext uri="{FF2B5EF4-FFF2-40B4-BE49-F238E27FC236}">
                <a16:creationId xmlns:a16="http://schemas.microsoft.com/office/drawing/2014/main" id="{6187854B-FEC4-4BF8-A3DE-39B0F5014508}"/>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buClr>
              <a:buFont typeface="Wingdings" panose="05000000000000000000" pitchFamily="2" charset="2"/>
              <a:buChar char="§"/>
              <a:defRPr sz="3200">
                <a:solidFill>
                  <a:schemeClr val="tx2"/>
                </a:solidFill>
                <a:latin typeface="+mj-lt"/>
              </a:defRPr>
            </a:lvl1pPr>
            <a:lvl2pPr marL="548640" indent="-274320">
              <a:buClr>
                <a:schemeClr val="accent2"/>
              </a:buClr>
              <a:buFont typeface="Wingdings" panose="05000000000000000000" pitchFamily="2" charset="2"/>
              <a:buChar char="§"/>
              <a:defRPr sz="2800">
                <a:solidFill>
                  <a:schemeClr val="tx2"/>
                </a:solidFill>
                <a:latin typeface="+mj-lt"/>
              </a:defRPr>
            </a:lvl2pPr>
            <a:lvl3pPr marL="731520" indent="-274320">
              <a:buClr>
                <a:schemeClr val="accent2"/>
              </a:buClr>
              <a:buFont typeface="Wingdings" panose="05000000000000000000" pitchFamily="2" charset="2"/>
              <a:buChar char="§"/>
              <a:defRPr sz="2000">
                <a:solidFill>
                  <a:schemeClr val="tx2"/>
                </a:solidFill>
                <a:latin typeface="+mj-lt"/>
              </a:defRPr>
            </a:lvl3pPr>
            <a:lvl4pPr marL="914400" indent="-274320">
              <a:buClr>
                <a:schemeClr val="accent2"/>
              </a:buClr>
              <a:buFont typeface="Wingdings" panose="05000000000000000000" pitchFamily="2" charset="2"/>
              <a:buChar char="§"/>
              <a:defRPr sz="2000">
                <a:solidFill>
                  <a:schemeClr val="tx2"/>
                </a:solidFill>
                <a:latin typeface="+mj-lt"/>
              </a:defRPr>
            </a:lvl4pPr>
            <a:lvl5pPr marL="1097280" indent="-274320">
              <a:buClr>
                <a:schemeClr val="accent2"/>
              </a:buClr>
              <a:buFont typeface="Wingdings" panose="05000000000000000000" pitchFamily="2" charset="2"/>
              <a:buChar char="§"/>
              <a:defRPr sz="2000">
                <a:solidFill>
                  <a:schemeClr val="tx2"/>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0302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9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E28DCBF6-F73E-B844-90B5-BA38F3F93D1B}" type="datetime1">
              <a:rPr lang="en-US" smtClean="0"/>
              <a:t>9/9/2023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E83D2542-5A33-4E2C-863D-145C35640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Tree>
    <p:extLst>
      <p:ext uri="{BB962C8B-B14F-4D97-AF65-F5344CB8AC3E}">
        <p14:creationId xmlns:p14="http://schemas.microsoft.com/office/powerpoint/2010/main" val="3417299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E5CE842-8249-8A43-8E1B-D93301EA5234}" type="datetime1">
              <a:rPr lang="en-US" smtClean="0"/>
              <a:t>9/9/2023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29EAA3A6-8930-4E04-BD7A-70348C3D39E6}"/>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98352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6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4AD75E8-E6D9-3E42-B3C2-280D09D847BE}" type="datetime1">
              <a:rPr lang="en-US" smtClean="0"/>
              <a:t>9/9/2023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92FE125C-DA19-42DA-8C07-FA8039F511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744223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9107F6D-1FE4-8A49-840F-5919ACFA3FD0}" type="datetime1">
              <a:rPr lang="en-US" smtClean="0"/>
              <a:t>9/9/2023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98729288-CC54-4647-B966-CF553EF13B92}"/>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83427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7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78A0CE7-1A78-B749-A181-0CB124262D26}" type="datetime1">
              <a:rPr lang="en-US" smtClean="0"/>
              <a:t>9/9/2023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39FF6332-602A-4C2A-BD1E-7565ECDF5B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1812436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a:t>Click to edit Master title style</a:t>
            </a:r>
          </a:p>
        </p:txBody>
      </p:sp>
      <p:sp>
        <p:nvSpPr>
          <p:cNvPr id="4" name="Date Placeholder 3"/>
          <p:cNvSpPr>
            <a:spLocks noGrp="1"/>
          </p:cNvSpPr>
          <p:nvPr>
            <p:ph type="dt" sz="half" idx="10"/>
          </p:nvPr>
        </p:nvSpPr>
        <p:spPr/>
        <p:txBody>
          <a:bodyPr/>
          <a:lstStyle/>
          <a:p>
            <a:fld id="{D78EB7BC-403A-8A44-A663-FD167E87AE44}" type="datetime1">
              <a:rPr lang="en-US" smtClean="0"/>
              <a:t>9/9/2023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066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5E94D-AB62-E84E-A49C-DD6A8F51C491}"/>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6548DE-348F-0D44-8485-97F299E5886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E26162-1B8D-B748-8A10-BD7FD12FEF3C}"/>
              </a:ext>
            </a:extLst>
          </p:cNvPr>
          <p:cNvSpPr>
            <a:spLocks noGrp="1"/>
          </p:cNvSpPr>
          <p:nvPr>
            <p:ph type="dt" sz="half" idx="10"/>
          </p:nvPr>
        </p:nvSpPr>
        <p:spPr/>
        <p:txBody>
          <a:bodyPr/>
          <a:lstStyle/>
          <a:p>
            <a:fld id="{82D7B2BE-DDF3-6D43-A226-4CE36737DFF8}" type="datetime1">
              <a:rPr lang="en-US" smtClean="0"/>
              <a:t>9/9/2023</a:t>
            </a:fld>
            <a:endParaRPr lang="en-US"/>
          </a:p>
        </p:txBody>
      </p:sp>
      <p:sp>
        <p:nvSpPr>
          <p:cNvPr id="5" name="Footer Placeholder 4">
            <a:extLst>
              <a:ext uri="{FF2B5EF4-FFF2-40B4-BE49-F238E27FC236}">
                <a16:creationId xmlns:a16="http://schemas.microsoft.com/office/drawing/2014/main" id="{976D9D1D-9864-8648-83E4-1D8B62B21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6507A0-C8CD-5445-9AEE-B23C377C4F0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1757908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B906-B07C-7D41-AC4D-750B959C9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DD5779-8D81-7849-8E67-83ECBF60F3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8AA4F1-7B19-0240-B7F8-1BDF7D6347D9}"/>
              </a:ext>
            </a:extLst>
          </p:cNvPr>
          <p:cNvSpPr>
            <a:spLocks noGrp="1"/>
          </p:cNvSpPr>
          <p:nvPr>
            <p:ph type="dt" sz="half" idx="10"/>
          </p:nvPr>
        </p:nvSpPr>
        <p:spPr/>
        <p:txBody>
          <a:bodyPr/>
          <a:lstStyle/>
          <a:p>
            <a:fld id="{DB27A88B-F2DD-3743-8F57-25E5E92043B0}" type="datetime1">
              <a:rPr lang="en-US" smtClean="0"/>
              <a:t>9/9/2023</a:t>
            </a:fld>
            <a:endParaRPr lang="en-US"/>
          </a:p>
        </p:txBody>
      </p:sp>
      <p:sp>
        <p:nvSpPr>
          <p:cNvPr id="5" name="Footer Placeholder 4">
            <a:extLst>
              <a:ext uri="{FF2B5EF4-FFF2-40B4-BE49-F238E27FC236}">
                <a16:creationId xmlns:a16="http://schemas.microsoft.com/office/drawing/2014/main" id="{E5414F5D-4D50-5A4A-91C9-B5B4F1451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2065B-EF6D-5B4A-8E62-EAFF67B71788}"/>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200125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E47D-172F-034A-8698-73581C856F4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3A576A-13DD-034D-9029-CC506C79F0F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14F2D7-B746-2842-8F52-519E07CFBA07}"/>
              </a:ext>
            </a:extLst>
          </p:cNvPr>
          <p:cNvSpPr>
            <a:spLocks noGrp="1"/>
          </p:cNvSpPr>
          <p:nvPr>
            <p:ph type="dt" sz="half" idx="10"/>
          </p:nvPr>
        </p:nvSpPr>
        <p:spPr/>
        <p:txBody>
          <a:bodyPr/>
          <a:lstStyle/>
          <a:p>
            <a:fld id="{AEDA15C4-E8CB-C04F-BC65-CB0837703214}" type="datetime1">
              <a:rPr lang="en-US" smtClean="0"/>
              <a:t>9/9/2023</a:t>
            </a:fld>
            <a:endParaRPr lang="en-US"/>
          </a:p>
        </p:txBody>
      </p:sp>
      <p:sp>
        <p:nvSpPr>
          <p:cNvPr id="5" name="Footer Placeholder 4">
            <a:extLst>
              <a:ext uri="{FF2B5EF4-FFF2-40B4-BE49-F238E27FC236}">
                <a16:creationId xmlns:a16="http://schemas.microsoft.com/office/drawing/2014/main" id="{EF7E68B1-5017-E64D-9D8C-C1341A22E3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262E6-3D1E-2D4B-B7BC-0A7197BAA87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578749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4806B-ED8B-CC4E-A51A-6CDCADC964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299E7B-D87E-CA4D-A578-EBDC0C47E881}"/>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F5550-A328-154E-8FA0-3793746FBC49}"/>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74ED10-64BB-9144-9B71-07151AB520AC}"/>
              </a:ext>
            </a:extLst>
          </p:cNvPr>
          <p:cNvSpPr>
            <a:spLocks noGrp="1"/>
          </p:cNvSpPr>
          <p:nvPr>
            <p:ph type="dt" sz="half" idx="10"/>
          </p:nvPr>
        </p:nvSpPr>
        <p:spPr/>
        <p:txBody>
          <a:bodyPr/>
          <a:lstStyle/>
          <a:p>
            <a:fld id="{85089F18-38DA-0947-9593-25D4010703FB}" type="datetime1">
              <a:rPr lang="en-US" smtClean="0"/>
              <a:t>9/9/2023</a:t>
            </a:fld>
            <a:endParaRPr lang="en-US"/>
          </a:p>
        </p:txBody>
      </p:sp>
      <p:sp>
        <p:nvSpPr>
          <p:cNvPr id="6" name="Footer Placeholder 5">
            <a:extLst>
              <a:ext uri="{FF2B5EF4-FFF2-40B4-BE49-F238E27FC236}">
                <a16:creationId xmlns:a16="http://schemas.microsoft.com/office/drawing/2014/main" id="{25A7A753-FB3D-094E-A536-0484A8BE2B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AA6079-FE42-C140-9B28-ED67471AE867}"/>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853470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784D0-75F5-CD41-9AEF-CB198A0D97E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7D959F-E739-F542-8EBA-7BBF7E5A363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65DF34-2D6B-454C-BFDA-F81C29E7822E}"/>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658768-2FB0-D847-83EE-654C76812F8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A27B69-16F8-C048-9335-D0E599CA22E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98362-01EA-604E-BA80-BC012B7FAA68}"/>
              </a:ext>
            </a:extLst>
          </p:cNvPr>
          <p:cNvSpPr>
            <a:spLocks noGrp="1"/>
          </p:cNvSpPr>
          <p:nvPr>
            <p:ph type="dt" sz="half" idx="10"/>
          </p:nvPr>
        </p:nvSpPr>
        <p:spPr/>
        <p:txBody>
          <a:bodyPr/>
          <a:lstStyle/>
          <a:p>
            <a:fld id="{ED9A19EE-DABD-FF45-9B3D-868C2008B2F5}" type="datetime1">
              <a:rPr lang="en-US" smtClean="0"/>
              <a:t>9/9/2023</a:t>
            </a:fld>
            <a:endParaRPr lang="en-US"/>
          </a:p>
        </p:txBody>
      </p:sp>
      <p:sp>
        <p:nvSpPr>
          <p:cNvPr id="8" name="Footer Placeholder 7">
            <a:extLst>
              <a:ext uri="{FF2B5EF4-FFF2-40B4-BE49-F238E27FC236}">
                <a16:creationId xmlns:a16="http://schemas.microsoft.com/office/drawing/2014/main" id="{3D58B9EA-23BB-BD43-AE55-BD94F3A70B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7FEF2B-07B5-9C42-B58D-B5FF51C4990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012097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CC87-431B-E24A-86AB-554B550FA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6090D8-3391-5741-87F5-2BCDB8997B8A}"/>
              </a:ext>
            </a:extLst>
          </p:cNvPr>
          <p:cNvSpPr>
            <a:spLocks noGrp="1"/>
          </p:cNvSpPr>
          <p:nvPr>
            <p:ph type="dt" sz="half" idx="10"/>
          </p:nvPr>
        </p:nvSpPr>
        <p:spPr/>
        <p:txBody>
          <a:bodyPr/>
          <a:lstStyle/>
          <a:p>
            <a:fld id="{E7C58DD7-86D3-9543-A3F5-DCAC5C3EC996}" type="datetime1">
              <a:rPr lang="en-US" smtClean="0"/>
              <a:t>9/9/2023</a:t>
            </a:fld>
            <a:endParaRPr lang="en-US"/>
          </a:p>
        </p:txBody>
      </p:sp>
      <p:sp>
        <p:nvSpPr>
          <p:cNvPr id="4" name="Footer Placeholder 3">
            <a:extLst>
              <a:ext uri="{FF2B5EF4-FFF2-40B4-BE49-F238E27FC236}">
                <a16:creationId xmlns:a16="http://schemas.microsoft.com/office/drawing/2014/main" id="{0B09D265-B6E2-2540-8068-45F6C7B8AD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A30A8C-D91D-2A49-8733-39D5374D66A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940768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29DEDE-71EE-4448-AE52-7A3240E2492C}"/>
              </a:ext>
            </a:extLst>
          </p:cNvPr>
          <p:cNvSpPr>
            <a:spLocks noGrp="1"/>
          </p:cNvSpPr>
          <p:nvPr>
            <p:ph type="dt" sz="half" idx="10"/>
          </p:nvPr>
        </p:nvSpPr>
        <p:spPr/>
        <p:txBody>
          <a:bodyPr/>
          <a:lstStyle/>
          <a:p>
            <a:fld id="{49838251-72EC-7341-947D-39CD70D3F6EE}" type="datetime1">
              <a:rPr lang="en-US" smtClean="0"/>
              <a:t>9/9/2023</a:t>
            </a:fld>
            <a:endParaRPr lang="en-US"/>
          </a:p>
        </p:txBody>
      </p:sp>
      <p:sp>
        <p:nvSpPr>
          <p:cNvPr id="3" name="Footer Placeholder 2">
            <a:extLst>
              <a:ext uri="{FF2B5EF4-FFF2-40B4-BE49-F238E27FC236}">
                <a16:creationId xmlns:a16="http://schemas.microsoft.com/office/drawing/2014/main" id="{421F8A0A-B7DA-2E41-ADC9-3BA00052CA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CDFF72-3DFA-5443-B19A-D882B4A1822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200609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B2A5-8463-0E45-B968-09BB46EEE82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192249-8B24-044B-B428-FDF53269423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15850F-41D2-C244-BE67-588A22885AA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A0BA6-7607-1841-ADE7-A7EE8626370B}"/>
              </a:ext>
            </a:extLst>
          </p:cNvPr>
          <p:cNvSpPr>
            <a:spLocks noGrp="1"/>
          </p:cNvSpPr>
          <p:nvPr>
            <p:ph type="dt" sz="half" idx="10"/>
          </p:nvPr>
        </p:nvSpPr>
        <p:spPr/>
        <p:txBody>
          <a:bodyPr/>
          <a:lstStyle/>
          <a:p>
            <a:fld id="{9B2151BF-94DA-6647-804B-F9A617163AF7}" type="datetime1">
              <a:rPr lang="en-US" smtClean="0"/>
              <a:t>9/9/2023</a:t>
            </a:fld>
            <a:endParaRPr lang="en-US"/>
          </a:p>
        </p:txBody>
      </p:sp>
      <p:sp>
        <p:nvSpPr>
          <p:cNvPr id="6" name="Footer Placeholder 5">
            <a:extLst>
              <a:ext uri="{FF2B5EF4-FFF2-40B4-BE49-F238E27FC236}">
                <a16:creationId xmlns:a16="http://schemas.microsoft.com/office/drawing/2014/main" id="{DFE0F34D-E7B8-8F4E-B279-A9B4F79966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03CD8-B992-1746-AD26-32A76C36211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11640867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28A51-10EF-1E4E-B3AE-97D9690F525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7A29CC-C524-664A-B04C-24A0F0002BDD}"/>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577383-80F2-974A-95B0-54EE043F0E6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34A7CE-0B2C-F846-AE0D-E9A65F195F76}"/>
              </a:ext>
            </a:extLst>
          </p:cNvPr>
          <p:cNvSpPr>
            <a:spLocks noGrp="1"/>
          </p:cNvSpPr>
          <p:nvPr>
            <p:ph type="dt" sz="half" idx="10"/>
          </p:nvPr>
        </p:nvSpPr>
        <p:spPr/>
        <p:txBody>
          <a:bodyPr/>
          <a:lstStyle/>
          <a:p>
            <a:fld id="{F415CF65-8B95-E947-B306-AD8B9AFCD0C6}" type="datetime1">
              <a:rPr lang="en-US" smtClean="0"/>
              <a:t>9/9/2023</a:t>
            </a:fld>
            <a:endParaRPr lang="en-US"/>
          </a:p>
        </p:txBody>
      </p:sp>
      <p:sp>
        <p:nvSpPr>
          <p:cNvPr id="6" name="Footer Placeholder 5">
            <a:extLst>
              <a:ext uri="{FF2B5EF4-FFF2-40B4-BE49-F238E27FC236}">
                <a16:creationId xmlns:a16="http://schemas.microsoft.com/office/drawing/2014/main" id="{CE700DF7-CAE7-4544-99A8-D2AFF7BCD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F912A-35AA-5340-A6DD-8CF8567AE1D6}"/>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8520032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B558E-261E-0D48-AAEC-0159545C57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D54A8B-8EB9-5C42-9CFC-A1CD5690D0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FD7EA-1D89-9B45-8E3B-F3D971FCC324}"/>
              </a:ext>
            </a:extLst>
          </p:cNvPr>
          <p:cNvSpPr>
            <a:spLocks noGrp="1"/>
          </p:cNvSpPr>
          <p:nvPr>
            <p:ph type="dt" sz="half" idx="10"/>
          </p:nvPr>
        </p:nvSpPr>
        <p:spPr/>
        <p:txBody>
          <a:bodyPr/>
          <a:lstStyle/>
          <a:p>
            <a:fld id="{45E326F1-4A6C-904D-BBF5-55A97190C62E}" type="datetime1">
              <a:rPr lang="en-US" smtClean="0"/>
              <a:t>9/9/2023</a:t>
            </a:fld>
            <a:endParaRPr lang="en-US"/>
          </a:p>
        </p:txBody>
      </p:sp>
      <p:sp>
        <p:nvSpPr>
          <p:cNvPr id="5" name="Footer Placeholder 4">
            <a:extLst>
              <a:ext uri="{FF2B5EF4-FFF2-40B4-BE49-F238E27FC236}">
                <a16:creationId xmlns:a16="http://schemas.microsoft.com/office/drawing/2014/main" id="{6702F157-B4BF-0D4E-B227-367844B9F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EC4DCA-8C92-2F4C-A77F-2E1AE3CFFFD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6943632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138E10-25D9-0841-B84C-B3D5BD26BED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76578-CBA7-4146-881E-E79B341102C1}"/>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64126B-1DBB-F445-849E-8DB3041D5DDF}"/>
              </a:ext>
            </a:extLst>
          </p:cNvPr>
          <p:cNvSpPr>
            <a:spLocks noGrp="1"/>
          </p:cNvSpPr>
          <p:nvPr>
            <p:ph type="dt" sz="half" idx="10"/>
          </p:nvPr>
        </p:nvSpPr>
        <p:spPr/>
        <p:txBody>
          <a:bodyPr/>
          <a:lstStyle/>
          <a:p>
            <a:fld id="{5D62DA29-4527-5B4B-81DE-1DA58A1FF0D8}" type="datetime1">
              <a:rPr lang="en-US" smtClean="0"/>
              <a:t>9/9/2023</a:t>
            </a:fld>
            <a:endParaRPr lang="en-US"/>
          </a:p>
        </p:txBody>
      </p:sp>
      <p:sp>
        <p:nvSpPr>
          <p:cNvPr id="5" name="Footer Placeholder 4">
            <a:extLst>
              <a:ext uri="{FF2B5EF4-FFF2-40B4-BE49-F238E27FC236}">
                <a16:creationId xmlns:a16="http://schemas.microsoft.com/office/drawing/2014/main" id="{9330BA6C-D326-CC45-B516-B35C216BCD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A96C6D-88A9-424F-B97B-5F788E3BD38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94294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646272"/>
            <a:ext cx="9144001" cy="220605"/>
          </a:xfrm>
          <a:prstGeom prst="rect">
            <a:avLst/>
          </a:prstGeom>
          <a:solidFill>
            <a:srgbClr val="0A4B6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604458"/>
            <a:ext cx="9144001" cy="45719"/>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6304" y="115826"/>
            <a:ext cx="8851392" cy="1292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2961" y="6646272"/>
            <a:ext cx="1854203" cy="187517"/>
          </a:xfrm>
          <a:prstGeom prst="rect">
            <a:avLst/>
          </a:prstGeom>
        </p:spPr>
        <p:txBody>
          <a:bodyPr vert="horz" lIns="91440" tIns="45720" rIns="91440" bIns="45720" rtlCol="0" anchor="ctr"/>
          <a:lstStyle>
            <a:lvl1pPr algn="l">
              <a:defRPr sz="900">
                <a:solidFill>
                  <a:srgbClr val="FFFFFF"/>
                </a:solidFill>
              </a:defRPr>
            </a:lvl1pPr>
          </a:lstStyle>
          <a:p>
            <a:fld id="{5446D974-CBC7-EE4D-B60D-B7706E54EFC8}" type="datetime1">
              <a:rPr lang="en-US" smtClean="0"/>
              <a:t>9/9/2023</a:t>
            </a:fld>
            <a:endParaRPr lang="en-US"/>
          </a:p>
        </p:txBody>
      </p:sp>
      <p:sp>
        <p:nvSpPr>
          <p:cNvPr id="5" name="Footer Placeholder 4"/>
          <p:cNvSpPr>
            <a:spLocks noGrp="1"/>
          </p:cNvSpPr>
          <p:nvPr>
            <p:ph type="ftr" sz="quarter" idx="3"/>
          </p:nvPr>
        </p:nvSpPr>
        <p:spPr>
          <a:xfrm>
            <a:off x="2764639" y="6646272"/>
            <a:ext cx="3617103" cy="187517"/>
          </a:xfrm>
          <a:prstGeom prst="rect">
            <a:avLst/>
          </a:prstGeom>
        </p:spPr>
        <p:txBody>
          <a:bodyPr vert="horz" lIns="91440" tIns="45720" rIns="91440" bIns="45720" rtlCol="0" anchor="ctr"/>
          <a:lstStyle>
            <a:lvl1pPr algn="ctr">
              <a:defRPr sz="800" cap="none"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646272"/>
            <a:ext cx="984019" cy="187517"/>
          </a:xfrm>
          <a:prstGeom prst="rect">
            <a:avLst/>
          </a:prstGeom>
        </p:spPr>
        <p:txBody>
          <a:bodyPr vert="horz" lIns="91440" tIns="45720" rIns="91440" bIns="45720" rtlCol="0" anchor="ctr"/>
          <a:lstStyle>
            <a:lvl1pPr algn="r">
              <a:defRPr sz="1050" b="1">
                <a:solidFill>
                  <a:schemeClr val="bg1"/>
                </a:solidFill>
              </a:defRPr>
            </a:lvl1pPr>
          </a:lstStyle>
          <a:p>
            <a:fld id="{9C8A9BBF-D171-497A-B4A2-0767A13C4597}" type="slidenum">
              <a:rPr lang="en-US" smtClean="0"/>
              <a:pPr/>
              <a:t>‹#›</a:t>
            </a:fld>
            <a:endParaRPr lang="en-US"/>
          </a:p>
        </p:txBody>
      </p:sp>
    </p:spTree>
    <p:extLst>
      <p:ext uri="{BB962C8B-B14F-4D97-AF65-F5344CB8AC3E}">
        <p14:creationId xmlns:p14="http://schemas.microsoft.com/office/powerpoint/2010/main" val="156809917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50" r:id="rId14"/>
    <p:sldLayoutId id="2147483751" r:id="rId15"/>
    <p:sldLayoutId id="2147483752" r:id="rId16"/>
    <p:sldLayoutId id="2147483753" r:id="rId17"/>
    <p:sldLayoutId id="2147483754" r:id="rId18"/>
    <p:sldLayoutId id="2147483755" r:id="rId19"/>
    <p:sldLayoutId id="2147483756" r:id="rId20"/>
    <p:sldLayoutId id="2147483689" r:id="rId21"/>
  </p:sldLayoutIdLst>
  <p:hf hdr="0" ftr="0" dt="0"/>
  <p:txStyles>
    <p:titleStyle>
      <a:lvl1pPr algn="ctr" defTabSz="914400" rtl="0" eaLnBrk="1" latinLnBrk="0" hangingPunct="1">
        <a:lnSpc>
          <a:spcPct val="85000"/>
        </a:lnSpc>
        <a:spcBef>
          <a:spcPct val="0"/>
        </a:spcBef>
        <a:buNone/>
        <a:defRPr sz="4400" b="0" kern="1200" spc="-50" baseline="0">
          <a:solidFill>
            <a:schemeClr val="tx2"/>
          </a:solidFill>
          <a:latin typeface="+mj-lt"/>
          <a:ea typeface="+mj-ea"/>
          <a:cs typeface="+mj-cs"/>
        </a:defRPr>
      </a:lvl1pPr>
    </p:titleStyle>
    <p:bodyStyle>
      <a:lvl1pPr marL="365760" indent="-274320" algn="justLow"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F2B942-B92A-2E45-8EC0-57867F6F01EB}"/>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3A5CF6-438F-FE41-AE0D-B759171B0C6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ADD81B-544C-D244-83E4-4E486AE7EECA}"/>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589413-073D-8B47-B309-030A36FC1175}" type="datetime1">
              <a:rPr lang="en-US" smtClean="0"/>
              <a:t>9/9/2023</a:t>
            </a:fld>
            <a:endParaRPr lang="en-US"/>
          </a:p>
        </p:txBody>
      </p:sp>
      <p:sp>
        <p:nvSpPr>
          <p:cNvPr id="5" name="Footer Placeholder 4">
            <a:extLst>
              <a:ext uri="{FF2B5EF4-FFF2-40B4-BE49-F238E27FC236}">
                <a16:creationId xmlns:a16="http://schemas.microsoft.com/office/drawing/2014/main" id="{10E8B353-9F5D-7C4C-9D19-B7C6D6F6A2A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2C5F08-BBA1-684A-BFC9-EF43E5A8A4B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D5DC26-60E4-8E43-A906-D21F61161A83}" type="slidenum">
              <a:rPr lang="en-US" smtClean="0"/>
              <a:t>‹#›</a:t>
            </a:fld>
            <a:endParaRPr lang="en-US"/>
          </a:p>
        </p:txBody>
      </p:sp>
    </p:spTree>
    <p:extLst>
      <p:ext uri="{BB962C8B-B14F-4D97-AF65-F5344CB8AC3E}">
        <p14:creationId xmlns:p14="http://schemas.microsoft.com/office/powerpoint/2010/main" val="240727111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jpeg"/><Relationship Id="rId3" Type="http://schemas.openxmlformats.org/officeDocument/2006/relationships/image" Target="../media/image12.jpeg"/><Relationship Id="rId7" Type="http://schemas.openxmlformats.org/officeDocument/2006/relationships/image" Target="../media/image16.png"/><Relationship Id="rId12" Type="http://schemas.openxmlformats.org/officeDocument/2006/relationships/image" Target="../media/image21.jpeg"/><Relationship Id="rId2" Type="http://schemas.openxmlformats.org/officeDocument/2006/relationships/image" Target="../media/image11.jpeg"/><Relationship Id="rId1" Type="http://schemas.openxmlformats.org/officeDocument/2006/relationships/slideLayout" Target="../slideLayouts/slideLayout5.xml"/><Relationship Id="rId6" Type="http://schemas.openxmlformats.org/officeDocument/2006/relationships/image" Target="../media/image15.jpeg"/><Relationship Id="rId11" Type="http://schemas.openxmlformats.org/officeDocument/2006/relationships/image" Target="../media/image20.png"/><Relationship Id="rId5" Type="http://schemas.openxmlformats.org/officeDocument/2006/relationships/image" Target="../media/image14.jpeg"/><Relationship Id="rId10" Type="http://schemas.openxmlformats.org/officeDocument/2006/relationships/image" Target="../media/image19.png"/><Relationship Id="rId4" Type="http://schemas.openxmlformats.org/officeDocument/2006/relationships/image" Target="../media/image13.jpe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5.xml"/><Relationship Id="rId4" Type="http://schemas.openxmlformats.org/officeDocument/2006/relationships/image" Target="../media/image25.jpeg"/></Relationships>
</file>

<file path=ppt/slides/_rels/slide1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F092033-53A0-4557-BC8C-EDF7C4004F50}"/>
              </a:ext>
            </a:extLst>
          </p:cNvPr>
          <p:cNvSpPr>
            <a:spLocks noGrp="1" noChangeArrowheads="1"/>
          </p:cNvSpPr>
          <p:nvPr>
            <p:ph type="ctrTitle"/>
          </p:nvPr>
        </p:nvSpPr>
        <p:spPr/>
        <p:txBody>
          <a:bodyPr>
            <a:normAutofit/>
          </a:bodyPr>
          <a:lstStyle/>
          <a:p>
            <a:r>
              <a:rPr lang="en-US" altLang="en-US" b="1" dirty="0">
                <a:solidFill>
                  <a:schemeClr val="tx1"/>
                </a:solidFill>
              </a:rPr>
              <a:t>Chapter  2.2</a:t>
            </a:r>
            <a:br>
              <a:rPr lang="en-US" altLang="en-US" b="1" dirty="0">
                <a:solidFill>
                  <a:schemeClr val="tx1"/>
                </a:solidFill>
                <a:cs typeface="Calibri Light"/>
              </a:rPr>
            </a:br>
            <a:r>
              <a:rPr lang="en-US" altLang="en-US" b="1" dirty="0">
                <a:solidFill>
                  <a:schemeClr val="tx1"/>
                </a:solidFill>
              </a:rPr>
              <a:t>Creating High-Quality Code</a:t>
            </a:r>
            <a:endParaRPr lang="en-US" altLang="en-US" b="1" dirty="0">
              <a:solidFill>
                <a:schemeClr val="tx1"/>
              </a:solidFill>
              <a:cs typeface="Calibri Light"/>
            </a:endParaRPr>
          </a:p>
        </p:txBody>
      </p:sp>
      <p:sp>
        <p:nvSpPr>
          <p:cNvPr id="4099" name="Subtitle 3">
            <a:extLst>
              <a:ext uri="{FF2B5EF4-FFF2-40B4-BE49-F238E27FC236}">
                <a16:creationId xmlns:a16="http://schemas.microsoft.com/office/drawing/2014/main" id="{B6B8808F-B611-4A7E-94DA-CDF020C7794F}"/>
              </a:ext>
            </a:extLst>
          </p:cNvPr>
          <p:cNvSpPr>
            <a:spLocks noGrp="1" noChangeArrowheads="1"/>
          </p:cNvSpPr>
          <p:nvPr>
            <p:ph type="subTitle" idx="1"/>
          </p:nvPr>
        </p:nvSpPr>
        <p:spPr/>
        <p:txBody>
          <a:bodyPr/>
          <a:lstStyle/>
          <a:p>
            <a:r>
              <a:rPr lang="en-US" altLang="en-US" b="1" dirty="0">
                <a:solidFill>
                  <a:srgbClr val="6E96A2"/>
                </a:solidFill>
              </a:rPr>
              <a:t>CCSW 325 (Software Construction)</a:t>
            </a:r>
          </a:p>
        </p:txBody>
      </p:sp>
      <p:sp>
        <p:nvSpPr>
          <p:cNvPr id="4101" name="Rectangle 6">
            <a:extLst>
              <a:ext uri="{FF2B5EF4-FFF2-40B4-BE49-F238E27FC236}">
                <a16:creationId xmlns:a16="http://schemas.microsoft.com/office/drawing/2014/main" id="{AEE57C53-6C77-4FD6-9666-64A46DD2907C}"/>
              </a:ext>
            </a:extLst>
          </p:cNvPr>
          <p:cNvSpPr>
            <a:spLocks noChangeArrowheads="1"/>
          </p:cNvSpPr>
          <p:nvPr/>
        </p:nvSpPr>
        <p:spPr bwMode="auto">
          <a:xfrm>
            <a:off x="3052763" y="2057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2" name="Rectangle 1029">
            <a:extLst>
              <a:ext uri="{FF2B5EF4-FFF2-40B4-BE49-F238E27FC236}">
                <a16:creationId xmlns:a16="http://schemas.microsoft.com/office/drawing/2014/main" id="{94F01EDA-3993-4F5B-8338-A155D71634A5}"/>
              </a:ext>
            </a:extLst>
          </p:cNvPr>
          <p:cNvSpPr>
            <a:spLocks noChangeArrowheads="1"/>
          </p:cNvSpPr>
          <p:nvPr/>
        </p:nvSpPr>
        <p:spPr bwMode="auto">
          <a:xfrm>
            <a:off x="0" y="2405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3" name="Rectangle 1031">
            <a:extLst>
              <a:ext uri="{FF2B5EF4-FFF2-40B4-BE49-F238E27FC236}">
                <a16:creationId xmlns:a16="http://schemas.microsoft.com/office/drawing/2014/main" id="{D4B57B18-3F97-4D1E-AA13-041A7DDAEFC6}"/>
              </a:ext>
            </a:extLst>
          </p:cNvPr>
          <p:cNvSpPr>
            <a:spLocks noChangeArrowheads="1"/>
          </p:cNvSpPr>
          <p:nvPr/>
        </p:nvSpPr>
        <p:spPr bwMode="auto">
          <a:xfrm>
            <a:off x="0" y="2263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 name="Slide Number Placeholder 2">
            <a:extLst>
              <a:ext uri="{FF2B5EF4-FFF2-40B4-BE49-F238E27FC236}">
                <a16:creationId xmlns:a16="http://schemas.microsoft.com/office/drawing/2014/main" id="{089F2176-6175-6A4D-84ED-59A2EE053491}"/>
              </a:ext>
            </a:extLst>
          </p:cNvPr>
          <p:cNvSpPr>
            <a:spLocks noGrp="1"/>
          </p:cNvSpPr>
          <p:nvPr>
            <p:ph type="sldNum" sz="quarter" idx="12"/>
          </p:nvPr>
        </p:nvSpPr>
        <p:spPr/>
        <p:txBody>
          <a:bodyPr/>
          <a:lstStyle/>
          <a:p>
            <a:fld id="{9C8A9BBF-D171-497A-B4A2-0767A13C4597}"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83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Outline</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2</a:t>
            </a:fld>
            <a:endParaRPr lang="en-US" sz="700"/>
          </a:p>
        </p:txBody>
      </p:sp>
      <p:sp>
        <p:nvSpPr>
          <p:cNvPr id="2" name="Content Placeholder 3">
            <a:extLst>
              <a:ext uri="{FF2B5EF4-FFF2-40B4-BE49-F238E27FC236}">
                <a16:creationId xmlns:a16="http://schemas.microsoft.com/office/drawing/2014/main" id="{D139FF97-46E6-7D2D-B696-438CC3AD101D}"/>
              </a:ext>
            </a:extLst>
          </p:cNvPr>
          <p:cNvSpPr>
            <a:spLocks noGrp="1"/>
          </p:cNvSpPr>
          <p:nvPr/>
        </p:nvSpPr>
        <p:spPr bwMode="auto">
          <a:xfrm>
            <a:off x="704100" y="1234281"/>
            <a:ext cx="77358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US" sz="2800" dirty="0"/>
              <a:t>Design in Construction – Part 1 of 2</a:t>
            </a:r>
          </a:p>
          <a:p>
            <a:pPr lvl="1"/>
            <a:r>
              <a:rPr lang="en-US" dirty="0"/>
              <a:t>Key Design Concepts</a:t>
            </a:r>
          </a:p>
        </p:txBody>
      </p:sp>
    </p:spTree>
    <p:extLst>
      <p:ext uri="{BB962C8B-B14F-4D97-AF65-F5344CB8AC3E}">
        <p14:creationId xmlns:p14="http://schemas.microsoft.com/office/powerpoint/2010/main" val="1076553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Software Design</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3</a:t>
            </a:fld>
            <a:endParaRPr lang="en-US" sz="700"/>
          </a:p>
        </p:txBody>
      </p:sp>
      <p:sp>
        <p:nvSpPr>
          <p:cNvPr id="2" name="Rectangle 5">
            <a:extLst>
              <a:ext uri="{FF2B5EF4-FFF2-40B4-BE49-F238E27FC236}">
                <a16:creationId xmlns:a16="http://schemas.microsoft.com/office/drawing/2014/main" id="{DCDC8291-1FD8-A704-A622-6EC5E9F5EEA0}"/>
              </a:ext>
            </a:extLst>
          </p:cNvPr>
          <p:cNvSpPr/>
          <p:nvPr/>
        </p:nvSpPr>
        <p:spPr>
          <a:xfrm>
            <a:off x="469430" y="1488041"/>
            <a:ext cx="8179497" cy="3230563"/>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marL="273050" indent="-273050" eaLnBrk="0" hangingPunct="0">
              <a:spcBef>
                <a:spcPct val="20000"/>
              </a:spcBef>
              <a:buClr>
                <a:srgbClr val="0BD0D9"/>
              </a:buClr>
              <a:buSzPct val="95000"/>
              <a:buFont typeface="Wingdings 2" pitchFamily="18" charset="2"/>
              <a:buChar char=""/>
              <a:defRPr/>
            </a:pPr>
            <a:r>
              <a:rPr lang="en-US" sz="2800" dirty="0">
                <a:latin typeface="+mn-lt"/>
                <a:cs typeface="+mn-cs"/>
              </a:rPr>
              <a:t>Its the activity that links requirements to coding and debugging.</a:t>
            </a:r>
          </a:p>
          <a:p>
            <a:pPr marL="730250" lvl="1" indent="-273050" eaLnBrk="0" hangingPunct="0">
              <a:spcBef>
                <a:spcPct val="20000"/>
              </a:spcBef>
              <a:buClr>
                <a:srgbClr val="0BD0D9"/>
              </a:buClr>
              <a:buSzPct val="95000"/>
              <a:buFont typeface="Wingdings" pitchFamily="2" charset="2"/>
              <a:buChar char="§"/>
              <a:defRPr/>
            </a:pPr>
            <a:r>
              <a:rPr lang="en-US" sz="2400" dirty="0"/>
              <a:t>Turning a specification for computer software into operational software. </a:t>
            </a:r>
          </a:p>
          <a:p>
            <a:pPr marL="273050" indent="-273050" eaLnBrk="0" hangingPunct="0">
              <a:spcBef>
                <a:spcPct val="20000"/>
              </a:spcBef>
              <a:buClr>
                <a:srgbClr val="0BD0D9"/>
              </a:buClr>
              <a:buSzPct val="95000"/>
              <a:buFont typeface="Wingdings 2" pitchFamily="18" charset="2"/>
              <a:buChar char=""/>
              <a:defRPr/>
            </a:pPr>
            <a:endParaRPr lang="en-US" sz="2800" dirty="0">
              <a:latin typeface="+mn-lt"/>
              <a:cs typeface="+mn-cs"/>
            </a:endParaRPr>
          </a:p>
          <a:p>
            <a:pPr marL="273050" indent="-273050" eaLnBrk="0" hangingPunct="0">
              <a:spcBef>
                <a:spcPct val="20000"/>
              </a:spcBef>
              <a:buClr>
                <a:srgbClr val="0BD0D9"/>
              </a:buClr>
              <a:buSzPct val="95000"/>
              <a:buFont typeface="Wingdings 2" pitchFamily="18" charset="2"/>
              <a:buChar char=""/>
              <a:defRPr/>
            </a:pPr>
            <a:r>
              <a:rPr lang="en-US" sz="2800" b="1" dirty="0">
                <a:latin typeface="+mn-lt"/>
                <a:cs typeface="+mn-cs"/>
              </a:rPr>
              <a:t>A good </a:t>
            </a:r>
            <a:r>
              <a:rPr lang="en-US" sz="2800" dirty="0">
                <a:latin typeface="+mn-lt"/>
                <a:cs typeface="+mn-cs"/>
              </a:rPr>
              <a:t>top-level design provides a structure that can safely contain multiple lower-level designs</a:t>
            </a:r>
          </a:p>
        </p:txBody>
      </p:sp>
    </p:spTree>
    <p:extLst>
      <p:ext uri="{BB962C8B-B14F-4D97-AF65-F5344CB8AC3E}">
        <p14:creationId xmlns:p14="http://schemas.microsoft.com/office/powerpoint/2010/main" val="402199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4</a:t>
            </a:fld>
            <a:endParaRPr lang="en-US" sz="700"/>
          </a:p>
        </p:txBody>
      </p:sp>
      <p:pic>
        <p:nvPicPr>
          <p:cNvPr id="3" name="Picture 2">
            <a:extLst>
              <a:ext uri="{FF2B5EF4-FFF2-40B4-BE49-F238E27FC236}">
                <a16:creationId xmlns:a16="http://schemas.microsoft.com/office/drawing/2014/main" id="{CFC219F5-3E52-20DE-FC6F-A22CA84806FB}"/>
              </a:ext>
            </a:extLst>
          </p:cNvPr>
          <p:cNvPicPr>
            <a:picLocks noChangeAspect="1" noChangeArrowheads="1"/>
          </p:cNvPicPr>
          <p:nvPr/>
        </p:nvPicPr>
        <p:blipFill>
          <a:blip r:embed="rId2" cstate="print"/>
          <a:srcRect/>
          <a:stretch>
            <a:fillRect/>
          </a:stretch>
        </p:blipFill>
        <p:spPr bwMode="auto">
          <a:xfrm>
            <a:off x="390525" y="1590284"/>
            <a:ext cx="8362950" cy="3276600"/>
          </a:xfrm>
          <a:prstGeom prst="rect">
            <a:avLst/>
          </a:prstGeom>
          <a:noFill/>
          <a:ln w="9525">
            <a:noFill/>
            <a:miter lim="800000"/>
            <a:headEnd/>
            <a:tailEnd/>
          </a:ln>
        </p:spPr>
      </p:pic>
    </p:spTree>
    <p:extLst>
      <p:ext uri="{BB962C8B-B14F-4D97-AF65-F5344CB8AC3E}">
        <p14:creationId xmlns:p14="http://schemas.microsoft.com/office/powerpoint/2010/main" val="1660404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b="1" dirty="0">
                <a:solidFill>
                  <a:schemeClr val="tx1"/>
                </a:solidFill>
                <a:latin typeface="+mn-lt"/>
              </a:rPr>
              <a:t>Managing Complexity: </a:t>
            </a: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5</a:t>
            </a:fld>
            <a:endParaRPr lang="en-US" sz="700"/>
          </a:p>
        </p:txBody>
      </p:sp>
      <p:sp>
        <p:nvSpPr>
          <p:cNvPr id="2" name="object 3">
            <a:extLst>
              <a:ext uri="{FF2B5EF4-FFF2-40B4-BE49-F238E27FC236}">
                <a16:creationId xmlns:a16="http://schemas.microsoft.com/office/drawing/2014/main" id="{0E3E15CB-8ADD-9CC3-48CB-77CA11E78B51}"/>
              </a:ext>
            </a:extLst>
          </p:cNvPr>
          <p:cNvSpPr>
            <a:spLocks noChangeArrowheads="1"/>
          </p:cNvSpPr>
          <p:nvPr/>
        </p:nvSpPr>
        <p:spPr bwMode="auto">
          <a:xfrm>
            <a:off x="-25640" y="1258496"/>
            <a:ext cx="3679825" cy="3940175"/>
          </a:xfrm>
          <a:prstGeom prst="rect">
            <a:avLst/>
          </a:prstGeom>
          <a:blipFill dpi="0" rotWithShape="1">
            <a:blip r:embed="rId2" cstate="print"/>
            <a:srcRect/>
            <a:stretch>
              <a:fillRect/>
            </a:stretch>
          </a:blipFill>
          <a:ln w="9525">
            <a:noFill/>
            <a:miter lim="800000"/>
            <a:headEnd/>
            <a:tailEnd/>
          </a:ln>
        </p:spPr>
        <p:txBody>
          <a:bodyPr lIns="0" tIns="0" rIns="0" bIns="0"/>
          <a:ls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endParaRPr lang="en-US"/>
          </a:p>
        </p:txBody>
      </p:sp>
      <p:sp>
        <p:nvSpPr>
          <p:cNvPr id="6" name="object 4">
            <a:extLst>
              <a:ext uri="{FF2B5EF4-FFF2-40B4-BE49-F238E27FC236}">
                <a16:creationId xmlns:a16="http://schemas.microsoft.com/office/drawing/2014/main" id="{07353A36-D589-0DF0-FE44-90C1E35CCC08}"/>
              </a:ext>
            </a:extLst>
          </p:cNvPr>
          <p:cNvSpPr txBox="1">
            <a:spLocks noChangeArrowheads="1"/>
          </p:cNvSpPr>
          <p:nvPr/>
        </p:nvSpPr>
        <p:spPr bwMode="auto">
          <a:xfrm>
            <a:off x="3737203" y="1546843"/>
            <a:ext cx="4951412" cy="2179638"/>
          </a:xfrm>
          <a:prstGeom prst="rect">
            <a:avLst/>
          </a:prstGeom>
          <a:noFill/>
          <a:ln w="9525">
            <a:noFill/>
            <a:miter lim="800000"/>
            <a:headEnd/>
            <a:tailEnd/>
          </a:ln>
        </p:spPr>
        <p:txBody>
          <a:bodyPr lIns="0" tIns="10795"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marL="12700">
              <a:spcBef>
                <a:spcPts val="88"/>
              </a:spcBef>
            </a:pPr>
            <a:r>
              <a:rPr lang="en-US" sz="2400" dirty="0">
                <a:latin typeface="Carlito"/>
                <a:ea typeface="Carlito"/>
                <a:cs typeface="Carlito"/>
              </a:rPr>
              <a:t>Software development is made difficult  because of two different classes of problems:  </a:t>
            </a:r>
          </a:p>
          <a:p>
            <a:pPr marL="12700">
              <a:spcBef>
                <a:spcPts val="88"/>
              </a:spcBef>
            </a:pPr>
            <a:r>
              <a:rPr lang="en-US" sz="2400" dirty="0">
                <a:latin typeface="Carlito"/>
                <a:ea typeface="Carlito"/>
                <a:cs typeface="Carlito"/>
              </a:rPr>
              <a:t>the </a:t>
            </a:r>
            <a:r>
              <a:rPr lang="en-US" sz="2400" b="1" dirty="0">
                <a:latin typeface="Carlito"/>
                <a:ea typeface="Carlito"/>
                <a:cs typeface="Carlito"/>
              </a:rPr>
              <a:t>essential </a:t>
            </a:r>
            <a:r>
              <a:rPr lang="en-US" sz="2400" dirty="0">
                <a:latin typeface="Carlito"/>
                <a:ea typeface="Carlito"/>
                <a:cs typeface="Carlito"/>
              </a:rPr>
              <a:t>and the </a:t>
            </a:r>
            <a:r>
              <a:rPr lang="en-US" sz="2400" b="1" dirty="0">
                <a:latin typeface="Carlito"/>
                <a:ea typeface="Carlito"/>
                <a:cs typeface="Carlito"/>
              </a:rPr>
              <a:t>accidental</a:t>
            </a:r>
            <a:endParaRPr lang="en-US" sz="2400" dirty="0">
              <a:latin typeface="Carlito"/>
              <a:ea typeface="Carlito"/>
              <a:cs typeface="Carlito"/>
            </a:endParaRPr>
          </a:p>
          <a:p>
            <a:pPr marL="12700">
              <a:lnSpc>
                <a:spcPct val="101000"/>
              </a:lnSpc>
              <a:spcBef>
                <a:spcPts val="188"/>
              </a:spcBef>
            </a:pPr>
            <a:r>
              <a:rPr lang="en-US" sz="1400" i="1" dirty="0">
                <a:latin typeface="Carlito"/>
                <a:ea typeface="Carlito"/>
                <a:cs typeface="Carlito"/>
              </a:rPr>
              <a:t>Fred </a:t>
            </a:r>
            <a:r>
              <a:rPr lang="en-US" sz="1400" i="1" dirty="0" err="1">
                <a:latin typeface="Carlito"/>
                <a:ea typeface="Carlito"/>
                <a:cs typeface="Carlito"/>
              </a:rPr>
              <a:t>Brooks’s</a:t>
            </a:r>
            <a:r>
              <a:rPr lang="en-US" sz="1400" i="1" dirty="0">
                <a:latin typeface="Carlito"/>
                <a:ea typeface="Carlito"/>
                <a:cs typeface="Carlito"/>
              </a:rPr>
              <a:t> landmark paper, “No Silver Bullets:  Essence and Accidents of Software Engineering” (1987).</a:t>
            </a:r>
            <a:endParaRPr lang="en-US" sz="1400" dirty="0">
              <a:latin typeface="Carlito"/>
              <a:ea typeface="Carlito"/>
              <a:cs typeface="Carlito"/>
            </a:endParaRPr>
          </a:p>
        </p:txBody>
      </p:sp>
      <p:sp>
        <p:nvSpPr>
          <p:cNvPr id="7" name="object 5">
            <a:extLst>
              <a:ext uri="{FF2B5EF4-FFF2-40B4-BE49-F238E27FC236}">
                <a16:creationId xmlns:a16="http://schemas.microsoft.com/office/drawing/2014/main" id="{FA6DFB7B-4900-DCD8-8420-32E42E813A26}"/>
              </a:ext>
            </a:extLst>
          </p:cNvPr>
          <p:cNvSpPr txBox="1">
            <a:spLocks noChangeArrowheads="1"/>
          </p:cNvSpPr>
          <p:nvPr/>
        </p:nvSpPr>
        <p:spPr bwMode="auto">
          <a:xfrm>
            <a:off x="3721357" y="3726481"/>
            <a:ext cx="2668587" cy="993775"/>
          </a:xfrm>
          <a:prstGeom prst="rect">
            <a:avLst/>
          </a:prstGeom>
          <a:solidFill>
            <a:srgbClr val="FFF2CC"/>
          </a:solidFill>
          <a:ln w="9525">
            <a:noFill/>
            <a:miter lim="800000"/>
            <a:headEnd/>
            <a:tailEnd/>
          </a:ln>
        </p:spPr>
        <p:txBody>
          <a:bodyPr lIns="0" tIns="182880" rIns="0" bIns="0">
            <a:spAutoFit/>
          </a:bodyPr>
          <a:lstStyle/>
          <a:p>
            <a:pPr marL="252413" indent="-138113">
              <a:lnSpc>
                <a:spcPts val="2113"/>
              </a:lnSpc>
              <a:spcBef>
                <a:spcPts val="1438"/>
              </a:spcBef>
            </a:pPr>
            <a:r>
              <a:rPr lang="en-US" dirty="0">
                <a:latin typeface="Carlito"/>
                <a:ea typeface="Carlito"/>
                <a:cs typeface="Carlito"/>
              </a:rPr>
              <a:t>The properties that a thing must  have in order to be that thing</a:t>
            </a:r>
          </a:p>
        </p:txBody>
      </p:sp>
      <p:sp>
        <p:nvSpPr>
          <p:cNvPr id="8" name="object 8">
            <a:extLst>
              <a:ext uri="{FF2B5EF4-FFF2-40B4-BE49-F238E27FC236}">
                <a16:creationId xmlns:a16="http://schemas.microsoft.com/office/drawing/2014/main" id="{6D0E545E-2D9A-4750-F229-8F3D3B815142}"/>
              </a:ext>
            </a:extLst>
          </p:cNvPr>
          <p:cNvSpPr txBox="1"/>
          <p:nvPr/>
        </p:nvSpPr>
        <p:spPr>
          <a:xfrm>
            <a:off x="6453478" y="3726481"/>
            <a:ext cx="2655169" cy="1025525"/>
          </a:xfrm>
          <a:prstGeom prst="rect">
            <a:avLst/>
          </a:prstGeom>
          <a:solidFill>
            <a:srgbClr val="FFF2CC"/>
          </a:solidFill>
        </p:spPr>
        <p:txBody>
          <a:bodyPr wrap="square" lIns="0" tIns="0" rIns="0" bIns="0">
            <a:spAutoFit/>
          </a:bodyPr>
          <a:lstStyle/>
          <a:p>
            <a:pPr marL="132080">
              <a:lnSpc>
                <a:spcPts val="2030"/>
              </a:lnSpc>
              <a:defRPr/>
            </a:pPr>
            <a:r>
              <a:rPr lang="en-US" dirty="0">
                <a:latin typeface="Carlito"/>
                <a:cs typeface="Carlito"/>
              </a:rPr>
              <a:t>The </a:t>
            </a:r>
            <a:r>
              <a:rPr lang="en-US" spc="-5" dirty="0">
                <a:latin typeface="Carlito"/>
                <a:cs typeface="Carlito"/>
              </a:rPr>
              <a:t>properties </a:t>
            </a:r>
            <a:r>
              <a:rPr lang="en-US" dirty="0">
                <a:latin typeface="Carlito"/>
                <a:cs typeface="Carlito"/>
              </a:rPr>
              <a:t>a </a:t>
            </a:r>
            <a:r>
              <a:rPr lang="en-US" spc="-5" dirty="0">
                <a:latin typeface="Carlito"/>
                <a:cs typeface="Carlito"/>
              </a:rPr>
              <a:t>thing</a:t>
            </a:r>
            <a:r>
              <a:rPr lang="en-US" spc="-25" dirty="0">
                <a:latin typeface="Carlito"/>
                <a:cs typeface="Carlito"/>
              </a:rPr>
              <a:t> </a:t>
            </a:r>
            <a:r>
              <a:rPr lang="en-US" dirty="0">
                <a:latin typeface="Carlito"/>
                <a:cs typeface="Carlito"/>
              </a:rPr>
              <a:t>happens </a:t>
            </a:r>
            <a:r>
              <a:rPr spc="-15" dirty="0">
                <a:latin typeface="Carlito"/>
                <a:cs typeface="Carlito"/>
              </a:rPr>
              <a:t>to have </a:t>
            </a:r>
            <a:r>
              <a:rPr dirty="0">
                <a:latin typeface="Carlito"/>
                <a:cs typeface="Carlito"/>
              </a:rPr>
              <a:t>and don’t </a:t>
            </a:r>
            <a:r>
              <a:rPr spc="-10" dirty="0">
                <a:latin typeface="Carlito"/>
                <a:cs typeface="Carlito"/>
              </a:rPr>
              <a:t>really </a:t>
            </a:r>
            <a:r>
              <a:rPr dirty="0">
                <a:latin typeface="Carlito"/>
                <a:cs typeface="Carlito"/>
              </a:rPr>
              <a:t>bear</a:t>
            </a:r>
            <a:r>
              <a:rPr spc="20" dirty="0">
                <a:latin typeface="Carlito"/>
                <a:cs typeface="Carlito"/>
              </a:rPr>
              <a:t> </a:t>
            </a:r>
            <a:r>
              <a:rPr dirty="0">
                <a:latin typeface="Carlito"/>
                <a:cs typeface="Carlito"/>
              </a:rPr>
              <a:t>on</a:t>
            </a:r>
            <a:r>
              <a:rPr lang="en-US" dirty="0">
                <a:latin typeface="Carlito"/>
                <a:cs typeface="Carlito"/>
              </a:rPr>
              <a:t> </a:t>
            </a:r>
            <a:r>
              <a:rPr lang="en-US" spc="-5" dirty="0">
                <a:latin typeface="Carlito"/>
                <a:cs typeface="Carlito"/>
              </a:rPr>
              <a:t>whether </a:t>
            </a:r>
            <a:r>
              <a:rPr lang="en-US" dirty="0">
                <a:latin typeface="Carlito"/>
                <a:cs typeface="Carlito"/>
              </a:rPr>
              <a:t>the thing </a:t>
            </a:r>
            <a:r>
              <a:rPr lang="en-US" spc="-5" dirty="0">
                <a:latin typeface="Carlito"/>
                <a:cs typeface="Carlito"/>
              </a:rPr>
              <a:t>is what it is</a:t>
            </a:r>
            <a:endParaRPr lang="en-US" dirty="0">
              <a:latin typeface="Carlito"/>
              <a:cs typeface="Carlito"/>
            </a:endParaRPr>
          </a:p>
        </p:txBody>
      </p:sp>
      <p:sp>
        <p:nvSpPr>
          <p:cNvPr id="9" name="Rectangle 11">
            <a:extLst>
              <a:ext uri="{FF2B5EF4-FFF2-40B4-BE49-F238E27FC236}">
                <a16:creationId xmlns:a16="http://schemas.microsoft.com/office/drawing/2014/main" id="{44F1BE19-933B-AC78-88AF-391FC371BEF7}"/>
              </a:ext>
            </a:extLst>
          </p:cNvPr>
          <p:cNvSpPr>
            <a:spLocks noChangeArrowheads="1"/>
          </p:cNvSpPr>
          <p:nvPr/>
        </p:nvSpPr>
        <p:spPr bwMode="auto">
          <a:xfrm>
            <a:off x="3654185" y="5166921"/>
            <a:ext cx="1531937" cy="922337"/>
          </a:xfrm>
          <a:prstGeom prst="rect">
            <a:avLst/>
          </a:prstGeom>
          <a:noFill/>
          <a:ln w="9525">
            <a:noFill/>
            <a:miter lim="800000"/>
            <a:headEnd/>
            <a:tailEnd/>
          </a:ln>
        </p:spPr>
        <p:txBody>
          <a:bodyPr wrap="none">
            <a:spAutoFit/>
          </a:bodyPr>
          <a:lstStyle/>
          <a:p>
            <a:r>
              <a:rPr lang="en-US" dirty="0"/>
              <a:t>Engine, </a:t>
            </a:r>
          </a:p>
          <a:p>
            <a:r>
              <a:rPr lang="en-US" dirty="0"/>
              <a:t>Wheels, and </a:t>
            </a:r>
          </a:p>
          <a:p>
            <a:r>
              <a:rPr lang="en-US" dirty="0"/>
              <a:t>Doors</a:t>
            </a:r>
          </a:p>
        </p:txBody>
      </p:sp>
      <p:sp>
        <p:nvSpPr>
          <p:cNvPr id="11" name="object 10">
            <a:extLst>
              <a:ext uri="{FF2B5EF4-FFF2-40B4-BE49-F238E27FC236}">
                <a16:creationId xmlns:a16="http://schemas.microsoft.com/office/drawing/2014/main" id="{5150E85D-B47E-F6B8-3C1F-FA6C44774D49}"/>
              </a:ext>
            </a:extLst>
          </p:cNvPr>
          <p:cNvSpPr>
            <a:spLocks noChangeArrowheads="1"/>
          </p:cNvSpPr>
          <p:nvPr/>
        </p:nvSpPr>
        <p:spPr bwMode="auto">
          <a:xfrm>
            <a:off x="4940060" y="5166921"/>
            <a:ext cx="2393950" cy="1343025"/>
          </a:xfrm>
          <a:prstGeom prst="rect">
            <a:avLst/>
          </a:prstGeom>
          <a:blipFill dpi="0" rotWithShape="1">
            <a:blip r:embed="rId3" cstate="print"/>
            <a:srcRect/>
            <a:stretch>
              <a:fillRect/>
            </a:stretch>
          </a:blipFill>
          <a:ln w="9525">
            <a:noFill/>
            <a:miter lim="800000"/>
            <a:headEnd/>
            <a:tailEnd/>
          </a:ln>
        </p:spPr>
        <p:txBody>
          <a:bodyPr lIns="0" tIns="0" rIns="0" bIns="0"/>
          <a:lstStyle/>
          <a:p>
            <a:endParaRPr lang="en-US" dirty="0"/>
          </a:p>
        </p:txBody>
      </p:sp>
      <p:sp>
        <p:nvSpPr>
          <p:cNvPr id="12" name="Rectangle 12">
            <a:extLst>
              <a:ext uri="{FF2B5EF4-FFF2-40B4-BE49-F238E27FC236}">
                <a16:creationId xmlns:a16="http://schemas.microsoft.com/office/drawing/2014/main" id="{77A69729-31FB-58BA-63E0-2668224FC294}"/>
              </a:ext>
            </a:extLst>
          </p:cNvPr>
          <p:cNvSpPr>
            <a:spLocks noChangeArrowheads="1"/>
          </p:cNvSpPr>
          <p:nvPr/>
        </p:nvSpPr>
        <p:spPr bwMode="auto">
          <a:xfrm>
            <a:off x="7212402" y="5198671"/>
            <a:ext cx="1931598" cy="923925"/>
          </a:xfrm>
          <a:prstGeom prst="rect">
            <a:avLst/>
          </a:prstGeom>
          <a:noFill/>
          <a:ln w="9525">
            <a:noFill/>
            <a:miter lim="800000"/>
            <a:headEnd/>
            <a:tailEnd/>
          </a:ln>
        </p:spPr>
        <p:txBody>
          <a:bodyPr wrap="square">
            <a:spAutoFit/>
          </a:bodyPr>
          <a:lstStyle/>
          <a:p>
            <a:r>
              <a:rPr lang="en-US" dirty="0"/>
              <a:t>Two doors or four;</a:t>
            </a:r>
          </a:p>
          <a:p>
            <a:r>
              <a:rPr lang="en-US" dirty="0"/>
              <a:t>Skinny wheels or </a:t>
            </a:r>
          </a:p>
          <a:p>
            <a:r>
              <a:rPr lang="en-US" dirty="0"/>
              <a:t>Mag wheels</a:t>
            </a:r>
          </a:p>
        </p:txBody>
      </p:sp>
    </p:spTree>
    <p:extLst>
      <p:ext uri="{BB962C8B-B14F-4D97-AF65-F5344CB8AC3E}">
        <p14:creationId xmlns:p14="http://schemas.microsoft.com/office/powerpoint/2010/main" val="2997704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Managing Complexity:</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6</a:t>
            </a:fld>
            <a:endParaRPr lang="en-US" sz="700"/>
          </a:p>
        </p:txBody>
      </p:sp>
      <p:sp>
        <p:nvSpPr>
          <p:cNvPr id="4" name="مربع نص 3">
            <a:extLst>
              <a:ext uri="{FF2B5EF4-FFF2-40B4-BE49-F238E27FC236}">
                <a16:creationId xmlns:a16="http://schemas.microsoft.com/office/drawing/2014/main" id="{AFAF0860-6137-831F-B539-F25B58D90FE7}"/>
              </a:ext>
            </a:extLst>
          </p:cNvPr>
          <p:cNvSpPr txBox="1"/>
          <p:nvPr/>
        </p:nvSpPr>
        <p:spPr>
          <a:xfrm>
            <a:off x="494550" y="1098156"/>
            <a:ext cx="5279947" cy="461665"/>
          </a:xfrm>
          <a:prstGeom prst="rect">
            <a:avLst/>
          </a:prstGeom>
          <a:noFill/>
        </p:spPr>
        <p:txBody>
          <a:bodyPr wrap="square">
            <a:spAutoFit/>
          </a:bodyPr>
          <a:lstStyle/>
          <a:p>
            <a:r>
              <a:rPr lang="en-US" sz="2400" dirty="0"/>
              <a:t>Importance of Managing Complexity</a:t>
            </a:r>
          </a:p>
        </p:txBody>
      </p:sp>
      <p:sp>
        <p:nvSpPr>
          <p:cNvPr id="6" name="Rectangle 10">
            <a:extLst>
              <a:ext uri="{FF2B5EF4-FFF2-40B4-BE49-F238E27FC236}">
                <a16:creationId xmlns:a16="http://schemas.microsoft.com/office/drawing/2014/main" id="{F80AB3CF-0303-C5E0-123E-B36858FD38B0}"/>
              </a:ext>
            </a:extLst>
          </p:cNvPr>
          <p:cNvSpPr>
            <a:spLocks noChangeArrowheads="1"/>
          </p:cNvSpPr>
          <p:nvPr/>
        </p:nvSpPr>
        <p:spPr bwMode="auto">
          <a:xfrm>
            <a:off x="230915" y="1851287"/>
            <a:ext cx="8305800" cy="646113"/>
          </a:xfrm>
          <a:prstGeom prst="rect">
            <a:avLst/>
          </a:prstGeom>
          <a:noFill/>
          <a:ln w="9525">
            <a:noFill/>
            <a:miter lim="800000"/>
            <a:headEnd/>
            <a:tailEnd/>
          </a:ln>
        </p:spPr>
        <p:txBody>
          <a:bodyPr>
            <a:spAutoFit/>
          </a:bodyPr>
          <a:lstStyle/>
          <a:p>
            <a:pPr algn="ctr"/>
            <a:r>
              <a:rPr lang="en-US" dirty="0"/>
              <a:t>When projects do fail for reasons that are primarily technical, the reason is often uncontrolled complexity.</a:t>
            </a:r>
          </a:p>
        </p:txBody>
      </p:sp>
      <p:sp>
        <p:nvSpPr>
          <p:cNvPr id="7" name="object 4">
            <a:extLst>
              <a:ext uri="{FF2B5EF4-FFF2-40B4-BE49-F238E27FC236}">
                <a16:creationId xmlns:a16="http://schemas.microsoft.com/office/drawing/2014/main" id="{BFAF92CB-16B2-657F-1D5C-621FC5C9D5A6}"/>
              </a:ext>
            </a:extLst>
          </p:cNvPr>
          <p:cNvSpPr>
            <a:spLocks noChangeArrowheads="1"/>
          </p:cNvSpPr>
          <p:nvPr/>
        </p:nvSpPr>
        <p:spPr bwMode="auto">
          <a:xfrm>
            <a:off x="2627246" y="2497400"/>
            <a:ext cx="3513138" cy="2746375"/>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dirty="0"/>
          </a:p>
        </p:txBody>
      </p:sp>
      <p:sp>
        <p:nvSpPr>
          <p:cNvPr id="8" name="object 6">
            <a:extLst>
              <a:ext uri="{FF2B5EF4-FFF2-40B4-BE49-F238E27FC236}">
                <a16:creationId xmlns:a16="http://schemas.microsoft.com/office/drawing/2014/main" id="{B08EAECB-94BF-6845-654E-528E41CD2E58}"/>
              </a:ext>
            </a:extLst>
          </p:cNvPr>
          <p:cNvSpPr txBox="1">
            <a:spLocks noChangeArrowheads="1"/>
          </p:cNvSpPr>
          <p:nvPr/>
        </p:nvSpPr>
        <p:spPr bwMode="auto">
          <a:xfrm>
            <a:off x="728314" y="5243775"/>
            <a:ext cx="8052431" cy="765175"/>
          </a:xfrm>
          <a:prstGeom prst="rect">
            <a:avLst/>
          </a:prstGeom>
          <a:noFill/>
          <a:ln w="12700">
            <a:solidFill>
              <a:srgbClr val="000000"/>
            </a:solidFill>
            <a:miter lim="800000"/>
            <a:headEnd/>
            <a:tailEnd/>
          </a:ln>
        </p:spPr>
        <p:txBody>
          <a:bodyPr wrap="square" lIns="0" tIns="18415" rIns="0" bIns="0">
            <a:spAutoFit/>
          </a:bodyPr>
          <a:lstStyle/>
          <a:p>
            <a:pPr marL="2728913" indent="-2357438">
              <a:lnSpc>
                <a:spcPct val="101000"/>
              </a:lnSpc>
              <a:spcBef>
                <a:spcPts val="150"/>
              </a:spcBef>
            </a:pPr>
            <a:r>
              <a:rPr lang="en-US" sz="2400" dirty="0">
                <a:latin typeface="Carlito"/>
                <a:ea typeface="Carlito"/>
                <a:cs typeface="Carlito"/>
              </a:rPr>
              <a:t>The goal is to </a:t>
            </a:r>
            <a:r>
              <a:rPr lang="en-US" sz="2400" b="1" dirty="0">
                <a:solidFill>
                  <a:srgbClr val="C00000"/>
                </a:solidFill>
                <a:latin typeface="Carlito"/>
                <a:ea typeface="Carlito"/>
                <a:cs typeface="Carlito"/>
              </a:rPr>
              <a:t>minimize </a:t>
            </a:r>
            <a:r>
              <a:rPr lang="en-US" sz="2400" dirty="0">
                <a:latin typeface="Carlito"/>
                <a:ea typeface="Carlito"/>
                <a:cs typeface="Carlito"/>
              </a:rPr>
              <a:t>the amount of a program you have to think about at any one time.</a:t>
            </a:r>
          </a:p>
        </p:txBody>
      </p:sp>
      <p:sp>
        <p:nvSpPr>
          <p:cNvPr id="9" name="object 7">
            <a:extLst>
              <a:ext uri="{FF2B5EF4-FFF2-40B4-BE49-F238E27FC236}">
                <a16:creationId xmlns:a16="http://schemas.microsoft.com/office/drawing/2014/main" id="{E77D793A-79BA-0523-35C9-FB76211DECEB}"/>
              </a:ext>
            </a:extLst>
          </p:cNvPr>
          <p:cNvSpPr txBox="1">
            <a:spLocks noChangeArrowheads="1"/>
          </p:cNvSpPr>
          <p:nvPr/>
        </p:nvSpPr>
        <p:spPr bwMode="auto">
          <a:xfrm>
            <a:off x="572216" y="6014846"/>
            <a:ext cx="1995488" cy="565150"/>
          </a:xfrm>
          <a:prstGeom prst="rect">
            <a:avLst/>
          </a:prstGeom>
          <a:noFill/>
          <a:ln w="9525">
            <a:noFill/>
            <a:miter lim="800000"/>
            <a:headEnd/>
            <a:tailEnd/>
          </a:ln>
        </p:spPr>
        <p:txBody>
          <a:bodyPr lIns="0" tIns="26670" rIns="0" bIns="0">
            <a:spAutoFit/>
          </a:bodyPr>
          <a:lstStyle/>
          <a:p>
            <a:pPr marL="180975" indent="-168275">
              <a:lnSpc>
                <a:spcPts val="2113"/>
              </a:lnSpc>
              <a:spcBef>
                <a:spcPts val="213"/>
              </a:spcBef>
            </a:pPr>
            <a:r>
              <a:rPr lang="en-US" i="1" dirty="0">
                <a:latin typeface="Carlito"/>
                <a:ea typeface="Carlito"/>
                <a:cs typeface="Carlito"/>
              </a:rPr>
              <a:t>Dividing the system  into subsystems</a:t>
            </a:r>
            <a:endParaRPr lang="en-US" dirty="0">
              <a:latin typeface="Carlito"/>
              <a:ea typeface="Carlito"/>
              <a:cs typeface="Carlito"/>
            </a:endParaRPr>
          </a:p>
        </p:txBody>
      </p:sp>
      <p:sp>
        <p:nvSpPr>
          <p:cNvPr id="10" name="object 8">
            <a:extLst>
              <a:ext uri="{FF2B5EF4-FFF2-40B4-BE49-F238E27FC236}">
                <a16:creationId xmlns:a16="http://schemas.microsoft.com/office/drawing/2014/main" id="{EF0EE127-5117-73E5-405B-97058A79401A}"/>
              </a:ext>
            </a:extLst>
          </p:cNvPr>
          <p:cNvSpPr txBox="1">
            <a:spLocks noChangeArrowheads="1"/>
          </p:cNvSpPr>
          <p:nvPr/>
        </p:nvSpPr>
        <p:spPr bwMode="auto">
          <a:xfrm>
            <a:off x="2627246" y="5996906"/>
            <a:ext cx="2720975" cy="565150"/>
          </a:xfrm>
          <a:prstGeom prst="rect">
            <a:avLst/>
          </a:prstGeom>
          <a:noFill/>
          <a:ln w="9525">
            <a:noFill/>
            <a:miter lim="800000"/>
            <a:headEnd/>
            <a:tailEnd/>
          </a:ln>
        </p:spPr>
        <p:txBody>
          <a:bodyPr lIns="0" tIns="26670" rIns="0" bIns="0">
            <a:spAutoFit/>
          </a:bodyPr>
          <a:lstStyle/>
          <a:p>
            <a:pPr marL="12700" indent="290513">
              <a:lnSpc>
                <a:spcPts val="2113"/>
              </a:lnSpc>
              <a:spcBef>
                <a:spcPts val="213"/>
              </a:spcBef>
            </a:pPr>
            <a:r>
              <a:rPr lang="en-US" i="1" dirty="0">
                <a:latin typeface="Carlito"/>
                <a:ea typeface="Carlito"/>
                <a:cs typeface="Carlito"/>
              </a:rPr>
              <a:t>Break a complicated  problem into simple pieces</a:t>
            </a:r>
            <a:endParaRPr lang="en-US" dirty="0">
              <a:latin typeface="Carlito"/>
              <a:ea typeface="Carlito"/>
              <a:cs typeface="Carlito"/>
            </a:endParaRPr>
          </a:p>
        </p:txBody>
      </p:sp>
      <p:sp>
        <p:nvSpPr>
          <p:cNvPr id="11" name="object 9">
            <a:extLst>
              <a:ext uri="{FF2B5EF4-FFF2-40B4-BE49-F238E27FC236}">
                <a16:creationId xmlns:a16="http://schemas.microsoft.com/office/drawing/2014/main" id="{5B9B22B0-71C3-2D16-6B5B-37C19BB1B97B}"/>
              </a:ext>
            </a:extLst>
          </p:cNvPr>
          <p:cNvSpPr txBox="1">
            <a:spLocks noChangeArrowheads="1"/>
          </p:cNvSpPr>
          <p:nvPr/>
        </p:nvSpPr>
        <p:spPr bwMode="auto">
          <a:xfrm>
            <a:off x="5441884" y="6005876"/>
            <a:ext cx="1901825" cy="565150"/>
          </a:xfrm>
          <a:prstGeom prst="rect">
            <a:avLst/>
          </a:prstGeom>
          <a:noFill/>
          <a:ln w="9525">
            <a:noFill/>
            <a:miter lim="800000"/>
            <a:headEnd/>
            <a:tailEnd/>
          </a:ln>
        </p:spPr>
        <p:txBody>
          <a:bodyPr lIns="0" tIns="26670" rIns="0" bIns="0">
            <a:spAutoFit/>
          </a:bodyPr>
          <a:lstStyle/>
          <a:p>
            <a:pPr marL="165100" indent="-153988">
              <a:lnSpc>
                <a:spcPts val="2113"/>
              </a:lnSpc>
              <a:spcBef>
                <a:spcPts val="213"/>
              </a:spcBef>
            </a:pPr>
            <a:r>
              <a:rPr lang="en-US" i="1" dirty="0">
                <a:latin typeface="Carlito"/>
                <a:ea typeface="Carlito"/>
                <a:cs typeface="Carlito"/>
              </a:rPr>
              <a:t>More independent  the subsystems</a:t>
            </a:r>
            <a:endParaRPr lang="en-US" dirty="0">
              <a:latin typeface="Carlito"/>
              <a:ea typeface="Carlito"/>
              <a:cs typeface="Carlito"/>
            </a:endParaRPr>
          </a:p>
        </p:txBody>
      </p:sp>
      <p:sp>
        <p:nvSpPr>
          <p:cNvPr id="12" name="object 10">
            <a:extLst>
              <a:ext uri="{FF2B5EF4-FFF2-40B4-BE49-F238E27FC236}">
                <a16:creationId xmlns:a16="http://schemas.microsoft.com/office/drawing/2014/main" id="{06020C68-91E8-B1D2-384E-70947BD3787C}"/>
              </a:ext>
            </a:extLst>
          </p:cNvPr>
          <p:cNvSpPr txBox="1">
            <a:spLocks noChangeArrowheads="1"/>
          </p:cNvSpPr>
          <p:nvPr/>
        </p:nvSpPr>
        <p:spPr bwMode="auto">
          <a:xfrm>
            <a:off x="7437372" y="5996906"/>
            <a:ext cx="1905000" cy="565150"/>
          </a:xfrm>
          <a:prstGeom prst="rect">
            <a:avLst/>
          </a:prstGeom>
          <a:noFill/>
          <a:ln w="9525">
            <a:noFill/>
            <a:miter lim="800000"/>
            <a:headEnd/>
            <a:tailEnd/>
          </a:ln>
        </p:spPr>
        <p:txBody>
          <a:bodyPr lIns="0" tIns="26670" rIns="0" bIns="0">
            <a:spAutoFit/>
          </a:bodyPr>
          <a:lstStyle/>
          <a:p>
            <a:pPr marL="546100" indent="-534988">
              <a:lnSpc>
                <a:spcPts val="2113"/>
              </a:lnSpc>
              <a:spcBef>
                <a:spcPts val="213"/>
              </a:spcBef>
            </a:pPr>
            <a:r>
              <a:rPr lang="en-US" i="1" dirty="0">
                <a:latin typeface="Carlito"/>
                <a:ea typeface="Carlito"/>
                <a:cs typeface="Carlito"/>
              </a:rPr>
              <a:t>Keeping routines  short</a:t>
            </a:r>
            <a:endParaRPr lang="en-US" dirty="0">
              <a:latin typeface="Carlito"/>
              <a:ea typeface="Carlito"/>
              <a:cs typeface="Carlito"/>
            </a:endParaRPr>
          </a:p>
        </p:txBody>
      </p:sp>
    </p:spTree>
    <p:extLst>
      <p:ext uri="{BB962C8B-B14F-4D97-AF65-F5344CB8AC3E}">
        <p14:creationId xmlns:p14="http://schemas.microsoft.com/office/powerpoint/2010/main" val="3810758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Managing Complexity:</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7</a:t>
            </a:fld>
            <a:endParaRPr lang="en-US" sz="700"/>
          </a:p>
        </p:txBody>
      </p:sp>
      <p:sp>
        <p:nvSpPr>
          <p:cNvPr id="9" name="مربع نص 8">
            <a:extLst>
              <a:ext uri="{FF2B5EF4-FFF2-40B4-BE49-F238E27FC236}">
                <a16:creationId xmlns:a16="http://schemas.microsoft.com/office/drawing/2014/main" id="{8B31B243-B08B-ED41-CE85-50256F6EBC35}"/>
              </a:ext>
            </a:extLst>
          </p:cNvPr>
          <p:cNvSpPr txBox="1"/>
          <p:nvPr/>
        </p:nvSpPr>
        <p:spPr>
          <a:xfrm>
            <a:off x="914400" y="1262090"/>
            <a:ext cx="4584526" cy="461665"/>
          </a:xfrm>
          <a:prstGeom prst="rect">
            <a:avLst/>
          </a:prstGeom>
          <a:noFill/>
        </p:spPr>
        <p:txBody>
          <a:bodyPr wrap="square">
            <a:spAutoFit/>
          </a:bodyPr>
          <a:lstStyle/>
          <a:p>
            <a:r>
              <a:rPr lang="en-US" sz="2400" dirty="0"/>
              <a:t>How to Attack Complexity</a:t>
            </a:r>
          </a:p>
        </p:txBody>
      </p:sp>
      <p:sp>
        <p:nvSpPr>
          <p:cNvPr id="10" name="object 3">
            <a:extLst>
              <a:ext uri="{FF2B5EF4-FFF2-40B4-BE49-F238E27FC236}">
                <a16:creationId xmlns:a16="http://schemas.microsoft.com/office/drawing/2014/main" id="{B5F0260C-ED8C-A90D-D9CB-8F8D1C3A15F9}"/>
              </a:ext>
            </a:extLst>
          </p:cNvPr>
          <p:cNvSpPr>
            <a:spLocks noChangeArrowheads="1"/>
          </p:cNvSpPr>
          <p:nvPr/>
        </p:nvSpPr>
        <p:spPr bwMode="auto">
          <a:xfrm>
            <a:off x="-474750" y="2054668"/>
            <a:ext cx="3681413" cy="3938587"/>
          </a:xfrm>
          <a:prstGeom prst="rect">
            <a:avLst/>
          </a:prstGeom>
          <a:blipFill dpi="0" rotWithShape="1">
            <a:blip r:embed="rId3" cstate="print"/>
            <a:srcRect/>
            <a:stretch>
              <a:fillRect/>
            </a:stretch>
          </a:blipFill>
          <a:ln w="9525">
            <a:noFill/>
            <a:miter lim="800000"/>
            <a:headEnd/>
            <a:tailEnd/>
          </a:ln>
        </p:spPr>
        <p:txBody>
          <a:bodyPr lIns="0" tIns="0" rIns="0" bIns="0"/>
          <a:lstStyle/>
          <a:p>
            <a:endParaRPr lang="en-US" dirty="0"/>
          </a:p>
        </p:txBody>
      </p:sp>
      <p:sp>
        <p:nvSpPr>
          <p:cNvPr id="11" name="object 4">
            <a:extLst>
              <a:ext uri="{FF2B5EF4-FFF2-40B4-BE49-F238E27FC236}">
                <a16:creationId xmlns:a16="http://schemas.microsoft.com/office/drawing/2014/main" id="{101C7C0D-2B18-2B6F-A393-FF29174EEB60}"/>
              </a:ext>
            </a:extLst>
          </p:cNvPr>
          <p:cNvSpPr txBox="1">
            <a:spLocks noChangeArrowheads="1"/>
          </p:cNvSpPr>
          <p:nvPr/>
        </p:nvSpPr>
        <p:spPr bwMode="auto">
          <a:xfrm>
            <a:off x="2996852" y="2427192"/>
            <a:ext cx="6147148" cy="1138237"/>
          </a:xfrm>
          <a:prstGeom prst="rect">
            <a:avLst/>
          </a:prstGeom>
          <a:noFill/>
          <a:ln w="12700">
            <a:solidFill>
              <a:srgbClr val="000000"/>
            </a:solidFill>
            <a:miter lim="800000"/>
            <a:headEnd/>
            <a:tailEnd/>
          </a:ln>
        </p:spPr>
        <p:txBody>
          <a:bodyPr wrap="square" lIns="0" tIns="18415" rIns="0" bIns="0">
            <a:spAutoFit/>
          </a:bodyPr>
          <a:lstStyle/>
          <a:p>
            <a:pPr marL="306388" indent="-168275">
              <a:lnSpc>
                <a:spcPct val="101000"/>
              </a:lnSpc>
              <a:spcBef>
                <a:spcPts val="150"/>
              </a:spcBef>
            </a:pPr>
            <a:r>
              <a:rPr lang="en-US" sz="2400" dirty="0">
                <a:latin typeface="Carlito"/>
                <a:ea typeface="Carlito"/>
                <a:cs typeface="Carlito"/>
              </a:rPr>
              <a:t>Minimize the amount of </a:t>
            </a:r>
            <a:r>
              <a:rPr lang="en-US" sz="2400" b="1" dirty="0">
                <a:latin typeface="Carlito"/>
                <a:ea typeface="Carlito"/>
                <a:cs typeface="Carlito"/>
              </a:rPr>
              <a:t>essential </a:t>
            </a:r>
            <a:r>
              <a:rPr lang="en-US" sz="2400" dirty="0">
                <a:latin typeface="Carlito"/>
                <a:ea typeface="Carlito"/>
                <a:cs typeface="Carlito"/>
              </a:rPr>
              <a:t>complexity that anyone’s brain has to deal with at any one time</a:t>
            </a:r>
          </a:p>
        </p:txBody>
      </p:sp>
      <p:sp>
        <p:nvSpPr>
          <p:cNvPr id="12" name="object 5">
            <a:extLst>
              <a:ext uri="{FF2B5EF4-FFF2-40B4-BE49-F238E27FC236}">
                <a16:creationId xmlns:a16="http://schemas.microsoft.com/office/drawing/2014/main" id="{C9C9C272-115E-3F73-FEFD-2046C540ADA6}"/>
              </a:ext>
            </a:extLst>
          </p:cNvPr>
          <p:cNvSpPr txBox="1">
            <a:spLocks noChangeArrowheads="1"/>
          </p:cNvSpPr>
          <p:nvPr/>
        </p:nvSpPr>
        <p:spPr bwMode="auto">
          <a:xfrm>
            <a:off x="2996852" y="4023962"/>
            <a:ext cx="6126163" cy="765175"/>
          </a:xfrm>
          <a:prstGeom prst="rect">
            <a:avLst/>
          </a:prstGeom>
          <a:noFill/>
          <a:ln w="12700">
            <a:solidFill>
              <a:srgbClr val="000000"/>
            </a:solidFill>
            <a:miter lim="800000"/>
            <a:headEnd/>
            <a:tailEnd/>
          </a:ln>
        </p:spPr>
        <p:txBody>
          <a:bodyPr lIns="0" tIns="17780" rIns="0" bIns="0">
            <a:spAutoFit/>
          </a:bodyPr>
          <a:lstStyle/>
          <a:p>
            <a:pPr marL="2459038" indent="-1916113">
              <a:lnSpc>
                <a:spcPct val="101000"/>
              </a:lnSpc>
              <a:spcBef>
                <a:spcPts val="138"/>
              </a:spcBef>
            </a:pPr>
            <a:r>
              <a:rPr lang="en-US" sz="2400" dirty="0">
                <a:latin typeface="Carlito"/>
                <a:ea typeface="Carlito"/>
                <a:cs typeface="Carlito"/>
              </a:rPr>
              <a:t>Keep </a:t>
            </a:r>
            <a:r>
              <a:rPr lang="en-US" sz="2400" b="1" dirty="0">
                <a:latin typeface="Carlito"/>
                <a:ea typeface="Carlito"/>
                <a:cs typeface="Carlito"/>
              </a:rPr>
              <a:t>accidental </a:t>
            </a:r>
            <a:r>
              <a:rPr lang="en-US" sz="2400" dirty="0">
                <a:latin typeface="Carlito"/>
                <a:ea typeface="Carlito"/>
                <a:cs typeface="Carlito"/>
              </a:rPr>
              <a:t>complexity from needlessly proliferating</a:t>
            </a:r>
          </a:p>
        </p:txBody>
      </p:sp>
    </p:spTree>
    <p:extLst>
      <p:ext uri="{BB962C8B-B14F-4D97-AF65-F5344CB8AC3E}">
        <p14:creationId xmlns:p14="http://schemas.microsoft.com/office/powerpoint/2010/main" val="251095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Desirable Characteristics of a Design</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8</a:t>
            </a:fld>
            <a:endParaRPr lang="en-US" sz="700"/>
          </a:p>
        </p:txBody>
      </p:sp>
      <p:sp>
        <p:nvSpPr>
          <p:cNvPr id="2" name="object 4">
            <a:extLst>
              <a:ext uri="{FF2B5EF4-FFF2-40B4-BE49-F238E27FC236}">
                <a16:creationId xmlns:a16="http://schemas.microsoft.com/office/drawing/2014/main" id="{C43486F5-74FB-9AB8-9678-C33ABB5F98A3}"/>
              </a:ext>
            </a:extLst>
          </p:cNvPr>
          <p:cNvSpPr>
            <a:spLocks noChangeArrowheads="1"/>
          </p:cNvSpPr>
          <p:nvPr/>
        </p:nvSpPr>
        <p:spPr bwMode="auto">
          <a:xfrm>
            <a:off x="96324" y="1369218"/>
            <a:ext cx="2462212" cy="1106487"/>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dirty="0"/>
          </a:p>
        </p:txBody>
      </p:sp>
      <p:sp>
        <p:nvSpPr>
          <p:cNvPr id="3" name="object 7">
            <a:extLst>
              <a:ext uri="{FF2B5EF4-FFF2-40B4-BE49-F238E27FC236}">
                <a16:creationId xmlns:a16="http://schemas.microsoft.com/office/drawing/2014/main" id="{15D03AB9-A653-0535-61BE-217E94D0049B}"/>
              </a:ext>
            </a:extLst>
          </p:cNvPr>
          <p:cNvSpPr>
            <a:spLocks noChangeArrowheads="1"/>
          </p:cNvSpPr>
          <p:nvPr/>
        </p:nvSpPr>
        <p:spPr bwMode="auto">
          <a:xfrm>
            <a:off x="2801164" y="1389061"/>
            <a:ext cx="2057400" cy="1066800"/>
          </a:xfrm>
          <a:prstGeom prst="rect">
            <a:avLst/>
          </a:prstGeom>
          <a:blipFill dpi="0" rotWithShape="1">
            <a:blip r:embed="rId3" cstate="print"/>
            <a:srcRect/>
            <a:stretch>
              <a:fillRect/>
            </a:stretch>
          </a:blipFill>
          <a:ln w="9525">
            <a:noFill/>
            <a:miter lim="800000"/>
            <a:headEnd/>
            <a:tailEnd/>
          </a:ln>
        </p:spPr>
        <p:txBody>
          <a:bodyPr lIns="0" tIns="0" rIns="0" bIns="0"/>
          <a:lstStyle/>
          <a:p>
            <a:endParaRPr lang="en-US"/>
          </a:p>
        </p:txBody>
      </p:sp>
      <p:sp>
        <p:nvSpPr>
          <p:cNvPr id="6" name="object 17">
            <a:extLst>
              <a:ext uri="{FF2B5EF4-FFF2-40B4-BE49-F238E27FC236}">
                <a16:creationId xmlns:a16="http://schemas.microsoft.com/office/drawing/2014/main" id="{29A4AB20-2474-0C23-E646-5A0E59E83BF5}"/>
              </a:ext>
            </a:extLst>
          </p:cNvPr>
          <p:cNvSpPr>
            <a:spLocks noChangeArrowheads="1"/>
          </p:cNvSpPr>
          <p:nvPr/>
        </p:nvSpPr>
        <p:spPr bwMode="auto">
          <a:xfrm>
            <a:off x="5101192" y="1272221"/>
            <a:ext cx="1325562" cy="1197592"/>
          </a:xfrm>
          <a:prstGeom prst="rect">
            <a:avLst/>
          </a:prstGeom>
          <a:blipFill dpi="0" rotWithShape="1">
            <a:blip r:embed="rId4" cstate="print"/>
            <a:srcRect/>
            <a:stretch>
              <a:fillRect/>
            </a:stretch>
          </a:blipFill>
          <a:ln w="9525">
            <a:noFill/>
            <a:miter lim="800000"/>
            <a:headEnd/>
            <a:tailEnd/>
          </a:ln>
        </p:spPr>
        <p:txBody>
          <a:bodyPr lIns="0" tIns="0" rIns="0" bIns="0"/>
          <a:lstStyle/>
          <a:p>
            <a:endParaRPr lang="en-US" dirty="0"/>
          </a:p>
        </p:txBody>
      </p:sp>
      <p:sp>
        <p:nvSpPr>
          <p:cNvPr id="7" name="object 22">
            <a:extLst>
              <a:ext uri="{FF2B5EF4-FFF2-40B4-BE49-F238E27FC236}">
                <a16:creationId xmlns:a16="http://schemas.microsoft.com/office/drawing/2014/main" id="{6ABEAD8A-8654-5526-99CD-AE8041DACA54}"/>
              </a:ext>
            </a:extLst>
          </p:cNvPr>
          <p:cNvSpPr>
            <a:spLocks noChangeArrowheads="1"/>
          </p:cNvSpPr>
          <p:nvPr/>
        </p:nvSpPr>
        <p:spPr bwMode="auto">
          <a:xfrm>
            <a:off x="6669382" y="1295399"/>
            <a:ext cx="1042987" cy="1160462"/>
          </a:xfrm>
          <a:prstGeom prst="rect">
            <a:avLst/>
          </a:prstGeom>
          <a:blipFill dpi="0" rotWithShape="1">
            <a:blip r:embed="rId5" cstate="print"/>
            <a:srcRect/>
            <a:stretch>
              <a:fillRect/>
            </a:stretch>
          </a:blipFill>
          <a:ln w="9525">
            <a:noFill/>
            <a:miter lim="800000"/>
            <a:headEnd/>
            <a:tailEnd/>
          </a:ln>
        </p:spPr>
        <p:txBody>
          <a:bodyPr lIns="0" tIns="0" rIns="0" bIns="0"/>
          <a:lstStyle/>
          <a:p>
            <a:endParaRPr lang="en-US" dirty="0"/>
          </a:p>
        </p:txBody>
      </p:sp>
      <p:sp>
        <p:nvSpPr>
          <p:cNvPr id="9" name="object 23">
            <a:extLst>
              <a:ext uri="{FF2B5EF4-FFF2-40B4-BE49-F238E27FC236}">
                <a16:creationId xmlns:a16="http://schemas.microsoft.com/office/drawing/2014/main" id="{38266AD6-4BEF-5C30-9160-F19BD5DF76D4}"/>
              </a:ext>
            </a:extLst>
          </p:cNvPr>
          <p:cNvSpPr>
            <a:spLocks noChangeArrowheads="1"/>
          </p:cNvSpPr>
          <p:nvPr/>
        </p:nvSpPr>
        <p:spPr bwMode="auto">
          <a:xfrm>
            <a:off x="7985391" y="1482079"/>
            <a:ext cx="984019" cy="777875"/>
          </a:xfrm>
          <a:prstGeom prst="rect">
            <a:avLst/>
          </a:prstGeom>
          <a:blipFill dpi="0" rotWithShape="1">
            <a:blip r:embed="rId6" cstate="print"/>
            <a:srcRect/>
            <a:stretch>
              <a:fillRect/>
            </a:stretch>
          </a:blipFill>
          <a:ln w="9525">
            <a:noFill/>
            <a:miter lim="800000"/>
            <a:headEnd/>
            <a:tailEnd/>
          </a:ln>
        </p:spPr>
        <p:txBody>
          <a:bodyPr lIns="0" tIns="0" rIns="0" bIns="0"/>
          <a:lstStyle/>
          <a:p>
            <a:endParaRPr lang="en-US" dirty="0"/>
          </a:p>
        </p:txBody>
      </p:sp>
      <p:sp>
        <p:nvSpPr>
          <p:cNvPr id="10" name="object 5">
            <a:extLst>
              <a:ext uri="{FF2B5EF4-FFF2-40B4-BE49-F238E27FC236}">
                <a16:creationId xmlns:a16="http://schemas.microsoft.com/office/drawing/2014/main" id="{36A6D3DD-F42F-2741-08B4-0ABF2C73E557}"/>
              </a:ext>
            </a:extLst>
          </p:cNvPr>
          <p:cNvSpPr txBox="1"/>
          <p:nvPr/>
        </p:nvSpPr>
        <p:spPr>
          <a:xfrm>
            <a:off x="57150" y="2564121"/>
            <a:ext cx="2501386" cy="308137"/>
          </a:xfrm>
          <a:prstGeom prst="rect">
            <a:avLst/>
          </a:prstGeom>
          <a:ln w="12700">
            <a:solidFill>
              <a:srgbClr val="000000"/>
            </a:solidFill>
          </a:ln>
        </p:spPr>
        <p:txBody>
          <a:bodyPr wrap="square" lIns="0" tIns="32384" rIns="0" bIns="0">
            <a:spAutoFit/>
          </a:bodyPr>
          <a:lstStyle/>
          <a:p>
            <a:pPr marL="527685">
              <a:spcBef>
                <a:spcPts val="254"/>
              </a:spcBef>
              <a:defRPr/>
            </a:pPr>
            <a:r>
              <a:rPr b="1" spc="-5" dirty="0">
                <a:latin typeface="Carlito"/>
                <a:cs typeface="Carlito"/>
              </a:rPr>
              <a:t>Minimal</a:t>
            </a:r>
            <a:r>
              <a:rPr b="1" spc="-10" dirty="0">
                <a:latin typeface="Carlito"/>
                <a:cs typeface="Carlito"/>
              </a:rPr>
              <a:t> Complexity</a:t>
            </a:r>
            <a:endParaRPr dirty="0">
              <a:latin typeface="Carlito"/>
              <a:cs typeface="Carlito"/>
            </a:endParaRPr>
          </a:p>
        </p:txBody>
      </p:sp>
      <p:sp>
        <p:nvSpPr>
          <p:cNvPr id="11" name="object 6">
            <a:extLst>
              <a:ext uri="{FF2B5EF4-FFF2-40B4-BE49-F238E27FC236}">
                <a16:creationId xmlns:a16="http://schemas.microsoft.com/office/drawing/2014/main" id="{0B4C83DF-C9BF-013F-2450-3CFFA7230479}"/>
              </a:ext>
            </a:extLst>
          </p:cNvPr>
          <p:cNvSpPr txBox="1"/>
          <p:nvPr/>
        </p:nvSpPr>
        <p:spPr>
          <a:xfrm>
            <a:off x="2617929" y="2562078"/>
            <a:ext cx="2153433" cy="309563"/>
          </a:xfrm>
          <a:prstGeom prst="rect">
            <a:avLst/>
          </a:prstGeom>
          <a:ln w="12700">
            <a:solidFill>
              <a:srgbClr val="000000"/>
            </a:solidFill>
          </a:ln>
        </p:spPr>
        <p:txBody>
          <a:bodyPr wrap="square" lIns="0" tIns="31115" rIns="0" bIns="0">
            <a:spAutoFit/>
          </a:bodyPr>
          <a:lstStyle/>
          <a:p>
            <a:pPr marL="143510">
              <a:spcBef>
                <a:spcPts val="245"/>
              </a:spcBef>
              <a:defRPr/>
            </a:pPr>
            <a:r>
              <a:rPr b="1" spc="-15" dirty="0">
                <a:latin typeface="Carlito"/>
                <a:cs typeface="Carlito"/>
              </a:rPr>
              <a:t>Ease </a:t>
            </a:r>
            <a:r>
              <a:rPr b="1" spc="-5" dirty="0">
                <a:latin typeface="Carlito"/>
                <a:cs typeface="Carlito"/>
              </a:rPr>
              <a:t>of</a:t>
            </a:r>
            <a:r>
              <a:rPr b="1" spc="-10" dirty="0">
                <a:latin typeface="Carlito"/>
                <a:cs typeface="Carlito"/>
              </a:rPr>
              <a:t> Maintenance</a:t>
            </a:r>
            <a:endParaRPr dirty="0">
              <a:latin typeface="Carlito"/>
              <a:cs typeface="Carlito"/>
            </a:endParaRPr>
          </a:p>
        </p:txBody>
      </p:sp>
      <p:sp>
        <p:nvSpPr>
          <p:cNvPr id="12" name="object 25">
            <a:extLst>
              <a:ext uri="{FF2B5EF4-FFF2-40B4-BE49-F238E27FC236}">
                <a16:creationId xmlns:a16="http://schemas.microsoft.com/office/drawing/2014/main" id="{D6F23A34-9CB5-BA35-F25A-7011831251C7}"/>
              </a:ext>
            </a:extLst>
          </p:cNvPr>
          <p:cNvSpPr txBox="1"/>
          <p:nvPr/>
        </p:nvSpPr>
        <p:spPr>
          <a:xfrm>
            <a:off x="4842916" y="2561917"/>
            <a:ext cx="1546225" cy="311150"/>
          </a:xfrm>
          <a:prstGeom prst="rect">
            <a:avLst/>
          </a:prstGeom>
          <a:ln w="9525">
            <a:solidFill>
              <a:srgbClr val="000000"/>
            </a:solidFill>
          </a:ln>
        </p:spPr>
        <p:txBody>
          <a:bodyPr lIns="0" tIns="33655" rIns="0" bIns="0">
            <a:spAutoFit/>
          </a:bodyPr>
          <a:lstStyle/>
          <a:p>
            <a:pPr marL="143510">
              <a:spcBef>
                <a:spcPts val="265"/>
              </a:spcBef>
              <a:defRPr/>
            </a:pPr>
            <a:r>
              <a:rPr b="1" spc="-10" dirty="0">
                <a:latin typeface="Carlito"/>
                <a:cs typeface="Carlito"/>
              </a:rPr>
              <a:t>Extensibility</a:t>
            </a:r>
            <a:endParaRPr dirty="0">
              <a:latin typeface="Carlito"/>
              <a:cs typeface="Carlito"/>
            </a:endParaRPr>
          </a:p>
        </p:txBody>
      </p:sp>
      <p:sp>
        <p:nvSpPr>
          <p:cNvPr id="13" name="object 11">
            <a:extLst>
              <a:ext uri="{FF2B5EF4-FFF2-40B4-BE49-F238E27FC236}">
                <a16:creationId xmlns:a16="http://schemas.microsoft.com/office/drawing/2014/main" id="{54FDCD1B-415B-AF76-CF44-561428D0D165}"/>
              </a:ext>
            </a:extLst>
          </p:cNvPr>
          <p:cNvSpPr txBox="1"/>
          <p:nvPr/>
        </p:nvSpPr>
        <p:spPr>
          <a:xfrm>
            <a:off x="6460695" y="2561917"/>
            <a:ext cx="1182153" cy="310341"/>
          </a:xfrm>
          <a:prstGeom prst="rect">
            <a:avLst/>
          </a:prstGeom>
          <a:ln w="12700">
            <a:solidFill>
              <a:srgbClr val="000000"/>
            </a:solidFill>
          </a:ln>
        </p:spPr>
        <p:txBody>
          <a:bodyPr wrap="square" lIns="0" tIns="33020" rIns="0" bIns="0">
            <a:spAutoFit/>
          </a:bodyPr>
          <a:lstStyle/>
          <a:p>
            <a:pPr marL="143510">
              <a:spcBef>
                <a:spcPts val="260"/>
              </a:spcBef>
              <a:defRPr/>
            </a:pPr>
            <a:r>
              <a:rPr b="1" spc="-10" dirty="0">
                <a:latin typeface="Carlito"/>
                <a:cs typeface="Carlito"/>
              </a:rPr>
              <a:t>Reusability</a:t>
            </a:r>
            <a:endParaRPr dirty="0">
              <a:latin typeface="Carlito"/>
              <a:cs typeface="Carlito"/>
            </a:endParaRPr>
          </a:p>
        </p:txBody>
      </p:sp>
      <p:sp>
        <p:nvSpPr>
          <p:cNvPr id="14" name="object 14">
            <a:extLst>
              <a:ext uri="{FF2B5EF4-FFF2-40B4-BE49-F238E27FC236}">
                <a16:creationId xmlns:a16="http://schemas.microsoft.com/office/drawing/2014/main" id="{ECB972F5-CD55-1AAF-728E-74F83A00410B}"/>
              </a:ext>
            </a:extLst>
          </p:cNvPr>
          <p:cNvSpPr txBox="1"/>
          <p:nvPr/>
        </p:nvSpPr>
        <p:spPr>
          <a:xfrm>
            <a:off x="7673717" y="2563504"/>
            <a:ext cx="1471292" cy="308137"/>
          </a:xfrm>
          <a:prstGeom prst="rect">
            <a:avLst/>
          </a:prstGeom>
          <a:ln w="9525">
            <a:solidFill>
              <a:srgbClr val="000000"/>
            </a:solidFill>
          </a:ln>
        </p:spPr>
        <p:txBody>
          <a:bodyPr wrap="square" lIns="0" tIns="33019" rIns="0" bIns="0">
            <a:spAutoFit/>
          </a:bodyPr>
          <a:lstStyle/>
          <a:p>
            <a:pPr marL="349885">
              <a:spcBef>
                <a:spcPts val="259"/>
              </a:spcBef>
              <a:defRPr/>
            </a:pPr>
            <a:r>
              <a:rPr b="1" spc="-10" dirty="0">
                <a:latin typeface="Carlito"/>
                <a:cs typeface="Carlito"/>
              </a:rPr>
              <a:t>Portability</a:t>
            </a:r>
            <a:endParaRPr dirty="0">
              <a:latin typeface="Carlito"/>
              <a:cs typeface="Carlito"/>
            </a:endParaRPr>
          </a:p>
        </p:txBody>
      </p:sp>
      <p:sp>
        <p:nvSpPr>
          <p:cNvPr id="15" name="Rectangle 34">
            <a:extLst>
              <a:ext uri="{FF2B5EF4-FFF2-40B4-BE49-F238E27FC236}">
                <a16:creationId xmlns:a16="http://schemas.microsoft.com/office/drawing/2014/main" id="{AA9F8A33-373D-112B-340F-1C2AACC66960}"/>
              </a:ext>
            </a:extLst>
          </p:cNvPr>
          <p:cNvSpPr/>
          <p:nvPr/>
        </p:nvSpPr>
        <p:spPr>
          <a:xfrm>
            <a:off x="574344" y="2889912"/>
            <a:ext cx="1787856" cy="400110"/>
          </a:xfrm>
          <a:prstGeom prst="rect">
            <a:avLst/>
          </a:prstGeom>
        </p:spPr>
        <p:txBody>
          <a:bodyPr wrap="square">
            <a:spAutoFit/>
          </a:bodyPr>
          <a:lstStyle/>
          <a:p>
            <a:r>
              <a:rPr lang="en-US" sz="1000" dirty="0"/>
              <a:t>Make “simple” and “easy-to-understand” designs</a:t>
            </a:r>
          </a:p>
        </p:txBody>
      </p:sp>
      <p:sp>
        <p:nvSpPr>
          <p:cNvPr id="16" name="Rectangle 35">
            <a:extLst>
              <a:ext uri="{FF2B5EF4-FFF2-40B4-BE49-F238E27FC236}">
                <a16:creationId xmlns:a16="http://schemas.microsoft.com/office/drawing/2014/main" id="{CF2059AC-DFAD-645A-3649-6F2D9BF5A6C5}"/>
              </a:ext>
            </a:extLst>
          </p:cNvPr>
          <p:cNvSpPr/>
          <p:nvPr/>
        </p:nvSpPr>
        <p:spPr>
          <a:xfrm>
            <a:off x="2617929" y="2902053"/>
            <a:ext cx="2379956" cy="246221"/>
          </a:xfrm>
          <a:prstGeom prst="rect">
            <a:avLst/>
          </a:prstGeom>
        </p:spPr>
        <p:txBody>
          <a:bodyPr wrap="square">
            <a:spAutoFit/>
          </a:bodyPr>
          <a:lstStyle/>
          <a:p>
            <a:r>
              <a:rPr lang="en-US" sz="1000" dirty="0"/>
              <a:t>Design the system to be self-explanatory</a:t>
            </a:r>
          </a:p>
        </p:txBody>
      </p:sp>
      <p:sp>
        <p:nvSpPr>
          <p:cNvPr id="17" name="Rectangle 37">
            <a:extLst>
              <a:ext uri="{FF2B5EF4-FFF2-40B4-BE49-F238E27FC236}">
                <a16:creationId xmlns:a16="http://schemas.microsoft.com/office/drawing/2014/main" id="{8DDE1E7E-B25D-D475-88DD-523E8AE0C7DF}"/>
              </a:ext>
            </a:extLst>
          </p:cNvPr>
          <p:cNvSpPr/>
          <p:nvPr/>
        </p:nvSpPr>
        <p:spPr>
          <a:xfrm>
            <a:off x="4858581" y="2889912"/>
            <a:ext cx="1981200" cy="400110"/>
          </a:xfrm>
          <a:prstGeom prst="rect">
            <a:avLst/>
          </a:prstGeom>
        </p:spPr>
        <p:txBody>
          <a:bodyPr wrap="square">
            <a:spAutoFit/>
          </a:bodyPr>
          <a:lstStyle/>
          <a:p>
            <a:r>
              <a:rPr lang="en-US" sz="1000" dirty="0"/>
              <a:t>Change a piece of a system without affecting other pieces</a:t>
            </a:r>
          </a:p>
        </p:txBody>
      </p:sp>
      <p:sp>
        <p:nvSpPr>
          <p:cNvPr id="18" name="Rectangle 38">
            <a:extLst>
              <a:ext uri="{FF2B5EF4-FFF2-40B4-BE49-F238E27FC236}">
                <a16:creationId xmlns:a16="http://schemas.microsoft.com/office/drawing/2014/main" id="{6ECAF25D-5180-3DDE-3F76-3F4D03F7736D}"/>
              </a:ext>
            </a:extLst>
          </p:cNvPr>
          <p:cNvSpPr/>
          <p:nvPr/>
        </p:nvSpPr>
        <p:spPr>
          <a:xfrm>
            <a:off x="6543175" y="2892370"/>
            <a:ext cx="1295400" cy="400110"/>
          </a:xfrm>
          <a:prstGeom prst="rect">
            <a:avLst/>
          </a:prstGeom>
        </p:spPr>
        <p:txBody>
          <a:bodyPr wrap="square">
            <a:spAutoFit/>
          </a:bodyPr>
          <a:lstStyle/>
          <a:p>
            <a:r>
              <a:rPr lang="en-US" sz="1000" dirty="0"/>
              <a:t>Reuse pieces of</a:t>
            </a:r>
          </a:p>
          <a:p>
            <a:r>
              <a:rPr lang="en-US" sz="1000" dirty="0"/>
              <a:t>it in other systems</a:t>
            </a:r>
          </a:p>
        </p:txBody>
      </p:sp>
      <p:sp>
        <p:nvSpPr>
          <p:cNvPr id="19" name="Rectangle 39">
            <a:extLst>
              <a:ext uri="{FF2B5EF4-FFF2-40B4-BE49-F238E27FC236}">
                <a16:creationId xmlns:a16="http://schemas.microsoft.com/office/drawing/2014/main" id="{F1944827-F598-5674-D1C7-181F85C242C2}"/>
              </a:ext>
            </a:extLst>
          </p:cNvPr>
          <p:cNvSpPr/>
          <p:nvPr/>
        </p:nvSpPr>
        <p:spPr>
          <a:xfrm>
            <a:off x="7673717" y="2889912"/>
            <a:ext cx="1447800" cy="400110"/>
          </a:xfrm>
          <a:prstGeom prst="rect">
            <a:avLst/>
          </a:prstGeom>
        </p:spPr>
        <p:txBody>
          <a:bodyPr wrap="square">
            <a:spAutoFit/>
          </a:bodyPr>
          <a:lstStyle/>
          <a:p>
            <a:r>
              <a:rPr lang="en-US" sz="1000" dirty="0"/>
              <a:t>Easily move it to</a:t>
            </a:r>
          </a:p>
          <a:p>
            <a:r>
              <a:rPr lang="en-US" sz="1000" dirty="0"/>
              <a:t>another environment</a:t>
            </a:r>
          </a:p>
        </p:txBody>
      </p:sp>
      <p:sp>
        <p:nvSpPr>
          <p:cNvPr id="20" name="object 10">
            <a:extLst>
              <a:ext uri="{FF2B5EF4-FFF2-40B4-BE49-F238E27FC236}">
                <a16:creationId xmlns:a16="http://schemas.microsoft.com/office/drawing/2014/main" id="{AE472188-29D5-F516-C441-1BF0C7AFAE87}"/>
              </a:ext>
            </a:extLst>
          </p:cNvPr>
          <p:cNvSpPr>
            <a:spLocks noChangeArrowheads="1"/>
          </p:cNvSpPr>
          <p:nvPr/>
        </p:nvSpPr>
        <p:spPr bwMode="auto">
          <a:xfrm>
            <a:off x="393443" y="3334289"/>
            <a:ext cx="1828800" cy="1295400"/>
          </a:xfrm>
          <a:prstGeom prst="rect">
            <a:avLst/>
          </a:prstGeom>
          <a:blipFill dpi="0" rotWithShape="1">
            <a:blip r:embed="rId7" cstate="print"/>
            <a:srcRect/>
            <a:stretch>
              <a:fillRect/>
            </a:stretch>
          </a:blipFill>
          <a:ln w="9525">
            <a:noFill/>
            <a:miter lim="800000"/>
            <a:headEnd/>
            <a:tailEnd/>
          </a:ln>
        </p:spPr>
        <p:txBody>
          <a:bodyPr lIns="0" tIns="0" rIns="0" bIns="0"/>
          <a:lstStyle/>
          <a:p>
            <a:endParaRPr lang="en-US" dirty="0"/>
          </a:p>
        </p:txBody>
      </p:sp>
      <p:sp>
        <p:nvSpPr>
          <p:cNvPr id="21" name="object 24">
            <a:extLst>
              <a:ext uri="{FF2B5EF4-FFF2-40B4-BE49-F238E27FC236}">
                <a16:creationId xmlns:a16="http://schemas.microsoft.com/office/drawing/2014/main" id="{63C2711B-4D96-2D86-2E16-7C960A99D06E}"/>
              </a:ext>
            </a:extLst>
          </p:cNvPr>
          <p:cNvSpPr>
            <a:spLocks noChangeArrowheads="1"/>
          </p:cNvSpPr>
          <p:nvPr/>
        </p:nvSpPr>
        <p:spPr bwMode="auto">
          <a:xfrm>
            <a:off x="2694828" y="3334289"/>
            <a:ext cx="1999633" cy="1319212"/>
          </a:xfrm>
          <a:prstGeom prst="rect">
            <a:avLst/>
          </a:prstGeom>
          <a:blipFill dpi="0" rotWithShape="1">
            <a:blip r:embed="rId8" cstate="print"/>
            <a:srcRect/>
            <a:stretch>
              <a:fillRect/>
            </a:stretch>
          </a:blipFill>
          <a:ln w="9525">
            <a:noFill/>
            <a:miter lim="800000"/>
            <a:headEnd/>
            <a:tailEnd/>
          </a:ln>
        </p:spPr>
        <p:txBody>
          <a:bodyPr lIns="0" tIns="0" rIns="0" bIns="0"/>
          <a:lstStyle/>
          <a:p>
            <a:endParaRPr lang="en-US" dirty="0"/>
          </a:p>
        </p:txBody>
      </p:sp>
      <p:sp>
        <p:nvSpPr>
          <p:cNvPr id="22" name="object 27">
            <a:extLst>
              <a:ext uri="{FF2B5EF4-FFF2-40B4-BE49-F238E27FC236}">
                <a16:creationId xmlns:a16="http://schemas.microsoft.com/office/drawing/2014/main" id="{273649CD-3D2A-4600-AC72-4D4834A3FC87}"/>
              </a:ext>
            </a:extLst>
          </p:cNvPr>
          <p:cNvSpPr>
            <a:spLocks noChangeArrowheads="1"/>
          </p:cNvSpPr>
          <p:nvPr/>
        </p:nvSpPr>
        <p:spPr bwMode="auto">
          <a:xfrm>
            <a:off x="5565959" y="3287954"/>
            <a:ext cx="645087" cy="1287272"/>
          </a:xfrm>
          <a:prstGeom prst="rect">
            <a:avLst/>
          </a:prstGeom>
          <a:blipFill dpi="0" rotWithShape="1">
            <a:blip r:embed="rId9" cstate="print"/>
            <a:srcRect/>
            <a:stretch>
              <a:fillRect/>
            </a:stretch>
          </a:blipFill>
          <a:ln w="9525">
            <a:noFill/>
            <a:miter lim="800000"/>
            <a:headEnd/>
            <a:tailEnd/>
          </a:ln>
        </p:spPr>
        <p:txBody>
          <a:bodyPr lIns="0" tIns="0" rIns="0" bIns="0"/>
          <a:lstStyle/>
          <a:p>
            <a:endParaRPr lang="en-US" dirty="0"/>
          </a:p>
        </p:txBody>
      </p:sp>
      <p:sp>
        <p:nvSpPr>
          <p:cNvPr id="23" name="object 29">
            <a:extLst>
              <a:ext uri="{FF2B5EF4-FFF2-40B4-BE49-F238E27FC236}">
                <a16:creationId xmlns:a16="http://schemas.microsoft.com/office/drawing/2014/main" id="{2B0E7D3D-C382-0BD6-74D9-E1CAB0D9738E}"/>
              </a:ext>
            </a:extLst>
          </p:cNvPr>
          <p:cNvSpPr>
            <a:spLocks noChangeArrowheads="1"/>
          </p:cNvSpPr>
          <p:nvPr/>
        </p:nvSpPr>
        <p:spPr bwMode="auto">
          <a:xfrm>
            <a:off x="5411247" y="3429000"/>
            <a:ext cx="409561" cy="306330"/>
          </a:xfrm>
          <a:prstGeom prst="rect">
            <a:avLst/>
          </a:prstGeom>
          <a:blipFill dpi="0" rotWithShape="1">
            <a:blip r:embed="rId10" cstate="print"/>
            <a:srcRect/>
            <a:stretch>
              <a:fillRect/>
            </a:stretch>
          </a:blipFill>
          <a:ln w="9525">
            <a:noFill/>
            <a:miter lim="800000"/>
            <a:headEnd/>
            <a:tailEnd/>
          </a:ln>
        </p:spPr>
        <p:txBody>
          <a:bodyPr lIns="0" tIns="0" rIns="0" bIns="0"/>
          <a:lstStyle/>
          <a:p>
            <a:endParaRPr lang="en-US"/>
          </a:p>
        </p:txBody>
      </p:sp>
      <p:sp>
        <p:nvSpPr>
          <p:cNvPr id="24" name="object 28">
            <a:extLst>
              <a:ext uri="{FF2B5EF4-FFF2-40B4-BE49-F238E27FC236}">
                <a16:creationId xmlns:a16="http://schemas.microsoft.com/office/drawing/2014/main" id="{68CAC98C-065B-DC35-28CF-F93FD73CD159}"/>
              </a:ext>
            </a:extLst>
          </p:cNvPr>
          <p:cNvSpPr>
            <a:spLocks noChangeArrowheads="1"/>
          </p:cNvSpPr>
          <p:nvPr/>
        </p:nvSpPr>
        <p:spPr bwMode="auto">
          <a:xfrm>
            <a:off x="5345254" y="3691808"/>
            <a:ext cx="409561" cy="160544"/>
          </a:xfrm>
          <a:prstGeom prst="rect">
            <a:avLst/>
          </a:prstGeom>
          <a:blipFill dpi="0" rotWithShape="1">
            <a:blip r:embed="rId11" cstate="print"/>
            <a:srcRect/>
            <a:stretch>
              <a:fillRect/>
            </a:stretch>
          </a:blipFill>
          <a:ln w="9525">
            <a:noFill/>
            <a:miter lim="800000"/>
            <a:headEnd/>
            <a:tailEnd/>
          </a:ln>
        </p:spPr>
        <p:txBody>
          <a:bodyPr lIns="0" tIns="0" rIns="0" bIns="0"/>
          <a:lstStyle/>
          <a:p>
            <a:endParaRPr lang="en-US"/>
          </a:p>
        </p:txBody>
      </p:sp>
      <p:sp>
        <p:nvSpPr>
          <p:cNvPr id="25" name="object 31">
            <a:extLst>
              <a:ext uri="{FF2B5EF4-FFF2-40B4-BE49-F238E27FC236}">
                <a16:creationId xmlns:a16="http://schemas.microsoft.com/office/drawing/2014/main" id="{23F9073C-78A1-C571-2613-4C6FBBBA5EA1}"/>
              </a:ext>
            </a:extLst>
          </p:cNvPr>
          <p:cNvSpPr>
            <a:spLocks noChangeArrowheads="1"/>
          </p:cNvSpPr>
          <p:nvPr/>
        </p:nvSpPr>
        <p:spPr bwMode="auto">
          <a:xfrm>
            <a:off x="7029192" y="3340187"/>
            <a:ext cx="644525" cy="1319212"/>
          </a:xfrm>
          <a:prstGeom prst="rect">
            <a:avLst/>
          </a:prstGeom>
          <a:blipFill dpi="0" rotWithShape="1">
            <a:blip r:embed="rId9" cstate="print"/>
            <a:srcRect/>
            <a:stretch>
              <a:fillRect/>
            </a:stretch>
          </a:blipFill>
          <a:ln w="9525">
            <a:noFill/>
            <a:miter lim="800000"/>
            <a:headEnd/>
            <a:tailEnd/>
          </a:ln>
        </p:spPr>
        <p:txBody>
          <a:bodyPr lIns="0" tIns="0" rIns="0" bIns="0"/>
          <a:lstStyle/>
          <a:p>
            <a:endParaRPr lang="en-US"/>
          </a:p>
        </p:txBody>
      </p:sp>
      <p:sp>
        <p:nvSpPr>
          <p:cNvPr id="26" name="object 32">
            <a:extLst>
              <a:ext uri="{FF2B5EF4-FFF2-40B4-BE49-F238E27FC236}">
                <a16:creationId xmlns:a16="http://schemas.microsoft.com/office/drawing/2014/main" id="{482D93FF-3482-65CE-7BE3-760123B35DE6}"/>
              </a:ext>
            </a:extLst>
          </p:cNvPr>
          <p:cNvSpPr>
            <a:spLocks noChangeArrowheads="1"/>
          </p:cNvSpPr>
          <p:nvPr/>
        </p:nvSpPr>
        <p:spPr bwMode="auto">
          <a:xfrm>
            <a:off x="7886597" y="3529280"/>
            <a:ext cx="360963" cy="323072"/>
          </a:xfrm>
          <a:prstGeom prst="rect">
            <a:avLst/>
          </a:prstGeom>
          <a:blipFill dpi="0" rotWithShape="1">
            <a:blip r:embed="rId10" cstate="print"/>
            <a:srcRect/>
            <a:stretch>
              <a:fillRect/>
            </a:stretch>
          </a:blipFill>
          <a:ln w="9525">
            <a:noFill/>
            <a:miter lim="800000"/>
            <a:headEnd/>
            <a:tailEnd/>
          </a:ln>
        </p:spPr>
        <p:txBody>
          <a:bodyPr lIns="0" tIns="0" rIns="0" bIns="0"/>
          <a:lstStyle/>
          <a:p>
            <a:endParaRPr lang="en-US" dirty="0"/>
          </a:p>
        </p:txBody>
      </p:sp>
      <p:sp>
        <p:nvSpPr>
          <p:cNvPr id="29" name="object 9">
            <a:extLst>
              <a:ext uri="{FF2B5EF4-FFF2-40B4-BE49-F238E27FC236}">
                <a16:creationId xmlns:a16="http://schemas.microsoft.com/office/drawing/2014/main" id="{80C794DF-2DEB-8F09-0D47-4D6D43728173}"/>
              </a:ext>
            </a:extLst>
          </p:cNvPr>
          <p:cNvSpPr txBox="1"/>
          <p:nvPr/>
        </p:nvSpPr>
        <p:spPr>
          <a:xfrm>
            <a:off x="421657" y="4719537"/>
            <a:ext cx="1892300" cy="288925"/>
          </a:xfrm>
          <a:prstGeom prst="rect">
            <a:avLst/>
          </a:prstGeom>
        </p:spPr>
        <p:txBody>
          <a:bodyPr lIns="0" tIns="12700" rIns="0" bIns="0">
            <a:spAutoFit/>
          </a:bodyPr>
          <a:lstStyle/>
          <a:p>
            <a:pPr marL="12700">
              <a:spcBef>
                <a:spcPts val="100"/>
              </a:spcBef>
              <a:defRPr/>
            </a:pPr>
            <a:r>
              <a:rPr b="1" spc="-10" dirty="0">
                <a:latin typeface="Carlito"/>
                <a:cs typeface="Carlito"/>
              </a:rPr>
              <a:t>Loose</a:t>
            </a:r>
            <a:r>
              <a:rPr b="1" spc="-45" dirty="0">
                <a:latin typeface="Carlito"/>
                <a:cs typeface="Carlito"/>
              </a:rPr>
              <a:t> </a:t>
            </a:r>
            <a:r>
              <a:rPr b="1" spc="-10" dirty="0">
                <a:latin typeface="Carlito"/>
                <a:cs typeface="Carlito"/>
              </a:rPr>
              <a:t>Coupling</a:t>
            </a:r>
            <a:endParaRPr dirty="0">
              <a:latin typeface="Carlito"/>
              <a:cs typeface="Carlito"/>
            </a:endParaRPr>
          </a:p>
        </p:txBody>
      </p:sp>
      <p:sp>
        <p:nvSpPr>
          <p:cNvPr id="30" name="object 8">
            <a:extLst>
              <a:ext uri="{FF2B5EF4-FFF2-40B4-BE49-F238E27FC236}">
                <a16:creationId xmlns:a16="http://schemas.microsoft.com/office/drawing/2014/main" id="{49693A9B-AF47-F0EF-8BAD-110329C388E2}"/>
              </a:ext>
            </a:extLst>
          </p:cNvPr>
          <p:cNvSpPr>
            <a:spLocks/>
          </p:cNvSpPr>
          <p:nvPr/>
        </p:nvSpPr>
        <p:spPr bwMode="auto">
          <a:xfrm>
            <a:off x="151564" y="4674762"/>
            <a:ext cx="2175844" cy="288925"/>
          </a:xfrm>
          <a:custGeom>
            <a:avLst/>
            <a:gdLst>
              <a:gd name="T0" fmla="*/ 0 w 2695575"/>
              <a:gd name="T1" fmla="*/ 0 h 369570"/>
              <a:gd name="T2" fmla="*/ 1030611 w 2695575"/>
              <a:gd name="T3" fmla="*/ 0 h 369570"/>
              <a:gd name="T4" fmla="*/ 1030611 w 2695575"/>
              <a:gd name="T5" fmla="*/ 370919 h 369570"/>
              <a:gd name="T6" fmla="*/ 0 w 2695575"/>
              <a:gd name="T7" fmla="*/ 370919 h 369570"/>
              <a:gd name="T8" fmla="*/ 0 w 2695575"/>
              <a:gd name="T9" fmla="*/ 0 h 369570"/>
              <a:gd name="T10" fmla="*/ 0 60000 65536"/>
              <a:gd name="T11" fmla="*/ 0 60000 65536"/>
              <a:gd name="T12" fmla="*/ 0 60000 65536"/>
              <a:gd name="T13" fmla="*/ 0 60000 65536"/>
              <a:gd name="T14" fmla="*/ 0 60000 65536"/>
              <a:gd name="T15" fmla="*/ 0 w 2695575"/>
              <a:gd name="T16" fmla="*/ 0 h 369570"/>
              <a:gd name="T17" fmla="*/ 2695575 w 2695575"/>
              <a:gd name="T18" fmla="*/ 369570 h 369570"/>
            </a:gdLst>
            <a:ahLst/>
            <a:cxnLst>
              <a:cxn ang="T10">
                <a:pos x="T0" y="T1"/>
              </a:cxn>
              <a:cxn ang="T11">
                <a:pos x="T2" y="T3"/>
              </a:cxn>
              <a:cxn ang="T12">
                <a:pos x="T4" y="T5"/>
              </a:cxn>
              <a:cxn ang="T13">
                <a:pos x="T6" y="T7"/>
              </a:cxn>
              <a:cxn ang="T14">
                <a:pos x="T8" y="T9"/>
              </a:cxn>
            </a:cxnLst>
            <a:rect l="T15" t="T16" r="T17" b="T18"/>
            <a:pathLst>
              <a:path w="2695575" h="369570">
                <a:moveTo>
                  <a:pt x="0" y="0"/>
                </a:moveTo>
                <a:lnTo>
                  <a:pt x="2695211" y="0"/>
                </a:lnTo>
                <a:lnTo>
                  <a:pt x="2695211" y="369332"/>
                </a:lnTo>
                <a:lnTo>
                  <a:pt x="0" y="369332"/>
                </a:lnTo>
                <a:lnTo>
                  <a:pt x="0" y="0"/>
                </a:lnTo>
                <a:close/>
              </a:path>
            </a:pathLst>
          </a:custGeom>
          <a:noFill/>
          <a:ln w="12700">
            <a:solidFill>
              <a:srgbClr val="000000"/>
            </a:solidFill>
            <a:round/>
            <a:headEnd/>
            <a:tailEnd/>
          </a:ln>
        </p:spPr>
        <p:txBody>
          <a:bodyPr lIns="0" tIns="0" rIns="0" bIns="0"/>
          <a:lstStyle/>
          <a:p>
            <a:endParaRPr lang="en-US" dirty="0"/>
          </a:p>
        </p:txBody>
      </p:sp>
      <p:sp>
        <p:nvSpPr>
          <p:cNvPr id="31" name="object 15">
            <a:extLst>
              <a:ext uri="{FF2B5EF4-FFF2-40B4-BE49-F238E27FC236}">
                <a16:creationId xmlns:a16="http://schemas.microsoft.com/office/drawing/2014/main" id="{3B8337CF-D0DA-B4B5-C910-8A1BB3550EA2}"/>
              </a:ext>
            </a:extLst>
          </p:cNvPr>
          <p:cNvSpPr txBox="1"/>
          <p:nvPr/>
        </p:nvSpPr>
        <p:spPr>
          <a:xfrm>
            <a:off x="2460520" y="4679055"/>
            <a:ext cx="2268537" cy="311150"/>
          </a:xfrm>
          <a:prstGeom prst="rect">
            <a:avLst/>
          </a:prstGeom>
          <a:ln w="12700">
            <a:solidFill>
              <a:srgbClr val="000000"/>
            </a:solidFill>
          </a:ln>
        </p:spPr>
        <p:txBody>
          <a:bodyPr lIns="0" tIns="34290" rIns="0" bIns="0">
            <a:spAutoFit/>
          </a:bodyPr>
          <a:lstStyle/>
          <a:p>
            <a:pPr algn="ctr">
              <a:spcBef>
                <a:spcPts val="270"/>
              </a:spcBef>
              <a:defRPr/>
            </a:pPr>
            <a:r>
              <a:rPr b="1" spc="-10" dirty="0">
                <a:latin typeface="Carlito"/>
                <a:cs typeface="Carlito"/>
              </a:rPr>
              <a:t>Leanness</a:t>
            </a:r>
            <a:endParaRPr dirty="0">
              <a:latin typeface="Carlito"/>
              <a:cs typeface="Carlito"/>
            </a:endParaRPr>
          </a:p>
        </p:txBody>
      </p:sp>
      <p:sp>
        <p:nvSpPr>
          <p:cNvPr id="32" name="object 12">
            <a:extLst>
              <a:ext uri="{FF2B5EF4-FFF2-40B4-BE49-F238E27FC236}">
                <a16:creationId xmlns:a16="http://schemas.microsoft.com/office/drawing/2014/main" id="{7BE65DC3-0022-9198-67B3-C866385D1388}"/>
              </a:ext>
            </a:extLst>
          </p:cNvPr>
          <p:cNvSpPr txBox="1"/>
          <p:nvPr/>
        </p:nvSpPr>
        <p:spPr>
          <a:xfrm>
            <a:off x="4864173" y="4679055"/>
            <a:ext cx="1600200" cy="309059"/>
          </a:xfrm>
          <a:prstGeom prst="rect">
            <a:avLst/>
          </a:prstGeom>
          <a:ln w="12700">
            <a:solidFill>
              <a:srgbClr val="000000"/>
            </a:solidFill>
          </a:ln>
        </p:spPr>
        <p:txBody>
          <a:bodyPr wrap="square" lIns="0" tIns="31750" rIns="0" bIns="0">
            <a:spAutoFit/>
          </a:bodyPr>
          <a:lstStyle/>
          <a:p>
            <a:pPr marL="220979">
              <a:spcBef>
                <a:spcPts val="250"/>
              </a:spcBef>
              <a:defRPr/>
            </a:pPr>
            <a:r>
              <a:rPr b="1" spc="-5" dirty="0">
                <a:latin typeface="Carlito"/>
                <a:cs typeface="Carlito"/>
              </a:rPr>
              <a:t>High</a:t>
            </a:r>
            <a:r>
              <a:rPr b="1" spc="-20" dirty="0">
                <a:latin typeface="Carlito"/>
                <a:cs typeface="Carlito"/>
              </a:rPr>
              <a:t> </a:t>
            </a:r>
            <a:r>
              <a:rPr b="1" spc="-15" dirty="0">
                <a:latin typeface="Carlito"/>
                <a:cs typeface="Carlito"/>
              </a:rPr>
              <a:t>Fan-In</a:t>
            </a:r>
            <a:endParaRPr dirty="0">
              <a:latin typeface="Carlito"/>
              <a:cs typeface="Carlito"/>
            </a:endParaRPr>
          </a:p>
        </p:txBody>
      </p:sp>
      <p:sp>
        <p:nvSpPr>
          <p:cNvPr id="33" name="object 13">
            <a:extLst>
              <a:ext uri="{FF2B5EF4-FFF2-40B4-BE49-F238E27FC236}">
                <a16:creationId xmlns:a16="http://schemas.microsoft.com/office/drawing/2014/main" id="{AD324A37-4F3B-742F-042A-C00AEF520FA5}"/>
              </a:ext>
            </a:extLst>
          </p:cNvPr>
          <p:cNvSpPr txBox="1"/>
          <p:nvPr/>
        </p:nvSpPr>
        <p:spPr>
          <a:xfrm>
            <a:off x="6545721" y="4689632"/>
            <a:ext cx="2525036" cy="309059"/>
          </a:xfrm>
          <a:prstGeom prst="rect">
            <a:avLst/>
          </a:prstGeom>
          <a:ln w="12700">
            <a:solidFill>
              <a:srgbClr val="000000"/>
            </a:solidFill>
          </a:ln>
        </p:spPr>
        <p:txBody>
          <a:bodyPr wrap="square" lIns="0" tIns="31750" rIns="0" bIns="0">
            <a:spAutoFit/>
          </a:bodyPr>
          <a:lstStyle/>
          <a:p>
            <a:pPr marL="181610">
              <a:spcBef>
                <a:spcPts val="250"/>
              </a:spcBef>
              <a:defRPr/>
            </a:pPr>
            <a:r>
              <a:rPr b="1" spc="-10" dirty="0">
                <a:latin typeface="Carlito"/>
                <a:cs typeface="Carlito"/>
              </a:rPr>
              <a:t>Low-to-Medium</a:t>
            </a:r>
            <a:r>
              <a:rPr b="1" spc="-20" dirty="0">
                <a:latin typeface="Carlito"/>
                <a:cs typeface="Carlito"/>
              </a:rPr>
              <a:t> </a:t>
            </a:r>
            <a:r>
              <a:rPr b="1" spc="-15" dirty="0">
                <a:latin typeface="Carlito"/>
                <a:cs typeface="Carlito"/>
              </a:rPr>
              <a:t>Fan-Out</a:t>
            </a:r>
            <a:endParaRPr dirty="0">
              <a:latin typeface="Carlito"/>
              <a:cs typeface="Carlito"/>
            </a:endParaRPr>
          </a:p>
        </p:txBody>
      </p:sp>
      <p:sp>
        <p:nvSpPr>
          <p:cNvPr id="34" name="Rectangle 36">
            <a:extLst>
              <a:ext uri="{FF2B5EF4-FFF2-40B4-BE49-F238E27FC236}">
                <a16:creationId xmlns:a16="http://schemas.microsoft.com/office/drawing/2014/main" id="{4CD99E32-536B-B151-5815-C5EA3BAF98DA}"/>
              </a:ext>
            </a:extLst>
          </p:cNvPr>
          <p:cNvSpPr/>
          <p:nvPr/>
        </p:nvSpPr>
        <p:spPr>
          <a:xfrm>
            <a:off x="393443" y="5008462"/>
            <a:ext cx="1828800" cy="400110"/>
          </a:xfrm>
          <a:prstGeom prst="rect">
            <a:avLst/>
          </a:prstGeom>
        </p:spPr>
        <p:txBody>
          <a:bodyPr wrap="square">
            <a:spAutoFit/>
          </a:bodyPr>
          <a:lstStyle/>
          <a:p>
            <a:r>
              <a:rPr lang="en-US" sz="1000" dirty="0"/>
              <a:t>Design classes with as few interconnections as possible</a:t>
            </a:r>
          </a:p>
        </p:txBody>
      </p:sp>
      <p:sp>
        <p:nvSpPr>
          <p:cNvPr id="35" name="Rectangle 41">
            <a:extLst>
              <a:ext uri="{FF2B5EF4-FFF2-40B4-BE49-F238E27FC236}">
                <a16:creationId xmlns:a16="http://schemas.microsoft.com/office/drawing/2014/main" id="{2C6757EB-4494-BE7A-A779-9CE7B69DDCF0}"/>
              </a:ext>
            </a:extLst>
          </p:cNvPr>
          <p:cNvSpPr/>
          <p:nvPr/>
        </p:nvSpPr>
        <p:spPr>
          <a:xfrm>
            <a:off x="145101" y="5508778"/>
            <a:ext cx="2168856" cy="553998"/>
          </a:xfrm>
          <a:prstGeom prst="rect">
            <a:avLst/>
          </a:prstGeom>
        </p:spPr>
        <p:txBody>
          <a:bodyPr wrap="square">
            <a:spAutoFit/>
          </a:bodyPr>
          <a:lstStyle/>
          <a:p>
            <a:r>
              <a:rPr lang="en-US" sz="1000" dirty="0"/>
              <a:t>Design the system so that you can view it at one level without dipping into other levels</a:t>
            </a:r>
          </a:p>
        </p:txBody>
      </p:sp>
      <p:sp>
        <p:nvSpPr>
          <p:cNvPr id="36" name="object 2">
            <a:extLst>
              <a:ext uri="{FF2B5EF4-FFF2-40B4-BE49-F238E27FC236}">
                <a16:creationId xmlns:a16="http://schemas.microsoft.com/office/drawing/2014/main" id="{13913B67-D3DB-B9E1-3E94-DDA161354073}"/>
              </a:ext>
            </a:extLst>
          </p:cNvPr>
          <p:cNvSpPr>
            <a:spLocks noChangeArrowheads="1"/>
          </p:cNvSpPr>
          <p:nvPr/>
        </p:nvSpPr>
        <p:spPr bwMode="auto">
          <a:xfrm>
            <a:off x="2233558" y="5097119"/>
            <a:ext cx="1897063" cy="1090613"/>
          </a:xfrm>
          <a:prstGeom prst="rect">
            <a:avLst/>
          </a:prstGeom>
          <a:blipFill dpi="0" rotWithShape="1">
            <a:blip r:embed="rId12" cstate="print"/>
            <a:srcRect/>
            <a:stretch>
              <a:fillRect/>
            </a:stretch>
          </a:blipFill>
          <a:ln w="9525">
            <a:noFill/>
            <a:miter lim="800000"/>
            <a:headEnd/>
            <a:tailEnd/>
          </a:ln>
        </p:spPr>
        <p:txBody>
          <a:bodyPr lIns="0" tIns="0" rIns="0" bIns="0"/>
          <a:lstStyle/>
          <a:p>
            <a:endParaRPr lang="en-US"/>
          </a:p>
        </p:txBody>
      </p:sp>
      <p:sp>
        <p:nvSpPr>
          <p:cNvPr id="37" name="Rectangle 40">
            <a:extLst>
              <a:ext uri="{FF2B5EF4-FFF2-40B4-BE49-F238E27FC236}">
                <a16:creationId xmlns:a16="http://schemas.microsoft.com/office/drawing/2014/main" id="{F3A7A3A7-4F5C-5111-DE06-1F1DE5A985F7}"/>
              </a:ext>
            </a:extLst>
          </p:cNvPr>
          <p:cNvSpPr/>
          <p:nvPr/>
        </p:nvSpPr>
        <p:spPr>
          <a:xfrm>
            <a:off x="3144454" y="4978598"/>
            <a:ext cx="986167" cy="246221"/>
          </a:xfrm>
          <a:prstGeom prst="rect">
            <a:avLst/>
          </a:prstGeom>
        </p:spPr>
        <p:txBody>
          <a:bodyPr wrap="none">
            <a:spAutoFit/>
          </a:bodyPr>
          <a:lstStyle/>
          <a:p>
            <a:r>
              <a:rPr lang="en-US" sz="1000" dirty="0"/>
              <a:t>No extra parts</a:t>
            </a:r>
          </a:p>
        </p:txBody>
      </p:sp>
      <p:sp>
        <p:nvSpPr>
          <p:cNvPr id="38" name="Rectangle 43">
            <a:extLst>
              <a:ext uri="{FF2B5EF4-FFF2-40B4-BE49-F238E27FC236}">
                <a16:creationId xmlns:a16="http://schemas.microsoft.com/office/drawing/2014/main" id="{F8FBE99F-277B-6533-E8F7-AB70EB0EDE4A}"/>
              </a:ext>
            </a:extLst>
          </p:cNvPr>
          <p:cNvSpPr/>
          <p:nvPr/>
        </p:nvSpPr>
        <p:spPr>
          <a:xfrm>
            <a:off x="4814555" y="5031781"/>
            <a:ext cx="2065360" cy="553998"/>
          </a:xfrm>
          <a:prstGeom prst="rect">
            <a:avLst/>
          </a:prstGeom>
        </p:spPr>
        <p:txBody>
          <a:bodyPr wrap="square">
            <a:spAutoFit/>
          </a:bodyPr>
          <a:lstStyle/>
          <a:p>
            <a:r>
              <a:rPr lang="en-US" sz="1000" dirty="0"/>
              <a:t>A system has been designed to make good use of utility classes at the lower levels in the system</a:t>
            </a:r>
          </a:p>
        </p:txBody>
      </p:sp>
      <p:sp>
        <p:nvSpPr>
          <p:cNvPr id="39" name="object 19">
            <a:extLst>
              <a:ext uri="{FF2B5EF4-FFF2-40B4-BE49-F238E27FC236}">
                <a16:creationId xmlns:a16="http://schemas.microsoft.com/office/drawing/2014/main" id="{DD72A445-71C8-6150-3F98-786BB40AB309}"/>
              </a:ext>
            </a:extLst>
          </p:cNvPr>
          <p:cNvSpPr>
            <a:spLocks noChangeArrowheads="1"/>
          </p:cNvSpPr>
          <p:nvPr/>
        </p:nvSpPr>
        <p:spPr bwMode="auto">
          <a:xfrm>
            <a:off x="4559180" y="5523500"/>
            <a:ext cx="2896654" cy="818678"/>
          </a:xfrm>
          <a:prstGeom prst="rect">
            <a:avLst/>
          </a:prstGeom>
          <a:blipFill dpi="0" rotWithShape="1">
            <a:blip r:embed="rId13" cstate="print"/>
            <a:srcRect/>
            <a:stretch>
              <a:fillRect/>
            </a:stretch>
          </a:blipFill>
          <a:ln w="9525">
            <a:noFill/>
            <a:miter lim="800000"/>
            <a:headEnd/>
            <a:tailEnd/>
          </a:ln>
        </p:spPr>
        <p:txBody>
          <a:bodyPr lIns="0" tIns="0" rIns="0" bIns="0"/>
          <a:lstStyle/>
          <a:p>
            <a:endParaRPr lang="en-US" dirty="0"/>
          </a:p>
        </p:txBody>
      </p:sp>
      <p:sp>
        <p:nvSpPr>
          <p:cNvPr id="41" name="object 21">
            <a:extLst>
              <a:ext uri="{FF2B5EF4-FFF2-40B4-BE49-F238E27FC236}">
                <a16:creationId xmlns:a16="http://schemas.microsoft.com/office/drawing/2014/main" id="{E4A3632A-66BD-1FB8-1513-F3CC9F8855EA}"/>
              </a:ext>
            </a:extLst>
          </p:cNvPr>
          <p:cNvSpPr txBox="1"/>
          <p:nvPr/>
        </p:nvSpPr>
        <p:spPr>
          <a:xfrm>
            <a:off x="4480893" y="6238021"/>
            <a:ext cx="3227387" cy="309562"/>
          </a:xfrm>
          <a:prstGeom prst="rect">
            <a:avLst/>
          </a:prstGeom>
          <a:ln w="12700">
            <a:solidFill>
              <a:srgbClr val="000000"/>
            </a:solidFill>
          </a:ln>
        </p:spPr>
        <p:txBody>
          <a:bodyPr lIns="0" tIns="31750" rIns="0" bIns="0">
            <a:spAutoFit/>
          </a:bodyPr>
          <a:lstStyle/>
          <a:p>
            <a:pPr marL="812800">
              <a:spcBef>
                <a:spcPts val="250"/>
              </a:spcBef>
              <a:defRPr/>
            </a:pPr>
            <a:r>
              <a:rPr b="1" spc="-10" dirty="0">
                <a:latin typeface="Carlito"/>
                <a:cs typeface="Carlito"/>
              </a:rPr>
              <a:t>Standard</a:t>
            </a:r>
            <a:r>
              <a:rPr b="1" spc="-5" dirty="0">
                <a:latin typeface="Carlito"/>
                <a:cs typeface="Carlito"/>
              </a:rPr>
              <a:t> </a:t>
            </a:r>
            <a:r>
              <a:rPr b="1" spc="-25" dirty="0">
                <a:latin typeface="Carlito"/>
                <a:cs typeface="Carlito"/>
              </a:rPr>
              <a:t>Techniques</a:t>
            </a:r>
            <a:endParaRPr dirty="0">
              <a:latin typeface="Carlito"/>
              <a:cs typeface="Carlito"/>
            </a:endParaRPr>
          </a:p>
        </p:txBody>
      </p:sp>
      <p:sp>
        <p:nvSpPr>
          <p:cNvPr id="42" name="object 16">
            <a:extLst>
              <a:ext uri="{FF2B5EF4-FFF2-40B4-BE49-F238E27FC236}">
                <a16:creationId xmlns:a16="http://schemas.microsoft.com/office/drawing/2014/main" id="{7BE4361D-9923-B6EB-8320-AA7C273708A5}"/>
              </a:ext>
            </a:extLst>
          </p:cNvPr>
          <p:cNvSpPr txBox="1"/>
          <p:nvPr/>
        </p:nvSpPr>
        <p:spPr>
          <a:xfrm>
            <a:off x="2027501" y="6259419"/>
            <a:ext cx="2103120" cy="311150"/>
          </a:xfrm>
          <a:prstGeom prst="rect">
            <a:avLst/>
          </a:prstGeom>
          <a:ln w="12700">
            <a:solidFill>
              <a:srgbClr val="000000"/>
            </a:solidFill>
          </a:ln>
        </p:spPr>
        <p:txBody>
          <a:bodyPr lIns="0" tIns="33020" rIns="0" bIns="0">
            <a:spAutoFit/>
          </a:bodyPr>
          <a:lstStyle/>
          <a:p>
            <a:pPr marL="634365">
              <a:spcBef>
                <a:spcPts val="260"/>
              </a:spcBef>
              <a:defRPr/>
            </a:pPr>
            <a:r>
              <a:rPr b="1" spc="-10" dirty="0">
                <a:latin typeface="Carlito"/>
                <a:cs typeface="Carlito"/>
              </a:rPr>
              <a:t>Stratification</a:t>
            </a:r>
            <a:endParaRPr dirty="0">
              <a:latin typeface="Carlito"/>
              <a:cs typeface="Carlito"/>
            </a:endParaRPr>
          </a:p>
        </p:txBody>
      </p:sp>
      <p:sp>
        <p:nvSpPr>
          <p:cNvPr id="43" name="Rectangle 44">
            <a:extLst>
              <a:ext uri="{FF2B5EF4-FFF2-40B4-BE49-F238E27FC236}">
                <a16:creationId xmlns:a16="http://schemas.microsoft.com/office/drawing/2014/main" id="{2F52C054-996A-1D42-FE82-F6C1F97AB5FD}"/>
              </a:ext>
            </a:extLst>
          </p:cNvPr>
          <p:cNvSpPr/>
          <p:nvPr/>
        </p:nvSpPr>
        <p:spPr>
          <a:xfrm>
            <a:off x="6766191" y="5012352"/>
            <a:ext cx="2438400" cy="400110"/>
          </a:xfrm>
          <a:prstGeom prst="rect">
            <a:avLst/>
          </a:prstGeom>
        </p:spPr>
        <p:txBody>
          <a:bodyPr wrap="square">
            <a:spAutoFit/>
          </a:bodyPr>
          <a:lstStyle/>
          <a:p>
            <a:r>
              <a:rPr lang="en-US" sz="1000" dirty="0"/>
              <a:t>A given class use a low-to-medium number of other classes</a:t>
            </a:r>
          </a:p>
        </p:txBody>
      </p:sp>
      <p:sp>
        <p:nvSpPr>
          <p:cNvPr id="44" name="Rectangle 42">
            <a:extLst>
              <a:ext uri="{FF2B5EF4-FFF2-40B4-BE49-F238E27FC236}">
                <a16:creationId xmlns:a16="http://schemas.microsoft.com/office/drawing/2014/main" id="{FEED2C7E-7DE4-94B0-88A7-300F5D673986}"/>
              </a:ext>
            </a:extLst>
          </p:cNvPr>
          <p:cNvSpPr/>
          <p:nvPr/>
        </p:nvSpPr>
        <p:spPr>
          <a:xfrm>
            <a:off x="7425344" y="5591191"/>
            <a:ext cx="1872629" cy="400110"/>
          </a:xfrm>
          <a:prstGeom prst="rect">
            <a:avLst/>
          </a:prstGeom>
        </p:spPr>
        <p:txBody>
          <a:bodyPr wrap="square">
            <a:spAutoFit/>
          </a:bodyPr>
          <a:lstStyle/>
          <a:p>
            <a:r>
              <a:rPr lang="en-US" sz="1000" dirty="0"/>
              <a:t>Using standardized, common </a:t>
            </a:r>
          </a:p>
          <a:p>
            <a:r>
              <a:rPr lang="en-US" sz="1000" dirty="0"/>
              <a:t>approaches</a:t>
            </a:r>
          </a:p>
        </p:txBody>
      </p:sp>
    </p:spTree>
    <p:extLst>
      <p:ext uri="{BB962C8B-B14F-4D97-AF65-F5344CB8AC3E}">
        <p14:creationId xmlns:p14="http://schemas.microsoft.com/office/powerpoint/2010/main" val="1240525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Level of Design</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9</a:t>
            </a:fld>
            <a:endParaRPr lang="en-US" sz="700"/>
          </a:p>
        </p:txBody>
      </p:sp>
      <p:sp>
        <p:nvSpPr>
          <p:cNvPr id="2" name="object 3">
            <a:extLst>
              <a:ext uri="{FF2B5EF4-FFF2-40B4-BE49-F238E27FC236}">
                <a16:creationId xmlns:a16="http://schemas.microsoft.com/office/drawing/2014/main" id="{9BCA3403-EA57-E439-B5F7-F15E4D6E52C1}"/>
              </a:ext>
            </a:extLst>
          </p:cNvPr>
          <p:cNvSpPr txBox="1">
            <a:spLocks noChangeArrowheads="1"/>
          </p:cNvSpPr>
          <p:nvPr/>
        </p:nvSpPr>
        <p:spPr bwMode="auto">
          <a:xfrm>
            <a:off x="162657" y="2340768"/>
            <a:ext cx="5499107" cy="2176463"/>
          </a:xfrm>
          <a:prstGeom prst="rect">
            <a:avLst/>
          </a:prstGeom>
          <a:noFill/>
          <a:ln w="12700">
            <a:solidFill>
              <a:srgbClr val="000000"/>
            </a:solidFill>
            <a:miter lim="800000"/>
            <a:headEnd/>
            <a:tailEnd/>
          </a:ln>
        </p:spPr>
        <p:txBody>
          <a:bodyPr wrap="square" lIns="0" tIns="20955" rIns="0" bIns="0">
            <a:spAutoFit/>
          </a:bodyPr>
          <a:lstStyle/>
          <a:p>
            <a:pPr marL="127000" indent="-1588">
              <a:spcBef>
                <a:spcPts val="163"/>
              </a:spcBef>
            </a:pPr>
            <a:r>
              <a:rPr lang="en-US" sz="2800" dirty="0">
                <a:latin typeface="Carlito"/>
                <a:ea typeface="Carlito"/>
                <a:cs typeface="Carlito"/>
              </a:rPr>
              <a:t>Design is </a:t>
            </a:r>
            <a:r>
              <a:rPr lang="en-US" sz="2800" b="1" dirty="0">
                <a:latin typeface="Carlito"/>
                <a:ea typeface="Carlito"/>
                <a:cs typeface="Carlito"/>
              </a:rPr>
              <a:t>needed </a:t>
            </a:r>
            <a:r>
              <a:rPr lang="en-US" sz="2800" dirty="0">
                <a:latin typeface="Carlito"/>
                <a:ea typeface="Carlito"/>
                <a:cs typeface="Carlito"/>
              </a:rPr>
              <a:t>at several different levels of detail in a software system. Some design  techniques apply at all levels, and some apply at only one or two.</a:t>
            </a:r>
          </a:p>
        </p:txBody>
      </p:sp>
      <p:sp>
        <p:nvSpPr>
          <p:cNvPr id="3" name="object 4">
            <a:extLst>
              <a:ext uri="{FF2B5EF4-FFF2-40B4-BE49-F238E27FC236}">
                <a16:creationId xmlns:a16="http://schemas.microsoft.com/office/drawing/2014/main" id="{E1AAA669-E8E2-55D7-65C2-23A247C22613}"/>
              </a:ext>
            </a:extLst>
          </p:cNvPr>
          <p:cNvSpPr>
            <a:spLocks noChangeArrowheads="1"/>
          </p:cNvSpPr>
          <p:nvPr/>
        </p:nvSpPr>
        <p:spPr bwMode="auto">
          <a:xfrm>
            <a:off x="5787025" y="1027135"/>
            <a:ext cx="3432132" cy="5511452"/>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dirty="0"/>
          </a:p>
        </p:txBody>
      </p:sp>
    </p:spTree>
    <p:extLst>
      <p:ext uri="{BB962C8B-B14F-4D97-AF65-F5344CB8AC3E}">
        <p14:creationId xmlns:p14="http://schemas.microsoft.com/office/powerpoint/2010/main" val="1569888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Level of Design</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10</a:t>
            </a:fld>
            <a:endParaRPr lang="en-US" sz="700"/>
          </a:p>
        </p:txBody>
      </p:sp>
      <p:sp>
        <p:nvSpPr>
          <p:cNvPr id="2" name="object 4">
            <a:extLst>
              <a:ext uri="{FF2B5EF4-FFF2-40B4-BE49-F238E27FC236}">
                <a16:creationId xmlns:a16="http://schemas.microsoft.com/office/drawing/2014/main" id="{E7DBD051-DBAF-99D5-EB46-B06E02816CFB}"/>
              </a:ext>
            </a:extLst>
          </p:cNvPr>
          <p:cNvSpPr>
            <a:spLocks noChangeArrowheads="1"/>
          </p:cNvSpPr>
          <p:nvPr/>
        </p:nvSpPr>
        <p:spPr bwMode="auto">
          <a:xfrm>
            <a:off x="574555" y="1052186"/>
            <a:ext cx="3984625" cy="5388541"/>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dirty="0"/>
          </a:p>
        </p:txBody>
      </p:sp>
      <p:sp>
        <p:nvSpPr>
          <p:cNvPr id="3" name="object 6">
            <a:extLst>
              <a:ext uri="{FF2B5EF4-FFF2-40B4-BE49-F238E27FC236}">
                <a16:creationId xmlns:a16="http://schemas.microsoft.com/office/drawing/2014/main" id="{B907DDDE-5DB7-D9BE-B884-747A814CF9F2}"/>
              </a:ext>
            </a:extLst>
          </p:cNvPr>
          <p:cNvSpPr txBox="1"/>
          <p:nvPr/>
        </p:nvSpPr>
        <p:spPr>
          <a:xfrm>
            <a:off x="4559180" y="1509712"/>
            <a:ext cx="4572000" cy="1919288"/>
          </a:xfrm>
          <a:prstGeom prst="rect">
            <a:avLst/>
          </a:prstGeom>
          <a:solidFill>
            <a:schemeClr val="bg1">
              <a:lumMod val="95000"/>
            </a:schemeClr>
          </a:solidFill>
        </p:spPr>
        <p:txBody>
          <a:bodyPr lIns="0" tIns="33655" rIns="0" bIns="0">
            <a:spAutoFit/>
          </a:bodyPr>
          <a:lstStyle/>
          <a:p>
            <a:pPr marL="90488">
              <a:lnSpc>
                <a:spcPts val="2125"/>
              </a:lnSpc>
              <a:spcBef>
                <a:spcPts val="263"/>
              </a:spcBef>
              <a:defRPr/>
            </a:pPr>
            <a:r>
              <a:rPr lang="en-US" dirty="0">
                <a:latin typeface="Carlito"/>
                <a:ea typeface="Carlito"/>
                <a:cs typeface="Carlito"/>
              </a:rPr>
              <a:t>❶ </a:t>
            </a:r>
            <a:r>
              <a:rPr lang="en-US" dirty="0">
                <a:latin typeface="Trebuchet MS" pitchFamily="34" charset="0"/>
              </a:rPr>
              <a:t>Software System</a:t>
            </a:r>
          </a:p>
          <a:p>
            <a:pPr marL="90488">
              <a:lnSpc>
                <a:spcPts val="2125"/>
              </a:lnSpc>
              <a:defRPr/>
            </a:pPr>
            <a:r>
              <a:rPr lang="en-US" dirty="0">
                <a:latin typeface="Carlito"/>
                <a:ea typeface="Carlito"/>
                <a:cs typeface="Carlito"/>
              </a:rPr>
              <a:t>The first level is the entire system. Some programmers jump right from the system level into designing classes,  but it’s usually beneficial to think through higher level  combinations of classes, such as subsystems or packages.</a:t>
            </a:r>
          </a:p>
        </p:txBody>
      </p:sp>
      <p:sp>
        <p:nvSpPr>
          <p:cNvPr id="6" name="object 7">
            <a:extLst>
              <a:ext uri="{FF2B5EF4-FFF2-40B4-BE49-F238E27FC236}">
                <a16:creationId xmlns:a16="http://schemas.microsoft.com/office/drawing/2014/main" id="{11014B65-6F3E-4F86-64A5-668A336504B5}"/>
              </a:ext>
            </a:extLst>
          </p:cNvPr>
          <p:cNvSpPr>
            <a:spLocks/>
          </p:cNvSpPr>
          <p:nvPr/>
        </p:nvSpPr>
        <p:spPr bwMode="auto">
          <a:xfrm>
            <a:off x="3106455" y="1670195"/>
            <a:ext cx="1608028" cy="45719"/>
          </a:xfrm>
          <a:custGeom>
            <a:avLst/>
            <a:gdLst>
              <a:gd name="T0" fmla="*/ 943574 w 2475865"/>
              <a:gd name="T1" fmla="*/ 89247 h 92709"/>
              <a:gd name="T2" fmla="*/ 0 w 2475865"/>
              <a:gd name="T3" fmla="*/ 0 h 92709"/>
              <a:gd name="T4" fmla="*/ 0 60000 65536"/>
              <a:gd name="T5" fmla="*/ 0 60000 65536"/>
              <a:gd name="T6" fmla="*/ 0 w 2475865"/>
              <a:gd name="T7" fmla="*/ 0 h 92709"/>
              <a:gd name="T8" fmla="*/ 2475865 w 2475865"/>
              <a:gd name="T9" fmla="*/ 92709 h 92709"/>
            </a:gdLst>
            <a:ahLst/>
            <a:cxnLst>
              <a:cxn ang="T4">
                <a:pos x="T0" y="T1"/>
              </a:cxn>
              <a:cxn ang="T5">
                <a:pos x="T2" y="T3"/>
              </a:cxn>
            </a:cxnLst>
            <a:rect l="T6" t="T7" r="T8" b="T9"/>
            <a:pathLst>
              <a:path w="2475865" h="92709">
                <a:moveTo>
                  <a:pt x="2475351" y="92363"/>
                </a:moveTo>
                <a:lnTo>
                  <a:pt x="0" y="0"/>
                </a:lnTo>
              </a:path>
            </a:pathLst>
          </a:custGeom>
          <a:noFill/>
          <a:ln w="38100">
            <a:solidFill>
              <a:srgbClr val="000000"/>
            </a:solidFill>
            <a:round/>
            <a:headEnd/>
            <a:tailEnd/>
          </a:ln>
        </p:spPr>
        <p:txBody>
          <a:bodyPr lIns="0" tIns="0" rIns="0" bIns="0"/>
          <a:lstStyle/>
          <a:p>
            <a:endParaRPr lang="en-US" dirty="0"/>
          </a:p>
        </p:txBody>
      </p:sp>
    </p:spTree>
    <p:extLst>
      <p:ext uri="{BB962C8B-B14F-4D97-AF65-F5344CB8AC3E}">
        <p14:creationId xmlns:p14="http://schemas.microsoft.com/office/powerpoint/2010/main" val="1912636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Level of Design</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11</a:t>
            </a:fld>
            <a:endParaRPr lang="en-US" sz="700"/>
          </a:p>
        </p:txBody>
      </p:sp>
      <p:sp>
        <p:nvSpPr>
          <p:cNvPr id="2" name="object 4">
            <a:extLst>
              <a:ext uri="{FF2B5EF4-FFF2-40B4-BE49-F238E27FC236}">
                <a16:creationId xmlns:a16="http://schemas.microsoft.com/office/drawing/2014/main" id="{6E2D0BB4-FA3E-BC49-FEA4-40AC1F89C587}"/>
              </a:ext>
            </a:extLst>
          </p:cNvPr>
          <p:cNvSpPr>
            <a:spLocks noChangeArrowheads="1"/>
          </p:cNvSpPr>
          <p:nvPr/>
        </p:nvSpPr>
        <p:spPr bwMode="auto">
          <a:xfrm>
            <a:off x="-163425" y="1182471"/>
            <a:ext cx="3984625" cy="5634037"/>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3" name="object 6">
            <a:extLst>
              <a:ext uri="{FF2B5EF4-FFF2-40B4-BE49-F238E27FC236}">
                <a16:creationId xmlns:a16="http://schemas.microsoft.com/office/drawing/2014/main" id="{B1F5C5E0-1099-B12E-3E27-7B5ECB3AADB7}"/>
              </a:ext>
            </a:extLst>
          </p:cNvPr>
          <p:cNvSpPr txBox="1"/>
          <p:nvPr/>
        </p:nvSpPr>
        <p:spPr>
          <a:xfrm>
            <a:off x="3655513" y="1173141"/>
            <a:ext cx="5334000" cy="1381125"/>
          </a:xfrm>
          <a:prstGeom prst="rect">
            <a:avLst/>
          </a:prstGeom>
          <a:solidFill>
            <a:schemeClr val="bg1">
              <a:lumMod val="95000"/>
            </a:schemeClr>
          </a:solidFill>
        </p:spPr>
        <p:txBody>
          <a:bodyPr lIns="0" tIns="33655" rIns="0" bIns="0">
            <a:spAutoFit/>
          </a:bodyPr>
          <a:lstStyle/>
          <a:p>
            <a:pPr marL="90488">
              <a:lnSpc>
                <a:spcPts val="2125"/>
              </a:lnSpc>
              <a:spcBef>
                <a:spcPts val="263"/>
              </a:spcBef>
              <a:defRPr/>
            </a:pPr>
            <a:r>
              <a:rPr lang="en-US" dirty="0">
                <a:latin typeface="Carlito"/>
                <a:ea typeface="Carlito"/>
                <a:cs typeface="Carlito"/>
              </a:rPr>
              <a:t>❷ </a:t>
            </a:r>
            <a:r>
              <a:rPr lang="en-US" dirty="0">
                <a:latin typeface="Trebuchet MS" pitchFamily="34" charset="0"/>
              </a:rPr>
              <a:t>Division into Subsystems or Packages</a:t>
            </a:r>
          </a:p>
          <a:p>
            <a:pPr marL="90488">
              <a:lnSpc>
                <a:spcPts val="2125"/>
              </a:lnSpc>
              <a:defRPr/>
            </a:pPr>
            <a:r>
              <a:rPr lang="en-US" dirty="0">
                <a:latin typeface="Carlito"/>
                <a:ea typeface="Carlito"/>
                <a:cs typeface="Carlito"/>
              </a:rPr>
              <a:t>The major design activity at this level is deciding how to partition the program into major subsystems and defining how each subsystem is allowed to use each other subsystem.</a:t>
            </a:r>
          </a:p>
        </p:txBody>
      </p:sp>
      <p:sp>
        <p:nvSpPr>
          <p:cNvPr id="6" name="object 10">
            <a:extLst>
              <a:ext uri="{FF2B5EF4-FFF2-40B4-BE49-F238E27FC236}">
                <a16:creationId xmlns:a16="http://schemas.microsoft.com/office/drawing/2014/main" id="{EB49F7D7-8A98-E1FA-4130-0A7174E5B1DE}"/>
              </a:ext>
            </a:extLst>
          </p:cNvPr>
          <p:cNvSpPr txBox="1">
            <a:spLocks noChangeArrowheads="1"/>
          </p:cNvSpPr>
          <p:nvPr/>
        </p:nvSpPr>
        <p:spPr bwMode="auto">
          <a:xfrm>
            <a:off x="3655513" y="2560612"/>
            <a:ext cx="5334000" cy="387350"/>
          </a:xfrm>
          <a:prstGeom prst="rect">
            <a:avLst/>
          </a:prstGeom>
          <a:noFill/>
          <a:ln w="9525">
            <a:noFill/>
            <a:miter lim="800000"/>
            <a:headEnd/>
            <a:tailEnd/>
          </a:ln>
        </p:spPr>
        <p:txBody>
          <a:bodyPr lIns="0" tIns="6350" rIns="0" bIns="0">
            <a:spAutoFit/>
          </a:bodyPr>
          <a:lstStyle/>
          <a:p>
            <a:pPr marL="1676400" indent="-1663700">
              <a:lnSpc>
                <a:spcPct val="103000"/>
              </a:lnSpc>
              <a:spcBef>
                <a:spcPts val="50"/>
              </a:spcBef>
            </a:pPr>
            <a:r>
              <a:rPr lang="en-US" sz="1200" i="1" dirty="0">
                <a:latin typeface="Carlito"/>
                <a:ea typeface="Carlito"/>
                <a:cs typeface="Carlito"/>
              </a:rPr>
              <a:t>Within each subsystem, different methods of design might be used—choosing the approach  that best fits each part of the system.</a:t>
            </a:r>
            <a:endParaRPr lang="en-US" sz="1200" dirty="0">
              <a:latin typeface="Carlito"/>
              <a:ea typeface="Carlito"/>
              <a:cs typeface="Carlito"/>
            </a:endParaRPr>
          </a:p>
        </p:txBody>
      </p:sp>
      <p:sp>
        <p:nvSpPr>
          <p:cNvPr id="7" name="object 16">
            <a:extLst>
              <a:ext uri="{FF2B5EF4-FFF2-40B4-BE49-F238E27FC236}">
                <a16:creationId xmlns:a16="http://schemas.microsoft.com/office/drawing/2014/main" id="{81ED4B9C-CB61-4FFA-58E3-440C6393643A}"/>
              </a:ext>
            </a:extLst>
          </p:cNvPr>
          <p:cNvSpPr txBox="1">
            <a:spLocks noChangeArrowheads="1"/>
          </p:cNvSpPr>
          <p:nvPr/>
        </p:nvSpPr>
        <p:spPr bwMode="auto">
          <a:xfrm>
            <a:off x="3284038" y="3148582"/>
            <a:ext cx="3038475" cy="1227138"/>
          </a:xfrm>
          <a:prstGeom prst="rect">
            <a:avLst/>
          </a:prstGeom>
          <a:solidFill>
            <a:srgbClr val="E2F0D9"/>
          </a:solidFill>
          <a:ln w="9525">
            <a:noFill/>
            <a:miter lim="800000"/>
            <a:headEnd/>
            <a:tailEnd/>
          </a:ln>
        </p:spPr>
        <p:txBody>
          <a:bodyPr lIns="0" tIns="45085" rIns="0" bIns="0">
            <a:spAutoFit/>
          </a:bodyPr>
          <a:lstStyle/>
          <a:p>
            <a:pPr algn="ctr">
              <a:lnSpc>
                <a:spcPts val="1850"/>
              </a:lnSpc>
              <a:spcBef>
                <a:spcPts val="350"/>
              </a:spcBef>
            </a:pPr>
            <a:r>
              <a:rPr lang="en-US" sz="1600" b="1" dirty="0">
                <a:latin typeface="Trebuchet MS" pitchFamily="34" charset="0"/>
              </a:rPr>
              <a:t>User interface</a:t>
            </a:r>
          </a:p>
          <a:p>
            <a:pPr algn="ctr">
              <a:lnSpc>
                <a:spcPts val="1375"/>
              </a:lnSpc>
            </a:pPr>
            <a:r>
              <a:rPr lang="en-US" sz="1200" dirty="0">
                <a:latin typeface="Carlito"/>
                <a:ea typeface="Carlito"/>
                <a:cs typeface="Carlito"/>
              </a:rPr>
              <a:t>May use several subordinate subsystems or</a:t>
            </a:r>
          </a:p>
          <a:p>
            <a:pPr algn="ctr">
              <a:lnSpc>
                <a:spcPct val="101000"/>
              </a:lnSpc>
              <a:spcBef>
                <a:spcPts val="63"/>
              </a:spcBef>
            </a:pPr>
            <a:r>
              <a:rPr lang="en-US" sz="1200" dirty="0">
                <a:latin typeface="Carlito"/>
                <a:ea typeface="Carlito"/>
                <a:cs typeface="Carlito"/>
              </a:rPr>
              <a:t>classes for the GUI interface, command line  interface, menu operations, window  management, help system, and so forth</a:t>
            </a:r>
          </a:p>
        </p:txBody>
      </p:sp>
      <p:sp>
        <p:nvSpPr>
          <p:cNvPr id="11" name="object 11">
            <a:extLst>
              <a:ext uri="{FF2B5EF4-FFF2-40B4-BE49-F238E27FC236}">
                <a16:creationId xmlns:a16="http://schemas.microsoft.com/office/drawing/2014/main" id="{6D504AE2-5D34-4A47-CD8B-227BC55732D1}"/>
              </a:ext>
            </a:extLst>
          </p:cNvPr>
          <p:cNvSpPr txBox="1"/>
          <p:nvPr/>
        </p:nvSpPr>
        <p:spPr>
          <a:xfrm>
            <a:off x="4572000" y="4315201"/>
            <a:ext cx="2514600" cy="750887"/>
          </a:xfrm>
          <a:prstGeom prst="rect">
            <a:avLst/>
          </a:prstGeom>
        </p:spPr>
        <p:txBody>
          <a:bodyPr lIns="0" tIns="12700" rIns="0" bIns="0">
            <a:spAutoFit/>
          </a:bodyPr>
          <a:lstStyle/>
          <a:p>
            <a:pPr marL="12700" algn="ctr">
              <a:spcBef>
                <a:spcPts val="100"/>
              </a:spcBef>
              <a:defRPr/>
            </a:pPr>
            <a:r>
              <a:rPr sz="2400" spc="5" dirty="0">
                <a:latin typeface="Carlito"/>
                <a:cs typeface="Carlito"/>
              </a:rPr>
              <a:t>C</a:t>
            </a:r>
            <a:r>
              <a:rPr sz="2400" dirty="0">
                <a:latin typeface="Carlito"/>
                <a:cs typeface="Carlito"/>
              </a:rPr>
              <a:t>o</a:t>
            </a:r>
            <a:r>
              <a:rPr sz="2400" spc="5" dirty="0">
                <a:latin typeface="Carlito"/>
                <a:cs typeface="Carlito"/>
              </a:rPr>
              <a:t>mm</a:t>
            </a:r>
            <a:r>
              <a:rPr sz="2400" dirty="0">
                <a:latin typeface="Carlito"/>
                <a:cs typeface="Carlito"/>
              </a:rPr>
              <a:t>on</a:t>
            </a:r>
            <a:r>
              <a:rPr lang="en-US" sz="2400" dirty="0">
                <a:latin typeface="Carlito"/>
                <a:cs typeface="Carlito"/>
              </a:rPr>
              <a:t> </a:t>
            </a:r>
            <a:r>
              <a:rPr lang="en-US" sz="2400" spc="-20" dirty="0">
                <a:latin typeface="Carlito"/>
                <a:cs typeface="Carlito"/>
              </a:rPr>
              <a:t>Subsystems</a:t>
            </a:r>
            <a:endParaRPr lang="en-US" sz="2400" dirty="0">
              <a:latin typeface="Carlito"/>
              <a:cs typeface="Carlito"/>
            </a:endParaRPr>
          </a:p>
        </p:txBody>
      </p:sp>
      <p:sp>
        <p:nvSpPr>
          <p:cNvPr id="12" name="object 13">
            <a:extLst>
              <a:ext uri="{FF2B5EF4-FFF2-40B4-BE49-F238E27FC236}">
                <a16:creationId xmlns:a16="http://schemas.microsoft.com/office/drawing/2014/main" id="{CBAD4237-5DD5-C3A5-A96C-546D69140AE4}"/>
              </a:ext>
            </a:extLst>
          </p:cNvPr>
          <p:cNvSpPr txBox="1">
            <a:spLocks noChangeArrowheads="1"/>
          </p:cNvSpPr>
          <p:nvPr/>
        </p:nvSpPr>
        <p:spPr bwMode="auto">
          <a:xfrm>
            <a:off x="6476500" y="3148581"/>
            <a:ext cx="2513013" cy="854075"/>
          </a:xfrm>
          <a:prstGeom prst="rect">
            <a:avLst/>
          </a:prstGeom>
          <a:solidFill>
            <a:srgbClr val="E2F0D9"/>
          </a:solidFill>
          <a:ln w="9525">
            <a:noFill/>
            <a:miter lim="800000"/>
            <a:headEnd/>
            <a:tailEnd/>
          </a:ln>
        </p:spPr>
        <p:txBody>
          <a:bodyPr lIns="0" tIns="46355" rIns="0" bIns="0">
            <a:spAutoFit/>
          </a:bodyPr>
          <a:lstStyle/>
          <a:p>
            <a:pPr algn="ctr">
              <a:lnSpc>
                <a:spcPts val="1850"/>
              </a:lnSpc>
              <a:spcBef>
                <a:spcPts val="363"/>
              </a:spcBef>
            </a:pPr>
            <a:r>
              <a:rPr lang="en-US" sz="1600" b="1" dirty="0">
                <a:latin typeface="Trebuchet MS" pitchFamily="34" charset="0"/>
              </a:rPr>
              <a:t>Business Rules</a:t>
            </a:r>
          </a:p>
          <a:p>
            <a:pPr algn="ctr">
              <a:lnSpc>
                <a:spcPts val="1375"/>
              </a:lnSpc>
            </a:pPr>
            <a:r>
              <a:rPr lang="en-US" sz="1200" dirty="0">
                <a:latin typeface="Carlito"/>
                <a:ea typeface="Carlito"/>
                <a:cs typeface="Carlito"/>
              </a:rPr>
              <a:t>the laws, regulations, policies,</a:t>
            </a:r>
          </a:p>
          <a:p>
            <a:pPr algn="ctr">
              <a:lnSpc>
                <a:spcPts val="1388"/>
              </a:lnSpc>
              <a:spcBef>
                <a:spcPts val="163"/>
              </a:spcBef>
            </a:pPr>
            <a:r>
              <a:rPr lang="en-US" sz="1200" dirty="0">
                <a:latin typeface="Carlito"/>
                <a:ea typeface="Carlito"/>
                <a:cs typeface="Carlito"/>
              </a:rPr>
              <a:t>and procedures that you encode  into a computer system</a:t>
            </a:r>
          </a:p>
        </p:txBody>
      </p:sp>
      <p:sp>
        <p:nvSpPr>
          <p:cNvPr id="16" name="object 8">
            <a:extLst>
              <a:ext uri="{FF2B5EF4-FFF2-40B4-BE49-F238E27FC236}">
                <a16:creationId xmlns:a16="http://schemas.microsoft.com/office/drawing/2014/main" id="{9E7CEE5F-94CF-A259-A7E0-BA71568FF227}"/>
              </a:ext>
            </a:extLst>
          </p:cNvPr>
          <p:cNvSpPr>
            <a:spLocks/>
          </p:cNvSpPr>
          <p:nvPr/>
        </p:nvSpPr>
        <p:spPr bwMode="auto">
          <a:xfrm>
            <a:off x="2279736" y="1425713"/>
            <a:ext cx="1541463" cy="842840"/>
          </a:xfrm>
          <a:custGeom>
            <a:avLst/>
            <a:gdLst>
              <a:gd name="T0" fmla="*/ 2272141 w 2272665"/>
              <a:gd name="T1" fmla="*/ 0 h 914400"/>
              <a:gd name="T2" fmla="*/ 0 w 2272665"/>
              <a:gd name="T3" fmla="*/ 914399 h 914400"/>
              <a:gd name="T4" fmla="*/ 0 60000 65536"/>
              <a:gd name="T5" fmla="*/ 0 60000 65536"/>
              <a:gd name="T6" fmla="*/ 0 w 2272665"/>
              <a:gd name="T7" fmla="*/ 0 h 914400"/>
              <a:gd name="T8" fmla="*/ 2272665 w 2272665"/>
              <a:gd name="T9" fmla="*/ 914400 h 914400"/>
            </a:gdLst>
            <a:ahLst/>
            <a:cxnLst>
              <a:cxn ang="T4">
                <a:pos x="T0" y="T1"/>
              </a:cxn>
              <a:cxn ang="T5">
                <a:pos x="T2" y="T3"/>
              </a:cxn>
            </a:cxnLst>
            <a:rect l="T6" t="T7" r="T8" b="T9"/>
            <a:pathLst>
              <a:path w="2272665" h="914400">
                <a:moveTo>
                  <a:pt x="2272141" y="0"/>
                </a:moveTo>
                <a:lnTo>
                  <a:pt x="0" y="914399"/>
                </a:lnTo>
              </a:path>
            </a:pathLst>
          </a:custGeom>
          <a:noFill/>
          <a:ln w="38100">
            <a:solidFill>
              <a:srgbClr val="000000"/>
            </a:solidFill>
            <a:round/>
            <a:headEnd/>
            <a:tailEnd/>
          </a:ln>
        </p:spPr>
        <p:txBody>
          <a:bodyPr lIns="0" tIns="0" rIns="0" bIns="0"/>
          <a:lstStyle/>
          <a:p>
            <a:endParaRPr lang="en-US" dirty="0"/>
          </a:p>
        </p:txBody>
      </p:sp>
      <p:sp>
        <p:nvSpPr>
          <p:cNvPr id="17" name="object 9">
            <a:extLst>
              <a:ext uri="{FF2B5EF4-FFF2-40B4-BE49-F238E27FC236}">
                <a16:creationId xmlns:a16="http://schemas.microsoft.com/office/drawing/2014/main" id="{692E2035-7778-D111-7822-0B499BAEAE2C}"/>
              </a:ext>
            </a:extLst>
          </p:cNvPr>
          <p:cNvSpPr>
            <a:spLocks/>
          </p:cNvSpPr>
          <p:nvPr/>
        </p:nvSpPr>
        <p:spPr bwMode="auto">
          <a:xfrm>
            <a:off x="4861259" y="4303499"/>
            <a:ext cx="1936082" cy="967379"/>
          </a:xfrm>
          <a:custGeom>
            <a:avLst/>
            <a:gdLst>
              <a:gd name="T0" fmla="*/ 0 w 2346325"/>
              <a:gd name="T1" fmla="*/ 0 h 1077595"/>
              <a:gd name="T2" fmla="*/ 2346041 w 2346325"/>
              <a:gd name="T3" fmla="*/ 0 h 1077595"/>
              <a:gd name="T4" fmla="*/ 2346041 w 2346325"/>
              <a:gd name="T5" fmla="*/ 1077220 h 1077595"/>
              <a:gd name="T6" fmla="*/ 0 w 2346325"/>
              <a:gd name="T7" fmla="*/ 1077220 h 1077595"/>
              <a:gd name="T8" fmla="*/ 0 w 2346325"/>
              <a:gd name="T9" fmla="*/ 0 h 1077595"/>
              <a:gd name="T10" fmla="*/ 0 60000 65536"/>
              <a:gd name="T11" fmla="*/ 0 60000 65536"/>
              <a:gd name="T12" fmla="*/ 0 60000 65536"/>
              <a:gd name="T13" fmla="*/ 0 60000 65536"/>
              <a:gd name="T14" fmla="*/ 0 60000 65536"/>
              <a:gd name="T15" fmla="*/ 0 w 2346325"/>
              <a:gd name="T16" fmla="*/ 0 h 1077595"/>
              <a:gd name="T17" fmla="*/ 2346325 w 2346325"/>
              <a:gd name="T18" fmla="*/ 1077595 h 1077595"/>
            </a:gdLst>
            <a:ahLst/>
            <a:cxnLst>
              <a:cxn ang="T10">
                <a:pos x="T0" y="T1"/>
              </a:cxn>
              <a:cxn ang="T11">
                <a:pos x="T2" y="T3"/>
              </a:cxn>
              <a:cxn ang="T12">
                <a:pos x="T4" y="T5"/>
              </a:cxn>
              <a:cxn ang="T13">
                <a:pos x="T6" y="T7"/>
              </a:cxn>
              <a:cxn ang="T14">
                <a:pos x="T8" y="T9"/>
              </a:cxn>
            </a:cxnLst>
            <a:rect l="T15" t="T16" r="T17" b="T18"/>
            <a:pathLst>
              <a:path w="2346325" h="1077595">
                <a:moveTo>
                  <a:pt x="0" y="0"/>
                </a:moveTo>
                <a:lnTo>
                  <a:pt x="2346041" y="0"/>
                </a:lnTo>
                <a:lnTo>
                  <a:pt x="2346041" y="1077220"/>
                </a:lnTo>
                <a:lnTo>
                  <a:pt x="0" y="1077220"/>
                </a:lnTo>
                <a:lnTo>
                  <a:pt x="0" y="0"/>
                </a:lnTo>
                <a:close/>
              </a:path>
            </a:pathLst>
          </a:custGeom>
          <a:noFill/>
          <a:ln w="9525">
            <a:solidFill>
              <a:srgbClr val="000000"/>
            </a:solidFill>
            <a:round/>
            <a:headEnd/>
            <a:tailEnd/>
          </a:ln>
        </p:spPr>
        <p:txBody>
          <a:bodyPr lIns="0" tIns="0" rIns="0" bIns="0"/>
          <a:lstStyle/>
          <a:p>
            <a:endParaRPr lang="en-US"/>
          </a:p>
        </p:txBody>
      </p:sp>
      <p:sp>
        <p:nvSpPr>
          <p:cNvPr id="18" name="object 15">
            <a:extLst>
              <a:ext uri="{FF2B5EF4-FFF2-40B4-BE49-F238E27FC236}">
                <a16:creationId xmlns:a16="http://schemas.microsoft.com/office/drawing/2014/main" id="{4FF798D3-C16D-836D-8BC2-4051CF6643A7}"/>
              </a:ext>
            </a:extLst>
          </p:cNvPr>
          <p:cNvSpPr txBox="1">
            <a:spLocks noChangeArrowheads="1"/>
          </p:cNvSpPr>
          <p:nvPr/>
        </p:nvSpPr>
        <p:spPr bwMode="auto">
          <a:xfrm>
            <a:off x="2520284" y="5125248"/>
            <a:ext cx="2667000" cy="841375"/>
          </a:xfrm>
          <a:prstGeom prst="rect">
            <a:avLst/>
          </a:prstGeom>
          <a:solidFill>
            <a:srgbClr val="E2F0D9"/>
          </a:solidFill>
          <a:ln w="9525">
            <a:noFill/>
            <a:miter lim="800000"/>
            <a:headEnd/>
            <a:tailEnd/>
          </a:ln>
        </p:spPr>
        <p:txBody>
          <a:bodyPr lIns="0" tIns="45085" rIns="0" bIns="0">
            <a:spAutoFit/>
          </a:bodyPr>
          <a:lstStyle/>
          <a:p>
            <a:pPr algn="ctr">
              <a:lnSpc>
                <a:spcPts val="1875"/>
              </a:lnSpc>
              <a:spcBef>
                <a:spcPts val="350"/>
              </a:spcBef>
            </a:pPr>
            <a:r>
              <a:rPr lang="en-US" sz="1600" b="1" dirty="0">
                <a:latin typeface="Trebuchet MS" pitchFamily="34" charset="0"/>
              </a:rPr>
              <a:t>Database Access</a:t>
            </a:r>
          </a:p>
          <a:p>
            <a:pPr algn="ctr">
              <a:lnSpc>
                <a:spcPts val="1388"/>
              </a:lnSpc>
            </a:pPr>
            <a:r>
              <a:rPr lang="en-US" sz="1200" dirty="0">
                <a:latin typeface="Carlito"/>
                <a:ea typeface="Carlito"/>
                <a:cs typeface="Carlito"/>
              </a:rPr>
              <a:t>centralize database operations in</a:t>
            </a:r>
          </a:p>
          <a:p>
            <a:pPr algn="ctr">
              <a:lnSpc>
                <a:spcPts val="1388"/>
              </a:lnSpc>
              <a:spcBef>
                <a:spcPts val="138"/>
              </a:spcBef>
            </a:pPr>
            <a:r>
              <a:rPr lang="en-US" sz="1200" dirty="0">
                <a:latin typeface="Carlito"/>
                <a:ea typeface="Carlito"/>
                <a:cs typeface="Carlito"/>
              </a:rPr>
              <a:t>one place and reduce the chance  of errors in working with the data.</a:t>
            </a:r>
          </a:p>
        </p:txBody>
      </p:sp>
      <p:sp>
        <p:nvSpPr>
          <p:cNvPr id="19" name="object 14">
            <a:extLst>
              <a:ext uri="{FF2B5EF4-FFF2-40B4-BE49-F238E27FC236}">
                <a16:creationId xmlns:a16="http://schemas.microsoft.com/office/drawing/2014/main" id="{2A3D8FE1-9502-B8CE-6A19-D0E064D37AD6}"/>
              </a:ext>
            </a:extLst>
          </p:cNvPr>
          <p:cNvSpPr txBox="1">
            <a:spLocks noChangeArrowheads="1"/>
          </p:cNvSpPr>
          <p:nvPr/>
        </p:nvSpPr>
        <p:spPr bwMode="auto">
          <a:xfrm>
            <a:off x="5331913" y="5120963"/>
            <a:ext cx="3657600" cy="1392237"/>
          </a:xfrm>
          <a:prstGeom prst="rect">
            <a:avLst/>
          </a:prstGeom>
          <a:solidFill>
            <a:srgbClr val="E2F0D9"/>
          </a:solidFill>
          <a:ln w="9525">
            <a:noFill/>
            <a:miter lim="800000"/>
            <a:headEnd/>
            <a:tailEnd/>
          </a:ln>
        </p:spPr>
        <p:txBody>
          <a:bodyPr lIns="0" tIns="45085" rIns="0" bIns="0">
            <a:spAutoFit/>
          </a:bodyPr>
          <a:lstStyle/>
          <a:p>
            <a:pPr algn="ctr">
              <a:lnSpc>
                <a:spcPts val="1875"/>
              </a:lnSpc>
              <a:spcBef>
                <a:spcPts val="350"/>
              </a:spcBef>
            </a:pPr>
            <a:r>
              <a:rPr lang="en-US" sz="1600" b="1" dirty="0">
                <a:latin typeface="Trebuchet MS" pitchFamily="34" charset="0"/>
              </a:rPr>
              <a:t>System dependencies</a:t>
            </a:r>
          </a:p>
          <a:p>
            <a:pPr algn="ctr">
              <a:lnSpc>
                <a:spcPts val="1388"/>
              </a:lnSpc>
            </a:pPr>
            <a:r>
              <a:rPr lang="en-US" sz="1200" dirty="0">
                <a:latin typeface="Carlito"/>
                <a:ea typeface="Carlito"/>
                <a:cs typeface="Carlito"/>
              </a:rPr>
              <a:t>If you're developing a program for</a:t>
            </a:r>
          </a:p>
          <a:p>
            <a:pPr algn="ctr">
              <a:spcBef>
                <a:spcPts val="50"/>
              </a:spcBef>
            </a:pPr>
            <a:r>
              <a:rPr lang="en-US" sz="1200" dirty="0">
                <a:latin typeface="Carlito"/>
                <a:ea typeface="Carlito"/>
                <a:cs typeface="Carlito"/>
              </a:rPr>
              <a:t>Microsoft Windows, why limit yourself to  the Windows environment? Isolate the  Windows calls in a Windows-interface  subsystem. If you later want to move your  program to Mac OS or Linux, all you'll have  to change is the interface subsystem</a:t>
            </a:r>
          </a:p>
        </p:txBody>
      </p:sp>
    </p:spTree>
    <p:extLst>
      <p:ext uri="{BB962C8B-B14F-4D97-AF65-F5344CB8AC3E}">
        <p14:creationId xmlns:p14="http://schemas.microsoft.com/office/powerpoint/2010/main" val="156507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Level of Design</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12</a:t>
            </a:fld>
            <a:endParaRPr lang="en-US" sz="700"/>
          </a:p>
        </p:txBody>
      </p:sp>
      <p:sp>
        <p:nvSpPr>
          <p:cNvPr id="2" name="object 4">
            <a:extLst>
              <a:ext uri="{FF2B5EF4-FFF2-40B4-BE49-F238E27FC236}">
                <a16:creationId xmlns:a16="http://schemas.microsoft.com/office/drawing/2014/main" id="{48704847-B044-AD24-B36B-64232D2BC38B}"/>
              </a:ext>
            </a:extLst>
          </p:cNvPr>
          <p:cNvSpPr>
            <a:spLocks noChangeArrowheads="1"/>
          </p:cNvSpPr>
          <p:nvPr/>
        </p:nvSpPr>
        <p:spPr bwMode="auto">
          <a:xfrm>
            <a:off x="213617" y="909462"/>
            <a:ext cx="3984625" cy="5634037"/>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dirty="0"/>
          </a:p>
        </p:txBody>
      </p:sp>
      <p:sp>
        <p:nvSpPr>
          <p:cNvPr id="3" name="object 6">
            <a:extLst>
              <a:ext uri="{FF2B5EF4-FFF2-40B4-BE49-F238E27FC236}">
                <a16:creationId xmlns:a16="http://schemas.microsoft.com/office/drawing/2014/main" id="{02EE528D-EF78-4A52-C1CC-698551B84C4D}"/>
              </a:ext>
            </a:extLst>
          </p:cNvPr>
          <p:cNvSpPr txBox="1"/>
          <p:nvPr/>
        </p:nvSpPr>
        <p:spPr>
          <a:xfrm>
            <a:off x="4159945" y="1286898"/>
            <a:ext cx="4770438" cy="841375"/>
          </a:xfrm>
          <a:prstGeom prst="rect">
            <a:avLst/>
          </a:prstGeom>
          <a:solidFill>
            <a:schemeClr val="bg1">
              <a:lumMod val="95000"/>
            </a:schemeClr>
          </a:solidFill>
        </p:spPr>
        <p:txBody>
          <a:bodyPr lIns="0" tIns="33655" rIns="0" bIns="0">
            <a:spAutoFit/>
          </a:bodyPr>
          <a:lstStyle/>
          <a:p>
            <a:pPr marL="90488">
              <a:lnSpc>
                <a:spcPts val="2125"/>
              </a:lnSpc>
              <a:spcBef>
                <a:spcPts val="263"/>
              </a:spcBef>
              <a:defRPr/>
            </a:pPr>
            <a:r>
              <a:rPr lang="en-US" dirty="0">
                <a:latin typeface="Carlito"/>
                <a:ea typeface="Carlito"/>
                <a:cs typeface="Carlito"/>
              </a:rPr>
              <a:t>❸ </a:t>
            </a:r>
            <a:r>
              <a:rPr lang="en-US" dirty="0">
                <a:latin typeface="Trebuchet MS" pitchFamily="34" charset="0"/>
              </a:rPr>
              <a:t>Division into Classes within Packages</a:t>
            </a:r>
          </a:p>
          <a:p>
            <a:pPr marL="90488">
              <a:lnSpc>
                <a:spcPts val="2125"/>
              </a:lnSpc>
              <a:defRPr/>
            </a:pPr>
            <a:r>
              <a:rPr lang="en-US" dirty="0">
                <a:latin typeface="Carlito"/>
                <a:ea typeface="Carlito"/>
                <a:cs typeface="Carlito"/>
              </a:rPr>
              <a:t>Design at this level includes identifying all classes in the system.</a:t>
            </a:r>
          </a:p>
        </p:txBody>
      </p:sp>
      <p:sp>
        <p:nvSpPr>
          <p:cNvPr id="4" name="object 9">
            <a:extLst>
              <a:ext uri="{FF2B5EF4-FFF2-40B4-BE49-F238E27FC236}">
                <a16:creationId xmlns:a16="http://schemas.microsoft.com/office/drawing/2014/main" id="{62E0E11E-762B-4538-3573-73F6347B183D}"/>
              </a:ext>
            </a:extLst>
          </p:cNvPr>
          <p:cNvSpPr>
            <a:spLocks noChangeArrowheads="1"/>
          </p:cNvSpPr>
          <p:nvPr/>
        </p:nvSpPr>
        <p:spPr bwMode="auto">
          <a:xfrm>
            <a:off x="5484312" y="3077937"/>
            <a:ext cx="2160001" cy="2618671"/>
          </a:xfrm>
          <a:prstGeom prst="rect">
            <a:avLst/>
          </a:prstGeom>
          <a:blipFill dpi="0" rotWithShape="1">
            <a:blip r:embed="rId3" cstate="print"/>
            <a:srcRect/>
            <a:stretch>
              <a:fillRect/>
            </a:stretch>
          </a:blipFill>
          <a:ln w="9525">
            <a:noFill/>
            <a:miter lim="800000"/>
            <a:headEnd/>
            <a:tailEnd/>
          </a:ln>
        </p:spPr>
        <p:txBody>
          <a:bodyPr lIns="0" tIns="0" rIns="0" bIns="0"/>
          <a:lstStyle/>
          <a:p>
            <a:endParaRPr lang="en-US" dirty="0"/>
          </a:p>
        </p:txBody>
      </p:sp>
      <p:sp>
        <p:nvSpPr>
          <p:cNvPr id="6" name="object 10">
            <a:extLst>
              <a:ext uri="{FF2B5EF4-FFF2-40B4-BE49-F238E27FC236}">
                <a16:creationId xmlns:a16="http://schemas.microsoft.com/office/drawing/2014/main" id="{C6092360-897A-3CBF-20DF-27394BE93721}"/>
              </a:ext>
            </a:extLst>
          </p:cNvPr>
          <p:cNvSpPr txBox="1">
            <a:spLocks noChangeArrowheads="1"/>
          </p:cNvSpPr>
          <p:nvPr/>
        </p:nvSpPr>
        <p:spPr bwMode="auto">
          <a:xfrm>
            <a:off x="6511022" y="3604648"/>
            <a:ext cx="1739900" cy="936625"/>
          </a:xfrm>
          <a:prstGeom prst="rect">
            <a:avLst/>
          </a:prstGeom>
          <a:noFill/>
          <a:ln w="9525">
            <a:noFill/>
            <a:miter lim="800000"/>
            <a:headEnd/>
            <a:tailEnd/>
          </a:ln>
        </p:spPr>
        <p:txBody>
          <a:bodyPr lIns="0" tIns="12700" rIns="0" bIns="0">
            <a:spAutoFit/>
          </a:bodyPr>
          <a:lstStyle/>
          <a:p>
            <a:pPr marL="12700">
              <a:spcBef>
                <a:spcPts val="100"/>
              </a:spcBef>
            </a:pPr>
            <a:r>
              <a:rPr lang="en-US" sz="2000" b="1" dirty="0">
                <a:latin typeface="Carlito"/>
                <a:ea typeface="Carlito"/>
                <a:cs typeface="Carlito"/>
              </a:rPr>
              <a:t>Object  Oriented  Programming</a:t>
            </a:r>
            <a:endParaRPr lang="en-US" sz="2000" dirty="0">
              <a:latin typeface="Carlito"/>
              <a:ea typeface="Carlito"/>
              <a:cs typeface="Carlito"/>
            </a:endParaRPr>
          </a:p>
        </p:txBody>
      </p:sp>
      <p:sp>
        <p:nvSpPr>
          <p:cNvPr id="7" name="object 11">
            <a:extLst>
              <a:ext uri="{FF2B5EF4-FFF2-40B4-BE49-F238E27FC236}">
                <a16:creationId xmlns:a16="http://schemas.microsoft.com/office/drawing/2014/main" id="{0C4F3302-753A-AA5E-D7C0-91E92EF7419F}"/>
              </a:ext>
            </a:extLst>
          </p:cNvPr>
          <p:cNvSpPr>
            <a:spLocks noChangeArrowheads="1"/>
          </p:cNvSpPr>
          <p:nvPr/>
        </p:nvSpPr>
        <p:spPr bwMode="auto">
          <a:xfrm>
            <a:off x="6493366" y="3237935"/>
            <a:ext cx="1423987" cy="366713"/>
          </a:xfrm>
          <a:prstGeom prst="rect">
            <a:avLst/>
          </a:prstGeom>
          <a:blipFill dpi="0" rotWithShape="1">
            <a:blip r:embed="rId4" cstate="print"/>
            <a:srcRect/>
            <a:stretch>
              <a:fillRect/>
            </a:stretch>
          </a:blipFill>
          <a:ln w="9525">
            <a:noFill/>
            <a:miter lim="800000"/>
            <a:headEnd/>
            <a:tailEnd/>
          </a:ln>
        </p:spPr>
        <p:txBody>
          <a:bodyPr lIns="0" tIns="0" rIns="0" bIns="0"/>
          <a:lstStyle/>
          <a:p>
            <a:endParaRPr lang="en-US" dirty="0"/>
          </a:p>
        </p:txBody>
      </p:sp>
      <p:sp>
        <p:nvSpPr>
          <p:cNvPr id="8" name="object 8">
            <a:extLst>
              <a:ext uri="{FF2B5EF4-FFF2-40B4-BE49-F238E27FC236}">
                <a16:creationId xmlns:a16="http://schemas.microsoft.com/office/drawing/2014/main" id="{030921B7-FF56-5B3C-4019-09318DC61E7E}"/>
              </a:ext>
            </a:extLst>
          </p:cNvPr>
          <p:cNvSpPr>
            <a:spLocks/>
          </p:cNvSpPr>
          <p:nvPr/>
        </p:nvSpPr>
        <p:spPr bwMode="auto">
          <a:xfrm>
            <a:off x="3185253" y="1502801"/>
            <a:ext cx="1089449" cy="1735134"/>
          </a:xfrm>
          <a:custGeom>
            <a:avLst/>
            <a:gdLst>
              <a:gd name="T0" fmla="*/ 1664950 w 1664970"/>
              <a:gd name="T1" fmla="*/ 0 h 2078354"/>
              <a:gd name="T2" fmla="*/ 0 w 1664970"/>
              <a:gd name="T3" fmla="*/ 2078186 h 2078354"/>
              <a:gd name="T4" fmla="*/ 0 60000 65536"/>
              <a:gd name="T5" fmla="*/ 0 60000 65536"/>
              <a:gd name="T6" fmla="*/ 0 w 1664970"/>
              <a:gd name="T7" fmla="*/ 0 h 2078354"/>
              <a:gd name="T8" fmla="*/ 1664970 w 1664970"/>
              <a:gd name="T9" fmla="*/ 2078354 h 2078354"/>
            </a:gdLst>
            <a:ahLst/>
            <a:cxnLst>
              <a:cxn ang="T4">
                <a:pos x="T0" y="T1"/>
              </a:cxn>
              <a:cxn ang="T5">
                <a:pos x="T2" y="T3"/>
              </a:cxn>
            </a:cxnLst>
            <a:rect l="T6" t="T7" r="T8" b="T9"/>
            <a:pathLst>
              <a:path w="1664970" h="2078354">
                <a:moveTo>
                  <a:pt x="1664950" y="0"/>
                </a:moveTo>
                <a:lnTo>
                  <a:pt x="0" y="2078181"/>
                </a:lnTo>
              </a:path>
            </a:pathLst>
          </a:custGeom>
          <a:noFill/>
          <a:ln w="38100">
            <a:solidFill>
              <a:srgbClr val="000000"/>
            </a:solidFill>
            <a:round/>
            <a:headEnd/>
            <a:tailEnd/>
          </a:ln>
        </p:spPr>
        <p:txBody>
          <a:bodyPr lIns="0" tIns="0" rIns="0" bIns="0"/>
          <a:lstStyle/>
          <a:p>
            <a:endParaRPr lang="en-US" dirty="0"/>
          </a:p>
        </p:txBody>
      </p:sp>
    </p:spTree>
    <p:extLst>
      <p:ext uri="{BB962C8B-B14F-4D97-AF65-F5344CB8AC3E}">
        <p14:creationId xmlns:p14="http://schemas.microsoft.com/office/powerpoint/2010/main" val="2868387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Level of Design</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13</a:t>
            </a:fld>
            <a:endParaRPr lang="en-US" sz="700"/>
          </a:p>
        </p:txBody>
      </p:sp>
      <p:sp>
        <p:nvSpPr>
          <p:cNvPr id="2" name="object 4">
            <a:extLst>
              <a:ext uri="{FF2B5EF4-FFF2-40B4-BE49-F238E27FC236}">
                <a16:creationId xmlns:a16="http://schemas.microsoft.com/office/drawing/2014/main" id="{1A0E42E1-4DA3-1DF2-E54F-18C2E8C7F6AB}"/>
              </a:ext>
            </a:extLst>
          </p:cNvPr>
          <p:cNvSpPr>
            <a:spLocks noChangeArrowheads="1"/>
          </p:cNvSpPr>
          <p:nvPr/>
        </p:nvSpPr>
        <p:spPr bwMode="auto">
          <a:xfrm>
            <a:off x="176039" y="899188"/>
            <a:ext cx="3984625" cy="5634037"/>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3" name="object 6">
            <a:extLst>
              <a:ext uri="{FF2B5EF4-FFF2-40B4-BE49-F238E27FC236}">
                <a16:creationId xmlns:a16="http://schemas.microsoft.com/office/drawing/2014/main" id="{D86D086A-336A-56E2-8EA1-6D560D820815}"/>
              </a:ext>
            </a:extLst>
          </p:cNvPr>
          <p:cNvSpPr txBox="1">
            <a:spLocks/>
          </p:cNvSpPr>
          <p:nvPr/>
        </p:nvSpPr>
        <p:spPr>
          <a:xfrm>
            <a:off x="-750518" y="1435231"/>
            <a:ext cx="9448800" cy="1829347"/>
          </a:xfrm>
          <a:prstGeom prst="rect">
            <a:avLst/>
          </a:prstGeom>
        </p:spPr>
        <p:txBody>
          <a:bodyPr vert="horz" wrap="square" lIns="0" tIns="33655" rIns="0" bIns="0" rtlCol="0">
            <a:sp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662488">
              <a:lnSpc>
                <a:spcPts val="2125"/>
              </a:lnSpc>
              <a:spcBef>
                <a:spcPts val="263"/>
              </a:spcBef>
              <a:buFont typeface="Wingdings 2" pitchFamily="18" charset="2"/>
              <a:buNone/>
            </a:pPr>
            <a:r>
              <a:rPr lang="en-US" dirty="0">
                <a:latin typeface="Carlito"/>
                <a:ea typeface="Carlito"/>
                <a:cs typeface="Carlito"/>
              </a:rPr>
              <a:t>❹ </a:t>
            </a:r>
            <a:r>
              <a:rPr lang="en-US" sz="1800" dirty="0">
                <a:latin typeface="Trebuchet MS" pitchFamily="34" charset="0"/>
                <a:ea typeface="Trebuchet MS" pitchFamily="34" charset="0"/>
                <a:cs typeface="Trebuchet MS" pitchFamily="34" charset="0"/>
              </a:rPr>
              <a:t>Division into Data &amp; Routines within Classes</a:t>
            </a:r>
          </a:p>
          <a:p>
            <a:pPr marL="4662488">
              <a:lnSpc>
                <a:spcPts val="2125"/>
              </a:lnSpc>
              <a:buFont typeface="Wingdings 2" pitchFamily="18" charset="2"/>
              <a:buNone/>
            </a:pPr>
            <a:r>
              <a:rPr lang="en-US" sz="1800" dirty="0">
                <a:latin typeface="Carlito"/>
                <a:ea typeface="Carlito"/>
                <a:cs typeface="Carlito"/>
              </a:rPr>
              <a:t>When you examine the details of the routines inside a class, you can see that many routines are simple boxes but a few are composed of hierarchically organized routines, which require  still more design.</a:t>
            </a:r>
          </a:p>
        </p:txBody>
      </p:sp>
      <p:sp>
        <p:nvSpPr>
          <p:cNvPr id="4" name="object 7">
            <a:extLst>
              <a:ext uri="{FF2B5EF4-FFF2-40B4-BE49-F238E27FC236}">
                <a16:creationId xmlns:a16="http://schemas.microsoft.com/office/drawing/2014/main" id="{C936C62A-946C-757C-6BF7-19FBC585F2A3}"/>
              </a:ext>
            </a:extLst>
          </p:cNvPr>
          <p:cNvSpPr>
            <a:spLocks/>
          </p:cNvSpPr>
          <p:nvPr/>
        </p:nvSpPr>
        <p:spPr bwMode="auto">
          <a:xfrm>
            <a:off x="2367419" y="1532068"/>
            <a:ext cx="1369817" cy="3315505"/>
          </a:xfrm>
          <a:custGeom>
            <a:avLst/>
            <a:gdLst>
              <a:gd name="T0" fmla="*/ 539705 w 2521585"/>
              <a:gd name="T1" fmla="*/ 0 h 3258185"/>
              <a:gd name="T2" fmla="*/ 0 w 2521585"/>
              <a:gd name="T3" fmla="*/ 3265207 h 3258185"/>
              <a:gd name="T4" fmla="*/ 0 60000 65536"/>
              <a:gd name="T5" fmla="*/ 0 60000 65536"/>
              <a:gd name="T6" fmla="*/ 0 w 2521585"/>
              <a:gd name="T7" fmla="*/ 0 h 3258185"/>
              <a:gd name="T8" fmla="*/ 2521585 w 2521585"/>
              <a:gd name="T9" fmla="*/ 3258185 h 3258185"/>
            </a:gdLst>
            <a:ahLst/>
            <a:cxnLst>
              <a:cxn ang="T4">
                <a:pos x="T0" y="T1"/>
              </a:cxn>
              <a:cxn ang="T5">
                <a:pos x="T2" y="T3"/>
              </a:cxn>
            </a:cxnLst>
            <a:rect l="T6" t="T7" r="T8" b="T9"/>
            <a:pathLst>
              <a:path w="2521585" h="3258185">
                <a:moveTo>
                  <a:pt x="2521531" y="0"/>
                </a:moveTo>
                <a:lnTo>
                  <a:pt x="0" y="3257581"/>
                </a:lnTo>
              </a:path>
            </a:pathLst>
          </a:custGeom>
          <a:noFill/>
          <a:ln w="38100">
            <a:solidFill>
              <a:srgbClr val="000000"/>
            </a:solidFill>
            <a:round/>
            <a:headEnd/>
            <a:tailEnd/>
          </a:ln>
        </p:spPr>
        <p:txBody>
          <a:bodyPr lIns="0" tIns="0" rIns="0" bIns="0"/>
          <a:lstStyle/>
          <a:p>
            <a:endParaRPr lang="en-US"/>
          </a:p>
        </p:txBody>
      </p:sp>
    </p:spTree>
    <p:extLst>
      <p:ext uri="{BB962C8B-B14F-4D97-AF65-F5344CB8AC3E}">
        <p14:creationId xmlns:p14="http://schemas.microsoft.com/office/powerpoint/2010/main" val="1478326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14</a:t>
            </a:fld>
            <a:endParaRPr lang="en-US" sz="700"/>
          </a:p>
        </p:txBody>
      </p:sp>
      <p:sp>
        <p:nvSpPr>
          <p:cNvPr id="2" name="object 4">
            <a:extLst>
              <a:ext uri="{FF2B5EF4-FFF2-40B4-BE49-F238E27FC236}">
                <a16:creationId xmlns:a16="http://schemas.microsoft.com/office/drawing/2014/main" id="{BAEAB8B7-2513-A79A-CB3A-349AEED0AC6B}"/>
              </a:ext>
            </a:extLst>
          </p:cNvPr>
          <p:cNvSpPr>
            <a:spLocks noChangeArrowheads="1"/>
          </p:cNvSpPr>
          <p:nvPr/>
        </p:nvSpPr>
        <p:spPr bwMode="auto">
          <a:xfrm>
            <a:off x="201091" y="909462"/>
            <a:ext cx="3984625" cy="5634037"/>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dirty="0"/>
          </a:p>
        </p:txBody>
      </p:sp>
      <p:sp>
        <p:nvSpPr>
          <p:cNvPr id="3" name="object 6">
            <a:extLst>
              <a:ext uri="{FF2B5EF4-FFF2-40B4-BE49-F238E27FC236}">
                <a16:creationId xmlns:a16="http://schemas.microsoft.com/office/drawing/2014/main" id="{1554EE3F-095D-AEB8-5222-AE0FCB3517BE}"/>
              </a:ext>
            </a:extLst>
          </p:cNvPr>
          <p:cNvSpPr txBox="1"/>
          <p:nvPr/>
        </p:nvSpPr>
        <p:spPr>
          <a:xfrm>
            <a:off x="3594622" y="1296226"/>
            <a:ext cx="5348287" cy="1919288"/>
          </a:xfrm>
          <a:prstGeom prst="rect">
            <a:avLst/>
          </a:prstGeom>
          <a:solidFill>
            <a:schemeClr val="bg1">
              <a:lumMod val="95000"/>
            </a:schemeClr>
          </a:solidFill>
        </p:spPr>
        <p:txBody>
          <a:bodyPr lIns="0" tIns="33655" rIns="0" bIns="0">
            <a:spAutoFit/>
          </a:bodyPr>
          <a:lstStyle/>
          <a:p>
            <a:pPr marL="90488">
              <a:lnSpc>
                <a:spcPts val="2125"/>
              </a:lnSpc>
              <a:spcBef>
                <a:spcPts val="263"/>
              </a:spcBef>
              <a:defRPr/>
            </a:pPr>
            <a:r>
              <a:rPr lang="en-US" dirty="0">
                <a:latin typeface="Carlito"/>
                <a:ea typeface="Carlito"/>
                <a:cs typeface="Carlito"/>
              </a:rPr>
              <a:t>❺ </a:t>
            </a:r>
            <a:r>
              <a:rPr lang="en-US" dirty="0">
                <a:latin typeface="Trebuchet MS" pitchFamily="34" charset="0"/>
              </a:rPr>
              <a:t>Internal Routine Design</a:t>
            </a:r>
          </a:p>
          <a:p>
            <a:pPr marL="90488">
              <a:lnSpc>
                <a:spcPts val="2125"/>
              </a:lnSpc>
              <a:defRPr/>
            </a:pPr>
            <a:r>
              <a:rPr lang="en-US">
                <a:latin typeface="Carlito"/>
                <a:ea typeface="Carlito"/>
                <a:cs typeface="Carlito"/>
              </a:rPr>
              <a:t>  Design </a:t>
            </a:r>
            <a:r>
              <a:rPr lang="en-US" dirty="0">
                <a:latin typeface="Carlito"/>
                <a:ea typeface="Carlito"/>
                <a:cs typeface="Carlito"/>
              </a:rPr>
              <a:t>at the routine level consists of laying out the detailed functionality of the individual routines. The design consists of activities such as writing pseudo-code, looking up algorithms in reference books, deciding how to organize the paragraphs of code in a routine, and writing programming-language code.</a:t>
            </a:r>
          </a:p>
        </p:txBody>
      </p:sp>
      <p:sp>
        <p:nvSpPr>
          <p:cNvPr id="4" name="object 8">
            <a:extLst>
              <a:ext uri="{FF2B5EF4-FFF2-40B4-BE49-F238E27FC236}">
                <a16:creationId xmlns:a16="http://schemas.microsoft.com/office/drawing/2014/main" id="{147A8242-C296-6F8F-4AE1-FAFA622D1E63}"/>
              </a:ext>
            </a:extLst>
          </p:cNvPr>
          <p:cNvSpPr txBox="1">
            <a:spLocks noChangeArrowheads="1"/>
          </p:cNvSpPr>
          <p:nvPr/>
        </p:nvSpPr>
        <p:spPr bwMode="auto">
          <a:xfrm>
            <a:off x="3048000" y="3981860"/>
            <a:ext cx="6096000" cy="511175"/>
          </a:xfrm>
          <a:prstGeom prst="rect">
            <a:avLst/>
          </a:prstGeom>
          <a:noFill/>
          <a:ln w="9525">
            <a:noFill/>
            <a:miter lim="800000"/>
            <a:headEnd/>
            <a:tailEnd/>
          </a:ln>
        </p:spPr>
        <p:txBody>
          <a:bodyPr lIns="0" tIns="22860" rIns="0" bIns="0">
            <a:spAutoFit/>
          </a:bodyPr>
          <a:lstStyle/>
          <a:p>
            <a:pPr marL="1428750" indent="-1417638" algn="ctr">
              <a:lnSpc>
                <a:spcPts val="1900"/>
              </a:lnSpc>
              <a:spcBef>
                <a:spcPts val="175"/>
              </a:spcBef>
            </a:pPr>
            <a:r>
              <a:rPr lang="en-US" sz="1600" i="1" dirty="0">
                <a:latin typeface="Carlito"/>
                <a:ea typeface="Carlito"/>
                <a:cs typeface="Carlito"/>
              </a:rPr>
              <a:t>Internal routine design is typically left to the individual programmer working on an individual routine.</a:t>
            </a:r>
            <a:endParaRPr lang="en-US" sz="1600" dirty="0">
              <a:latin typeface="Carlito"/>
              <a:ea typeface="Carlito"/>
              <a:cs typeface="Carlito"/>
            </a:endParaRPr>
          </a:p>
        </p:txBody>
      </p:sp>
      <p:sp>
        <p:nvSpPr>
          <p:cNvPr id="6" name="object 7">
            <a:extLst>
              <a:ext uri="{FF2B5EF4-FFF2-40B4-BE49-F238E27FC236}">
                <a16:creationId xmlns:a16="http://schemas.microsoft.com/office/drawing/2014/main" id="{8F4534BD-DEF7-7E50-1C86-0DCD55581EA1}"/>
              </a:ext>
            </a:extLst>
          </p:cNvPr>
          <p:cNvSpPr>
            <a:spLocks/>
          </p:cNvSpPr>
          <p:nvPr/>
        </p:nvSpPr>
        <p:spPr bwMode="auto">
          <a:xfrm>
            <a:off x="2517732" y="1570656"/>
            <a:ext cx="1252080" cy="3991118"/>
          </a:xfrm>
          <a:custGeom>
            <a:avLst/>
            <a:gdLst>
              <a:gd name="T0" fmla="*/ 529004 w 2475865"/>
              <a:gd name="T1" fmla="*/ 0 h 4055110"/>
              <a:gd name="T2" fmla="*/ 0 w 2475865"/>
              <a:gd name="T3" fmla="*/ 4062379 h 4055110"/>
              <a:gd name="T4" fmla="*/ 0 60000 65536"/>
              <a:gd name="T5" fmla="*/ 0 60000 65536"/>
              <a:gd name="T6" fmla="*/ 0 w 2475865"/>
              <a:gd name="T7" fmla="*/ 0 h 4055110"/>
              <a:gd name="T8" fmla="*/ 2475865 w 2475865"/>
              <a:gd name="T9" fmla="*/ 4055110 h 4055110"/>
            </a:gdLst>
            <a:ahLst/>
            <a:cxnLst>
              <a:cxn ang="T4">
                <a:pos x="T0" y="T1"/>
              </a:cxn>
              <a:cxn ang="T5">
                <a:pos x="T2" y="T3"/>
              </a:cxn>
            </a:cxnLst>
            <a:rect l="T6" t="T7" r="T8" b="T9"/>
            <a:pathLst>
              <a:path w="2475865" h="4055110">
                <a:moveTo>
                  <a:pt x="2475351" y="0"/>
                </a:moveTo>
                <a:lnTo>
                  <a:pt x="0" y="4054762"/>
                </a:lnTo>
              </a:path>
            </a:pathLst>
          </a:custGeom>
          <a:noFill/>
          <a:ln w="38100">
            <a:solidFill>
              <a:srgbClr val="000000"/>
            </a:solidFill>
            <a:round/>
            <a:headEnd/>
            <a:tailEnd/>
          </a:ln>
        </p:spPr>
        <p:txBody>
          <a:bodyPr lIns="0" tIns="0" rIns="0" bIns="0"/>
          <a:lstStyle/>
          <a:p>
            <a:endParaRPr lang="en-US"/>
          </a:p>
        </p:txBody>
      </p:sp>
    </p:spTree>
    <p:extLst>
      <p:ext uri="{BB962C8B-B14F-4D97-AF65-F5344CB8AC3E}">
        <p14:creationId xmlns:p14="http://schemas.microsoft.com/office/powerpoint/2010/main" val="1589293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Reading</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15</a:t>
            </a:fld>
            <a:endParaRPr lang="en-US" sz="700"/>
          </a:p>
        </p:txBody>
      </p:sp>
      <p:sp>
        <p:nvSpPr>
          <p:cNvPr id="2" name="Rectangle 6">
            <a:extLst>
              <a:ext uri="{FF2B5EF4-FFF2-40B4-BE49-F238E27FC236}">
                <a16:creationId xmlns:a16="http://schemas.microsoft.com/office/drawing/2014/main" id="{4D1AB455-3BE5-171F-92BA-650F3054FD74}"/>
              </a:ext>
            </a:extLst>
          </p:cNvPr>
          <p:cNvSpPr>
            <a:spLocks noGrp="1" noChangeArrowheads="1"/>
          </p:cNvSpPr>
          <p:nvPr>
            <p:ph idx="1"/>
          </p:nvPr>
        </p:nvSpPr>
        <p:spPr>
          <a:xfrm>
            <a:off x="114822" y="1163458"/>
            <a:ext cx="8425962" cy="3429000"/>
          </a:xfrm>
        </p:spPr>
        <p:txBody>
          <a:bodyPr/>
          <a:lstStyle/>
          <a:p>
            <a:pPr marL="548640" lvl="1" indent="-274320" eaLnBrk="1" fontAlgn="auto" hangingPunct="1">
              <a:spcAft>
                <a:spcPts val="0"/>
              </a:spcAft>
              <a:buFont typeface="Wingdings 3"/>
              <a:buChar char=""/>
              <a:defRPr/>
            </a:pPr>
            <a:r>
              <a:rPr lang="en-US" sz="2000" dirty="0">
                <a:solidFill>
                  <a:srgbClr val="46424D"/>
                </a:solidFill>
                <a:latin typeface="Arial"/>
                <a:ea typeface="ＭＳ Ｐゴシック" charset="-128"/>
                <a:cs typeface="Arial"/>
              </a:rPr>
              <a:t>Code Complete: A Practical Handbook of Software Construction, 2</a:t>
            </a:r>
            <a:r>
              <a:rPr lang="en-US" sz="2000" baseline="30000" dirty="0">
                <a:solidFill>
                  <a:srgbClr val="46424D"/>
                </a:solidFill>
                <a:latin typeface="Arial"/>
                <a:ea typeface="ＭＳ Ｐゴシック" charset="-128"/>
                <a:cs typeface="Arial"/>
              </a:rPr>
              <a:t>nd</a:t>
            </a:r>
            <a:r>
              <a:rPr lang="en-US" sz="2000" dirty="0">
                <a:solidFill>
                  <a:srgbClr val="46424D"/>
                </a:solidFill>
                <a:latin typeface="Arial"/>
                <a:ea typeface="ＭＳ Ｐゴシック" charset="-128"/>
                <a:cs typeface="Arial"/>
              </a:rPr>
              <a:t> Edition, Steve McConnell. </a:t>
            </a:r>
          </a:p>
          <a:p>
            <a:pPr marL="823277" lvl="2" indent="-274320" eaLnBrk="1" fontAlgn="auto" hangingPunct="1">
              <a:spcAft>
                <a:spcPts val="0"/>
              </a:spcAft>
              <a:buFont typeface="Wingdings 3"/>
              <a:buChar char=""/>
              <a:defRPr/>
            </a:pPr>
            <a:r>
              <a:rPr lang="en-US" sz="1700" dirty="0">
                <a:solidFill>
                  <a:srgbClr val="46424D"/>
                </a:solidFill>
                <a:latin typeface="Arial"/>
                <a:ea typeface="ＭＳ Ｐゴシック" charset="-128"/>
                <a:cs typeface="Arial"/>
              </a:rPr>
              <a:t>Chapter 5</a:t>
            </a:r>
          </a:p>
          <a:p>
            <a:pPr marL="533400" lvl="1" indent="-533400" eaLnBrk="1" hangingPunct="1">
              <a:lnSpc>
                <a:spcPct val="115000"/>
              </a:lnSpc>
              <a:spcBef>
                <a:spcPct val="40000"/>
              </a:spcBef>
              <a:buClr>
                <a:srgbClr val="0BD0D9"/>
              </a:buClr>
              <a:buSzPct val="95000"/>
              <a:buFont typeface="Wingdings 2" pitchFamily="18" charset="2"/>
              <a:buNone/>
              <a:defRPr/>
            </a:pPr>
            <a:endParaRPr lang="en-NZ" altLang="en-US" dirty="0"/>
          </a:p>
        </p:txBody>
      </p:sp>
      <p:pic>
        <p:nvPicPr>
          <p:cNvPr id="3" name="Picture 2">
            <a:extLst>
              <a:ext uri="{FF2B5EF4-FFF2-40B4-BE49-F238E27FC236}">
                <a16:creationId xmlns:a16="http://schemas.microsoft.com/office/drawing/2014/main" id="{4005BDF4-4B02-F8B8-B881-4D60BAFED238}"/>
              </a:ext>
            </a:extLst>
          </p:cNvPr>
          <p:cNvPicPr>
            <a:picLocks noChangeAspect="1" noChangeArrowheads="1"/>
          </p:cNvPicPr>
          <p:nvPr/>
        </p:nvPicPr>
        <p:blipFill>
          <a:blip r:embed="rId2" cstate="print"/>
          <a:srcRect/>
          <a:stretch>
            <a:fillRect/>
          </a:stretch>
        </p:blipFill>
        <p:spPr bwMode="auto">
          <a:xfrm>
            <a:off x="2486025" y="2048972"/>
            <a:ext cx="4171950" cy="4343400"/>
          </a:xfrm>
          <a:prstGeom prst="rect">
            <a:avLst/>
          </a:prstGeom>
          <a:noFill/>
          <a:ln w="9525">
            <a:noFill/>
            <a:miter lim="800000"/>
            <a:headEnd/>
            <a:tailEnd/>
          </a:ln>
        </p:spPr>
      </p:pic>
    </p:spTree>
    <p:extLst>
      <p:ext uri="{BB962C8B-B14F-4D97-AF65-F5344CB8AC3E}">
        <p14:creationId xmlns:p14="http://schemas.microsoft.com/office/powerpoint/2010/main" val="495630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16</a:t>
            </a:fld>
            <a:endParaRPr lang="en-US" sz="700"/>
          </a:p>
        </p:txBody>
      </p:sp>
      <p:sp>
        <p:nvSpPr>
          <p:cNvPr id="4" name="TextBox 3">
            <a:extLst>
              <a:ext uri="{FF2B5EF4-FFF2-40B4-BE49-F238E27FC236}">
                <a16:creationId xmlns:a16="http://schemas.microsoft.com/office/drawing/2014/main" id="{88C360D8-06EC-45E1-9F03-07203CCB8D4E}"/>
              </a:ext>
            </a:extLst>
          </p:cNvPr>
          <p:cNvSpPr txBox="1"/>
          <p:nvPr/>
        </p:nvSpPr>
        <p:spPr>
          <a:xfrm>
            <a:off x="1721224" y="2286000"/>
            <a:ext cx="570155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rgbClr val="404040"/>
                </a:solidFill>
                <a:cs typeface="Calibri"/>
              </a:rPr>
              <a:t>Any questions? ​</a:t>
            </a:r>
          </a:p>
          <a:p>
            <a:pPr algn="ctr"/>
            <a:r>
              <a:rPr lang="en-US" sz="3600">
                <a:solidFill>
                  <a:srgbClr val="404040"/>
                </a:solidFill>
                <a:cs typeface="Calibri"/>
              </a:rPr>
              <a:t>Please feel free to raise your hands and ask.</a:t>
            </a:r>
          </a:p>
        </p:txBody>
      </p:sp>
      <p:pic>
        <p:nvPicPr>
          <p:cNvPr id="2" name="Picture 2">
            <a:extLst>
              <a:ext uri="{FF2B5EF4-FFF2-40B4-BE49-F238E27FC236}">
                <a16:creationId xmlns:a16="http://schemas.microsoft.com/office/drawing/2014/main" id="{D0711CCF-C1F4-43F6-B9FC-0A5338AB8F85}"/>
              </a:ext>
            </a:extLst>
          </p:cNvPr>
          <p:cNvPicPr>
            <a:picLocks noChangeAspect="1"/>
          </p:cNvPicPr>
          <p:nvPr/>
        </p:nvPicPr>
        <p:blipFill>
          <a:blip r:embed="rId2"/>
          <a:stretch>
            <a:fillRect/>
          </a:stretch>
        </p:blipFill>
        <p:spPr>
          <a:xfrm>
            <a:off x="3915508" y="675881"/>
            <a:ext cx="1299457" cy="1285931"/>
          </a:xfrm>
          <a:prstGeom prst="rect">
            <a:avLst/>
          </a:prstGeom>
        </p:spPr>
      </p:pic>
    </p:spTree>
    <p:extLst>
      <p:ext uri="{BB962C8B-B14F-4D97-AF65-F5344CB8AC3E}">
        <p14:creationId xmlns:p14="http://schemas.microsoft.com/office/powerpoint/2010/main" val="2615860504"/>
      </p:ext>
    </p:extLst>
  </p:cSld>
  <p:clrMapOvr>
    <a:masterClrMapping/>
  </p:clrMapOvr>
</p:sld>
</file>

<file path=ppt/theme/theme1.xml><?xml version="1.0" encoding="utf-8"?>
<a:theme xmlns:a="http://schemas.openxmlformats.org/drawingml/2006/main" name="Theme CPIT 110">
  <a:themeElements>
    <a:clrScheme name="Custom 1">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A2B7C0"/>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 CPIT 110" id="{8B30B5B8-1EAF-4AD4-A47C-55C6155E0564}" vid="{0F986C0D-D438-41BC-BADF-01C576FE679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8470530D50274EAFC96C307341D87E" ma:contentTypeVersion="7" ma:contentTypeDescription="Create a new document." ma:contentTypeScope="" ma:versionID="b8910448027bc4ed34846ea5a9c8ae5b">
  <xsd:schema xmlns:xsd="http://www.w3.org/2001/XMLSchema" xmlns:xs="http://www.w3.org/2001/XMLSchema" xmlns:p="http://schemas.microsoft.com/office/2006/metadata/properties" xmlns:ns3="a7d1a000-c374-4d35-b30d-1e8e9eadf823" xmlns:ns4="1ec989cd-5ee7-4e6d-938f-778fe4b0c792" targetNamespace="http://schemas.microsoft.com/office/2006/metadata/properties" ma:root="true" ma:fieldsID="4f803134678dcdcb51c3dda8fbd31a82" ns3:_="" ns4:_="">
    <xsd:import namespace="a7d1a000-c374-4d35-b30d-1e8e9eadf823"/>
    <xsd:import namespace="1ec989cd-5ee7-4e6d-938f-778fe4b0c792"/>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d1a000-c374-4d35-b30d-1e8e9eadf823"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ec989cd-5ee7-4e6d-938f-778fe4b0c792"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7d1a000-c374-4d35-b30d-1e8e9eadf823" xsi:nil="true"/>
  </documentManagement>
</p:properties>
</file>

<file path=customXml/itemProps1.xml><?xml version="1.0" encoding="utf-8"?>
<ds:datastoreItem xmlns:ds="http://schemas.openxmlformats.org/officeDocument/2006/customXml" ds:itemID="{5548C0B0-DD3B-48FD-9375-09F259EFD0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d1a000-c374-4d35-b30d-1e8e9eadf823"/>
    <ds:schemaRef ds:uri="1ec989cd-5ee7-4e6d-938f-778fe4b0c7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D0BDFD9-B336-410C-8C70-E8CCE7AD7CBC}">
  <ds:schemaRefs>
    <ds:schemaRef ds:uri="http://schemas.microsoft.com/sharepoint/v3/contenttype/forms"/>
  </ds:schemaRefs>
</ds:datastoreItem>
</file>

<file path=customXml/itemProps3.xml><?xml version="1.0" encoding="utf-8"?>
<ds:datastoreItem xmlns:ds="http://schemas.openxmlformats.org/officeDocument/2006/customXml" ds:itemID="{202E0C92-AC64-42CA-94F8-4CA15E127DA0}">
  <ds:schemaRefs>
    <ds:schemaRef ds:uri="1ec989cd-5ee7-4e6d-938f-778fe4b0c792"/>
    <ds:schemaRef ds:uri="http://schemas.microsoft.com/office/2006/metadata/properties"/>
    <ds:schemaRef ds:uri="a7d1a000-c374-4d35-b30d-1e8e9eadf823"/>
    <ds:schemaRef ds:uri="http://schemas.microsoft.com/office/2006/documentManagement/types"/>
    <ds:schemaRef ds:uri="http://www.w3.org/XML/1998/namespace"/>
    <ds:schemaRef ds:uri="http://purl.org/dc/elements/1.1/"/>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Theme CPIT 110</Template>
  <TotalTime>175</TotalTime>
  <Words>874</Words>
  <Application>Microsoft Office PowerPoint</Application>
  <PresentationFormat>On-screen Show (4:3)</PresentationFormat>
  <Paragraphs>117</Paragraphs>
  <Slides>16</Slides>
  <Notes>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16</vt:i4>
      </vt:variant>
    </vt:vector>
  </HeadingPairs>
  <TitlesOfParts>
    <vt:vector size="29" baseType="lpstr">
      <vt:lpstr>Arial</vt:lpstr>
      <vt:lpstr>Calibri</vt:lpstr>
      <vt:lpstr>Calibri Light</vt:lpstr>
      <vt:lpstr>Carlito</vt:lpstr>
      <vt:lpstr>Eurostile</vt:lpstr>
      <vt:lpstr>Söhne</vt:lpstr>
      <vt:lpstr>Times New Roman</vt:lpstr>
      <vt:lpstr>Trebuchet MS</vt:lpstr>
      <vt:lpstr>Wingdings</vt:lpstr>
      <vt:lpstr>Wingdings 2</vt:lpstr>
      <vt:lpstr>Wingdings 3</vt:lpstr>
      <vt:lpstr>Theme CPIT 110</vt:lpstr>
      <vt:lpstr>Custom Design</vt:lpstr>
      <vt:lpstr>Chapter  2.2 Creating High-Quality Code</vt:lpstr>
      <vt:lpstr>Outline</vt:lpstr>
      <vt:lpstr>Software Design</vt:lpstr>
      <vt:lpstr>PowerPoint Presentation</vt:lpstr>
      <vt:lpstr>Managing Complexity: </vt:lpstr>
      <vt:lpstr>Managing Complexity:</vt:lpstr>
      <vt:lpstr>Managing Complexity:</vt:lpstr>
      <vt:lpstr>Desirable Characteristics of a Design</vt:lpstr>
      <vt:lpstr>Level of Design</vt:lpstr>
      <vt:lpstr>Level of Design</vt:lpstr>
      <vt:lpstr>Level of Design</vt:lpstr>
      <vt:lpstr>Level of Design</vt:lpstr>
      <vt:lpstr>Level of Design</vt:lpstr>
      <vt:lpstr>PowerPoint Presentation</vt:lpstr>
      <vt:lpstr>Reading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Introduction to Problem-Solving</dc:title>
  <dc:creator>Ahmad Tayeb;ajtayeb@kau.edu.sa</dc:creator>
  <cp:lastModifiedBy>Mohammad Dakhilallah Mohammad Alahmadi</cp:lastModifiedBy>
  <cp:revision>25</cp:revision>
  <dcterms:created xsi:type="dcterms:W3CDTF">2019-06-07T16:06:41Z</dcterms:created>
  <dcterms:modified xsi:type="dcterms:W3CDTF">2023-09-09T20:02:10Z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0x010100038470530D50274EAFC96C307341D87E</vt:lpwstr>
  </property>
</Properties>
</file>