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28"/>
  </p:notesMasterIdLst>
  <p:sldIdLst>
    <p:sldId id="330" r:id="rId6"/>
    <p:sldId id="419" r:id="rId7"/>
    <p:sldId id="420" r:id="rId8"/>
    <p:sldId id="421" r:id="rId9"/>
    <p:sldId id="415" r:id="rId10"/>
    <p:sldId id="465" r:id="rId11"/>
    <p:sldId id="466" r:id="rId12"/>
    <p:sldId id="467" r:id="rId13"/>
    <p:sldId id="468" r:id="rId14"/>
    <p:sldId id="469" r:id="rId15"/>
    <p:sldId id="477" r:id="rId16"/>
    <p:sldId id="478" r:id="rId17"/>
    <p:sldId id="479" r:id="rId18"/>
    <p:sldId id="480" r:id="rId19"/>
    <p:sldId id="481" r:id="rId20"/>
    <p:sldId id="482" r:id="rId21"/>
    <p:sldId id="483" r:id="rId22"/>
    <p:sldId id="484" r:id="rId23"/>
    <p:sldId id="485" r:id="rId24"/>
    <p:sldId id="476" r:id="rId25"/>
    <p:sldId id="423" r:id="rId26"/>
    <p:sldId id="413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419"/>
            <p14:sldId id="420"/>
            <p14:sldId id="421"/>
            <p14:sldId id="415"/>
            <p14:sldId id="465"/>
            <p14:sldId id="466"/>
            <p14:sldId id="467"/>
            <p14:sldId id="468"/>
            <p14:sldId id="469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76"/>
            <p14:sldId id="423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E52916-69B4-4863-A7FB-CF4F0F2D367B}" v="2" dt="2023-12-20T01:34:43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0" autoAdjust="0"/>
    <p:restoredTop sz="93947" autoAdjust="0"/>
  </p:normalViewPr>
  <p:slideViewPr>
    <p:cSldViewPr snapToGrid="0">
      <p:cViewPr varScale="1">
        <p:scale>
          <a:sx n="67" d="100"/>
          <a:sy n="67" d="100"/>
        </p:scale>
        <p:origin x="17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9b436a58-7297-423f-8410-66c59c69358a" providerId="ADAL" clId="{EAE52916-69B4-4863-A7FB-CF4F0F2D367B}"/>
    <pc:docChg chg="undo custSel modSld">
      <pc:chgData name="Mohammad Dakhilallah Mohammad Alahmadi" userId="9b436a58-7297-423f-8410-66c59c69358a" providerId="ADAL" clId="{EAE52916-69B4-4863-A7FB-CF4F0F2D367B}" dt="2023-12-20T01:34:41.251" v="37" actId="20578"/>
      <pc:docMkLst>
        <pc:docMk/>
      </pc:docMkLst>
      <pc:sldChg chg="modSp mod">
        <pc:chgData name="Mohammad Dakhilallah Mohammad Alahmadi" userId="9b436a58-7297-423f-8410-66c59c69358a" providerId="ADAL" clId="{EAE52916-69B4-4863-A7FB-CF4F0F2D367B}" dt="2023-10-31T22:29:58.564" v="0" actId="207"/>
        <pc:sldMkLst>
          <pc:docMk/>
          <pc:sldMk cId="2997704716" sldId="420"/>
        </pc:sldMkLst>
        <pc:spChg chg="mod">
          <ac:chgData name="Mohammad Dakhilallah Mohammad Alahmadi" userId="9b436a58-7297-423f-8410-66c59c69358a" providerId="ADAL" clId="{EAE52916-69B4-4863-A7FB-CF4F0F2D367B}" dt="2023-10-31T22:29:58.564" v="0" actId="207"/>
          <ac:spMkLst>
            <pc:docMk/>
            <pc:sldMk cId="2997704716" sldId="420"/>
            <ac:spMk id="3" creationId="{6D4BAEF2-7364-3F83-DA6E-176B7E1DA54E}"/>
          </ac:spMkLst>
        </pc:spChg>
      </pc:sldChg>
      <pc:sldChg chg="modNotesTx">
        <pc:chgData name="Mohammad Dakhilallah Mohammad Alahmadi" userId="9b436a58-7297-423f-8410-66c59c69358a" providerId="ADAL" clId="{EAE52916-69B4-4863-A7FB-CF4F0F2D367B}" dt="2023-10-31T22:38:58.500" v="8"/>
        <pc:sldMkLst>
          <pc:docMk/>
          <pc:sldMk cId="381756412" sldId="467"/>
        </pc:sldMkLst>
      </pc:sldChg>
      <pc:sldChg chg="modSp mod modNotesTx">
        <pc:chgData name="Mohammad Dakhilallah Mohammad Alahmadi" userId="9b436a58-7297-423f-8410-66c59c69358a" providerId="ADAL" clId="{EAE52916-69B4-4863-A7FB-CF4F0F2D367B}" dt="2023-10-31T22:41:50.693" v="13"/>
        <pc:sldMkLst>
          <pc:docMk/>
          <pc:sldMk cId="4288430029" sldId="468"/>
        </pc:sldMkLst>
        <pc:spChg chg="mod">
          <ac:chgData name="Mohammad Dakhilallah Mohammad Alahmadi" userId="9b436a58-7297-423f-8410-66c59c69358a" providerId="ADAL" clId="{EAE52916-69B4-4863-A7FB-CF4F0F2D367B}" dt="2023-10-31T22:39:28.743" v="11" actId="20577"/>
          <ac:spMkLst>
            <pc:docMk/>
            <pc:sldMk cId="4288430029" sldId="468"/>
            <ac:spMk id="3" creationId="{376E30AE-1E0B-ACEA-C11D-68184E6F9D13}"/>
          </ac:spMkLst>
        </pc:spChg>
      </pc:sldChg>
      <pc:sldChg chg="modSp">
        <pc:chgData name="Mohammad Dakhilallah Mohammad Alahmadi" userId="9b436a58-7297-423f-8410-66c59c69358a" providerId="ADAL" clId="{EAE52916-69B4-4863-A7FB-CF4F0F2D367B}" dt="2023-12-20T01:34:41.251" v="37" actId="20578"/>
        <pc:sldMkLst>
          <pc:docMk/>
          <pc:sldMk cId="3107751706" sldId="469"/>
        </pc:sldMkLst>
        <pc:spChg chg="mod">
          <ac:chgData name="Mohammad Dakhilallah Mohammad Alahmadi" userId="9b436a58-7297-423f-8410-66c59c69358a" providerId="ADAL" clId="{EAE52916-69B4-4863-A7FB-CF4F0F2D367B}" dt="2023-12-20T01:34:41.251" v="37" actId="20578"/>
          <ac:spMkLst>
            <pc:docMk/>
            <pc:sldMk cId="3107751706" sldId="469"/>
            <ac:spMk id="6" creationId="{227F92E7-CBC9-03F5-B8D9-936965871782}"/>
          </ac:spMkLst>
        </pc:spChg>
      </pc:sldChg>
      <pc:sldChg chg="modSp mod">
        <pc:chgData name="Mohammad Dakhilallah Mohammad Alahmadi" userId="9b436a58-7297-423f-8410-66c59c69358a" providerId="ADAL" clId="{EAE52916-69B4-4863-A7FB-CF4F0F2D367B}" dt="2023-10-31T22:43:18.436" v="15" actId="1076"/>
        <pc:sldMkLst>
          <pc:docMk/>
          <pc:sldMk cId="1425169577" sldId="481"/>
        </pc:sldMkLst>
        <pc:spChg chg="mod">
          <ac:chgData name="Mohammad Dakhilallah Mohammad Alahmadi" userId="9b436a58-7297-423f-8410-66c59c69358a" providerId="ADAL" clId="{EAE52916-69B4-4863-A7FB-CF4F0F2D367B}" dt="2023-10-31T22:43:18.436" v="15" actId="1076"/>
          <ac:spMkLst>
            <pc:docMk/>
            <pc:sldMk cId="1425169577" sldId="481"/>
            <ac:spMk id="3" creationId="{376E30AE-1E0B-ACEA-C11D-68184E6F9D13}"/>
          </ac:spMkLst>
        </pc:spChg>
        <pc:spChg chg="mod">
          <ac:chgData name="Mohammad Dakhilallah Mohammad Alahmadi" userId="9b436a58-7297-423f-8410-66c59c69358a" providerId="ADAL" clId="{EAE52916-69B4-4863-A7FB-CF4F0F2D367B}" dt="2023-10-31T22:43:13.233" v="14" actId="1076"/>
          <ac:spMkLst>
            <pc:docMk/>
            <pc:sldMk cId="1425169577" sldId="481"/>
            <ac:spMk id="9219" creationId="{00000000-0000-0000-0000-000000000000}"/>
          </ac:spMkLst>
        </pc:spChg>
      </pc:sldChg>
      <pc:sldChg chg="modSp mod">
        <pc:chgData name="Mohammad Dakhilallah Mohammad Alahmadi" userId="9b436a58-7297-423f-8410-66c59c69358a" providerId="ADAL" clId="{EAE52916-69B4-4863-A7FB-CF4F0F2D367B}" dt="2023-10-31T22:44:49.079" v="36" actId="1035"/>
        <pc:sldMkLst>
          <pc:docMk/>
          <pc:sldMk cId="1133173803" sldId="483"/>
        </pc:sldMkLst>
        <pc:spChg chg="mod">
          <ac:chgData name="Mohammad Dakhilallah Mohammad Alahmadi" userId="9b436a58-7297-423f-8410-66c59c69358a" providerId="ADAL" clId="{EAE52916-69B4-4863-A7FB-CF4F0F2D367B}" dt="2023-10-31T22:44:49.079" v="36" actId="1035"/>
          <ac:spMkLst>
            <pc:docMk/>
            <pc:sldMk cId="1133173803" sldId="483"/>
            <ac:spMk id="2" creationId="{DA0C1AC4-1671-2D21-B338-1D60E88E9D8D}"/>
          </ac:spMkLst>
        </pc:spChg>
        <pc:spChg chg="mod">
          <ac:chgData name="Mohammad Dakhilallah Mohammad Alahmadi" userId="9b436a58-7297-423f-8410-66c59c69358a" providerId="ADAL" clId="{EAE52916-69B4-4863-A7FB-CF4F0F2D367B}" dt="2023-10-31T22:44:44.356" v="27" actId="1035"/>
          <ac:spMkLst>
            <pc:docMk/>
            <pc:sldMk cId="1133173803" sldId="483"/>
            <ac:spMk id="8" creationId="{CB7E56D9-9BF5-2773-7C7B-0F26A19E3A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Söhne Mono"/>
              </a:rPr>
              <a:t># Short-circuit evaluation in Python</a:t>
            </a: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number = </a:t>
            </a:r>
            <a:r>
              <a:rPr lang="en-US" b="0" i="0" dirty="0">
                <a:solidFill>
                  <a:srgbClr val="DF3079"/>
                </a:solidFill>
                <a:effectLst/>
                <a:latin typeface="Söhne Mono"/>
              </a:rPr>
              <a:t>3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</a:p>
          <a:p>
            <a:r>
              <a:rPr lang="en-US" b="0" i="0" dirty="0">
                <a:solidFill>
                  <a:srgbClr val="2E95D3"/>
                </a:solidFill>
                <a:effectLst/>
                <a:latin typeface="Söhne Mono"/>
              </a:rPr>
              <a:t>if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number &gt; </a:t>
            </a:r>
            <a:r>
              <a:rPr lang="en-US" b="0" i="0" dirty="0">
                <a:solidFill>
                  <a:srgbClr val="DF3079"/>
                </a:solidFill>
                <a:effectLst/>
                <a:latin typeface="Söhne Mono"/>
              </a:rPr>
              <a:t>5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US" b="0" i="0" dirty="0">
                <a:solidFill>
                  <a:srgbClr val="2E95D3"/>
                </a:solidFill>
                <a:effectLst/>
                <a:latin typeface="Söhne Mono"/>
              </a:rPr>
              <a:t>and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number &lt; </a:t>
            </a:r>
            <a:r>
              <a:rPr lang="en-US" b="0" i="0" dirty="0">
                <a:solidFill>
                  <a:srgbClr val="DF3079"/>
                </a:solidFill>
                <a:effectLst/>
                <a:latin typeface="Söhne Mono"/>
              </a:rPr>
              <a:t>10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: </a:t>
            </a:r>
          </a:p>
          <a:p>
            <a:r>
              <a:rPr lang="en-US" b="0" i="0" dirty="0">
                <a:solidFill>
                  <a:srgbClr val="E9950C"/>
                </a:solidFill>
                <a:effectLst/>
                <a:latin typeface="Söhne Mono"/>
              </a:rPr>
              <a:t>print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(</a:t>
            </a:r>
            <a:r>
              <a:rPr lang="en-US" b="0" i="0" dirty="0">
                <a:solidFill>
                  <a:srgbClr val="00A67D"/>
                </a:solidFill>
                <a:effectLst/>
                <a:latin typeface="Söhne Mono"/>
              </a:rPr>
              <a:t>"Number is both greater than 5 and less than 10."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)</a:t>
            </a: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US" b="0" i="0" dirty="0">
                <a:solidFill>
                  <a:srgbClr val="2E95D3"/>
                </a:solidFill>
                <a:effectLst/>
                <a:latin typeface="Söhne Mono"/>
              </a:rPr>
              <a:t>else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: </a:t>
            </a:r>
            <a:r>
              <a:rPr lang="en-US" b="0" i="0" dirty="0">
                <a:solidFill>
                  <a:srgbClr val="E9950C"/>
                </a:solidFill>
                <a:effectLst/>
                <a:latin typeface="Söhne Mono"/>
              </a:rPr>
              <a:t>print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(</a:t>
            </a:r>
            <a:r>
              <a:rPr lang="en-US" b="0" i="0" dirty="0">
                <a:solidFill>
                  <a:srgbClr val="00A67D"/>
                </a:solidFill>
                <a:effectLst/>
                <a:latin typeface="Söhne Mono"/>
              </a:rPr>
              <a:t>"Number does not satisfy both conditions."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)</a:t>
            </a:r>
          </a:p>
          <a:p>
            <a:endParaRPr lang="en-US" b="0" i="0" dirty="0">
              <a:solidFill>
                <a:srgbClr val="FFFFFF"/>
              </a:solidFill>
              <a:effectLst/>
              <a:latin typeface="Söhne Mono"/>
            </a:endParaRPr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In this case, with the number being 3, Python (which supports short-circuit evaluation) will output: "Number does not satisfy both conditions." The second condition (number &lt; 10) is not checked because the first condition fails, and the evaluation stops due to short-circuit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74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refers to the efficiency gained by ceasing to evaluate or perform further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acIn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programming, this principle emphasizes that when a logical condition has been met (for instance, a condition in an "if" statement), there's no need to continue evaluating subsequent conditions because the final outcome is already determined.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tions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once the desired or conclusive result has been attained or determined.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9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5.1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altLang="en-US" b="1" dirty="0">
                <a:solidFill>
                  <a:schemeClr val="tx1"/>
                </a:solidFill>
                <a:cs typeface="Calibri Light"/>
              </a:rPr>
              <a:t>Code Tuning Strategies and Techniques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D703-CB40-13F3-AF07-698E2629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GB" sz="2800" dirty="0">
                <a:solidFill>
                  <a:schemeClr val="tx1"/>
                </a:solidFill>
                <a:latin typeface="+mn-lt"/>
                <a:cs typeface="+mn-cs"/>
              </a:rPr>
              <a:t>Introduction to Code Tuning</a:t>
            </a:r>
          </a:p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GB" sz="2800" dirty="0">
                <a:solidFill>
                  <a:schemeClr val="tx1"/>
                </a:solidFill>
                <a:latin typeface="+mn-lt"/>
                <a:cs typeface="+mn-cs"/>
              </a:rPr>
              <a:t>Code Tuning Strategies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 and Techniques</a:t>
            </a:r>
            <a:endParaRPr lang="en-GB" sz="2800" dirty="0">
              <a:solidFill>
                <a:schemeClr val="tx1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algn="ctr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sz="4400" b="1" dirty="0">
                <a:solidFill>
                  <a:schemeClr val="tx1"/>
                </a:solidFill>
              </a:rPr>
              <a:t>Introduction to Code Tuning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D4BAEF2-7364-3F83-DA6E-176B7E1DA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Code tuning is one way of improving a program’s performance.</a:t>
            </a:r>
          </a:p>
          <a:p>
            <a:r>
              <a:rPr lang="en-US" dirty="0">
                <a:solidFill>
                  <a:schemeClr val="tx1"/>
                </a:solidFill>
              </a:rPr>
              <a:t>Modifying correct code to make it run more efficiently.</a:t>
            </a:r>
          </a:p>
          <a:p>
            <a:r>
              <a:rPr lang="en-US" dirty="0">
                <a:solidFill>
                  <a:schemeClr val="tx1"/>
                </a:solidFill>
              </a:rPr>
              <a:t>20% of a program’s methods consume 80% of its execution time.</a:t>
            </a:r>
          </a:p>
        </p:txBody>
      </p:sp>
      <p:pic>
        <p:nvPicPr>
          <p:cNvPr id="6" name="Picture 2" descr="How to write high quality code in Python: 15+ tips for data scientists and  researchers | Packt Hub">
            <a:extLst>
              <a:ext uri="{FF2B5EF4-FFF2-40B4-BE49-F238E27FC236}">
                <a16:creationId xmlns:a16="http://schemas.microsoft.com/office/drawing/2014/main" id="{823C51DB-E0A9-1281-C161-9A4419259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2211" y="3219150"/>
            <a:ext cx="5629903" cy="33267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Introduction to Code Tuning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498236D-50AE-CE4D-A580-2AF3A83BA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Summary of the approach to code tuning: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A4EFCC-AADF-42ED-B581-2F695871F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2731" y="1829244"/>
            <a:ext cx="7058538" cy="4708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GB" sz="4400" b="1" dirty="0">
                <a:solidFill>
                  <a:schemeClr val="tx1"/>
                </a:solidFill>
              </a:rPr>
              <a:t>Code Tuning Strategies</a:t>
            </a:r>
            <a:r>
              <a:rPr lang="en-US" sz="4400" b="1" dirty="0">
                <a:solidFill>
                  <a:schemeClr val="tx1"/>
                </a:solidFill>
              </a:rPr>
              <a:t> and Techniques</a:t>
            </a:r>
            <a:r>
              <a:rPr lang="en-GB" sz="4400" b="1" dirty="0">
                <a:solidFill>
                  <a:schemeClr val="tx1"/>
                </a:solidFill>
              </a:rPr>
              <a:t> 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0E6E638-B2BE-75CE-F728-FD5CB27E87C0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Logic</a:t>
            </a:r>
          </a:p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Loops</a:t>
            </a:r>
          </a:p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Data Transformations</a:t>
            </a:r>
          </a:p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Expressions</a:t>
            </a:r>
          </a:p>
        </p:txBody>
      </p:sp>
      <p:pic>
        <p:nvPicPr>
          <p:cNvPr id="4" name="Picture 4" descr="Nerd1">
            <a:extLst>
              <a:ext uri="{FF2B5EF4-FFF2-40B4-BE49-F238E27FC236}">
                <a16:creationId xmlns:a16="http://schemas.microsoft.com/office/drawing/2014/main" id="{D13488E7-372A-924E-C44B-595B84E37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8709" y="2734163"/>
            <a:ext cx="3241675" cy="375807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spc="41" dirty="0">
                <a:solidFill>
                  <a:schemeClr val="tx1"/>
                </a:solidFill>
              </a:rPr>
              <a:t>Lo</a:t>
            </a:r>
            <a:r>
              <a:rPr lang="en-US" sz="4400" b="1" spc="33" dirty="0">
                <a:solidFill>
                  <a:schemeClr val="tx1"/>
                </a:solidFill>
              </a:rPr>
              <a:t>g</a:t>
            </a:r>
            <a:r>
              <a:rPr lang="en-US" sz="4400" b="1" spc="25" dirty="0">
                <a:solidFill>
                  <a:schemeClr val="tx1"/>
                </a:solidFill>
              </a:rPr>
              <a:t>ic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D61E736-D243-6283-262B-8F259D06C26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Much of programming consists of manipulating logic. 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4FFEDF75-B9B9-09CB-846E-3D278BD19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82080" y="3515360"/>
            <a:ext cx="2486025" cy="304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loud Callout 5">
            <a:extLst>
              <a:ext uri="{FF2B5EF4-FFF2-40B4-BE49-F238E27FC236}">
                <a16:creationId xmlns:a16="http://schemas.microsoft.com/office/drawing/2014/main" id="{6FF986B0-96E7-B841-593C-AC52491B3C4A}"/>
              </a:ext>
            </a:extLst>
          </p:cNvPr>
          <p:cNvSpPr/>
          <p:nvPr/>
        </p:nvSpPr>
        <p:spPr>
          <a:xfrm>
            <a:off x="157480" y="1991360"/>
            <a:ext cx="8763000" cy="1676400"/>
          </a:xfrm>
          <a:prstGeom prst="cloudCallout">
            <a:avLst>
              <a:gd name="adj1" fmla="val 20330"/>
              <a:gd name="adj2" fmla="val 7182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73050" lvl="0" indent="-273050" algn="ctr">
              <a:spcBef>
                <a:spcPct val="20000"/>
              </a:spcBef>
              <a:buClr>
                <a:srgbClr val="0BD0D9"/>
              </a:buClr>
              <a:buSzPct val="95000"/>
              <a:tabLst>
                <a:tab pos="199073" algn="l"/>
              </a:tabLst>
            </a:pPr>
            <a:r>
              <a:rPr lang="en-US" sz="2600" dirty="0">
                <a:solidFill>
                  <a:prstClr val="black"/>
                </a:solidFill>
                <a:cs typeface="Arial" panose="020B0604020202020204" pitchFamily="34" charset="0"/>
              </a:rPr>
              <a:t>This section describes how to manipulate logical expressions to your advantage.</a:t>
            </a:r>
          </a:p>
        </p:txBody>
      </p:sp>
    </p:spTree>
    <p:extLst>
      <p:ext uri="{BB962C8B-B14F-4D97-AF65-F5344CB8AC3E}">
        <p14:creationId xmlns:p14="http://schemas.microsoft.com/office/powerpoint/2010/main" val="268952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r>
              <a:rPr lang="en-US" b="1" spc="41" dirty="0">
                <a:solidFill>
                  <a:schemeClr val="tx1"/>
                </a:solidFill>
              </a:rPr>
              <a:t>Lo</a:t>
            </a:r>
            <a:r>
              <a:rPr lang="en-US" b="1" spc="33" dirty="0">
                <a:solidFill>
                  <a:schemeClr val="tx1"/>
                </a:solidFill>
              </a:rPr>
              <a:t>g</a:t>
            </a:r>
            <a:r>
              <a:rPr lang="en-US" b="1" spc="25" dirty="0">
                <a:solidFill>
                  <a:schemeClr val="tx1"/>
                </a:solidFill>
              </a:rPr>
              <a:t>ic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5BC5A7-41D3-5A33-113A-9EF0305730C9}"/>
              </a:ext>
            </a:extLst>
          </p:cNvPr>
          <p:cNvSpPr/>
          <p:nvPr/>
        </p:nvSpPr>
        <p:spPr>
          <a:xfrm>
            <a:off x="1821925" y="1401652"/>
            <a:ext cx="5681235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10478">
              <a:spcBef>
                <a:spcPts val="874"/>
              </a:spcBef>
            </a:pPr>
            <a:r>
              <a:rPr lang="en-US" sz="2400" spc="-4" dirty="0">
                <a:latin typeface="Britannic Bold"/>
                <a:cs typeface="Britannic Bold"/>
              </a:rPr>
              <a:t>Stop </a:t>
            </a:r>
            <a:r>
              <a:rPr lang="en-US" sz="2400" spc="-29" dirty="0">
                <a:latin typeface="Britannic Bold"/>
                <a:cs typeface="Britannic Bold"/>
              </a:rPr>
              <a:t>Testing </a:t>
            </a:r>
            <a:r>
              <a:rPr lang="en-US" sz="2400" spc="-4" dirty="0">
                <a:latin typeface="Britannic Bold"/>
                <a:cs typeface="Britannic Bold"/>
              </a:rPr>
              <a:t>When </a:t>
            </a:r>
            <a:r>
              <a:rPr lang="en-US" sz="2400" spc="-41" dirty="0">
                <a:latin typeface="Britannic Bold"/>
                <a:cs typeface="Britannic Bold"/>
              </a:rPr>
              <a:t>You </a:t>
            </a:r>
            <a:r>
              <a:rPr lang="en-US" sz="2400" dirty="0">
                <a:latin typeface="Britannic Bold"/>
                <a:cs typeface="Britannic Bold"/>
              </a:rPr>
              <a:t>Know </a:t>
            </a:r>
            <a:r>
              <a:rPr lang="en-US" sz="2400" spc="-4" dirty="0">
                <a:latin typeface="Britannic Bold"/>
                <a:cs typeface="Britannic Bold"/>
              </a:rPr>
              <a:t>the</a:t>
            </a:r>
            <a:r>
              <a:rPr lang="en-US" sz="2400" spc="111" dirty="0">
                <a:latin typeface="Britannic Bold"/>
                <a:cs typeface="Britannic Bold"/>
              </a:rPr>
              <a:t> </a:t>
            </a:r>
            <a:r>
              <a:rPr lang="en-US" sz="2400" spc="-4" dirty="0">
                <a:latin typeface="Britannic Bold"/>
                <a:cs typeface="Britannic Bold"/>
              </a:rPr>
              <a:t>Answer</a:t>
            </a:r>
            <a:endParaRPr lang="en-US" sz="2400" dirty="0">
              <a:latin typeface="Britannic Bold"/>
              <a:cs typeface="Britannic Bold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F63D35-7784-DACF-EA20-7B7C09723BFD}"/>
              </a:ext>
            </a:extLst>
          </p:cNvPr>
          <p:cNvSpPr txBox="1">
            <a:spLocks/>
          </p:cNvSpPr>
          <p:nvPr/>
        </p:nvSpPr>
        <p:spPr>
          <a:xfrm>
            <a:off x="325168" y="2048002"/>
            <a:ext cx="8418285" cy="8172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Suppose you have a statement like</a:t>
            </a: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7F200E59-6425-F937-6459-7F3B77A1AF87}"/>
              </a:ext>
            </a:extLst>
          </p:cNvPr>
          <p:cNvSpPr/>
          <p:nvPr/>
        </p:nvSpPr>
        <p:spPr>
          <a:xfrm>
            <a:off x="2137637" y="3049967"/>
            <a:ext cx="4868726" cy="496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019BC5A-14A4-F825-CC99-EFC62266C55B}"/>
              </a:ext>
            </a:extLst>
          </p:cNvPr>
          <p:cNvSpPr txBox="1">
            <a:spLocks/>
          </p:cNvSpPr>
          <p:nvPr/>
        </p:nvSpPr>
        <p:spPr>
          <a:xfrm>
            <a:off x="325167" y="3928389"/>
            <a:ext cx="8418285" cy="81728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28289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800" dirty="0">
                <a:latin typeface="+mn-lt"/>
                <a:cs typeface="+mn-cs"/>
              </a:rPr>
              <a:t>Once you’ve determined that </a:t>
            </a:r>
            <a:r>
              <a:rPr lang="en-US" sz="2800" b="1" dirty="0">
                <a:latin typeface="+mn-lt"/>
                <a:cs typeface="+mn-cs"/>
              </a:rPr>
              <a:t>x</a:t>
            </a:r>
            <a:r>
              <a:rPr lang="en-US" sz="2800" dirty="0">
                <a:latin typeface="+mn-lt"/>
                <a:cs typeface="+mn-cs"/>
              </a:rPr>
              <a:t> is not greater than </a:t>
            </a:r>
            <a:r>
              <a:rPr lang="en-US" sz="2800" b="1" dirty="0">
                <a:latin typeface="+mn-lt"/>
                <a:cs typeface="+mn-cs"/>
              </a:rPr>
              <a:t>5</a:t>
            </a:r>
            <a:r>
              <a:rPr lang="en-US" sz="2800" dirty="0">
                <a:latin typeface="+mn-lt"/>
                <a:cs typeface="+mn-cs"/>
              </a:rPr>
              <a:t>, you don’t need  to perform the second half of the test.</a:t>
            </a:r>
          </a:p>
        </p:txBody>
      </p:sp>
    </p:spTree>
    <p:extLst>
      <p:ext uri="{BB962C8B-B14F-4D97-AF65-F5344CB8AC3E}">
        <p14:creationId xmlns:p14="http://schemas.microsoft.com/office/powerpoint/2010/main" val="9169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algn="ctr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b="1" dirty="0">
                <a:solidFill>
                  <a:schemeClr val="tx1"/>
                </a:solidFill>
              </a:rPr>
              <a:t>Logic</a:t>
            </a: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CCF1595-0EF0-E08D-FC43-0D1B8A96DC9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419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If your language doesn’t support short-circuit evaluation natively, you have to avoid using and and or, adding logic instead. </a:t>
            </a:r>
          </a:p>
          <a:p>
            <a:pPr marL="273050" marR="419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With short- circuit evaluation, the code above changes to this: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BB11F32C-AD4E-622D-2641-7879CCA65DAE}"/>
              </a:ext>
            </a:extLst>
          </p:cNvPr>
          <p:cNvSpPr/>
          <p:nvPr/>
        </p:nvSpPr>
        <p:spPr>
          <a:xfrm>
            <a:off x="2685223" y="5067582"/>
            <a:ext cx="3632224" cy="7896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06083C4-C2F6-919A-DB7C-1A9088DC03F5}"/>
              </a:ext>
            </a:extLst>
          </p:cNvPr>
          <p:cNvSpPr/>
          <p:nvPr/>
        </p:nvSpPr>
        <p:spPr>
          <a:xfrm>
            <a:off x="4289176" y="4278138"/>
            <a:ext cx="435864" cy="630222"/>
          </a:xfrm>
          <a:custGeom>
            <a:avLst/>
            <a:gdLst/>
            <a:ahLst/>
            <a:cxnLst/>
            <a:rect l="l" t="t" r="r" b="b"/>
            <a:pathLst>
              <a:path w="528320" h="763904">
                <a:moveTo>
                  <a:pt x="527900" y="499630"/>
                </a:moveTo>
                <a:lnTo>
                  <a:pt x="0" y="499630"/>
                </a:lnTo>
                <a:lnTo>
                  <a:pt x="263944" y="763574"/>
                </a:lnTo>
                <a:lnTo>
                  <a:pt x="527900" y="499630"/>
                </a:lnTo>
                <a:close/>
              </a:path>
              <a:path w="528320" h="763904">
                <a:moveTo>
                  <a:pt x="395922" y="0"/>
                </a:moveTo>
                <a:lnTo>
                  <a:pt x="131978" y="0"/>
                </a:lnTo>
                <a:lnTo>
                  <a:pt x="131978" y="499630"/>
                </a:lnTo>
                <a:lnTo>
                  <a:pt x="395922" y="499630"/>
                </a:lnTo>
                <a:lnTo>
                  <a:pt x="395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7409DFB-A2F5-3730-F49E-3DF559B58A70}"/>
              </a:ext>
            </a:extLst>
          </p:cNvPr>
          <p:cNvSpPr/>
          <p:nvPr/>
        </p:nvSpPr>
        <p:spPr>
          <a:xfrm>
            <a:off x="2137637" y="3670317"/>
            <a:ext cx="4868726" cy="4964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7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Logic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6E30AE-1E0B-ACEA-C11D-68184E6F9D13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8120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600" dirty="0">
                <a:solidFill>
                  <a:schemeClr val="tx1"/>
                </a:solidFill>
                <a:latin typeface="+mn-lt"/>
                <a:cs typeface="+mn-cs"/>
              </a:rPr>
              <a:t>The principle of not testing after you know the answer is a good one  for many other kinds of cases as well.</a:t>
            </a:r>
          </a:p>
          <a:p>
            <a:pPr marL="730250" marR="81201" lvl="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600" i="1" dirty="0">
                <a:solidFill>
                  <a:schemeClr val="tx1"/>
                </a:solidFill>
                <a:latin typeface="+mn-lt"/>
                <a:cs typeface="+mn-cs"/>
              </a:rPr>
              <a:t>A search loop is a common case</a:t>
            </a:r>
          </a:p>
          <a:p>
            <a:pPr marL="273050" marR="81201" indent="-273050">
              <a:lnSpc>
                <a:spcPts val="2714"/>
              </a:lnSpc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endParaRPr lang="en-US" sz="26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273050" marR="8120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600" dirty="0">
                <a:solidFill>
                  <a:schemeClr val="tx1"/>
                </a:solidFill>
                <a:latin typeface="+mn-lt"/>
                <a:cs typeface="+mn-cs"/>
              </a:rPr>
              <a:t>If you’re scanning an array of input numbers for a negative value and you simply need to know whether a negative value is present, one  approach is to check every value, setting a negative Found variable when you find one.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661E2E8-F2F3-38A0-E637-A85CE7F32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2152" y="5214143"/>
            <a:ext cx="72866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8843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Logic</a:t>
            </a:r>
            <a:endParaRPr lang="en-US" sz="2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494723B-D60B-7367-1F6A-3A62FAF31FCC}"/>
              </a:ext>
            </a:extLst>
          </p:cNvPr>
          <p:cNvSpPr/>
          <p:nvPr/>
        </p:nvSpPr>
        <p:spPr>
          <a:xfrm>
            <a:off x="1968380" y="1609042"/>
            <a:ext cx="5181600" cy="16675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27F92E7-CBC9-03F5-B8D9-936965871782}"/>
              </a:ext>
            </a:extLst>
          </p:cNvPr>
          <p:cNvSpPr txBox="1">
            <a:spLocks/>
          </p:cNvSpPr>
          <p:nvPr/>
        </p:nvSpPr>
        <p:spPr>
          <a:xfrm>
            <a:off x="333829" y="354060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478" marR="122063">
              <a:spcBef>
                <a:spcPts val="755"/>
              </a:spcBef>
            </a:pP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300" spc="-12" dirty="0">
                <a:solidFill>
                  <a:schemeClr val="tx1"/>
                </a:solidFill>
                <a:latin typeface="Calibri"/>
                <a:cs typeface="Calibri"/>
              </a:rPr>
              <a:t>better approach </a:t>
            </a:r>
            <a:r>
              <a:rPr lang="en-US" sz="2300" spc="-8" dirty="0">
                <a:solidFill>
                  <a:schemeClr val="tx1"/>
                </a:solidFill>
                <a:latin typeface="Calibri"/>
                <a:cs typeface="Calibri"/>
              </a:rPr>
              <a:t>would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be </a:t>
            </a:r>
            <a:r>
              <a:rPr lang="en-US" sz="2300" spc="-17" dirty="0">
                <a:solidFill>
                  <a:schemeClr val="tx1"/>
                </a:solidFill>
                <a:latin typeface="Calibri"/>
                <a:cs typeface="Calibri"/>
              </a:rPr>
              <a:t>to </a:t>
            </a:r>
            <a:r>
              <a:rPr lang="en-US" sz="2300" spc="-21" dirty="0">
                <a:solidFill>
                  <a:schemeClr val="tx1"/>
                </a:solidFill>
                <a:latin typeface="Calibri"/>
                <a:cs typeface="Calibri"/>
              </a:rPr>
              <a:t>stop </a:t>
            </a:r>
            <a:r>
              <a:rPr lang="en-US" sz="2300" spc="-8" dirty="0">
                <a:solidFill>
                  <a:schemeClr val="tx1"/>
                </a:solidFill>
                <a:latin typeface="Calibri"/>
                <a:cs typeface="Calibri"/>
              </a:rPr>
              <a:t>scanning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as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soon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as </a:t>
            </a:r>
            <a:r>
              <a:rPr lang="en-US" sz="2300" spc="-17" dirty="0">
                <a:solidFill>
                  <a:schemeClr val="tx1"/>
                </a:solidFill>
                <a:latin typeface="Calibri"/>
                <a:cs typeface="Calibri"/>
              </a:rPr>
              <a:t>you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find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300" spc="-12" dirty="0">
                <a:solidFill>
                  <a:schemeClr val="tx1"/>
                </a:solidFill>
                <a:latin typeface="Calibri"/>
                <a:cs typeface="Calibri"/>
              </a:rPr>
              <a:t>negative </a:t>
            </a:r>
            <a:r>
              <a:rPr lang="en-US" sz="2300" spc="-8" dirty="0">
                <a:solidFill>
                  <a:schemeClr val="tx1"/>
                </a:solidFill>
                <a:latin typeface="Calibri"/>
                <a:cs typeface="Calibri"/>
              </a:rPr>
              <a:t>value. </a:t>
            </a:r>
            <a:r>
              <a:rPr lang="en-US" sz="2300" spc="-25" dirty="0">
                <a:solidFill>
                  <a:schemeClr val="tx1"/>
                </a:solidFill>
                <a:latin typeface="Calibri"/>
                <a:cs typeface="Calibri"/>
              </a:rPr>
              <a:t>Any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of 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these </a:t>
            </a:r>
            <a:r>
              <a:rPr lang="en-US" sz="2300" spc="-8" dirty="0">
                <a:solidFill>
                  <a:schemeClr val="tx1"/>
                </a:solidFill>
                <a:latin typeface="Calibri"/>
                <a:cs typeface="Calibri"/>
              </a:rPr>
              <a:t>approaches would solve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300" spc="116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300" spc="-8" dirty="0">
                <a:solidFill>
                  <a:schemeClr val="tx1"/>
                </a:solidFill>
                <a:latin typeface="Calibri"/>
                <a:cs typeface="Calibri"/>
              </a:rPr>
              <a:t>problem:</a:t>
            </a:r>
            <a:endParaRPr lang="en-US" sz="23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576263" indent="-188595">
              <a:spcBef>
                <a:spcPts val="384"/>
              </a:spcBef>
              <a:buFont typeface="Arial"/>
              <a:buChar char="•"/>
              <a:tabLst>
                <a:tab pos="575739" algn="l"/>
                <a:tab pos="576263" algn="l"/>
              </a:tabLst>
            </a:pP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Add a </a:t>
            </a:r>
            <a:r>
              <a:rPr lang="en-US" sz="2300" i="1" spc="-4" dirty="0">
                <a:solidFill>
                  <a:srgbClr val="0000FF"/>
                </a:solidFill>
                <a:latin typeface="Calibri"/>
                <a:cs typeface="Calibri"/>
              </a:rPr>
              <a:t>break </a:t>
            </a:r>
            <a:r>
              <a:rPr lang="en-US" sz="2300" spc="-25" dirty="0">
                <a:solidFill>
                  <a:schemeClr val="tx1"/>
                </a:solidFill>
                <a:latin typeface="Calibri"/>
                <a:cs typeface="Calibri"/>
              </a:rPr>
              <a:t>statement </a:t>
            </a:r>
            <a:r>
              <a:rPr lang="en-US" sz="2300" spc="-8" dirty="0">
                <a:solidFill>
                  <a:schemeClr val="tx1"/>
                </a:solidFill>
                <a:latin typeface="Calibri"/>
                <a:cs typeface="Calibri"/>
              </a:rPr>
              <a:t>after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300" i="1" spc="-4" dirty="0" err="1">
                <a:solidFill>
                  <a:srgbClr val="0000FF"/>
                </a:solidFill>
                <a:latin typeface="Calibri"/>
                <a:cs typeface="Calibri"/>
              </a:rPr>
              <a:t>negativeInputFound</a:t>
            </a:r>
            <a:r>
              <a:rPr lang="en-US" sz="2300" i="1" spc="-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US" sz="2300" i="1" dirty="0">
                <a:solidFill>
                  <a:schemeClr val="tx1"/>
                </a:solidFill>
                <a:latin typeface="Calibri"/>
                <a:cs typeface="Calibri"/>
              </a:rPr>
              <a:t>= </a:t>
            </a:r>
            <a:r>
              <a:rPr lang="en-US" sz="2300" i="1" spc="-4" dirty="0">
                <a:solidFill>
                  <a:schemeClr val="tx1"/>
                </a:solidFill>
                <a:latin typeface="Calibri"/>
                <a:cs typeface="Calibri"/>
              </a:rPr>
              <a:t>true</a:t>
            </a:r>
            <a:r>
              <a:rPr lang="en-US" sz="2300" i="1" spc="-11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line.</a:t>
            </a:r>
          </a:p>
          <a:p>
            <a:pPr marL="576263" marR="108442" indent="-188595">
              <a:spcBef>
                <a:spcPts val="396"/>
              </a:spcBef>
              <a:buFont typeface="Arial"/>
              <a:buChar char="•"/>
              <a:tabLst>
                <a:tab pos="575739" algn="l"/>
                <a:tab pos="576263" algn="l"/>
              </a:tabLst>
            </a:pP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If </a:t>
            </a:r>
            <a:r>
              <a:rPr lang="en-US" sz="2300" spc="-17" dirty="0">
                <a:solidFill>
                  <a:schemeClr val="tx1"/>
                </a:solidFill>
                <a:latin typeface="Calibri"/>
                <a:cs typeface="Calibri"/>
              </a:rPr>
              <a:t>your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language doesn’t </a:t>
            </a:r>
            <a:r>
              <a:rPr lang="en-US" sz="2300" spc="-25" dirty="0">
                <a:solidFill>
                  <a:schemeClr val="tx1"/>
                </a:solidFill>
                <a:latin typeface="Calibri"/>
                <a:cs typeface="Calibri"/>
              </a:rPr>
              <a:t>have </a:t>
            </a:r>
            <a:r>
              <a:rPr lang="en-US" sz="2300" i="1" spc="-4" dirty="0">
                <a:solidFill>
                  <a:srgbClr val="0000FF"/>
                </a:solidFill>
                <a:latin typeface="Calibri"/>
                <a:cs typeface="Calibri"/>
              </a:rPr>
              <a:t>break</a:t>
            </a:r>
            <a:r>
              <a:rPr lang="en-US" sz="2300" spc="-4" dirty="0">
                <a:latin typeface="Calibri"/>
                <a:cs typeface="Calibri"/>
              </a:rPr>
              <a:t>, </a:t>
            </a:r>
            <a:r>
              <a:rPr lang="en-US" sz="2300" spc="-8" dirty="0">
                <a:solidFill>
                  <a:schemeClr val="tx1"/>
                </a:solidFill>
                <a:latin typeface="Calibri"/>
                <a:cs typeface="Calibri"/>
              </a:rPr>
              <a:t>emulate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300" i="1" spc="-4" dirty="0">
                <a:solidFill>
                  <a:schemeClr val="tx1"/>
                </a:solidFill>
                <a:latin typeface="Calibri"/>
                <a:cs typeface="Calibri"/>
              </a:rPr>
              <a:t>break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with a </a:t>
            </a:r>
            <a:r>
              <a:rPr lang="en-US" sz="2300" i="1" spc="-17" dirty="0" err="1">
                <a:solidFill>
                  <a:schemeClr val="tx1"/>
                </a:solidFill>
                <a:latin typeface="Calibri"/>
                <a:cs typeface="Calibri"/>
              </a:rPr>
              <a:t>goto</a:t>
            </a:r>
            <a:r>
              <a:rPr lang="en-US" sz="2300" i="1" spc="-1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that goes </a:t>
            </a:r>
            <a:r>
              <a:rPr lang="en-US" sz="2300" spc="-17" dirty="0">
                <a:solidFill>
                  <a:schemeClr val="tx1"/>
                </a:solidFill>
                <a:latin typeface="Calibri"/>
                <a:cs typeface="Calibri"/>
              </a:rPr>
              <a:t>to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300" spc="-25" dirty="0">
                <a:solidFill>
                  <a:schemeClr val="tx1"/>
                </a:solidFill>
                <a:latin typeface="Calibri"/>
                <a:cs typeface="Calibri"/>
              </a:rPr>
              <a:t>first </a:t>
            </a:r>
            <a:r>
              <a:rPr lang="en-US" sz="2300" spc="-21" dirty="0">
                <a:solidFill>
                  <a:schemeClr val="tx1"/>
                </a:solidFill>
                <a:latin typeface="Calibri"/>
                <a:cs typeface="Calibri"/>
              </a:rPr>
              <a:t>statement  </a:t>
            </a:r>
            <a:r>
              <a:rPr lang="en-US" sz="2300" spc="-8" dirty="0">
                <a:solidFill>
                  <a:schemeClr val="tx1"/>
                </a:solidFill>
                <a:latin typeface="Calibri"/>
                <a:cs typeface="Calibri"/>
              </a:rPr>
              <a:t>after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300" spc="-1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loop.</a:t>
            </a:r>
            <a:endParaRPr lang="en-US" sz="23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576263" marR="4191" indent="-188595">
              <a:spcBef>
                <a:spcPts val="545"/>
              </a:spcBef>
              <a:buFont typeface="Arial"/>
              <a:buChar char="•"/>
              <a:tabLst>
                <a:tab pos="575739" algn="l"/>
                <a:tab pos="576263" algn="l"/>
              </a:tabLst>
            </a:pP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Change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300" i="1" spc="-21" dirty="0">
                <a:solidFill>
                  <a:srgbClr val="0000FF"/>
                </a:solidFill>
                <a:latin typeface="Calibri"/>
                <a:cs typeface="Calibri"/>
              </a:rPr>
              <a:t>for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loop </a:t>
            </a:r>
            <a:r>
              <a:rPr lang="en-US" sz="2300" spc="-21" dirty="0">
                <a:solidFill>
                  <a:schemeClr val="tx1"/>
                </a:solidFill>
                <a:latin typeface="Calibri"/>
                <a:cs typeface="Calibri"/>
              </a:rPr>
              <a:t>to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300" i="1" spc="-4" dirty="0">
                <a:solidFill>
                  <a:srgbClr val="0000FF"/>
                </a:solidFill>
                <a:latin typeface="Calibri"/>
                <a:cs typeface="Calibri"/>
              </a:rPr>
              <a:t>while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loop,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and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check </a:t>
            </a:r>
            <a:r>
              <a:rPr lang="en-US" sz="2300" spc="-33" dirty="0">
                <a:solidFill>
                  <a:schemeClr val="tx1"/>
                </a:solidFill>
                <a:latin typeface="Calibri"/>
                <a:cs typeface="Calibri"/>
              </a:rPr>
              <a:t>for </a:t>
            </a:r>
            <a:r>
              <a:rPr lang="en-US" sz="2300" i="1" spc="-4" dirty="0" err="1">
                <a:solidFill>
                  <a:srgbClr val="0000FF"/>
                </a:solidFill>
                <a:latin typeface="Calibri"/>
                <a:cs typeface="Calibri"/>
              </a:rPr>
              <a:t>negativeInputFound</a:t>
            </a:r>
            <a:r>
              <a:rPr lang="en-US" sz="2300" i="1" spc="-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as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well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as </a:t>
            </a:r>
            <a:r>
              <a:rPr lang="en-US" sz="2300" spc="-33" dirty="0">
                <a:solidFill>
                  <a:schemeClr val="tx1"/>
                </a:solidFill>
                <a:latin typeface="Calibri"/>
                <a:cs typeface="Calibri"/>
              </a:rPr>
              <a:t>for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incrementing  </a:t>
            </a:r>
            <a:r>
              <a:rPr lang="en-US" sz="2300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300" spc="-4" dirty="0">
                <a:solidFill>
                  <a:schemeClr val="tx1"/>
                </a:solidFill>
                <a:latin typeface="Calibri"/>
                <a:cs typeface="Calibri"/>
              </a:rPr>
              <a:t>loop </a:t>
            </a:r>
            <a:r>
              <a:rPr lang="en-US" sz="2300" spc="-17" dirty="0">
                <a:solidFill>
                  <a:schemeClr val="tx1"/>
                </a:solidFill>
                <a:latin typeface="Calibri"/>
                <a:cs typeface="Calibri"/>
              </a:rPr>
              <a:t>counter </a:t>
            </a:r>
            <a:r>
              <a:rPr lang="en-US" sz="2300" spc="-8" dirty="0">
                <a:solidFill>
                  <a:schemeClr val="tx1"/>
                </a:solidFill>
                <a:latin typeface="Calibri"/>
                <a:cs typeface="Calibri"/>
              </a:rPr>
              <a:t>past</a:t>
            </a:r>
            <a:r>
              <a:rPr lang="en-US" sz="2300" spc="-2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300" i="1" spc="-8" dirty="0">
                <a:solidFill>
                  <a:srgbClr val="0000FF"/>
                </a:solidFill>
                <a:latin typeface="Calibri"/>
                <a:cs typeface="Calibri"/>
              </a:rPr>
              <a:t>count</a:t>
            </a:r>
            <a:r>
              <a:rPr lang="en-US" sz="2300" spc="-8" dirty="0">
                <a:latin typeface="Calibri"/>
                <a:cs typeface="Calibri"/>
              </a:rPr>
              <a:t>.</a:t>
            </a:r>
            <a:endParaRPr lang="en-US" sz="23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7751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Logic</a:t>
            </a:r>
            <a:endParaRPr lang="en-US" sz="31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E48D9E-72FA-51EF-A8F6-DBB5E134DD63}"/>
              </a:ext>
            </a:extLst>
          </p:cNvPr>
          <p:cNvSpPr/>
          <p:nvPr/>
        </p:nvSpPr>
        <p:spPr>
          <a:xfrm>
            <a:off x="2750411" y="1814175"/>
            <a:ext cx="3643177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10478">
              <a:spcBef>
                <a:spcPts val="874"/>
              </a:spcBef>
            </a:pPr>
            <a:r>
              <a:rPr lang="en-US" sz="2400" spc="-4" dirty="0">
                <a:latin typeface="Britannic Bold"/>
                <a:cs typeface="Britannic Bold"/>
              </a:rPr>
              <a:t>Order </a:t>
            </a:r>
            <a:r>
              <a:rPr lang="en-US" sz="2400" spc="-37" dirty="0">
                <a:latin typeface="Britannic Bold"/>
                <a:cs typeface="Britannic Bold"/>
              </a:rPr>
              <a:t>Tests </a:t>
            </a:r>
            <a:r>
              <a:rPr lang="en-US" sz="2400" dirty="0">
                <a:latin typeface="Britannic Bold"/>
                <a:cs typeface="Britannic Bold"/>
              </a:rPr>
              <a:t>by</a:t>
            </a:r>
            <a:r>
              <a:rPr lang="en-US" sz="2400" spc="91" dirty="0">
                <a:latin typeface="Britannic Bold"/>
                <a:cs typeface="Britannic Bold"/>
              </a:rPr>
              <a:t> </a:t>
            </a:r>
            <a:r>
              <a:rPr lang="en-US" sz="2400" spc="-4" dirty="0">
                <a:latin typeface="Britannic Bold"/>
                <a:cs typeface="Britannic Bold"/>
              </a:rPr>
              <a:t>Frequency</a:t>
            </a:r>
            <a:endParaRPr lang="en-US" sz="2400" dirty="0">
              <a:latin typeface="Britannic Bold"/>
              <a:cs typeface="Britannic Bold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5403AF7-70E2-2C43-A266-27BFD5D09D47}"/>
              </a:ext>
            </a:extLst>
          </p:cNvPr>
          <p:cNvSpPr txBox="1">
            <a:spLocks/>
          </p:cNvSpPr>
          <p:nvPr/>
        </p:nvSpPr>
        <p:spPr>
          <a:xfrm>
            <a:off x="333829" y="26058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8120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600" dirty="0">
                <a:solidFill>
                  <a:schemeClr val="tx1"/>
                </a:solidFill>
                <a:latin typeface="+mn-lt"/>
                <a:cs typeface="+mn-cs"/>
              </a:rPr>
              <a:t>Arrange tests so that the one that’s fastest and most likely to be true is performed first.</a:t>
            </a:r>
          </a:p>
          <a:p>
            <a:pPr marL="273050" marR="8120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endParaRPr lang="en-US" sz="26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273050" marR="8120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600" dirty="0">
                <a:solidFill>
                  <a:schemeClr val="tx1"/>
                </a:solidFill>
                <a:latin typeface="+mn-lt"/>
                <a:cs typeface="+mn-cs"/>
              </a:rPr>
              <a:t>This  principle applies to case statements and to chains of if-then-</a:t>
            </a:r>
            <a:r>
              <a:rPr lang="en-US" sz="2600" dirty="0" err="1">
                <a:solidFill>
                  <a:schemeClr val="tx1"/>
                </a:solidFill>
                <a:latin typeface="+mn-lt"/>
                <a:cs typeface="+mn-cs"/>
              </a:rPr>
              <a:t>elses</a:t>
            </a:r>
            <a:r>
              <a:rPr lang="en-US" sz="2600" dirty="0">
                <a:solidFill>
                  <a:schemeClr val="tx1"/>
                </a:solidFill>
                <a:latin typeface="+mn-lt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040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Logic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B7E56D9-9BF5-2773-7C7B-0F26A19E3AC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3374571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4191" indent="-188595">
              <a:lnSpc>
                <a:spcPct val="100200"/>
              </a:lnSpc>
              <a:spcBef>
                <a:spcPts val="74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54" dirty="0">
                <a:solidFill>
                  <a:schemeClr val="tx1"/>
                </a:solidFill>
                <a:latin typeface="Calibri"/>
                <a:cs typeface="Calibri"/>
              </a:rPr>
              <a:t>Here’s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Visual Basic </a:t>
            </a:r>
            <a:r>
              <a:rPr lang="en-US" sz="2800" i="1" spc="-17" dirty="0">
                <a:solidFill>
                  <a:schemeClr val="tx1"/>
                </a:solidFill>
                <a:latin typeface="Calibri"/>
                <a:cs typeface="Calibri"/>
              </a:rPr>
              <a:t>Select-</a:t>
            </a:r>
            <a:r>
              <a:rPr lang="en-US" sz="2800" i="1" spc="-4" dirty="0">
                <a:solidFill>
                  <a:schemeClr val="tx1"/>
                </a:solidFill>
                <a:latin typeface="Calibri"/>
                <a:cs typeface="Calibri"/>
              </a:rPr>
              <a:t>Case </a:t>
            </a:r>
            <a:r>
              <a:rPr lang="en-US" sz="2800" spc="-25" dirty="0">
                <a:solidFill>
                  <a:schemeClr val="tx1"/>
                </a:solidFill>
                <a:latin typeface="Calibri"/>
                <a:cs typeface="Calibri"/>
              </a:rPr>
              <a:t>statement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that responds </a:t>
            </a:r>
            <a:r>
              <a:rPr lang="en-US" sz="2800" spc="-21" dirty="0">
                <a:solidFill>
                  <a:schemeClr val="tx1"/>
                </a:solidFill>
                <a:latin typeface="Calibri"/>
                <a:cs typeface="Calibri"/>
              </a:rPr>
              <a:t>to </a:t>
            </a:r>
            <a:r>
              <a:rPr lang="en-US" sz="2800" spc="-29" dirty="0">
                <a:solidFill>
                  <a:schemeClr val="tx1"/>
                </a:solidFill>
                <a:latin typeface="Calibri"/>
                <a:cs typeface="Calibri"/>
              </a:rPr>
              <a:t>keyboard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input in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800" spc="-25" dirty="0">
                <a:solidFill>
                  <a:srgbClr val="BF0000"/>
                </a:solidFill>
                <a:latin typeface="Calibri"/>
                <a:cs typeface="Calibri"/>
              </a:rPr>
              <a:t>word  </a:t>
            </a:r>
            <a:r>
              <a:rPr lang="en-US" sz="2800" spc="-8" dirty="0">
                <a:solidFill>
                  <a:srgbClr val="BF0000"/>
                </a:solidFill>
                <a:latin typeface="Calibri"/>
                <a:cs typeface="Calibri"/>
              </a:rPr>
              <a:t>processor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BEB2F6B3-C4C0-80B8-E532-469ECC6FFE95}"/>
              </a:ext>
            </a:extLst>
          </p:cNvPr>
          <p:cNvSpPr/>
          <p:nvPr/>
        </p:nvSpPr>
        <p:spPr>
          <a:xfrm>
            <a:off x="4235675" y="2035100"/>
            <a:ext cx="4744788" cy="36614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420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Logic</a:t>
            </a:r>
            <a:endParaRPr lang="en-US" sz="31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 sz="700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D01DEAFF-3BEF-40B5-D790-00B6E7AFE240}"/>
              </a:ext>
            </a:extLst>
          </p:cNvPr>
          <p:cNvSpPr/>
          <p:nvPr/>
        </p:nvSpPr>
        <p:spPr>
          <a:xfrm>
            <a:off x="91440" y="3059542"/>
            <a:ext cx="4871995" cy="33920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80C8D24F-7018-3BD9-EE8E-77DA68D7E80D}"/>
              </a:ext>
            </a:extLst>
          </p:cNvPr>
          <p:cNvSpPr/>
          <p:nvPr/>
        </p:nvSpPr>
        <p:spPr>
          <a:xfrm>
            <a:off x="1298513" y="958133"/>
            <a:ext cx="3771558" cy="1062250"/>
          </a:xfrm>
          <a:prstGeom prst="wedgeRectCallout">
            <a:avLst>
              <a:gd name="adj1" fmla="val 4225"/>
              <a:gd name="adj2" fmla="val 14348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pc="-4" dirty="0">
                <a:solidFill>
                  <a:schemeClr val="tx1"/>
                </a:solidFill>
                <a:cs typeface="Calibri"/>
              </a:rPr>
              <a:t>The cases in this </a:t>
            </a:r>
            <a:r>
              <a:rPr lang="en-GB" i="1" spc="-8" dirty="0">
                <a:solidFill>
                  <a:schemeClr val="tx1"/>
                </a:solidFill>
                <a:cs typeface="Calibri"/>
              </a:rPr>
              <a:t>case </a:t>
            </a:r>
            <a:r>
              <a:rPr lang="en-GB" spc="-25" dirty="0">
                <a:solidFill>
                  <a:schemeClr val="tx1"/>
                </a:solidFill>
                <a:cs typeface="Calibri"/>
              </a:rPr>
              <a:t>statement  </a:t>
            </a:r>
            <a:r>
              <a:rPr lang="en-GB" spc="-21" dirty="0">
                <a:solidFill>
                  <a:schemeClr val="tx1"/>
                </a:solidFill>
                <a:cs typeface="Calibri"/>
              </a:rPr>
              <a:t>are </a:t>
            </a:r>
            <a:r>
              <a:rPr lang="en-GB" spc="-12" dirty="0">
                <a:solidFill>
                  <a:schemeClr val="tx1"/>
                </a:solidFill>
                <a:cs typeface="Calibri"/>
              </a:rPr>
              <a:t>ordered </a:t>
            </a:r>
            <a:r>
              <a:rPr lang="en-GB" spc="-4" dirty="0">
                <a:solidFill>
                  <a:schemeClr val="tx1"/>
                </a:solidFill>
                <a:cs typeface="Calibri"/>
              </a:rPr>
              <a:t>in something close  </a:t>
            </a:r>
            <a:r>
              <a:rPr lang="en-GB" spc="-21" dirty="0">
                <a:solidFill>
                  <a:schemeClr val="tx1"/>
                </a:solidFill>
                <a:cs typeface="Calibri"/>
              </a:rPr>
              <a:t>to </a:t>
            </a:r>
            <a:r>
              <a:rPr lang="en-GB" dirty="0">
                <a:solidFill>
                  <a:schemeClr val="tx1"/>
                </a:solidFill>
                <a:cs typeface="Calibri"/>
              </a:rPr>
              <a:t>the </a:t>
            </a:r>
            <a:r>
              <a:rPr lang="en-GB" spc="-4" dirty="0">
                <a:solidFill>
                  <a:srgbClr val="BF0000"/>
                </a:solidFill>
                <a:cs typeface="Calibri"/>
              </a:rPr>
              <a:t>ASCII sort</a:t>
            </a:r>
            <a:r>
              <a:rPr lang="en-GB" spc="37" dirty="0">
                <a:solidFill>
                  <a:srgbClr val="BF0000"/>
                </a:solidFill>
                <a:cs typeface="Calibri"/>
              </a:rPr>
              <a:t> </a:t>
            </a:r>
            <a:r>
              <a:rPr lang="en-GB" spc="-12" dirty="0">
                <a:solidFill>
                  <a:srgbClr val="BF0000"/>
                </a:solidFill>
                <a:cs typeface="Calibri"/>
              </a:rPr>
              <a:t>order</a:t>
            </a:r>
            <a:endParaRPr lang="en-GB" dirty="0">
              <a:cs typeface="Calibri"/>
            </a:endParaRPr>
          </a:p>
          <a:p>
            <a:pPr algn="ctr"/>
            <a:endParaRPr lang="en-GB"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E5061BB6-9810-37C3-BE0B-757407E30AE8}"/>
              </a:ext>
            </a:extLst>
          </p:cNvPr>
          <p:cNvSpPr/>
          <p:nvPr/>
        </p:nvSpPr>
        <p:spPr>
          <a:xfrm>
            <a:off x="5070071" y="3059542"/>
            <a:ext cx="3982489" cy="31219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F5011EF1-303D-2535-CA52-36BF70338BA7}"/>
              </a:ext>
            </a:extLst>
          </p:cNvPr>
          <p:cNvSpPr/>
          <p:nvPr/>
        </p:nvSpPr>
        <p:spPr>
          <a:xfrm>
            <a:off x="6188167" y="958133"/>
            <a:ext cx="2864393" cy="939635"/>
          </a:xfrm>
          <a:prstGeom prst="wedgeRectCallout">
            <a:avLst>
              <a:gd name="adj1" fmla="val -22159"/>
              <a:gd name="adj2" fmla="val 16009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pc="-54" dirty="0">
                <a:solidFill>
                  <a:schemeClr val="tx1"/>
                </a:solidFill>
                <a:cs typeface="Calibri"/>
              </a:rPr>
              <a:t>Here’s </a:t>
            </a:r>
            <a:r>
              <a:rPr lang="en-GB" dirty="0">
                <a:solidFill>
                  <a:schemeClr val="tx1"/>
                </a:solidFill>
                <a:cs typeface="Calibri"/>
              </a:rPr>
              <a:t>the </a:t>
            </a:r>
            <a:r>
              <a:rPr lang="en-GB" spc="-17" dirty="0">
                <a:solidFill>
                  <a:schemeClr val="tx1"/>
                </a:solidFill>
                <a:cs typeface="Calibri"/>
              </a:rPr>
              <a:t>reordered </a:t>
            </a:r>
            <a:r>
              <a:rPr lang="en-GB" i="1" spc="-8" dirty="0">
                <a:solidFill>
                  <a:schemeClr val="tx1"/>
                </a:solidFill>
                <a:cs typeface="Calibri"/>
              </a:rPr>
              <a:t>case</a:t>
            </a:r>
            <a:r>
              <a:rPr lang="en-GB" i="1" spc="91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pc="-17" dirty="0">
                <a:solidFill>
                  <a:schemeClr val="tx1"/>
                </a:solidFill>
                <a:cs typeface="Calibri"/>
              </a:rPr>
              <a:t>statement:</a:t>
            </a:r>
            <a:endParaRPr lang="en-GB" dirty="0">
              <a:solidFill>
                <a:schemeClr val="tx1"/>
              </a:solidFill>
              <a:cs typeface="Calibri"/>
            </a:endParaRP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5681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Assertions: </a:t>
            </a:r>
            <a:r>
              <a:rPr lang="en-US" sz="3100" dirty="0">
                <a:solidFill>
                  <a:schemeClr val="tx1"/>
                </a:solidFill>
                <a:latin typeface="+mn-lt"/>
              </a:rPr>
              <a:t>Guidelines for Using Assertions</a:t>
            </a:r>
            <a:endParaRPr lang="en-US" sz="31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E6EB4-C80F-E439-7FCD-1A8D99555497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505371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8120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Because loops are executed many times, the hot spots in a program  are often inside loops.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56F2731C-4F4F-ED64-8BD3-F8ECE9EDF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6984" y="3429000"/>
            <a:ext cx="2486025" cy="304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loud Callout 6">
            <a:extLst>
              <a:ext uri="{FF2B5EF4-FFF2-40B4-BE49-F238E27FC236}">
                <a16:creationId xmlns:a16="http://schemas.microsoft.com/office/drawing/2014/main" id="{29560526-F6E1-DCEF-CF8B-321C660F3F86}"/>
              </a:ext>
            </a:extLst>
          </p:cNvPr>
          <p:cNvSpPr/>
          <p:nvPr/>
        </p:nvSpPr>
        <p:spPr>
          <a:xfrm>
            <a:off x="252384" y="2286000"/>
            <a:ext cx="7086600" cy="1600200"/>
          </a:xfrm>
          <a:prstGeom prst="cloudCallout">
            <a:avLst>
              <a:gd name="adj1" fmla="val 35150"/>
              <a:gd name="adj2" fmla="val 5732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73050" marR="81201" lvl="0" indent="-273050" algn="ctr">
              <a:spcBef>
                <a:spcPct val="20000"/>
              </a:spcBef>
              <a:buClr>
                <a:srgbClr val="0BD0D9"/>
              </a:buClr>
              <a:buSzPct val="95000"/>
              <a:tabLst>
                <a:tab pos="199073" algn="l"/>
              </a:tabLst>
            </a:pPr>
            <a:r>
              <a:rPr lang="en-US" sz="2600" dirty="0">
                <a:solidFill>
                  <a:prstClr val="black"/>
                </a:solidFill>
                <a:cs typeface="Arial" panose="020B0604020202020204" pitchFamily="34" charset="0"/>
              </a:rPr>
              <a:t>The techniques in this section make the loop itself faster.</a:t>
            </a:r>
          </a:p>
        </p:txBody>
      </p:sp>
    </p:spTree>
    <p:extLst>
      <p:ext uri="{BB962C8B-B14F-4D97-AF65-F5344CB8AC3E}">
        <p14:creationId xmlns:p14="http://schemas.microsoft.com/office/powerpoint/2010/main" val="12798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Loops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391886" y="1366422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15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6E30AE-1E0B-ACEA-C11D-68184E6F9D13}"/>
              </a:ext>
            </a:extLst>
          </p:cNvPr>
          <p:cNvSpPr txBox="1">
            <a:spLocks/>
          </p:cNvSpPr>
          <p:nvPr/>
        </p:nvSpPr>
        <p:spPr>
          <a:xfrm>
            <a:off x="333829" y="2129917"/>
            <a:ext cx="8418285" cy="191531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4191" indent="-188595">
              <a:spcBef>
                <a:spcPts val="9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b="1" spc="-4" dirty="0">
                <a:solidFill>
                  <a:srgbClr val="BF0000"/>
                </a:solidFill>
                <a:latin typeface="+mn-lt"/>
                <a:cs typeface="Calibri"/>
              </a:rPr>
              <a:t>Jamming</a:t>
            </a:r>
            <a:r>
              <a:rPr lang="en-US" sz="2600" spc="-4" dirty="0">
                <a:latin typeface="+mn-lt"/>
                <a:cs typeface="Calibri"/>
              </a:rPr>
              <a:t>, </a:t>
            </a: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or</a:t>
            </a:r>
            <a:r>
              <a:rPr lang="en-US" sz="2600" spc="-4" dirty="0">
                <a:latin typeface="+mn-lt"/>
                <a:cs typeface="Calibri"/>
              </a:rPr>
              <a:t> </a:t>
            </a:r>
            <a:r>
              <a:rPr lang="en-US" sz="2600" spc="-37" dirty="0">
                <a:latin typeface="+mn-lt"/>
                <a:cs typeface="Calibri"/>
              </a:rPr>
              <a:t>“</a:t>
            </a:r>
            <a:r>
              <a:rPr lang="en-US" sz="2600" b="1" spc="-37" dirty="0">
                <a:solidFill>
                  <a:srgbClr val="BF0000"/>
                </a:solidFill>
                <a:latin typeface="+mn-lt"/>
                <a:cs typeface="Calibri"/>
              </a:rPr>
              <a:t>fusion</a:t>
            </a:r>
            <a:r>
              <a:rPr lang="en-US" sz="2600" spc="-37" dirty="0">
                <a:latin typeface="+mn-lt"/>
                <a:cs typeface="Calibri"/>
              </a:rPr>
              <a:t>”, </a:t>
            </a: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is the </a:t>
            </a: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result </a:t>
            </a: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of </a:t>
            </a:r>
            <a:r>
              <a:rPr lang="en-US" sz="2600" b="1" spc="-4" dirty="0">
                <a:solidFill>
                  <a:srgbClr val="BF0000"/>
                </a:solidFill>
                <a:latin typeface="+mn-lt"/>
                <a:cs typeface="Calibri"/>
              </a:rPr>
              <a:t>combining </a:t>
            </a:r>
            <a:r>
              <a:rPr lang="en-US" sz="2600" b="1" spc="-8" dirty="0">
                <a:solidFill>
                  <a:srgbClr val="BF0000"/>
                </a:solidFill>
                <a:latin typeface="+mn-lt"/>
                <a:cs typeface="Calibri"/>
              </a:rPr>
              <a:t>two loops </a:t>
            </a: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that</a:t>
            </a:r>
            <a:r>
              <a:rPr lang="en-US" sz="2600" spc="-8" dirty="0">
                <a:latin typeface="+mn-lt"/>
                <a:cs typeface="Calibri"/>
              </a:rPr>
              <a:t> </a:t>
            </a:r>
            <a:r>
              <a:rPr lang="en-US" sz="2600" spc="-8" dirty="0">
                <a:solidFill>
                  <a:srgbClr val="0031CC"/>
                </a:solidFill>
                <a:latin typeface="+mn-lt"/>
                <a:cs typeface="Calibri"/>
              </a:rPr>
              <a:t> </a:t>
            </a:r>
            <a:r>
              <a:rPr lang="en-US" sz="2600" spc="-25" dirty="0">
                <a:solidFill>
                  <a:srgbClr val="0031CC"/>
                </a:solidFill>
                <a:latin typeface="+mn-lt"/>
                <a:cs typeface="Calibri"/>
              </a:rPr>
              <a:t>operate </a:t>
            </a:r>
            <a:r>
              <a:rPr lang="en-US" sz="2600" spc="4" dirty="0">
                <a:solidFill>
                  <a:srgbClr val="0031CC"/>
                </a:solidFill>
                <a:latin typeface="+mn-lt"/>
                <a:cs typeface="Calibri"/>
              </a:rPr>
              <a:t>on </a:t>
            </a:r>
            <a:r>
              <a:rPr lang="en-US" sz="2600" dirty="0">
                <a:solidFill>
                  <a:srgbClr val="0031CC"/>
                </a:solidFill>
                <a:latin typeface="+mn-lt"/>
                <a:cs typeface="Calibri"/>
              </a:rPr>
              <a:t>the same </a:t>
            </a:r>
            <a:r>
              <a:rPr lang="en-US" sz="2600" spc="-8" dirty="0">
                <a:solidFill>
                  <a:srgbClr val="0031CC"/>
                </a:solidFill>
                <a:latin typeface="+mn-lt"/>
                <a:cs typeface="Calibri"/>
              </a:rPr>
              <a:t>set </a:t>
            </a:r>
            <a:r>
              <a:rPr lang="en-US" sz="2600" spc="-4" dirty="0">
                <a:solidFill>
                  <a:srgbClr val="0031CC"/>
                </a:solidFill>
                <a:latin typeface="+mn-lt"/>
                <a:cs typeface="Calibri"/>
              </a:rPr>
              <a:t>of </a:t>
            </a:r>
            <a:r>
              <a:rPr lang="en-US" sz="2600" spc="-8" dirty="0">
                <a:solidFill>
                  <a:srgbClr val="0031CC"/>
                </a:solidFill>
                <a:latin typeface="+mn-lt"/>
                <a:cs typeface="Calibri"/>
              </a:rPr>
              <a:t>elements</a:t>
            </a: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. </a:t>
            </a: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The </a:t>
            </a:r>
            <a:r>
              <a:rPr lang="en-US" sz="2600" spc="-17" dirty="0">
                <a:solidFill>
                  <a:schemeClr val="tx1"/>
                </a:solidFill>
                <a:latin typeface="+mn-lt"/>
                <a:cs typeface="Calibri"/>
              </a:rPr>
              <a:t>gain </a:t>
            </a: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lies in </a:t>
            </a: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cutting </a:t>
            </a:r>
            <a:r>
              <a:rPr lang="en-US" sz="2600" dirty="0">
                <a:solidFill>
                  <a:schemeClr val="tx1"/>
                </a:solidFill>
                <a:latin typeface="+mn-lt"/>
                <a:cs typeface="Calibri"/>
              </a:rPr>
              <a:t>the </a:t>
            </a: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loop  </a:t>
            </a: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overhead </a:t>
            </a:r>
            <a:r>
              <a:rPr lang="en-US" sz="2600" spc="-21" dirty="0">
                <a:solidFill>
                  <a:schemeClr val="tx1"/>
                </a:solidFill>
                <a:latin typeface="+mn-lt"/>
                <a:cs typeface="Calibri"/>
              </a:rPr>
              <a:t>from </a:t>
            </a:r>
            <a:r>
              <a:rPr lang="en-US" sz="2600" spc="-12" dirty="0">
                <a:solidFill>
                  <a:schemeClr val="tx1"/>
                </a:solidFill>
                <a:latin typeface="+mn-lt"/>
                <a:cs typeface="Calibri"/>
              </a:rPr>
              <a:t>two </a:t>
            </a: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loops </a:t>
            </a:r>
            <a:r>
              <a:rPr lang="en-US" sz="2600" spc="-21" dirty="0">
                <a:solidFill>
                  <a:schemeClr val="tx1"/>
                </a:solidFill>
                <a:latin typeface="+mn-lt"/>
                <a:cs typeface="Calibri"/>
              </a:rPr>
              <a:t>to</a:t>
            </a:r>
            <a:r>
              <a:rPr lang="en-US" sz="2600" spc="136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one.</a:t>
            </a:r>
            <a:endParaRPr lang="en-US" sz="260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199073" indent="-188595">
              <a:spcBef>
                <a:spcPts val="874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spc="-54" dirty="0">
                <a:solidFill>
                  <a:schemeClr val="tx1"/>
                </a:solidFill>
                <a:latin typeface="+mn-lt"/>
                <a:cs typeface="Calibri"/>
              </a:rPr>
              <a:t>Here’s </a:t>
            </a:r>
            <a:r>
              <a:rPr lang="en-US" sz="2600" dirty="0">
                <a:solidFill>
                  <a:schemeClr val="tx1"/>
                </a:solidFill>
                <a:latin typeface="+mn-lt"/>
                <a:cs typeface="Calibri"/>
              </a:rPr>
              <a:t>a </a:t>
            </a:r>
            <a:r>
              <a:rPr lang="en-US" sz="2600" spc="-12" dirty="0">
                <a:solidFill>
                  <a:schemeClr val="tx1"/>
                </a:solidFill>
                <a:latin typeface="+mn-lt"/>
                <a:cs typeface="Calibri"/>
              </a:rPr>
              <a:t>candidate </a:t>
            </a:r>
            <a:r>
              <a:rPr lang="en-US" sz="2600" spc="-33" dirty="0">
                <a:solidFill>
                  <a:schemeClr val="tx1"/>
                </a:solidFill>
                <a:latin typeface="+mn-lt"/>
                <a:cs typeface="Calibri"/>
              </a:rPr>
              <a:t>for </a:t>
            </a: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loop</a:t>
            </a:r>
            <a:r>
              <a:rPr lang="en-US" sz="2600" spc="177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jamming:</a:t>
            </a:r>
            <a:endParaRPr lang="en-US" sz="26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5E7FCE-BB42-F335-2FC1-8E19FA70BB89}"/>
              </a:ext>
            </a:extLst>
          </p:cNvPr>
          <p:cNvSpPr/>
          <p:nvPr/>
        </p:nvSpPr>
        <p:spPr>
          <a:xfrm>
            <a:off x="3209471" y="1366422"/>
            <a:ext cx="2667000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0478" algn="ctr">
              <a:spcBef>
                <a:spcPts val="874"/>
              </a:spcBef>
            </a:pPr>
            <a:r>
              <a:rPr lang="en-US" sz="2400" spc="-4" dirty="0">
                <a:latin typeface="Britannic Bold"/>
                <a:cs typeface="Britannic Bold"/>
              </a:rPr>
              <a:t>Jamming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EAF05C7B-F1EA-7E18-12D5-0929DDE300E7}"/>
              </a:ext>
            </a:extLst>
          </p:cNvPr>
          <p:cNvSpPr/>
          <p:nvPr/>
        </p:nvSpPr>
        <p:spPr>
          <a:xfrm>
            <a:off x="878766" y="4156359"/>
            <a:ext cx="7478336" cy="2378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5169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Loops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16</a:t>
            </a:fld>
            <a:endParaRPr lang="en-US" sz="70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B7E56D9-9BF5-2773-7C7B-0F26A19E3AC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95211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4191" indent="-188595" algn="just">
              <a:spcBef>
                <a:spcPts val="4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When </a:t>
            </a:r>
            <a:r>
              <a:rPr lang="en-US" sz="2800" spc="-21" dirty="0">
                <a:solidFill>
                  <a:schemeClr val="tx1"/>
                </a:solidFill>
                <a:latin typeface="+mn-lt"/>
                <a:cs typeface="Calibri"/>
              </a:rPr>
              <a:t>you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jam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loops, </a:t>
            </a:r>
            <a:r>
              <a:rPr lang="en-US" sz="2800" spc="-21" dirty="0">
                <a:solidFill>
                  <a:schemeClr val="tx1"/>
                </a:solidFill>
                <a:latin typeface="+mn-lt"/>
                <a:cs typeface="Calibri"/>
              </a:rPr>
              <a:t>you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find code in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two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loops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that </a:t>
            </a:r>
            <a:r>
              <a:rPr lang="en-US" sz="2800" spc="-21" dirty="0">
                <a:solidFill>
                  <a:schemeClr val="tx1"/>
                </a:solidFill>
                <a:latin typeface="+mn-lt"/>
                <a:cs typeface="Calibri"/>
              </a:rPr>
              <a:t>you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can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combine  </a:t>
            </a:r>
            <a:r>
              <a:rPr lang="en-US" sz="2800" spc="-25" dirty="0">
                <a:solidFill>
                  <a:schemeClr val="tx1"/>
                </a:solidFill>
                <a:latin typeface="+mn-lt"/>
                <a:cs typeface="Calibri"/>
              </a:rPr>
              <a:t>into</a:t>
            </a:r>
            <a:r>
              <a:rPr lang="en-US" sz="2800" spc="17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one.</a:t>
            </a:r>
            <a:endParaRPr lang="en-US" sz="280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199073" marR="381905" indent="-188595" algn="just">
              <a:spcBef>
                <a:spcPts val="743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41" dirty="0">
                <a:solidFill>
                  <a:srgbClr val="0031CC"/>
                </a:solidFill>
                <a:latin typeface="+mn-lt"/>
                <a:cs typeface="Calibri"/>
              </a:rPr>
              <a:t>Usually, </a:t>
            </a:r>
            <a:r>
              <a:rPr lang="en-US" sz="2800" spc="-8" dirty="0">
                <a:solidFill>
                  <a:srgbClr val="0031CC"/>
                </a:solidFill>
                <a:latin typeface="+mn-lt"/>
                <a:cs typeface="Calibri"/>
              </a:rPr>
              <a:t>that </a:t>
            </a:r>
            <a:r>
              <a:rPr lang="en-US" sz="2800" spc="-4" dirty="0">
                <a:solidFill>
                  <a:srgbClr val="0031CC"/>
                </a:solidFill>
                <a:latin typeface="+mn-lt"/>
                <a:cs typeface="Calibri"/>
              </a:rPr>
              <a:t>means </a:t>
            </a:r>
            <a:r>
              <a:rPr lang="en-US" sz="2800" dirty="0">
                <a:solidFill>
                  <a:srgbClr val="0031CC"/>
                </a:solidFill>
                <a:latin typeface="+mn-lt"/>
                <a:cs typeface="Calibri"/>
              </a:rPr>
              <a:t>the </a:t>
            </a:r>
            <a:r>
              <a:rPr lang="en-US" sz="2800" spc="-4" dirty="0">
                <a:solidFill>
                  <a:srgbClr val="0031CC"/>
                </a:solidFill>
                <a:latin typeface="+mn-lt"/>
                <a:cs typeface="Calibri"/>
              </a:rPr>
              <a:t>loop </a:t>
            </a:r>
            <a:r>
              <a:rPr lang="en-US" sz="2800" spc="-25" dirty="0">
                <a:solidFill>
                  <a:srgbClr val="0031CC"/>
                </a:solidFill>
                <a:latin typeface="+mn-lt"/>
                <a:cs typeface="Calibri"/>
              </a:rPr>
              <a:t>counters </a:t>
            </a:r>
            <a:r>
              <a:rPr lang="en-US" sz="2800" spc="-33" dirty="0">
                <a:solidFill>
                  <a:srgbClr val="0031CC"/>
                </a:solidFill>
                <a:latin typeface="+mn-lt"/>
                <a:cs typeface="Calibri"/>
              </a:rPr>
              <a:t>have </a:t>
            </a:r>
            <a:r>
              <a:rPr lang="en-US" sz="2800" spc="-21" dirty="0">
                <a:solidFill>
                  <a:srgbClr val="0031CC"/>
                </a:solidFill>
                <a:latin typeface="+mn-lt"/>
                <a:cs typeface="Calibri"/>
              </a:rPr>
              <a:t>to </a:t>
            </a:r>
            <a:r>
              <a:rPr lang="en-US" sz="2800" dirty="0">
                <a:solidFill>
                  <a:srgbClr val="0031CC"/>
                </a:solidFill>
                <a:latin typeface="+mn-lt"/>
                <a:cs typeface="Calibri"/>
              </a:rPr>
              <a:t>be the </a:t>
            </a:r>
            <a:r>
              <a:rPr lang="en-US" sz="2800" spc="-4" dirty="0">
                <a:solidFill>
                  <a:srgbClr val="0031CC"/>
                </a:solidFill>
                <a:latin typeface="+mn-lt"/>
                <a:cs typeface="Calibri"/>
              </a:rPr>
              <a:t>same</a:t>
            </a:r>
            <a:r>
              <a:rPr lang="en-US" sz="2800" spc="-4" dirty="0">
                <a:latin typeface="+mn-lt"/>
                <a:cs typeface="Calibri"/>
              </a:rPr>
              <a:t>.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In this  </a:t>
            </a:r>
            <a:r>
              <a:rPr lang="en-US" sz="2800" spc="-17" dirty="0">
                <a:solidFill>
                  <a:schemeClr val="tx1"/>
                </a:solidFill>
                <a:latin typeface="+mn-lt"/>
                <a:cs typeface="Calibri"/>
              </a:rPr>
              <a:t>example,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both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loops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run </a:t>
            </a:r>
            <a:r>
              <a:rPr lang="en-US" sz="2800" b="1" spc="-8" dirty="0">
                <a:solidFill>
                  <a:srgbClr val="BF0000"/>
                </a:solidFill>
                <a:latin typeface="+mn-lt"/>
                <a:cs typeface="Calibri"/>
              </a:rPr>
              <a:t>from </a:t>
            </a:r>
            <a:r>
              <a:rPr lang="en-US" sz="2800" b="1" i="1" dirty="0">
                <a:solidFill>
                  <a:srgbClr val="BF0000"/>
                </a:solidFill>
                <a:latin typeface="+mn-lt"/>
                <a:cs typeface="Calibri"/>
              </a:rPr>
              <a:t>0 </a:t>
            </a:r>
            <a:r>
              <a:rPr lang="en-US" sz="2800" b="1" spc="-21" dirty="0">
                <a:solidFill>
                  <a:srgbClr val="BF0000"/>
                </a:solidFill>
                <a:latin typeface="+mn-lt"/>
                <a:cs typeface="Calibri"/>
              </a:rPr>
              <a:t>to </a:t>
            </a:r>
            <a:r>
              <a:rPr lang="en-US" sz="2800" b="1" i="1" spc="-8" dirty="0" err="1">
                <a:solidFill>
                  <a:srgbClr val="BF0000"/>
                </a:solidFill>
                <a:latin typeface="+mn-lt"/>
                <a:cs typeface="Calibri"/>
              </a:rPr>
              <a:t>employeeCount</a:t>
            </a:r>
            <a:r>
              <a:rPr lang="en-US" sz="2800" b="1" i="1" spc="-8" dirty="0">
                <a:solidFill>
                  <a:srgbClr val="BF0000"/>
                </a:solidFill>
                <a:latin typeface="+mn-lt"/>
                <a:cs typeface="Calibri"/>
              </a:rPr>
              <a:t> </a:t>
            </a:r>
            <a:r>
              <a:rPr lang="en-US" sz="2800" b="1" i="1" dirty="0">
                <a:solidFill>
                  <a:srgbClr val="BF0000"/>
                </a:solidFill>
                <a:latin typeface="+mn-lt"/>
                <a:cs typeface="Calibri"/>
              </a:rPr>
              <a:t>- 1</a:t>
            </a:r>
            <a:r>
              <a:rPr lang="en-US" sz="2800" dirty="0">
                <a:latin typeface="+mn-lt"/>
                <a:cs typeface="Calibri"/>
              </a:rPr>
              <a:t>,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so </a:t>
            </a:r>
            <a:r>
              <a:rPr lang="en-US" sz="2800" spc="-21" dirty="0">
                <a:solidFill>
                  <a:schemeClr val="tx1"/>
                </a:solidFill>
                <a:latin typeface="+mn-lt"/>
                <a:cs typeface="Calibri"/>
              </a:rPr>
              <a:t>you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can  </a:t>
            </a:r>
            <a:r>
              <a:rPr lang="en-US" sz="2800" b="1" spc="-4" dirty="0">
                <a:solidFill>
                  <a:srgbClr val="BF0000"/>
                </a:solidFill>
                <a:latin typeface="+mn-lt"/>
                <a:cs typeface="Calibri"/>
              </a:rPr>
              <a:t>jam</a:t>
            </a:r>
            <a:r>
              <a:rPr lang="en-US" sz="2800" b="1" spc="8" dirty="0">
                <a:solidFill>
                  <a:srgbClr val="BF0000"/>
                </a:solidFill>
                <a:latin typeface="+mn-lt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them:</a:t>
            </a:r>
            <a:endParaRPr lang="en-US" sz="2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8284B73A-F314-88E7-9DCA-25CACBFADDD3}"/>
              </a:ext>
            </a:extLst>
          </p:cNvPr>
          <p:cNvSpPr/>
          <p:nvPr/>
        </p:nvSpPr>
        <p:spPr>
          <a:xfrm>
            <a:off x="2132706" y="4071603"/>
            <a:ext cx="4897456" cy="1552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1862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Loops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17</a:t>
            </a:fld>
            <a:endParaRPr lang="en-US" sz="70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B7E56D9-9BF5-2773-7C7B-0F26A19E3ACA}"/>
              </a:ext>
            </a:extLst>
          </p:cNvPr>
          <p:cNvSpPr txBox="1">
            <a:spLocks/>
          </p:cNvSpPr>
          <p:nvPr/>
        </p:nvSpPr>
        <p:spPr>
          <a:xfrm>
            <a:off x="333829" y="2093436"/>
            <a:ext cx="8434251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4191" indent="-188595">
              <a:spcBef>
                <a:spcPts val="4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One </a:t>
            </a:r>
            <a:r>
              <a:rPr lang="en-US" sz="2800" spc="-54" dirty="0">
                <a:solidFill>
                  <a:schemeClr val="tx1"/>
                </a:solidFill>
                <a:latin typeface="+mn-lt"/>
                <a:cs typeface="Calibri"/>
              </a:rPr>
              <a:t>key </a:t>
            </a:r>
            <a:r>
              <a:rPr lang="en-US" sz="2800" spc="-21" dirty="0">
                <a:solidFill>
                  <a:schemeClr val="tx1"/>
                </a:solidFill>
                <a:latin typeface="+mn-lt"/>
                <a:cs typeface="Calibri"/>
              </a:rPr>
              <a:t>to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writing </a:t>
            </a:r>
            <a:r>
              <a:rPr lang="en-US" sz="2800" spc="-29" dirty="0">
                <a:solidFill>
                  <a:schemeClr val="tx1"/>
                </a:solidFill>
                <a:latin typeface="+mn-lt"/>
                <a:cs typeface="Calibri"/>
              </a:rPr>
              <a:t>effective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loops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is </a:t>
            </a:r>
            <a:r>
              <a:rPr lang="en-US" sz="2800" spc="-21" dirty="0">
                <a:solidFill>
                  <a:schemeClr val="tx1"/>
                </a:solidFill>
                <a:latin typeface="+mn-lt"/>
                <a:cs typeface="Calibri"/>
              </a:rPr>
              <a:t>to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minimize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the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work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done inside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a</a:t>
            </a:r>
            <a:r>
              <a:rPr lang="en-US" sz="2800" spc="4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loop.</a:t>
            </a:r>
          </a:p>
          <a:p>
            <a:pPr marL="199073" marR="4191" indent="-188595">
              <a:spcBef>
                <a:spcPts val="41"/>
              </a:spcBef>
              <a:buFont typeface="Arial"/>
              <a:buChar char="•"/>
              <a:tabLst>
                <a:tab pos="199073" algn="l"/>
              </a:tabLst>
            </a:pPr>
            <a:endParaRPr lang="en-US" sz="280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199073" marR="108442" indent="-188595">
              <a:spcBef>
                <a:spcPts val="734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4" dirty="0">
                <a:solidFill>
                  <a:srgbClr val="BF0000"/>
                </a:solidFill>
                <a:latin typeface="+mn-lt"/>
                <a:cs typeface="Calibri"/>
              </a:rPr>
              <a:t>If </a:t>
            </a:r>
            <a:r>
              <a:rPr lang="en-US" sz="2800" spc="-21" dirty="0">
                <a:solidFill>
                  <a:srgbClr val="BF0000"/>
                </a:solidFill>
                <a:latin typeface="+mn-lt"/>
                <a:cs typeface="Calibri"/>
              </a:rPr>
              <a:t>you </a:t>
            </a:r>
            <a:r>
              <a:rPr lang="en-US" sz="2800" spc="-8" dirty="0">
                <a:solidFill>
                  <a:srgbClr val="BF0000"/>
                </a:solidFill>
                <a:latin typeface="+mn-lt"/>
                <a:cs typeface="Calibri"/>
              </a:rPr>
              <a:t>can </a:t>
            </a:r>
            <a:r>
              <a:rPr lang="en-US" sz="2800" spc="-17" dirty="0">
                <a:solidFill>
                  <a:srgbClr val="BF0000"/>
                </a:solidFill>
                <a:latin typeface="+mn-lt"/>
                <a:cs typeface="Calibri"/>
              </a:rPr>
              <a:t>evaluate </a:t>
            </a:r>
            <a:r>
              <a:rPr lang="en-US" sz="2800" dirty="0">
                <a:solidFill>
                  <a:srgbClr val="BF0000"/>
                </a:solidFill>
                <a:latin typeface="+mn-lt"/>
                <a:cs typeface="Calibri"/>
              </a:rPr>
              <a:t>a </a:t>
            </a:r>
            <a:r>
              <a:rPr lang="en-US" sz="2800" spc="-25" dirty="0">
                <a:solidFill>
                  <a:srgbClr val="BF0000"/>
                </a:solidFill>
                <a:latin typeface="+mn-lt"/>
                <a:cs typeface="Calibri"/>
              </a:rPr>
              <a:t>statement </a:t>
            </a:r>
            <a:r>
              <a:rPr lang="en-US" sz="2800" spc="-4" dirty="0">
                <a:solidFill>
                  <a:srgbClr val="BF0000"/>
                </a:solidFill>
                <a:latin typeface="+mn-lt"/>
                <a:cs typeface="Calibri"/>
              </a:rPr>
              <a:t>or part of </a:t>
            </a:r>
            <a:r>
              <a:rPr lang="en-US" sz="2800" dirty="0">
                <a:solidFill>
                  <a:srgbClr val="BF0000"/>
                </a:solidFill>
                <a:latin typeface="+mn-lt"/>
                <a:cs typeface="Calibri"/>
              </a:rPr>
              <a:t>a </a:t>
            </a:r>
            <a:r>
              <a:rPr lang="en-US" sz="2800" spc="-25" dirty="0">
                <a:solidFill>
                  <a:srgbClr val="BF0000"/>
                </a:solidFill>
                <a:latin typeface="+mn-lt"/>
                <a:cs typeface="Calibri"/>
              </a:rPr>
              <a:t>statement </a:t>
            </a:r>
            <a:r>
              <a:rPr lang="en-US" sz="2800" spc="-4" dirty="0">
                <a:solidFill>
                  <a:srgbClr val="BF0000"/>
                </a:solidFill>
                <a:latin typeface="+mn-lt"/>
                <a:cs typeface="Calibri"/>
              </a:rPr>
              <a:t>outside </a:t>
            </a:r>
            <a:r>
              <a:rPr lang="en-US" sz="2800" dirty="0">
                <a:solidFill>
                  <a:srgbClr val="BF0000"/>
                </a:solidFill>
                <a:latin typeface="+mn-lt"/>
                <a:cs typeface="Calibri"/>
              </a:rPr>
              <a:t>a </a:t>
            </a:r>
            <a:r>
              <a:rPr lang="en-US" sz="2800" spc="-4" dirty="0">
                <a:solidFill>
                  <a:srgbClr val="BF0000"/>
                </a:solidFill>
                <a:latin typeface="+mn-lt"/>
                <a:cs typeface="Calibri"/>
              </a:rPr>
              <a:t>loop </a:t>
            </a:r>
            <a:r>
              <a:rPr lang="en-US" sz="2800" dirty="0">
                <a:solidFill>
                  <a:srgbClr val="BF0000"/>
                </a:solidFill>
                <a:latin typeface="+mn-lt"/>
                <a:cs typeface="Calibri"/>
              </a:rPr>
              <a:t>so </a:t>
            </a:r>
            <a:r>
              <a:rPr lang="en-US" sz="2800" spc="-8" dirty="0">
                <a:solidFill>
                  <a:srgbClr val="BF0000"/>
                </a:solidFill>
                <a:latin typeface="+mn-lt"/>
                <a:cs typeface="Calibri"/>
              </a:rPr>
              <a:t>that </a:t>
            </a:r>
            <a:r>
              <a:rPr lang="en-US" sz="2800" spc="-4" dirty="0">
                <a:solidFill>
                  <a:srgbClr val="BF0000"/>
                </a:solidFill>
                <a:latin typeface="+mn-lt"/>
                <a:cs typeface="Calibri"/>
              </a:rPr>
              <a:t>only </a:t>
            </a:r>
            <a:r>
              <a:rPr lang="en-US" sz="2800" dirty="0">
                <a:solidFill>
                  <a:srgbClr val="BF0000"/>
                </a:solidFill>
                <a:latin typeface="+mn-lt"/>
                <a:cs typeface="Calibri"/>
              </a:rPr>
              <a:t>the </a:t>
            </a:r>
            <a:r>
              <a:rPr lang="en-US" sz="2800" spc="-8" dirty="0">
                <a:solidFill>
                  <a:srgbClr val="BF0000"/>
                </a:solidFill>
                <a:latin typeface="+mn-lt"/>
                <a:cs typeface="Calibri"/>
              </a:rPr>
              <a:t>result </a:t>
            </a:r>
            <a:r>
              <a:rPr lang="en-US" sz="2800" spc="-4" dirty="0">
                <a:solidFill>
                  <a:srgbClr val="BF0000"/>
                </a:solidFill>
                <a:latin typeface="+mn-lt"/>
                <a:cs typeface="Calibri"/>
              </a:rPr>
              <a:t>is used inside the loop, </a:t>
            </a:r>
            <a:r>
              <a:rPr lang="en-US" sz="2800" dirty="0">
                <a:solidFill>
                  <a:srgbClr val="BF0000"/>
                </a:solidFill>
                <a:latin typeface="+mn-lt"/>
                <a:cs typeface="Calibri"/>
              </a:rPr>
              <a:t>do</a:t>
            </a:r>
            <a:r>
              <a:rPr lang="en-US" sz="2800" spc="124" dirty="0">
                <a:solidFill>
                  <a:srgbClr val="BF0000"/>
                </a:solidFill>
                <a:latin typeface="+mn-lt"/>
                <a:cs typeface="Calibri"/>
              </a:rPr>
              <a:t> </a:t>
            </a:r>
            <a:r>
              <a:rPr lang="en-US" sz="2800" dirty="0">
                <a:solidFill>
                  <a:srgbClr val="BF0000"/>
                </a:solidFill>
                <a:latin typeface="+mn-lt"/>
                <a:cs typeface="Calibri"/>
              </a:rPr>
              <a:t>so</a:t>
            </a:r>
            <a:r>
              <a:rPr lang="en-US" sz="2800" dirty="0">
                <a:latin typeface="+mn-lt"/>
                <a:cs typeface="Calibri"/>
              </a:rPr>
              <a:t>.</a:t>
            </a:r>
          </a:p>
          <a:p>
            <a:pPr marL="199073" marR="108442" indent="-188595">
              <a:spcBef>
                <a:spcPts val="734"/>
              </a:spcBef>
              <a:buFont typeface="Arial"/>
              <a:buChar char="•"/>
              <a:tabLst>
                <a:tab pos="199073" algn="l"/>
              </a:tabLst>
            </a:pPr>
            <a:endParaRPr lang="en-US" sz="2800" dirty="0">
              <a:latin typeface="+mn-lt"/>
              <a:cs typeface="Calibri"/>
            </a:endParaRPr>
          </a:p>
          <a:p>
            <a:pPr marL="199073" marR="781621" indent="-188595">
              <a:spcBef>
                <a:spcPts val="978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33" dirty="0">
                <a:solidFill>
                  <a:schemeClr val="tx1"/>
                </a:solidFill>
                <a:latin typeface="+mn-lt"/>
                <a:cs typeface="Calibri"/>
              </a:rPr>
              <a:t>It’s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good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programming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practice,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and </a:t>
            </a:r>
            <a:r>
              <a:rPr lang="en-US" sz="2800" b="1" spc="-4" dirty="0">
                <a:solidFill>
                  <a:srgbClr val="0031CC"/>
                </a:solidFill>
                <a:latin typeface="+mn-lt"/>
                <a:cs typeface="Calibri"/>
              </a:rPr>
              <a:t>in some cases it </a:t>
            </a:r>
            <a:r>
              <a:rPr lang="en-US" sz="2800" b="1" spc="-12" dirty="0">
                <a:solidFill>
                  <a:srgbClr val="0031CC"/>
                </a:solidFill>
                <a:latin typeface="+mn-lt"/>
                <a:cs typeface="Calibri"/>
              </a:rPr>
              <a:t>improves  </a:t>
            </a:r>
            <a:r>
              <a:rPr lang="en-US" sz="2800" b="1" spc="-4" dirty="0">
                <a:solidFill>
                  <a:srgbClr val="0031CC"/>
                </a:solidFill>
                <a:latin typeface="+mn-lt"/>
                <a:cs typeface="Calibri"/>
              </a:rPr>
              <a:t>readability</a:t>
            </a:r>
            <a:r>
              <a:rPr lang="en-US" sz="2800" spc="-4" dirty="0">
                <a:latin typeface="+mn-lt"/>
                <a:cs typeface="Calibri"/>
              </a:rPr>
              <a:t>.</a:t>
            </a:r>
            <a:endParaRPr lang="en-US" sz="2800" dirty="0">
              <a:latin typeface="+mn-lt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0C1AC4-1671-2D21-B338-1D60E88E9D8D}"/>
              </a:ext>
            </a:extLst>
          </p:cNvPr>
          <p:cNvSpPr/>
          <p:nvPr/>
        </p:nvSpPr>
        <p:spPr>
          <a:xfrm>
            <a:off x="1883954" y="1182429"/>
            <a:ext cx="5334000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0478" algn="ctr">
              <a:spcBef>
                <a:spcPts val="874"/>
              </a:spcBef>
            </a:pPr>
            <a:r>
              <a:rPr lang="en-US" sz="2400" b="1" spc="-4" dirty="0">
                <a:cs typeface="Britannic Bold"/>
              </a:rPr>
              <a:t>Minimizing the Work Inside Loops</a:t>
            </a:r>
          </a:p>
        </p:txBody>
      </p:sp>
    </p:spTree>
    <p:extLst>
      <p:ext uri="{BB962C8B-B14F-4D97-AF65-F5344CB8AC3E}">
        <p14:creationId xmlns:p14="http://schemas.microsoft.com/office/powerpoint/2010/main" val="1133173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Loops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18</a:t>
            </a:fld>
            <a:endParaRPr lang="en-US" sz="70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B7E56D9-9BF5-2773-7C7B-0F26A19E3AC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85051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indent="-188595">
              <a:spcBef>
                <a:spcPts val="83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Suppose </a:t>
            </a:r>
            <a:r>
              <a:rPr lang="en-US" sz="2800" spc="-21" dirty="0">
                <a:solidFill>
                  <a:schemeClr val="tx1"/>
                </a:solidFill>
                <a:latin typeface="+mn-lt"/>
                <a:cs typeface="Calibri"/>
              </a:rPr>
              <a:t>you </a:t>
            </a:r>
            <a:r>
              <a:rPr lang="en-US" sz="2800" spc="-33" dirty="0">
                <a:solidFill>
                  <a:schemeClr val="tx1"/>
                </a:solidFill>
                <a:latin typeface="+mn-lt"/>
                <a:cs typeface="Calibri"/>
              </a:rPr>
              <a:t>have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a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complicated pointer expression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inside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a</a:t>
            </a:r>
            <a:r>
              <a:rPr lang="en-US" sz="2800" spc="305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loop:</a:t>
            </a:r>
            <a:endParaRPr lang="en-US" sz="2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0EBC1568-2EA3-1CB6-BCA1-A13E121C4BA8}"/>
              </a:ext>
            </a:extLst>
          </p:cNvPr>
          <p:cNvSpPr/>
          <p:nvPr/>
        </p:nvSpPr>
        <p:spPr>
          <a:xfrm>
            <a:off x="430370" y="2924470"/>
            <a:ext cx="8283260" cy="12850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9152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Loops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19</a:t>
            </a:fld>
            <a:endParaRPr lang="en-US" sz="70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B7E56D9-9BF5-2773-7C7B-0F26A19E3AC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85051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4191" indent="-188595">
              <a:spcBef>
                <a:spcPts val="9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In this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case, </a:t>
            </a:r>
            <a:r>
              <a:rPr lang="en-US" sz="2800" spc="-4" dirty="0">
                <a:solidFill>
                  <a:srgbClr val="BF0000"/>
                </a:solidFill>
                <a:latin typeface="+mn-lt"/>
                <a:cs typeface="Calibri"/>
              </a:rPr>
              <a:t>assigning </a:t>
            </a:r>
            <a:r>
              <a:rPr lang="en-US" sz="2800" dirty="0">
                <a:solidFill>
                  <a:srgbClr val="BF0000"/>
                </a:solidFill>
                <a:latin typeface="+mn-lt"/>
                <a:cs typeface="Calibri"/>
              </a:rPr>
              <a:t>the </a:t>
            </a:r>
            <a:r>
              <a:rPr lang="en-US" sz="2800" spc="-12" dirty="0">
                <a:solidFill>
                  <a:srgbClr val="BF0000"/>
                </a:solidFill>
                <a:latin typeface="+mn-lt"/>
                <a:cs typeface="Calibri"/>
              </a:rPr>
              <a:t>complicated pointer expression </a:t>
            </a:r>
            <a:r>
              <a:rPr lang="en-US" sz="2800" spc="-21" dirty="0">
                <a:solidFill>
                  <a:srgbClr val="BF0000"/>
                </a:solidFill>
                <a:latin typeface="+mn-lt"/>
                <a:cs typeface="Calibri"/>
              </a:rPr>
              <a:t>to </a:t>
            </a:r>
            <a:r>
              <a:rPr lang="en-US" sz="2800" dirty="0">
                <a:solidFill>
                  <a:srgbClr val="BF0000"/>
                </a:solidFill>
                <a:latin typeface="+mn-lt"/>
                <a:cs typeface="Calibri"/>
              </a:rPr>
              <a:t>a </a:t>
            </a:r>
            <a:r>
              <a:rPr lang="en-US" sz="2800" spc="-12" dirty="0">
                <a:solidFill>
                  <a:srgbClr val="BF0000"/>
                </a:solidFill>
                <a:latin typeface="+mn-lt"/>
                <a:cs typeface="Calibri"/>
              </a:rPr>
              <a:t>well- </a:t>
            </a:r>
            <a:r>
              <a:rPr lang="en-US" sz="2800" spc="-4" dirty="0">
                <a:solidFill>
                  <a:srgbClr val="BF0000"/>
                </a:solidFill>
                <a:latin typeface="+mn-lt"/>
                <a:cs typeface="Calibri"/>
              </a:rPr>
              <a:t>named </a:t>
            </a:r>
            <a:r>
              <a:rPr lang="en-US" sz="2800" spc="-8" dirty="0">
                <a:solidFill>
                  <a:srgbClr val="BF0000"/>
                </a:solidFill>
                <a:latin typeface="+mn-lt"/>
                <a:cs typeface="Calibri"/>
              </a:rPr>
              <a:t>variable </a:t>
            </a:r>
            <a:r>
              <a:rPr lang="en-US" sz="2800" spc="-12" dirty="0">
                <a:solidFill>
                  <a:srgbClr val="BF0000"/>
                </a:solidFill>
                <a:latin typeface="+mn-lt"/>
                <a:cs typeface="Calibri"/>
              </a:rPr>
              <a:t>improves </a:t>
            </a:r>
            <a:r>
              <a:rPr lang="en-US" sz="2800" u="heavy" spc="-8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+mn-lt"/>
                <a:cs typeface="Calibri"/>
              </a:rPr>
              <a:t>readability</a:t>
            </a:r>
            <a:r>
              <a:rPr lang="en-US" sz="2800" spc="-8" dirty="0">
                <a:solidFill>
                  <a:srgbClr val="BF0000"/>
                </a:solidFill>
                <a:latin typeface="+mn-lt"/>
                <a:cs typeface="Calibri"/>
              </a:rPr>
              <a:t> </a:t>
            </a:r>
            <a:r>
              <a:rPr lang="en-US" sz="2800" spc="-4" dirty="0">
                <a:solidFill>
                  <a:srgbClr val="BF0000"/>
                </a:solidFill>
                <a:latin typeface="+mn-lt"/>
                <a:cs typeface="Calibri"/>
              </a:rPr>
              <a:t>and </a:t>
            </a:r>
            <a:r>
              <a:rPr lang="en-US" sz="2800" spc="-8" dirty="0">
                <a:solidFill>
                  <a:srgbClr val="BF0000"/>
                </a:solidFill>
                <a:latin typeface="+mn-lt"/>
                <a:cs typeface="Calibri"/>
              </a:rPr>
              <a:t>often </a:t>
            </a:r>
            <a:r>
              <a:rPr lang="en-US" sz="2800" spc="-12" dirty="0">
                <a:solidFill>
                  <a:srgbClr val="BF0000"/>
                </a:solidFill>
                <a:latin typeface="+mn-lt"/>
                <a:cs typeface="Calibri"/>
              </a:rPr>
              <a:t>improves </a:t>
            </a:r>
            <a:r>
              <a:rPr lang="en-US" sz="2800" u="heavy" spc="-12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+mn-lt"/>
                <a:cs typeface="Calibri"/>
              </a:rPr>
              <a:t> </a:t>
            </a:r>
            <a:r>
              <a:rPr lang="en-US" sz="2800" u="heavy" spc="-8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+mn-lt"/>
                <a:cs typeface="Calibri"/>
              </a:rPr>
              <a:t>performance</a:t>
            </a:r>
            <a:r>
              <a:rPr lang="en-US" sz="2800" spc="-8" dirty="0">
                <a:latin typeface="+mn-lt"/>
                <a:cs typeface="Calibri"/>
              </a:rPr>
              <a:t>.</a:t>
            </a:r>
            <a:endParaRPr lang="en-US" sz="2800" dirty="0">
              <a:latin typeface="+mn-lt"/>
              <a:cs typeface="Calibri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8EA9F32C-2C7C-9215-7AE7-CD5D1CEFAD1E}"/>
              </a:ext>
            </a:extLst>
          </p:cNvPr>
          <p:cNvSpPr/>
          <p:nvPr/>
        </p:nvSpPr>
        <p:spPr>
          <a:xfrm>
            <a:off x="1353443" y="3428999"/>
            <a:ext cx="6437114" cy="1355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2780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Reading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20</a:t>
            </a:fld>
            <a:endParaRPr lang="en-US" sz="70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A656E32-1156-FEA0-19B6-F14CFAE5A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6120" y="1400727"/>
            <a:ext cx="8496839" cy="3429000"/>
          </a:xfrm>
        </p:spPr>
        <p:txBody>
          <a:bodyPr/>
          <a:lstStyle/>
          <a:p>
            <a:pPr marL="548640" lvl="1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2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17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Chapter 26</a:t>
            </a:r>
          </a:p>
          <a:p>
            <a:pPr marL="533400" lvl="1" indent="-533400" eaLnBrk="1" hangingPunct="1">
              <a:lnSpc>
                <a:spcPct val="115000"/>
              </a:lnSpc>
              <a:spcBef>
                <a:spcPct val="40000"/>
              </a:spcBef>
              <a:buClr>
                <a:srgbClr val="0BD0D9"/>
              </a:buClr>
              <a:buSzPct val="95000"/>
              <a:buFont typeface="Wingdings 2" pitchFamily="18" charset="2"/>
              <a:buNone/>
              <a:defRPr/>
            </a:pPr>
            <a:endParaRPr lang="en-NZ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A4C1AEE-513E-5F44-2B1B-675D0D4D3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7167" y="2186758"/>
            <a:ext cx="4171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55685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21</a:t>
            </a:fld>
            <a:endParaRPr lang="en-US" sz="700"/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7FDFB425-3CF7-733F-40A7-EFC03A0233C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671" y="1039661"/>
            <a:ext cx="8192022" cy="4960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86610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22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1684B4F51014982BED21342ACE24F" ma:contentTypeVersion="12" ma:contentTypeDescription="Create a new document." ma:contentTypeScope="" ma:versionID="a6d97c19bf0848d1afa7cfd1ece83864">
  <xsd:schema xmlns:xsd="http://www.w3.org/2001/XMLSchema" xmlns:xs="http://www.w3.org/2001/XMLSchema" xmlns:p="http://schemas.microsoft.com/office/2006/metadata/properties" xmlns:ns2="d55b910c-306d-4260-bef9-52053e20f3ad" xmlns:ns3="9c7ea19a-b04b-43f3-b15e-cde561b15e5b" targetNamespace="http://schemas.microsoft.com/office/2006/metadata/properties" ma:root="true" ma:fieldsID="c0bbd26d2dc288229e6760ed0810afc6" ns2:_="" ns3:_="">
    <xsd:import namespace="d55b910c-306d-4260-bef9-52053e20f3ad"/>
    <xsd:import namespace="9c7ea19a-b04b-43f3-b15e-cde561b15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5b910c-306d-4260-bef9-52053e20f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ea19a-b04b-43f3-b15e-cde561b15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98D305-912F-4EDA-B366-83F8180D3B01}">
  <ds:schemaRefs>
    <ds:schemaRef ds:uri="9c7ea19a-b04b-43f3-b15e-cde561b15e5b"/>
    <ds:schemaRef ds:uri="d55b910c-306d-4260-bef9-52053e20f3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2E0C92-AC64-42CA-94F8-4CA15E127DA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1319</TotalTime>
  <Words>868</Words>
  <Application>Microsoft Office PowerPoint</Application>
  <PresentationFormat>On-screen Show (4:3)</PresentationFormat>
  <Paragraphs>115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Arial</vt:lpstr>
      <vt:lpstr>Britannic Bold</vt:lpstr>
      <vt:lpstr>Calibri</vt:lpstr>
      <vt:lpstr>Calibri Light</vt:lpstr>
      <vt:lpstr>Eurostile</vt:lpstr>
      <vt:lpstr>Söhne</vt:lpstr>
      <vt:lpstr>Söhne Mono</vt:lpstr>
      <vt:lpstr>Times New Roman</vt:lpstr>
      <vt:lpstr>Wingdings</vt:lpstr>
      <vt:lpstr>Wingdings 2</vt:lpstr>
      <vt:lpstr>Wingdings 3</vt:lpstr>
      <vt:lpstr>Theme CPIT 110</vt:lpstr>
      <vt:lpstr>Custom Design</vt:lpstr>
      <vt:lpstr>Chapter  5.1 Code Tuning Strategies and Techniques</vt:lpstr>
      <vt:lpstr>Outline</vt:lpstr>
      <vt:lpstr>Introduction to Code Tuning</vt:lpstr>
      <vt:lpstr>Introduction to Code Tuning</vt:lpstr>
      <vt:lpstr>Code Tuning Strategies and Techniques </vt:lpstr>
      <vt:lpstr>Logic</vt:lpstr>
      <vt:lpstr>Logic</vt:lpstr>
      <vt:lpstr>Logic</vt:lpstr>
      <vt:lpstr>Logic</vt:lpstr>
      <vt:lpstr>Logic</vt:lpstr>
      <vt:lpstr>Logic</vt:lpstr>
      <vt:lpstr>Logic</vt:lpstr>
      <vt:lpstr>Logic</vt:lpstr>
      <vt:lpstr>Assertions: Guidelines for Using Assertions</vt:lpstr>
      <vt:lpstr>Loops</vt:lpstr>
      <vt:lpstr>Loops</vt:lpstr>
      <vt:lpstr>Loops</vt:lpstr>
      <vt:lpstr>Loops</vt:lpstr>
      <vt:lpstr>Loops</vt:lpstr>
      <vt:lpstr>Reading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34</cp:revision>
  <dcterms:created xsi:type="dcterms:W3CDTF">2019-06-07T16:06:41Z</dcterms:created>
  <dcterms:modified xsi:type="dcterms:W3CDTF">2023-12-20T01:35:05Z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0x0101007D91684B4F51014982BED21342ACE24F</vt:lpwstr>
  </property>
</Properties>
</file>