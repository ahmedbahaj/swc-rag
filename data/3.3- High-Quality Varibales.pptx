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4"/>
    <p:sldMasterId id="2147483757" r:id="rId5"/>
  </p:sldMasterIdLst>
  <p:notesMasterIdLst>
    <p:notesMasterId r:id="rId26"/>
  </p:notesMasterIdLst>
  <p:sldIdLst>
    <p:sldId id="330" r:id="rId6"/>
    <p:sldId id="419" r:id="rId7"/>
    <p:sldId id="420" r:id="rId8"/>
    <p:sldId id="421" r:id="rId9"/>
    <p:sldId id="415" r:id="rId10"/>
    <p:sldId id="465" r:id="rId11"/>
    <p:sldId id="466" r:id="rId12"/>
    <p:sldId id="467" r:id="rId13"/>
    <p:sldId id="468" r:id="rId14"/>
    <p:sldId id="469" r:id="rId15"/>
    <p:sldId id="477" r:id="rId16"/>
    <p:sldId id="478" r:id="rId17"/>
    <p:sldId id="479" r:id="rId18"/>
    <p:sldId id="480" r:id="rId19"/>
    <p:sldId id="481" r:id="rId20"/>
    <p:sldId id="482" r:id="rId21"/>
    <p:sldId id="483" r:id="rId22"/>
    <p:sldId id="484" r:id="rId23"/>
    <p:sldId id="476" r:id="rId24"/>
    <p:sldId id="413"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hapter" id="{EB54229A-E673-4F50-937B-310B31E2AF04}">
          <p14:sldIdLst>
            <p14:sldId id="330"/>
            <p14:sldId id="419"/>
            <p14:sldId id="420"/>
            <p14:sldId id="421"/>
            <p14:sldId id="415"/>
            <p14:sldId id="465"/>
            <p14:sldId id="466"/>
            <p14:sldId id="467"/>
            <p14:sldId id="468"/>
            <p14:sldId id="469"/>
            <p14:sldId id="477"/>
            <p14:sldId id="478"/>
            <p14:sldId id="479"/>
            <p14:sldId id="480"/>
            <p14:sldId id="481"/>
            <p14:sldId id="482"/>
            <p14:sldId id="483"/>
            <p14:sldId id="484"/>
            <p14:sldId id="476"/>
            <p14:sldId id="4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CDEA"/>
    <a:srgbClr val="0A4B67"/>
    <a:srgbClr val="88A6B1"/>
    <a:srgbClr val="565351"/>
    <a:srgbClr val="767270"/>
    <a:srgbClr val="FFFFD1"/>
    <a:srgbClr val="6E96A2"/>
    <a:srgbClr val="6B9F25"/>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9" autoAdjust="0"/>
    <p:restoredTop sz="87759" autoAdjust="0"/>
  </p:normalViewPr>
  <p:slideViewPr>
    <p:cSldViewPr snapToGrid="0">
      <p:cViewPr varScale="1">
        <p:scale>
          <a:sx n="79" d="100"/>
          <a:sy n="79" d="100"/>
        </p:scale>
        <p:origin x="1265" y="62"/>
      </p:cViewPr>
      <p:guideLst/>
    </p:cSldViewPr>
  </p:slideViewPr>
  <p:notesTextViewPr>
    <p:cViewPr>
      <p:scale>
        <a:sx n="1" d="1"/>
        <a:sy n="1" d="1"/>
      </p:scale>
      <p:origin x="0" y="-597"/>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9C597F08-1883-80EC-42CC-EDF8354980C0}"/>
    <pc:docChg chg="delSld modSection">
      <pc:chgData name="" userId="" providerId="" clId="Web-{9C597F08-1883-80EC-42CC-EDF8354980C0}" dt="2023-08-25T12:17:29.760" v="1"/>
      <pc:docMkLst>
        <pc:docMk/>
      </pc:docMkLst>
      <pc:sldChg chg="del">
        <pc:chgData name="" userId="" providerId="" clId="Web-{9C597F08-1883-80EC-42CC-EDF8354980C0}" dt="2023-08-25T12:17:29.760" v="1"/>
        <pc:sldMkLst>
          <pc:docMk/>
          <pc:sldMk cId="0" sldId="333"/>
        </pc:sldMkLst>
      </pc:sldChg>
      <pc:sldChg chg="del">
        <pc:chgData name="" userId="" providerId="" clId="Web-{9C597F08-1883-80EC-42CC-EDF8354980C0}" dt="2023-08-25T12:17:29.760" v="0"/>
        <pc:sldMkLst>
          <pc:docMk/>
          <pc:sldMk cId="1076553011" sldId="416"/>
        </pc:sldMkLst>
      </pc:sldChg>
    </pc:docChg>
  </pc:docChgLst>
  <pc:docChgLst>
    <pc:chgData name="Mohammad Dakhilallah Mohammad Alahmadi" userId="9b436a58-7297-423f-8410-66c59c69358a" providerId="ADAL" clId="{F14FBC29-3758-4E3E-A198-0282A0597C7F}"/>
    <pc:docChg chg="undo custSel modSld">
      <pc:chgData name="Mohammad Dakhilallah Mohammad Alahmadi" userId="9b436a58-7297-423f-8410-66c59c69358a" providerId="ADAL" clId="{F14FBC29-3758-4E3E-A198-0282A0597C7F}" dt="2023-10-03T20:55:48.176" v="36"/>
      <pc:docMkLst>
        <pc:docMk/>
      </pc:docMkLst>
      <pc:sldChg chg="modSp mod">
        <pc:chgData name="Mohammad Dakhilallah Mohammad Alahmadi" userId="9b436a58-7297-423f-8410-66c59c69358a" providerId="ADAL" clId="{F14FBC29-3758-4E3E-A198-0282A0597C7F}" dt="2023-10-03T20:36:47.418" v="0" actId="20577"/>
        <pc:sldMkLst>
          <pc:docMk/>
          <pc:sldMk cId="268952856" sldId="465"/>
        </pc:sldMkLst>
        <pc:spChg chg="mod">
          <ac:chgData name="Mohammad Dakhilallah Mohammad Alahmadi" userId="9b436a58-7297-423f-8410-66c59c69358a" providerId="ADAL" clId="{F14FBC29-3758-4E3E-A198-0282A0597C7F}" dt="2023-10-03T20:36:47.418" v="0" actId="20577"/>
          <ac:spMkLst>
            <pc:docMk/>
            <pc:sldMk cId="268952856" sldId="465"/>
            <ac:spMk id="7" creationId="{B28ECABC-8B45-061F-7E75-857375526395}"/>
          </ac:spMkLst>
        </pc:spChg>
      </pc:sldChg>
      <pc:sldChg chg="modSp mod modNotesTx">
        <pc:chgData name="Mohammad Dakhilallah Mohammad Alahmadi" userId="9b436a58-7297-423f-8410-66c59c69358a" providerId="ADAL" clId="{F14FBC29-3758-4E3E-A198-0282A0597C7F}" dt="2023-10-03T20:44:15.047" v="18"/>
        <pc:sldMkLst>
          <pc:docMk/>
          <pc:sldMk cId="3564204740" sldId="478"/>
        </pc:sldMkLst>
        <pc:spChg chg="mod">
          <ac:chgData name="Mohammad Dakhilallah Mohammad Alahmadi" userId="9b436a58-7297-423f-8410-66c59c69358a" providerId="ADAL" clId="{F14FBC29-3758-4E3E-A198-0282A0597C7F}" dt="2023-10-03T20:40:56.454" v="5" actId="20577"/>
          <ac:spMkLst>
            <pc:docMk/>
            <pc:sldMk cId="3564204740" sldId="478"/>
            <ac:spMk id="11" creationId="{7ADE0687-7681-7E09-6786-A3B140EC02D9}"/>
          </ac:spMkLst>
        </pc:spChg>
      </pc:sldChg>
      <pc:sldChg chg="modSp mod modNotesTx">
        <pc:chgData name="Mohammad Dakhilallah Mohammad Alahmadi" userId="9b436a58-7297-423f-8410-66c59c69358a" providerId="ADAL" clId="{F14FBC29-3758-4E3E-A198-0282A0597C7F}" dt="2023-10-03T20:51:40.295" v="23" actId="20577"/>
        <pc:sldMkLst>
          <pc:docMk/>
          <pc:sldMk cId="879807867" sldId="481"/>
        </pc:sldMkLst>
        <pc:spChg chg="mod">
          <ac:chgData name="Mohammad Dakhilallah Mohammad Alahmadi" userId="9b436a58-7297-423f-8410-66c59c69358a" providerId="ADAL" clId="{F14FBC29-3758-4E3E-A198-0282A0597C7F}" dt="2023-10-03T20:46:42.583" v="20" actId="20577"/>
          <ac:spMkLst>
            <pc:docMk/>
            <pc:sldMk cId="879807867" sldId="481"/>
            <ac:spMk id="3" creationId="{C4CF2DFD-A88F-C76D-44B4-16A263A0ECAA}"/>
          </ac:spMkLst>
        </pc:spChg>
      </pc:sldChg>
      <pc:sldChg chg="modNotesTx">
        <pc:chgData name="Mohammad Dakhilallah Mohammad Alahmadi" userId="9b436a58-7297-423f-8410-66c59c69358a" providerId="ADAL" clId="{F14FBC29-3758-4E3E-A198-0282A0597C7F}" dt="2023-10-03T20:52:52.558" v="24"/>
        <pc:sldMkLst>
          <pc:docMk/>
          <pc:sldMk cId="3964769422" sldId="482"/>
        </pc:sldMkLst>
      </pc:sldChg>
      <pc:sldChg chg="modNotesTx">
        <pc:chgData name="Mohammad Dakhilallah Mohammad Alahmadi" userId="9b436a58-7297-423f-8410-66c59c69358a" providerId="ADAL" clId="{F14FBC29-3758-4E3E-A198-0282A0597C7F}" dt="2023-10-03T20:54:57.980" v="35"/>
        <pc:sldMkLst>
          <pc:docMk/>
          <pc:sldMk cId="585906146" sldId="483"/>
        </pc:sldMkLst>
      </pc:sldChg>
      <pc:sldChg chg="modNotesTx">
        <pc:chgData name="Mohammad Dakhilallah Mohammad Alahmadi" userId="9b436a58-7297-423f-8410-66c59c69358a" providerId="ADAL" clId="{F14FBC29-3758-4E3E-A198-0282A0597C7F}" dt="2023-10-03T20:55:48.176" v="36"/>
        <pc:sldMkLst>
          <pc:docMk/>
          <pc:sldMk cId="2603667753" sldId="484"/>
        </pc:sldMkLst>
      </pc:sldChg>
    </pc:docChg>
  </pc:docChgLst>
  <pc:docChgLst>
    <pc:chgData name="Mohammad Dakhilallah Mohammad Alahmadi" userId="S::04100753@uj.edu.sa::9b436a58-7297-423f-8410-66c59c69358a" providerId="AD" clId="Web-{9C597F08-1883-80EC-42CC-EDF8354980C0}"/>
    <pc:docChg chg="delSld modSection">
      <pc:chgData name="Mohammad Dakhilallah Mohammad Alahmadi" userId="S::04100753@uj.edu.sa::9b436a58-7297-423f-8410-66c59c69358a" providerId="AD" clId="Web-{9C597F08-1883-80EC-42CC-EDF8354980C0}" dt="2023-08-25T12:17:35.697" v="0"/>
      <pc:docMkLst>
        <pc:docMk/>
      </pc:docMkLst>
      <pc:sldChg chg="del">
        <pc:chgData name="Mohammad Dakhilallah Mohammad Alahmadi" userId="S::04100753@uj.edu.sa::9b436a58-7297-423f-8410-66c59c69358a" providerId="AD" clId="Web-{9C597F08-1883-80EC-42CC-EDF8354980C0}" dt="2023-08-25T12:17:35.697" v="0"/>
        <pc:sldMkLst>
          <pc:docMk/>
          <pc:sldMk cId="2586610191" sldId="4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C8B844-FEB7-40E9-8905-10D1181F788D}" type="datetimeFigureOut">
              <a:rPr lang="en-US" smtClean="0"/>
              <a:t>10/3/2023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48F4A1-044F-45DC-A6AA-9EC3247C362C}" type="slidenum">
              <a:rPr lang="en-US" smtClean="0"/>
              <a:t>‹#›</a:t>
            </a:fld>
            <a:endParaRPr lang="en-US"/>
          </a:p>
        </p:txBody>
      </p:sp>
    </p:spTree>
    <p:extLst>
      <p:ext uri="{BB962C8B-B14F-4D97-AF65-F5344CB8AC3E}">
        <p14:creationId xmlns:p14="http://schemas.microsoft.com/office/powerpoint/2010/main" val="2990148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C9B6E0E-3217-4A19-A07B-3D01EE03876A}"/>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3" name="Rectangle 3">
            <a:extLst>
              <a:ext uri="{FF2B5EF4-FFF2-40B4-BE49-F238E27FC236}">
                <a16:creationId xmlns:a16="http://schemas.microsoft.com/office/drawing/2014/main" id="{1FDB8EE8-7C53-490C-9686-35338E0B09C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t>Last Update: 22/8/2019</a:t>
            </a:r>
          </a:p>
          <a:p>
            <a:r>
              <a:rPr lang="en-US" altLang="en-US"/>
              <a:t>Version 1.0</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Söhne Mono"/>
              </a:rPr>
              <a:t># Define an enumerated type for days of the week with a common prefix</a:t>
            </a:r>
          </a:p>
          <a:p>
            <a:r>
              <a:rPr lang="en-US" b="0" i="0" dirty="0">
                <a:solidFill>
                  <a:srgbClr val="FFFFFF"/>
                </a:solidFill>
                <a:effectLst/>
                <a:latin typeface="Söhne Mono"/>
              </a:rPr>
              <a:t> </a:t>
            </a:r>
            <a:r>
              <a:rPr lang="en-US" b="0" i="0" dirty="0">
                <a:solidFill>
                  <a:srgbClr val="2E95D3"/>
                </a:solidFill>
                <a:effectLst/>
                <a:latin typeface="Söhne Mono"/>
              </a:rPr>
              <a:t>class</a:t>
            </a:r>
            <a:r>
              <a:rPr lang="en-US" b="0" i="0" dirty="0">
                <a:solidFill>
                  <a:srgbClr val="FFFFFF"/>
                </a:solidFill>
                <a:effectLst/>
                <a:latin typeface="Söhne Mono"/>
              </a:rPr>
              <a:t> </a:t>
            </a:r>
            <a:r>
              <a:rPr lang="en-US" b="0" i="0" dirty="0">
                <a:solidFill>
                  <a:srgbClr val="F22C3D"/>
                </a:solidFill>
                <a:effectLst/>
                <a:latin typeface="Söhne Mono"/>
              </a:rPr>
              <a:t>Days</a:t>
            </a:r>
            <a:r>
              <a:rPr lang="en-US" b="0" i="0" dirty="0">
                <a:solidFill>
                  <a:srgbClr val="FFFFFF"/>
                </a:solidFill>
                <a:effectLst/>
                <a:latin typeface="Söhne Mono"/>
              </a:rPr>
              <a:t>(</a:t>
            </a:r>
            <a:r>
              <a:rPr lang="en-US" b="0" i="0" dirty="0">
                <a:solidFill>
                  <a:srgbClr val="F22C3D"/>
                </a:solidFill>
                <a:effectLst/>
                <a:latin typeface="Söhne Mono"/>
              </a:rPr>
              <a:t>Enum</a:t>
            </a:r>
            <a:r>
              <a:rPr lang="en-US" b="0" i="0" dirty="0">
                <a:solidFill>
                  <a:srgbClr val="FFFFFF"/>
                </a:solidFill>
                <a:effectLst/>
                <a:latin typeface="Söhne Mono"/>
              </a:rPr>
              <a:t>): </a:t>
            </a:r>
          </a:p>
          <a:p>
            <a:r>
              <a:rPr lang="en-US" b="0" i="0" dirty="0">
                <a:solidFill>
                  <a:srgbClr val="FFFFFF"/>
                </a:solidFill>
                <a:effectLst/>
                <a:latin typeface="Söhne Mono"/>
              </a:rPr>
              <a:t>MONDAY = </a:t>
            </a:r>
            <a:r>
              <a:rPr lang="en-US" b="0" i="0" dirty="0">
                <a:solidFill>
                  <a:srgbClr val="DF3079"/>
                </a:solidFill>
                <a:effectLst/>
                <a:latin typeface="Söhne Mono"/>
              </a:rPr>
              <a:t>1</a:t>
            </a:r>
            <a:r>
              <a:rPr lang="en-US" b="0" i="0" dirty="0">
                <a:solidFill>
                  <a:srgbClr val="FFFFFF"/>
                </a:solidFill>
                <a:effectLst/>
                <a:latin typeface="Söhne Mono"/>
              </a:rPr>
              <a:t> TUESDAY = </a:t>
            </a:r>
            <a:r>
              <a:rPr lang="en-US" b="0" i="0" dirty="0">
                <a:solidFill>
                  <a:srgbClr val="DF3079"/>
                </a:solidFill>
                <a:effectLst/>
                <a:latin typeface="Söhne Mono"/>
              </a:rPr>
              <a:t>2</a:t>
            </a:r>
            <a:r>
              <a:rPr lang="en-US" b="0" i="0" dirty="0">
                <a:solidFill>
                  <a:srgbClr val="FFFFFF"/>
                </a:solidFill>
                <a:effectLst/>
                <a:latin typeface="Söhne Mono"/>
              </a:rPr>
              <a:t> WEDNESDAY = </a:t>
            </a:r>
            <a:r>
              <a:rPr lang="en-US" b="0" i="0" dirty="0">
                <a:solidFill>
                  <a:srgbClr val="DF3079"/>
                </a:solidFill>
                <a:effectLst/>
                <a:latin typeface="Söhne Mono"/>
              </a:rPr>
              <a:t>3</a:t>
            </a:r>
            <a:r>
              <a:rPr lang="en-US" b="0" i="0" dirty="0">
                <a:solidFill>
                  <a:srgbClr val="FFFFFF"/>
                </a:solidFill>
                <a:effectLst/>
                <a:latin typeface="Söhne Mono"/>
              </a:rPr>
              <a:t> THURSDAY = </a:t>
            </a:r>
            <a:r>
              <a:rPr lang="en-US" b="0" i="0" dirty="0">
                <a:solidFill>
                  <a:srgbClr val="DF3079"/>
                </a:solidFill>
                <a:effectLst/>
                <a:latin typeface="Söhne Mono"/>
              </a:rPr>
              <a:t>4</a:t>
            </a:r>
            <a:r>
              <a:rPr lang="en-US" b="0" i="0" dirty="0">
                <a:solidFill>
                  <a:srgbClr val="FFFFFF"/>
                </a:solidFill>
                <a:effectLst/>
                <a:latin typeface="Söhne Mono"/>
              </a:rPr>
              <a:t> FRIDAY = </a:t>
            </a:r>
            <a:r>
              <a:rPr lang="en-US" b="0" i="0" dirty="0">
                <a:solidFill>
                  <a:srgbClr val="DF3079"/>
                </a:solidFill>
                <a:effectLst/>
                <a:latin typeface="Söhne Mono"/>
              </a:rPr>
              <a:t>5</a:t>
            </a:r>
            <a:r>
              <a:rPr lang="en-US" b="0" i="0" dirty="0">
                <a:solidFill>
                  <a:srgbClr val="FFFFFF"/>
                </a:solidFill>
                <a:effectLst/>
                <a:latin typeface="Söhne Mono"/>
              </a:rPr>
              <a:t> SATURDAY = </a:t>
            </a:r>
            <a:r>
              <a:rPr lang="en-US" b="0" i="0" dirty="0">
                <a:solidFill>
                  <a:srgbClr val="DF3079"/>
                </a:solidFill>
                <a:effectLst/>
                <a:latin typeface="Söhne Mono"/>
              </a:rPr>
              <a:t>6</a:t>
            </a:r>
            <a:r>
              <a:rPr lang="en-US" b="0" i="0" dirty="0">
                <a:solidFill>
                  <a:srgbClr val="FFFFFF"/>
                </a:solidFill>
                <a:effectLst/>
                <a:latin typeface="Söhne Mono"/>
              </a:rPr>
              <a:t> SUNDAY = </a:t>
            </a:r>
            <a:r>
              <a:rPr lang="en-US" b="0" i="0" dirty="0">
                <a:solidFill>
                  <a:srgbClr val="DF3079"/>
                </a:solidFill>
                <a:effectLst/>
                <a:latin typeface="Söhne Mono"/>
              </a:rPr>
              <a:t>7</a:t>
            </a:r>
            <a:r>
              <a:rPr lang="en-US" b="0" i="0" dirty="0">
                <a:solidFill>
                  <a:srgbClr val="FFFFFF"/>
                </a:solidFill>
                <a:effectLst/>
                <a:latin typeface="Söhne Mono"/>
              </a:rPr>
              <a:t> </a:t>
            </a:r>
          </a:p>
          <a:p>
            <a:r>
              <a:rPr lang="en-US" b="0" i="0" dirty="0">
                <a:effectLst/>
                <a:latin typeface="Söhne Mono"/>
              </a:rPr>
              <a:t># Usage of the enumerated type</a:t>
            </a:r>
            <a:r>
              <a:rPr lang="en-US" b="0" i="0" dirty="0">
                <a:solidFill>
                  <a:srgbClr val="FFFFFF"/>
                </a:solidFill>
                <a:effectLst/>
                <a:latin typeface="Söhne Mono"/>
              </a:rPr>
              <a:t> </a:t>
            </a:r>
          </a:p>
          <a:p>
            <a:r>
              <a:rPr lang="en-US" b="0" i="0" dirty="0">
                <a:solidFill>
                  <a:srgbClr val="FFFFFF"/>
                </a:solidFill>
                <a:effectLst/>
                <a:latin typeface="Söhne Mono"/>
              </a:rPr>
              <a:t>today = </a:t>
            </a:r>
            <a:r>
              <a:rPr lang="en-US" b="0" i="0" dirty="0" err="1">
                <a:solidFill>
                  <a:srgbClr val="FFFFFF"/>
                </a:solidFill>
                <a:effectLst/>
                <a:latin typeface="Söhne Mono"/>
              </a:rPr>
              <a:t>Days.FRIDAY</a:t>
            </a:r>
            <a:r>
              <a:rPr lang="en-US" b="0" i="0" dirty="0">
                <a:solidFill>
                  <a:srgbClr val="FFFFFF"/>
                </a:solidFill>
                <a:effectLst/>
                <a:latin typeface="Söhne Mono"/>
              </a:rPr>
              <a:t> </a:t>
            </a:r>
          </a:p>
          <a:p>
            <a:r>
              <a:rPr lang="en-US" b="0" i="0" dirty="0">
                <a:solidFill>
                  <a:srgbClr val="2E95D3"/>
                </a:solidFill>
                <a:effectLst/>
                <a:latin typeface="Söhne Mono"/>
              </a:rPr>
              <a:t>if</a:t>
            </a:r>
            <a:r>
              <a:rPr lang="en-US" b="0" i="0" dirty="0">
                <a:solidFill>
                  <a:srgbClr val="FFFFFF"/>
                </a:solidFill>
                <a:effectLst/>
                <a:latin typeface="Söhne Mono"/>
              </a:rPr>
              <a:t> today == </a:t>
            </a:r>
            <a:r>
              <a:rPr lang="en-US" b="0" i="0" dirty="0" err="1">
                <a:solidFill>
                  <a:srgbClr val="FFFFFF"/>
                </a:solidFill>
                <a:effectLst/>
                <a:latin typeface="Söhne Mono"/>
              </a:rPr>
              <a:t>Days.FRIDAY</a:t>
            </a:r>
            <a:r>
              <a:rPr lang="en-US" b="0" i="0" dirty="0">
                <a:solidFill>
                  <a:srgbClr val="FFFFFF"/>
                </a:solidFill>
                <a:effectLst/>
                <a:latin typeface="Söhne Mono"/>
              </a:rPr>
              <a:t>:</a:t>
            </a:r>
          </a:p>
          <a:p>
            <a:r>
              <a:rPr lang="en-US" b="0" i="0" dirty="0">
                <a:solidFill>
                  <a:srgbClr val="FFFFFF"/>
                </a:solidFill>
                <a:effectLst/>
                <a:latin typeface="Söhne Mono"/>
              </a:rPr>
              <a:t> </a:t>
            </a:r>
            <a:r>
              <a:rPr lang="en-US" b="0" i="0" dirty="0">
                <a:solidFill>
                  <a:srgbClr val="E9950C"/>
                </a:solidFill>
                <a:effectLst/>
                <a:latin typeface="Söhne Mono"/>
              </a:rPr>
              <a:t>print</a:t>
            </a:r>
            <a:r>
              <a:rPr lang="en-US" b="0" i="0" dirty="0">
                <a:solidFill>
                  <a:srgbClr val="FFFFFF"/>
                </a:solidFill>
                <a:effectLst/>
                <a:latin typeface="Söhne Mono"/>
              </a:rPr>
              <a:t>(</a:t>
            </a:r>
            <a:r>
              <a:rPr lang="en-US" b="0" i="0" dirty="0">
                <a:solidFill>
                  <a:srgbClr val="00A67D"/>
                </a:solidFill>
                <a:effectLst/>
                <a:latin typeface="Söhne Mono"/>
              </a:rPr>
              <a:t>"It's Friday, the weekend is near!"</a:t>
            </a:r>
            <a:r>
              <a:rPr lang="en-US" b="0" i="0" dirty="0">
                <a:solidFill>
                  <a:srgbClr val="FFFFFF"/>
                </a:solidFill>
                <a:effectLst/>
                <a:latin typeface="Söhne Mono"/>
              </a:rPr>
              <a:t>)</a:t>
            </a:r>
          </a:p>
          <a:p>
            <a:endParaRPr lang="en-US" b="0" i="0" dirty="0">
              <a:solidFill>
                <a:srgbClr val="FFFFFF"/>
              </a:solidFill>
              <a:effectLst/>
              <a:latin typeface="Söhne Mono"/>
            </a:endParaRPr>
          </a:p>
          <a:p>
            <a:endParaRPr lang="en-US" b="0" i="0" dirty="0">
              <a:solidFill>
                <a:srgbClr val="FFFFFF"/>
              </a:solidFill>
              <a:effectLst/>
              <a:latin typeface="Söhne Mono"/>
            </a:endParaRPr>
          </a:p>
          <a:p>
            <a:pPr algn="l"/>
            <a:r>
              <a:rPr lang="en-US" b="1" i="0" dirty="0">
                <a:solidFill>
                  <a:srgbClr val="374151"/>
                </a:solidFill>
                <a:effectLst/>
                <a:latin typeface="Söhne"/>
              </a:rPr>
              <a:t>Poorly Named Constant (Numeric Value):</a:t>
            </a:r>
            <a:endParaRPr lang="en-US" b="0" i="0" dirty="0">
              <a:solidFill>
                <a:srgbClr val="374151"/>
              </a:solidFill>
              <a:effectLst/>
              <a:latin typeface="Söhne"/>
            </a:endParaRPr>
          </a:p>
          <a:p>
            <a:br>
              <a:rPr lang="en-US" dirty="0">
                <a:effectLst/>
                <a:latin typeface="Söhne"/>
              </a:rPr>
            </a:br>
            <a:r>
              <a:rPr lang="en-US" dirty="0">
                <a:effectLst/>
              </a:rPr>
              <a:t>FIVE = </a:t>
            </a:r>
            <a:r>
              <a:rPr lang="en-US" dirty="0">
                <a:solidFill>
                  <a:srgbClr val="DF3079"/>
                </a:solidFill>
                <a:effectLst/>
              </a:rPr>
              <a:t>5</a:t>
            </a:r>
            <a:r>
              <a:rPr lang="en-US" dirty="0">
                <a:effectLst/>
              </a:rPr>
              <a:t> </a:t>
            </a:r>
          </a:p>
          <a:p>
            <a:br>
              <a:rPr lang="en-US" dirty="0"/>
            </a:br>
            <a:r>
              <a:rPr lang="en-US" dirty="0">
                <a:effectLst/>
              </a:rPr>
              <a:t>CYCLES_NEEDED = </a:t>
            </a:r>
            <a:r>
              <a:rPr lang="en-US" dirty="0">
                <a:solidFill>
                  <a:srgbClr val="DF3079"/>
                </a:solidFill>
                <a:effectLst/>
              </a:rPr>
              <a:t>5</a:t>
            </a:r>
            <a:r>
              <a:rPr lang="en-US" dirty="0">
                <a:effectLst/>
              </a:rPr>
              <a:t> </a:t>
            </a:r>
          </a:p>
          <a:p>
            <a:br>
              <a:rPr lang="en-US" dirty="0"/>
            </a:br>
            <a:endParaRPr lang="en-US" dirty="0"/>
          </a:p>
        </p:txBody>
      </p:sp>
      <p:sp>
        <p:nvSpPr>
          <p:cNvPr id="4" name="Slide Number Placeholder 3"/>
          <p:cNvSpPr>
            <a:spLocks noGrp="1"/>
          </p:cNvSpPr>
          <p:nvPr>
            <p:ph type="sldNum" sz="quarter" idx="5"/>
          </p:nvPr>
        </p:nvSpPr>
        <p:spPr/>
        <p:txBody>
          <a:bodyPr/>
          <a:lstStyle/>
          <a:p>
            <a:fld id="{8248F4A1-044F-45DC-A6AA-9EC3247C362C}" type="slidenum">
              <a:rPr lang="en-US" smtClean="0"/>
              <a:t>12</a:t>
            </a:fld>
            <a:endParaRPr lang="en-US"/>
          </a:p>
        </p:txBody>
      </p:sp>
    </p:spTree>
    <p:extLst>
      <p:ext uri="{BB962C8B-B14F-4D97-AF65-F5344CB8AC3E}">
        <p14:creationId xmlns:p14="http://schemas.microsoft.com/office/powerpoint/2010/main" val="467069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374151"/>
                </a:solidFill>
                <a:effectLst/>
                <a:latin typeface="Söhne"/>
              </a:rPr>
              <a:t>Use Standard Abbreviations</a:t>
            </a:r>
            <a:r>
              <a:rPr lang="en-US" b="0" i="0" dirty="0">
                <a:solidFill>
                  <a:srgbClr val="374151"/>
                </a:solidFill>
                <a:effectLst/>
                <a:latin typeface="Söhne"/>
              </a:rPr>
              <a:t>: Standard abbreviations that are commonly used and well-understood in the field are usually acceptable. For example, using "temp" for "temperature" or "config" for "configuration" is generally fine.</a:t>
            </a:r>
          </a:p>
          <a:p>
            <a:pPr algn="l">
              <a:buFont typeface="+mj-lt"/>
              <a:buAutoNum type="arabicPeriod"/>
            </a:pPr>
            <a:r>
              <a:rPr lang="en-US" b="1" i="0" dirty="0">
                <a:solidFill>
                  <a:srgbClr val="374151"/>
                </a:solidFill>
                <a:effectLst/>
                <a:latin typeface="Söhne"/>
              </a:rPr>
              <a:t>Remove Nonleading Vowels</a:t>
            </a:r>
            <a:r>
              <a:rPr lang="en-US" b="0" i="0" dirty="0">
                <a:solidFill>
                  <a:srgbClr val="374151"/>
                </a:solidFill>
                <a:effectLst/>
                <a:latin typeface="Söhne"/>
              </a:rPr>
              <a:t>: Removing nonleading vowels can help shorten variable names while retaining readability. For example, "computer" becomes "</a:t>
            </a:r>
            <a:r>
              <a:rPr lang="en-US" b="0" i="0" dirty="0" err="1">
                <a:solidFill>
                  <a:srgbClr val="374151"/>
                </a:solidFill>
                <a:effectLst/>
                <a:latin typeface="Söhne"/>
              </a:rPr>
              <a:t>cmptr</a:t>
            </a:r>
            <a:r>
              <a:rPr lang="en-US" b="0" i="0" dirty="0">
                <a:solidFill>
                  <a:srgbClr val="374151"/>
                </a:solidFill>
                <a:effectLst/>
                <a:latin typeface="Söhne"/>
              </a:rPr>
              <a:t>," and "screen" becomes "</a:t>
            </a:r>
            <a:r>
              <a:rPr lang="en-US" b="0" i="0" dirty="0" err="1">
                <a:solidFill>
                  <a:srgbClr val="374151"/>
                </a:solidFill>
                <a:effectLst/>
                <a:latin typeface="Söhne"/>
              </a:rPr>
              <a:t>scrn</a:t>
            </a:r>
            <a:r>
              <a:rPr lang="en-US" b="0" i="0" dirty="0">
                <a:solidFill>
                  <a:srgbClr val="374151"/>
                </a:solidFill>
                <a:effectLst/>
                <a:latin typeface="Söhne"/>
              </a:rPr>
              <a:t>."</a:t>
            </a:r>
          </a:p>
          <a:p>
            <a:pPr algn="l">
              <a:buFont typeface="+mj-lt"/>
              <a:buAutoNum type="arabicPeriod"/>
            </a:pPr>
            <a:r>
              <a:rPr lang="en-US" b="1" i="0" dirty="0">
                <a:solidFill>
                  <a:srgbClr val="374151"/>
                </a:solidFill>
                <a:effectLst/>
                <a:latin typeface="Söhne"/>
              </a:rPr>
              <a:t>Remove Articles</a:t>
            </a:r>
            <a:r>
              <a:rPr lang="en-US" b="0" i="0" dirty="0">
                <a:solidFill>
                  <a:srgbClr val="374151"/>
                </a:solidFill>
                <a:effectLst/>
                <a:latin typeface="Söhne"/>
              </a:rPr>
              <a:t>: Removing articles like "and," "or," "the," etc., is a good practice to reduce unnecessary words in variable names.</a:t>
            </a:r>
          </a:p>
          <a:p>
            <a:pPr algn="l">
              <a:buFont typeface="+mj-lt"/>
              <a:buAutoNum type="arabicPeriod"/>
            </a:pPr>
            <a:r>
              <a:rPr lang="en-US" b="1" i="0" dirty="0">
                <a:solidFill>
                  <a:srgbClr val="374151"/>
                </a:solidFill>
                <a:effectLst/>
                <a:latin typeface="Söhne"/>
              </a:rPr>
              <a:t>Use Initials or Abbreviations</a:t>
            </a:r>
            <a:r>
              <a:rPr lang="en-US" b="0" i="0" dirty="0">
                <a:solidFill>
                  <a:srgbClr val="374151"/>
                </a:solidFill>
                <a:effectLst/>
                <a:latin typeface="Söhne"/>
              </a:rPr>
              <a:t>: You can use the first letter or a few letters of each word to create a short abbreviation. For example, "user interface" can become "UI."</a:t>
            </a:r>
          </a:p>
          <a:p>
            <a:pPr algn="l">
              <a:buFont typeface="+mj-lt"/>
              <a:buAutoNum type="arabicPeriod"/>
            </a:pPr>
            <a:r>
              <a:rPr lang="en-US" b="1" i="0" dirty="0">
                <a:solidFill>
                  <a:srgbClr val="374151"/>
                </a:solidFill>
                <a:effectLst/>
                <a:latin typeface="Söhne"/>
              </a:rPr>
              <a:t>Truncate Appropriately</a:t>
            </a:r>
            <a:r>
              <a:rPr lang="en-US" b="0" i="0" dirty="0">
                <a:solidFill>
                  <a:srgbClr val="374151"/>
                </a:solidFill>
                <a:effectLst/>
                <a:latin typeface="Söhne"/>
              </a:rPr>
              <a:t>: Truncate variable names after the first, second, or third letter of each word, depending on the context and readability requirements. Be careful not to make the abbreviation too cryptic.</a:t>
            </a:r>
          </a:p>
          <a:p>
            <a:pPr algn="l">
              <a:buFont typeface="+mj-lt"/>
              <a:buAutoNum type="arabicPeriod"/>
            </a:pPr>
            <a:r>
              <a:rPr lang="en-US" b="1" i="0" dirty="0">
                <a:solidFill>
                  <a:srgbClr val="374151"/>
                </a:solidFill>
                <a:effectLst/>
                <a:latin typeface="Söhne"/>
              </a:rPr>
              <a:t>Keep First and Last Letters</a:t>
            </a:r>
            <a:r>
              <a:rPr lang="en-US" b="0" i="0" dirty="0">
                <a:solidFill>
                  <a:srgbClr val="374151"/>
                </a:solidFill>
                <a:effectLst/>
                <a:latin typeface="Söhne"/>
              </a:rPr>
              <a:t>: Keeping the first and last letters of each word in the variable name can help maintain readability. For example, "</a:t>
            </a:r>
            <a:r>
              <a:rPr lang="en-US" b="0" i="0" dirty="0" err="1">
                <a:solidFill>
                  <a:srgbClr val="374151"/>
                </a:solidFill>
                <a:effectLst/>
                <a:latin typeface="Söhne"/>
              </a:rPr>
              <a:t>calculateAverage</a:t>
            </a:r>
            <a:r>
              <a:rPr lang="en-US" b="0" i="0" dirty="0">
                <a:solidFill>
                  <a:srgbClr val="374151"/>
                </a:solidFill>
                <a:effectLst/>
                <a:latin typeface="Söhne"/>
              </a:rPr>
              <a:t>" can become "</a:t>
            </a:r>
            <a:r>
              <a:rPr lang="en-US" b="0" i="0" dirty="0" err="1">
                <a:solidFill>
                  <a:srgbClr val="374151"/>
                </a:solidFill>
                <a:effectLst/>
                <a:latin typeface="Söhne"/>
              </a:rPr>
              <a:t>cltAvg</a:t>
            </a:r>
            <a:r>
              <a:rPr lang="en-US" b="0" i="0" dirty="0">
                <a:solidFill>
                  <a:srgbClr val="374151"/>
                </a:solidFill>
                <a:effectLst/>
                <a:latin typeface="Söhne"/>
              </a:rPr>
              <a:t>."</a:t>
            </a:r>
          </a:p>
          <a:p>
            <a:pPr algn="l">
              <a:buFont typeface="+mj-lt"/>
              <a:buAutoNum type="arabicPeriod"/>
            </a:pPr>
            <a:r>
              <a:rPr lang="en-US" b="1" i="0" dirty="0">
                <a:solidFill>
                  <a:srgbClr val="374151"/>
                </a:solidFill>
                <a:effectLst/>
                <a:latin typeface="Söhne"/>
              </a:rPr>
              <a:t>Use Every Significant Word</a:t>
            </a:r>
            <a:r>
              <a:rPr lang="en-US" b="0" i="0" dirty="0">
                <a:solidFill>
                  <a:srgbClr val="374151"/>
                </a:solidFill>
                <a:effectLst/>
                <a:latin typeface="Söhne"/>
              </a:rPr>
              <a:t>: Include every significant word in the variable name, but limit it to a maximum of three words. For example, "maximum value" can become "</a:t>
            </a:r>
            <a:r>
              <a:rPr lang="en-US" b="0" i="0" dirty="0" err="1">
                <a:solidFill>
                  <a:srgbClr val="374151"/>
                </a:solidFill>
                <a:effectLst/>
                <a:latin typeface="Söhne"/>
              </a:rPr>
              <a:t>maxVal</a:t>
            </a:r>
            <a:r>
              <a:rPr lang="en-US" b="0" i="0" dirty="0">
                <a:solidFill>
                  <a:srgbClr val="374151"/>
                </a:solidFill>
                <a:effectLst/>
                <a:latin typeface="Söhne"/>
              </a:rPr>
              <a:t>."</a:t>
            </a:r>
          </a:p>
          <a:p>
            <a:pPr algn="l">
              <a:buFont typeface="+mj-lt"/>
              <a:buAutoNum type="arabicPeriod"/>
            </a:pPr>
            <a:r>
              <a:rPr lang="en-US" b="1" i="0" dirty="0">
                <a:solidFill>
                  <a:srgbClr val="374151"/>
                </a:solidFill>
                <a:effectLst/>
                <a:latin typeface="Söhne"/>
              </a:rPr>
              <a:t>Remove Useless Suffixes</a:t>
            </a:r>
            <a:r>
              <a:rPr lang="en-US" b="0" i="0" dirty="0">
                <a:solidFill>
                  <a:srgbClr val="374151"/>
                </a:solidFill>
                <a:effectLst/>
                <a:latin typeface="Söhne"/>
              </a:rPr>
              <a:t>: Eliminate unnecessary suffixes like "</a:t>
            </a:r>
            <a:r>
              <a:rPr lang="en-US" b="0" i="0" dirty="0" err="1">
                <a:solidFill>
                  <a:srgbClr val="374151"/>
                </a:solidFill>
                <a:effectLst/>
                <a:latin typeface="Söhne"/>
              </a:rPr>
              <a:t>ing</a:t>
            </a:r>
            <a:r>
              <a:rPr lang="en-US" b="0" i="0" dirty="0">
                <a:solidFill>
                  <a:srgbClr val="374151"/>
                </a:solidFill>
                <a:effectLst/>
                <a:latin typeface="Söhne"/>
              </a:rPr>
              <a:t>," "ed," etc., if they don't add meaningful information to the variable name.</a:t>
            </a:r>
          </a:p>
          <a:p>
            <a:pPr algn="l">
              <a:buFont typeface="+mj-lt"/>
              <a:buAutoNum type="arabicPeriod"/>
            </a:pPr>
            <a:r>
              <a:rPr lang="en-US" b="1" i="0" dirty="0">
                <a:solidFill>
                  <a:srgbClr val="374151"/>
                </a:solidFill>
                <a:effectLst/>
                <a:latin typeface="Söhne"/>
              </a:rPr>
              <a:t>Keep Noticeable Sounds</a:t>
            </a:r>
            <a:r>
              <a:rPr lang="en-US" b="0" i="0" dirty="0">
                <a:solidFill>
                  <a:srgbClr val="374151"/>
                </a:solidFill>
                <a:effectLst/>
                <a:latin typeface="Söhne"/>
              </a:rPr>
              <a:t>: Retain the most noticeable sound in each syllable to maintain pronunciation and recognition. For example, "information" can become "info."</a:t>
            </a:r>
          </a:p>
          <a:p>
            <a:pPr algn="l">
              <a:buFont typeface="+mj-lt"/>
              <a:buAutoNum type="arabicPeriod"/>
            </a:pPr>
            <a:r>
              <a:rPr lang="en-US" b="1" i="0" dirty="0">
                <a:solidFill>
                  <a:srgbClr val="374151"/>
                </a:solidFill>
                <a:effectLst/>
                <a:latin typeface="Söhne"/>
              </a:rPr>
              <a:t>Consider Language Limits</a:t>
            </a:r>
            <a:r>
              <a:rPr lang="en-US" b="0" i="0" dirty="0">
                <a:solidFill>
                  <a:srgbClr val="374151"/>
                </a:solidFill>
                <a:effectLst/>
                <a:latin typeface="Söhne"/>
              </a:rPr>
              <a:t>: Depending on the programming language you're using, be aware of any limits on variable name lengths. Aim to keep variable names within the recommended character limit (typically 8 to 20 characters).</a:t>
            </a:r>
          </a:p>
          <a:p>
            <a:endParaRPr lang="en-US" dirty="0"/>
          </a:p>
        </p:txBody>
      </p:sp>
      <p:sp>
        <p:nvSpPr>
          <p:cNvPr id="4" name="Slide Number Placeholder 3"/>
          <p:cNvSpPr>
            <a:spLocks noGrp="1"/>
          </p:cNvSpPr>
          <p:nvPr>
            <p:ph type="sldNum" sz="quarter" idx="5"/>
          </p:nvPr>
        </p:nvSpPr>
        <p:spPr/>
        <p:txBody>
          <a:bodyPr/>
          <a:lstStyle/>
          <a:p>
            <a:fld id="{8248F4A1-044F-45DC-A6AA-9EC3247C362C}" type="slidenum">
              <a:rPr lang="en-US" smtClean="0"/>
              <a:t>15</a:t>
            </a:fld>
            <a:endParaRPr lang="en-US"/>
          </a:p>
        </p:txBody>
      </p:sp>
    </p:spTree>
    <p:extLst>
      <p:ext uri="{BB962C8B-B14F-4D97-AF65-F5344CB8AC3E}">
        <p14:creationId xmlns:p14="http://schemas.microsoft.com/office/powerpoint/2010/main" val="34174493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74151"/>
                </a:solidFill>
                <a:effectLst/>
                <a:latin typeface="Söhne"/>
              </a:rPr>
              <a:t>Abbreviation in coding can be a useful practice to keep variable and function names concise while maintaining readability. However, it's important to follow certain rules and best practices to ensure clarity and consistency in your codebase. Here are the rules and guidelines you mentioned:</a:t>
            </a:r>
          </a:p>
          <a:p>
            <a:pPr algn="l">
              <a:buFont typeface="+mj-lt"/>
              <a:buAutoNum type="arabicPeriod"/>
            </a:pPr>
            <a:r>
              <a:rPr lang="en-US" b="1" i="0" dirty="0">
                <a:solidFill>
                  <a:srgbClr val="374151"/>
                </a:solidFill>
                <a:effectLst/>
                <a:latin typeface="Söhne"/>
              </a:rPr>
              <a:t>Don't Remove a Single Character</a:t>
            </a:r>
            <a:r>
              <a:rPr lang="en-US" b="0" i="0" dirty="0">
                <a:solidFill>
                  <a:srgbClr val="374151"/>
                </a:solidFill>
                <a:effectLst/>
                <a:latin typeface="Söhne"/>
              </a:rPr>
              <a:t>: Avoid abbreviating by removing just one character from a word, as it can make the abbreviation less meaningful and harder to understand. For example, abbreviating "length" as "</a:t>
            </a:r>
            <a:r>
              <a:rPr lang="en-US" b="0" i="0" dirty="0" err="1">
                <a:solidFill>
                  <a:srgbClr val="374151"/>
                </a:solidFill>
                <a:effectLst/>
                <a:latin typeface="Söhne"/>
              </a:rPr>
              <a:t>lngth</a:t>
            </a:r>
            <a:r>
              <a:rPr lang="en-US" b="0" i="0" dirty="0">
                <a:solidFill>
                  <a:srgbClr val="374151"/>
                </a:solidFill>
                <a:effectLst/>
                <a:latin typeface="Söhne"/>
              </a:rPr>
              <a:t>" is not recommended.</a:t>
            </a:r>
          </a:p>
          <a:p>
            <a:pPr algn="l">
              <a:buFont typeface="+mj-lt"/>
              <a:buAutoNum type="arabicPeriod"/>
            </a:pPr>
            <a:r>
              <a:rPr lang="en-US" b="1" i="0" dirty="0">
                <a:solidFill>
                  <a:srgbClr val="374151"/>
                </a:solidFill>
                <a:effectLst/>
                <a:latin typeface="Söhne"/>
              </a:rPr>
              <a:t>Abbreviate Consistently</a:t>
            </a:r>
            <a:r>
              <a:rPr lang="en-US" b="0" i="0" dirty="0">
                <a:solidFill>
                  <a:srgbClr val="374151"/>
                </a:solidFill>
                <a:effectLst/>
                <a:latin typeface="Söhne"/>
              </a:rPr>
              <a:t>: If you decide to abbreviate a word, do so consistently throughout your codebase. Inconsistently abbreviated names can lead to confusion.</a:t>
            </a:r>
          </a:p>
          <a:p>
            <a:pPr algn="l">
              <a:buFont typeface="+mj-lt"/>
              <a:buAutoNum type="arabicPeriod"/>
            </a:pPr>
            <a:r>
              <a:rPr lang="en-US" b="1" i="0" dirty="0">
                <a:solidFill>
                  <a:srgbClr val="374151"/>
                </a:solidFill>
                <a:effectLst/>
                <a:latin typeface="Söhne"/>
              </a:rPr>
              <a:t>Create Pronounceable Names</a:t>
            </a:r>
            <a:r>
              <a:rPr lang="en-US" b="0" i="0" dirty="0">
                <a:solidFill>
                  <a:srgbClr val="374151"/>
                </a:solidFill>
                <a:effectLst/>
                <a:latin typeface="Söhne"/>
              </a:rPr>
              <a:t>: Aim to create abbreviations and variable names that you can pronounce. Pronounceable names are easier to discuss and understand during code reviews and discussions.</a:t>
            </a:r>
          </a:p>
          <a:p>
            <a:pPr algn="l">
              <a:buFont typeface="+mj-lt"/>
              <a:buAutoNum type="arabicPeriod"/>
            </a:pPr>
            <a:r>
              <a:rPr lang="en-US" b="1" i="0" dirty="0">
                <a:solidFill>
                  <a:srgbClr val="374151"/>
                </a:solidFill>
                <a:effectLst/>
                <a:latin typeface="Söhne"/>
              </a:rPr>
              <a:t>Avoid Mispronunciations</a:t>
            </a:r>
            <a:r>
              <a:rPr lang="en-US" b="0" i="0" dirty="0">
                <a:solidFill>
                  <a:srgbClr val="374151"/>
                </a:solidFill>
                <a:effectLst/>
                <a:latin typeface="Söhne"/>
              </a:rPr>
              <a:t>: Be cautious when combining words or using abbreviations that may result in mispronunciations. Clarity in pronunciation is crucial for effective communication.</a:t>
            </a:r>
          </a:p>
          <a:p>
            <a:pPr algn="l">
              <a:buFont typeface="+mj-lt"/>
              <a:buAutoNum type="arabicPeriod"/>
            </a:pPr>
            <a:r>
              <a:rPr lang="en-US" b="1" i="0" dirty="0">
                <a:solidFill>
                  <a:srgbClr val="374151"/>
                </a:solidFill>
                <a:effectLst/>
                <a:latin typeface="Söhne"/>
              </a:rPr>
              <a:t>Use a Thesaurus</a:t>
            </a:r>
            <a:r>
              <a:rPr lang="en-US" b="0" i="0" dirty="0">
                <a:solidFill>
                  <a:srgbClr val="374151"/>
                </a:solidFill>
                <a:effectLst/>
                <a:latin typeface="Söhne"/>
              </a:rPr>
              <a:t>: When encountering naming collisions or difficulties in finding appropriate abbreviations, consult a thesaurus to explore alternative names that convey the same meaning.</a:t>
            </a:r>
          </a:p>
          <a:p>
            <a:pPr algn="l">
              <a:buFont typeface="+mj-lt"/>
              <a:buAutoNum type="arabicPeriod"/>
            </a:pPr>
            <a:r>
              <a:rPr lang="en-US" b="1" i="0" dirty="0">
                <a:solidFill>
                  <a:srgbClr val="374151"/>
                </a:solidFill>
                <a:effectLst/>
                <a:latin typeface="Söhne"/>
              </a:rPr>
              <a:t>Document Extremely Short Names</a:t>
            </a:r>
            <a:r>
              <a:rPr lang="en-US" b="0" i="0" dirty="0">
                <a:solidFill>
                  <a:srgbClr val="374151"/>
                </a:solidFill>
                <a:effectLst/>
                <a:latin typeface="Söhne"/>
              </a:rPr>
              <a:t>: If you use very short abbreviations that might not be immediately clear to others, consider documenting them within your code using translation tables or comments to explain their meanings.</a:t>
            </a:r>
          </a:p>
          <a:p>
            <a:pPr algn="l">
              <a:buFont typeface="+mj-lt"/>
              <a:buAutoNum type="arabicPeriod"/>
            </a:pPr>
            <a:r>
              <a:rPr lang="en-US" b="1" i="0" dirty="0">
                <a:solidFill>
                  <a:srgbClr val="374151"/>
                </a:solidFill>
                <a:effectLst/>
                <a:latin typeface="Söhne"/>
              </a:rPr>
              <a:t>Project-Level Abbreviation Document</a:t>
            </a:r>
            <a:r>
              <a:rPr lang="en-US" b="0" i="0" dirty="0">
                <a:solidFill>
                  <a:srgbClr val="374151"/>
                </a:solidFill>
                <a:effectLst/>
                <a:latin typeface="Söhne"/>
              </a:rPr>
              <a:t>: Maintain a project-level "Standard Abbreviations" document that lists and explains the abbreviations used in your codebase. This document can serve as a reference for both current and future developers.</a:t>
            </a:r>
          </a:p>
          <a:p>
            <a:pPr algn="l">
              <a:buFont typeface="+mj-lt"/>
              <a:buAutoNum type="arabicPeriod"/>
            </a:pPr>
            <a:r>
              <a:rPr lang="en-US" b="1" i="0" dirty="0">
                <a:solidFill>
                  <a:srgbClr val="374151"/>
                </a:solidFill>
                <a:effectLst/>
                <a:latin typeface="Söhne"/>
              </a:rPr>
              <a:t>Names Matter to the Reader</a:t>
            </a:r>
            <a:r>
              <a:rPr lang="en-US" b="0" i="0" dirty="0">
                <a:solidFill>
                  <a:srgbClr val="374151"/>
                </a:solidFill>
                <a:effectLst/>
                <a:latin typeface="Söhne"/>
              </a:rPr>
              <a:t>: Keep in mind that variable and function names matter more to the people reading your code than to you as the writer. Prioritize clarity and readability to make your code more maintainable.</a:t>
            </a:r>
          </a:p>
          <a:p>
            <a:endParaRPr lang="en-US" dirty="0"/>
          </a:p>
        </p:txBody>
      </p:sp>
      <p:sp>
        <p:nvSpPr>
          <p:cNvPr id="4" name="Slide Number Placeholder 3"/>
          <p:cNvSpPr>
            <a:spLocks noGrp="1"/>
          </p:cNvSpPr>
          <p:nvPr>
            <p:ph type="sldNum" sz="quarter" idx="5"/>
          </p:nvPr>
        </p:nvSpPr>
        <p:spPr/>
        <p:txBody>
          <a:bodyPr/>
          <a:lstStyle/>
          <a:p>
            <a:fld id="{8248F4A1-044F-45DC-A6AA-9EC3247C362C}" type="slidenum">
              <a:rPr lang="en-US" smtClean="0"/>
              <a:t>16</a:t>
            </a:fld>
            <a:endParaRPr lang="en-US"/>
          </a:p>
        </p:txBody>
      </p:sp>
    </p:spTree>
    <p:extLst>
      <p:ext uri="{BB962C8B-B14F-4D97-AF65-F5344CB8AC3E}">
        <p14:creationId xmlns:p14="http://schemas.microsoft.com/office/powerpoint/2010/main" val="3676746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The example provided, "FALSE is usually the opposite of TRUE and would be a bad abbreviation for 'Fig and Almond Season,’” </a:t>
            </a:r>
          </a:p>
          <a:p>
            <a:endParaRPr lang="en-US" b="0" i="0" dirty="0">
              <a:solidFill>
                <a:srgbClr val="374151"/>
              </a:solidFill>
              <a:effectLst/>
              <a:latin typeface="Söhne"/>
            </a:endParaRPr>
          </a:p>
          <a:p>
            <a:r>
              <a:rPr lang="en-US" dirty="0"/>
              <a:t># Bad practice: Similar variable names with different meanings</a:t>
            </a:r>
          </a:p>
          <a:p>
            <a:r>
              <a:rPr lang="en-US" dirty="0" err="1"/>
              <a:t>user_score</a:t>
            </a:r>
            <a:r>
              <a:rPr lang="en-US" dirty="0"/>
              <a:t> = 85  # Represents the user's score in a game</a:t>
            </a:r>
          </a:p>
          <a:p>
            <a:r>
              <a:rPr lang="en-US" dirty="0" err="1"/>
              <a:t>user_scores</a:t>
            </a:r>
            <a:r>
              <a:rPr lang="en-US" dirty="0"/>
              <a:t> = [90, 78, 92]  # Represents a list of scores for multiple users</a:t>
            </a:r>
          </a:p>
          <a:p>
            <a:endParaRPr lang="en-US" dirty="0"/>
          </a:p>
          <a:p>
            <a:r>
              <a:rPr lang="en-US" dirty="0"/>
              <a:t># Better practice: Descriptive and distinct variable names</a:t>
            </a:r>
          </a:p>
          <a:p>
            <a:r>
              <a:rPr lang="en-US" dirty="0" err="1"/>
              <a:t>player_score</a:t>
            </a:r>
            <a:r>
              <a:rPr lang="en-US" dirty="0"/>
              <a:t> = 85  # Represents the user's score in a game</a:t>
            </a:r>
          </a:p>
          <a:p>
            <a:r>
              <a:rPr lang="en-US" dirty="0" err="1"/>
              <a:t>all_user_scores</a:t>
            </a:r>
            <a:r>
              <a:rPr lang="en-US" dirty="0"/>
              <a:t> = [90, 78, 92]  # Represents a list of scores for multiple users</a:t>
            </a:r>
          </a:p>
          <a:p>
            <a:endParaRPr lang="en-US" dirty="0"/>
          </a:p>
        </p:txBody>
      </p:sp>
      <p:sp>
        <p:nvSpPr>
          <p:cNvPr id="4" name="Slide Number Placeholder 3"/>
          <p:cNvSpPr>
            <a:spLocks noGrp="1"/>
          </p:cNvSpPr>
          <p:nvPr>
            <p:ph type="sldNum" sz="quarter" idx="5"/>
          </p:nvPr>
        </p:nvSpPr>
        <p:spPr/>
        <p:txBody>
          <a:bodyPr/>
          <a:lstStyle/>
          <a:p>
            <a:fld id="{8248F4A1-044F-45DC-A6AA-9EC3247C362C}" type="slidenum">
              <a:rPr lang="en-US" smtClean="0"/>
              <a:t>17</a:t>
            </a:fld>
            <a:endParaRPr lang="en-US"/>
          </a:p>
        </p:txBody>
      </p:sp>
    </p:spTree>
    <p:extLst>
      <p:ext uri="{BB962C8B-B14F-4D97-AF65-F5344CB8AC3E}">
        <p14:creationId xmlns:p14="http://schemas.microsoft.com/office/powerpoint/2010/main" val="131784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374151"/>
                </a:solidFill>
                <a:effectLst/>
                <a:latin typeface="Söhne"/>
              </a:rPr>
              <a:t>Similar-Sounding Names</a:t>
            </a:r>
            <a:r>
              <a:rPr lang="en-US" b="0" i="0" dirty="0">
                <a:solidFill>
                  <a:srgbClr val="374151"/>
                </a:solidFill>
                <a:effectLst/>
                <a:latin typeface="Söhne"/>
              </a:rPr>
              <a:t>: Avoid names that sound too similar to each other, as they can lead to confusion. For example, "wrap" and "rap" sound alike and might be easily confused.</a:t>
            </a:r>
          </a:p>
          <a:p>
            <a:pPr algn="l">
              <a:buFont typeface="+mj-lt"/>
              <a:buAutoNum type="arabicPeriod"/>
            </a:pPr>
            <a:r>
              <a:rPr lang="en-US" b="1" i="0" dirty="0">
                <a:solidFill>
                  <a:srgbClr val="374151"/>
                </a:solidFill>
                <a:effectLst/>
                <a:latin typeface="Söhne"/>
              </a:rPr>
              <a:t>Numerals in Names</a:t>
            </a:r>
            <a:r>
              <a:rPr lang="en-US" b="0" i="0" dirty="0">
                <a:solidFill>
                  <a:srgbClr val="374151"/>
                </a:solidFill>
                <a:effectLst/>
                <a:latin typeface="Söhne"/>
              </a:rPr>
              <a:t>: While numerals are not forbidden, avoid using them as the first character in variable names (e.g., 2ndValue) or in a way that might be unclear or ambiguous.</a:t>
            </a:r>
          </a:p>
          <a:p>
            <a:pPr algn="l">
              <a:buFont typeface="+mj-lt"/>
              <a:buAutoNum type="arabicPeriod"/>
            </a:pPr>
            <a:r>
              <a:rPr lang="en-US" b="1" i="0" dirty="0">
                <a:solidFill>
                  <a:srgbClr val="374151"/>
                </a:solidFill>
                <a:effectLst/>
                <a:latin typeface="Söhne"/>
              </a:rPr>
              <a:t>Misspelled Words</a:t>
            </a:r>
            <a:r>
              <a:rPr lang="en-US" b="0" i="0" dirty="0">
                <a:solidFill>
                  <a:srgbClr val="374151"/>
                </a:solidFill>
                <a:effectLst/>
                <a:latin typeface="Söhne"/>
              </a:rPr>
              <a:t>: Avoid misspelled words in names, as they can make your code harder to understand and may lead to confusion. For example, using "</a:t>
            </a:r>
            <a:r>
              <a:rPr lang="en-US" b="0" i="0" dirty="0" err="1">
                <a:solidFill>
                  <a:srgbClr val="374151"/>
                </a:solidFill>
                <a:effectLst/>
                <a:latin typeface="Söhne"/>
              </a:rPr>
              <a:t>varible</a:t>
            </a:r>
            <a:r>
              <a:rPr lang="en-US" b="0" i="0" dirty="0">
                <a:solidFill>
                  <a:srgbClr val="374151"/>
                </a:solidFill>
                <a:effectLst/>
                <a:latin typeface="Söhne"/>
              </a:rPr>
              <a:t>" instead of "variable" is not recommended.</a:t>
            </a:r>
          </a:p>
          <a:p>
            <a:pPr algn="l">
              <a:buFont typeface="+mj-lt"/>
              <a:buAutoNum type="arabicPeriod"/>
            </a:pPr>
            <a:r>
              <a:rPr lang="en-US" b="1" i="0" dirty="0">
                <a:solidFill>
                  <a:srgbClr val="374151"/>
                </a:solidFill>
                <a:effectLst/>
                <a:latin typeface="Söhne"/>
              </a:rPr>
              <a:t>Commonly Misspelled Words</a:t>
            </a:r>
            <a:r>
              <a:rPr lang="en-US" b="0" i="0" dirty="0">
                <a:solidFill>
                  <a:srgbClr val="374151"/>
                </a:solidFill>
                <a:effectLst/>
                <a:latin typeface="Söhne"/>
              </a:rPr>
              <a:t>: Similarly, avoid using words that are commonly misspelled in English, as they can introduce unnecessary confusion and make your code appear less professional.</a:t>
            </a:r>
          </a:p>
          <a:p>
            <a:pPr algn="l">
              <a:buFont typeface="+mj-lt"/>
              <a:buAutoNum type="arabicPeriod"/>
            </a:pPr>
            <a:r>
              <a:rPr lang="en-US" b="1" i="0" dirty="0">
                <a:solidFill>
                  <a:srgbClr val="374151"/>
                </a:solidFill>
                <a:effectLst/>
                <a:latin typeface="Söhne"/>
              </a:rPr>
              <a:t>Case Differentiation</a:t>
            </a:r>
            <a:r>
              <a:rPr lang="en-US" b="0" i="0" dirty="0">
                <a:solidFill>
                  <a:srgbClr val="374151"/>
                </a:solidFill>
                <a:effectLst/>
                <a:latin typeface="Söhne"/>
              </a:rPr>
              <a:t>: Don't differentiate variable names solely by capitalization (e.g., </a:t>
            </a:r>
            <a:r>
              <a:rPr lang="en-US" b="0" i="0" dirty="0" err="1">
                <a:solidFill>
                  <a:srgbClr val="374151"/>
                </a:solidFill>
                <a:effectLst/>
                <a:latin typeface="Söhne"/>
              </a:rPr>
              <a:t>myVariable</a:t>
            </a:r>
            <a:r>
              <a:rPr lang="en-US" b="0" i="0" dirty="0">
                <a:solidFill>
                  <a:srgbClr val="374151"/>
                </a:solidFill>
                <a:effectLst/>
                <a:latin typeface="Söhne"/>
              </a:rPr>
              <a:t> vs. </a:t>
            </a:r>
            <a:r>
              <a:rPr lang="en-US" b="0" i="0" dirty="0" err="1">
                <a:solidFill>
                  <a:srgbClr val="374151"/>
                </a:solidFill>
                <a:effectLst/>
                <a:latin typeface="Söhne"/>
              </a:rPr>
              <a:t>MyVariable</a:t>
            </a:r>
            <a:r>
              <a:rPr lang="en-US" b="0" i="0" dirty="0">
                <a:solidFill>
                  <a:srgbClr val="374151"/>
                </a:solidFill>
                <a:effectLst/>
                <a:latin typeface="Söhne"/>
              </a:rPr>
              <a:t>). While case sensitivity is a feature in some programming languages, it's generally best to use distinct names to avoid confusion.</a:t>
            </a:r>
          </a:p>
          <a:p>
            <a:pPr algn="l">
              <a:buFont typeface="+mj-lt"/>
              <a:buAutoNum type="arabicPeriod"/>
            </a:pPr>
            <a:r>
              <a:rPr lang="en-US" b="1" i="0" dirty="0">
                <a:solidFill>
                  <a:srgbClr val="374151"/>
                </a:solidFill>
                <a:effectLst/>
                <a:latin typeface="Söhne"/>
              </a:rPr>
              <a:t>Multiple Languages</a:t>
            </a:r>
            <a:r>
              <a:rPr lang="en-US" b="0" i="0" dirty="0">
                <a:solidFill>
                  <a:srgbClr val="374151"/>
                </a:solidFill>
                <a:effectLst/>
                <a:latin typeface="Söhne"/>
              </a:rPr>
              <a:t>: Avoid mixing multiple natural languages within variable names. Consistency in language helps maintain code readability for international development teams.</a:t>
            </a:r>
          </a:p>
          <a:p>
            <a:pPr algn="l">
              <a:buFont typeface="+mj-lt"/>
              <a:buAutoNum type="arabicPeriod"/>
            </a:pPr>
            <a:r>
              <a:rPr lang="en-US" b="1" i="0" dirty="0">
                <a:solidFill>
                  <a:srgbClr val="374151"/>
                </a:solidFill>
                <a:effectLst/>
                <a:latin typeface="Söhne"/>
              </a:rPr>
              <a:t>Reserved or Standard Names</a:t>
            </a:r>
            <a:r>
              <a:rPr lang="en-US" b="0" i="0" dirty="0">
                <a:solidFill>
                  <a:srgbClr val="374151"/>
                </a:solidFill>
                <a:effectLst/>
                <a:latin typeface="Söhne"/>
              </a:rPr>
              <a:t>: Avoid using names that are already reserved or used for standard types, variables, or routines in the programming language or framework you're working with. Overriding these names can lead to unexpected behavior.</a:t>
            </a:r>
          </a:p>
          <a:p>
            <a:pPr algn="l">
              <a:buFont typeface="+mj-lt"/>
              <a:buAutoNum type="arabicPeriod"/>
            </a:pPr>
            <a:r>
              <a:rPr lang="en-US" b="1" i="0" dirty="0">
                <a:solidFill>
                  <a:srgbClr val="374151"/>
                </a:solidFill>
                <a:effectLst/>
                <a:latin typeface="Söhne"/>
              </a:rPr>
              <a:t>Unrelated Names</a:t>
            </a:r>
            <a:r>
              <a:rPr lang="en-US" b="0" i="0" dirty="0">
                <a:solidFill>
                  <a:srgbClr val="374151"/>
                </a:solidFill>
                <a:effectLst/>
                <a:latin typeface="Söhne"/>
              </a:rPr>
              <a:t>: Choose names that are related to and reflect the purpose or content of the variables. Avoid using names that are entirely unrelated to what the variables represent, as this can make your code cryptic.</a:t>
            </a:r>
          </a:p>
          <a:p>
            <a:pPr algn="l">
              <a:buFont typeface="+mj-lt"/>
              <a:buAutoNum type="arabicPeriod"/>
            </a:pPr>
            <a:r>
              <a:rPr lang="en-US" b="1" i="0" dirty="0">
                <a:solidFill>
                  <a:srgbClr val="374151"/>
                </a:solidFill>
                <a:effectLst/>
                <a:latin typeface="Söhne"/>
              </a:rPr>
              <a:t>Hard-to-Read Characters</a:t>
            </a:r>
            <a:r>
              <a:rPr lang="en-US" b="0" i="0" dirty="0">
                <a:solidFill>
                  <a:srgbClr val="374151"/>
                </a:solidFill>
                <a:effectLst/>
                <a:latin typeface="Söhne"/>
              </a:rPr>
              <a:t>: Avoid names containing hard-to-read characters or symbols that might be difficult to distinguish, especially if your code will be reviewed by others. Clarity is essential for code readability.</a:t>
            </a:r>
          </a:p>
          <a:p>
            <a:endParaRPr lang="en-US" dirty="0"/>
          </a:p>
        </p:txBody>
      </p:sp>
      <p:sp>
        <p:nvSpPr>
          <p:cNvPr id="4" name="Slide Number Placeholder 3"/>
          <p:cNvSpPr>
            <a:spLocks noGrp="1"/>
          </p:cNvSpPr>
          <p:nvPr>
            <p:ph type="sldNum" sz="quarter" idx="5"/>
          </p:nvPr>
        </p:nvSpPr>
        <p:spPr/>
        <p:txBody>
          <a:bodyPr/>
          <a:lstStyle/>
          <a:p>
            <a:fld id="{8248F4A1-044F-45DC-A6AA-9EC3247C362C}" type="slidenum">
              <a:rPr lang="en-US" smtClean="0"/>
              <a:t>18</a:t>
            </a:fld>
            <a:endParaRPr lang="en-US"/>
          </a:p>
        </p:txBody>
      </p:sp>
    </p:spTree>
    <p:extLst>
      <p:ext uri="{BB962C8B-B14F-4D97-AF65-F5344CB8AC3E}">
        <p14:creationId xmlns:p14="http://schemas.microsoft.com/office/powerpoint/2010/main" val="27452450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81740" y="3183624"/>
            <a:ext cx="8380520" cy="1922733"/>
          </a:xfrm>
        </p:spPr>
        <p:txBody>
          <a:bodyPr anchor="b">
            <a:normAutofit/>
          </a:bodyPr>
          <a:lstStyle>
            <a:lvl1pPr algn="l">
              <a:lnSpc>
                <a:spcPct val="85000"/>
              </a:lnSpc>
              <a:defRPr sz="48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hasCustomPrompt="1"/>
          </p:nvPr>
        </p:nvSpPr>
        <p:spPr>
          <a:xfrm>
            <a:off x="381740" y="5236867"/>
            <a:ext cx="8380520" cy="1143000"/>
          </a:xfrm>
        </p:spPr>
        <p:txBody>
          <a:bodyPr lIns="91440" rIns="91440">
            <a:normAutofit/>
          </a:bodyPr>
          <a:lstStyle>
            <a:lvl1pPr marL="0" indent="0" algn="l">
              <a:buNone/>
              <a:defRPr sz="2400" cap="none"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a:xfrm>
            <a:off x="822961" y="6646272"/>
            <a:ext cx="1854203" cy="187517"/>
          </a:xfrm>
        </p:spPr>
        <p:txBody>
          <a:bodyPr/>
          <a:lstStyle/>
          <a:p>
            <a:fld id="{03C5C922-B9DD-9745-A816-802923AFBE71}" type="datetime1">
              <a:rPr lang="en-US" smtClean="0"/>
              <a:t>10/3/2023</a:t>
            </a:fld>
            <a:endParaRPr lang="en-US"/>
          </a:p>
        </p:txBody>
      </p:sp>
      <p:sp>
        <p:nvSpPr>
          <p:cNvPr id="5" name="Footer Placeholder 4"/>
          <p:cNvSpPr>
            <a:spLocks noGrp="1"/>
          </p:cNvSpPr>
          <p:nvPr>
            <p:ph type="ftr" sz="quarter" idx="11"/>
          </p:nvPr>
        </p:nvSpPr>
        <p:spPr>
          <a:xfrm>
            <a:off x="2764639" y="6646272"/>
            <a:ext cx="3617103" cy="187517"/>
          </a:xfrm>
        </p:spPr>
        <p:txBody>
          <a:bodyPr/>
          <a:lstStyle>
            <a:lvl1pPr>
              <a:defRPr cap="none"/>
            </a:lvl1pPr>
          </a:lstStyle>
          <a:p>
            <a:endParaRPr lang="en-US"/>
          </a:p>
        </p:txBody>
      </p:sp>
      <p:sp>
        <p:nvSpPr>
          <p:cNvPr id="6" name="Slide Number Placeholder 5"/>
          <p:cNvSpPr>
            <a:spLocks noGrp="1"/>
          </p:cNvSpPr>
          <p:nvPr>
            <p:ph type="sldNum" sz="quarter" idx="12"/>
          </p:nvPr>
        </p:nvSpPr>
        <p:spPr>
          <a:xfrm>
            <a:off x="7425344" y="6646272"/>
            <a:ext cx="984019" cy="187517"/>
          </a:xfrm>
        </p:spPr>
        <p:txBody>
          <a:bodyPr/>
          <a:lstStyle>
            <a:lvl1pPr>
              <a:defRPr b="1">
                <a:solidFill>
                  <a:schemeClr val="bg1"/>
                </a:solidFill>
              </a:defRPr>
            </a:lvl1pPr>
          </a:lstStyle>
          <a:p>
            <a:fld id="{9C8A9BBF-D171-497A-B4A2-0767A13C4597}" type="slidenum">
              <a:rPr lang="en-US" smtClean="0"/>
              <a:pPr/>
              <a:t>‹#›</a:t>
            </a:fld>
            <a:endParaRPr lang="en-US"/>
          </a:p>
        </p:txBody>
      </p:sp>
      <p:cxnSp>
        <p:nvCxnSpPr>
          <p:cNvPr id="9" name="Straight Connector 8"/>
          <p:cNvCxnSpPr>
            <a:cxnSpLocks/>
          </p:cNvCxnSpPr>
          <p:nvPr/>
        </p:nvCxnSpPr>
        <p:spPr>
          <a:xfrm flipV="1">
            <a:off x="381740" y="5106357"/>
            <a:ext cx="8380520" cy="18289"/>
          </a:xfrm>
          <a:prstGeom prst="line">
            <a:avLst/>
          </a:prstGeom>
          <a:ln w="38100">
            <a:solidFill>
              <a:srgbClr val="84CDEA"/>
            </a:solidFill>
          </a:ln>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11AE1EE2-4846-41F9-AC6B-D9834B0B3586}"/>
              </a:ext>
            </a:extLst>
          </p:cNvPr>
          <p:cNvCxnSpPr>
            <a:cxnSpLocks/>
          </p:cNvCxnSpPr>
          <p:nvPr/>
        </p:nvCxnSpPr>
        <p:spPr>
          <a:xfrm flipV="1">
            <a:off x="9129643" y="1"/>
            <a:ext cx="12147" cy="6874767"/>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sp>
        <p:nvSpPr>
          <p:cNvPr id="14" name="Rectangle 13">
            <a:extLst>
              <a:ext uri="{FF2B5EF4-FFF2-40B4-BE49-F238E27FC236}">
                <a16:creationId xmlns:a16="http://schemas.microsoft.com/office/drawing/2014/main" id="{11AE4F96-0037-4F43-91BD-25588C022845}"/>
              </a:ext>
            </a:extLst>
          </p:cNvPr>
          <p:cNvSpPr/>
          <p:nvPr userDrawn="1"/>
        </p:nvSpPr>
        <p:spPr>
          <a:xfrm>
            <a:off x="-14359" y="6646273"/>
            <a:ext cx="9144000" cy="237744"/>
          </a:xfrm>
          <a:prstGeom prst="rect">
            <a:avLst/>
          </a:prstGeom>
          <a:solidFill>
            <a:srgbClr val="0A4B67"/>
          </a:solidFill>
          <a:ln>
            <a:solidFill>
              <a:srgbClr val="0A4B67"/>
            </a:solid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BF5B4F-FC83-4FAA-82F0-2510D3F32F49}"/>
              </a:ext>
            </a:extLst>
          </p:cNvPr>
          <p:cNvSpPr/>
          <p:nvPr userDrawn="1"/>
        </p:nvSpPr>
        <p:spPr>
          <a:xfrm>
            <a:off x="-26504" y="6546958"/>
            <a:ext cx="9144001" cy="103220"/>
          </a:xfrm>
          <a:prstGeom prst="rect">
            <a:avLst/>
          </a:prstGeom>
          <a:solidFill>
            <a:srgbClr val="84CDEA"/>
          </a:solidFill>
          <a:ln>
            <a:solidFill>
              <a:srgbClr val="84CDEA"/>
            </a:solidFill>
          </a:ln>
        </p:spPr>
        <p:style>
          <a:lnRef idx="2">
            <a:schemeClr val="accent1">
              <a:shade val="50000"/>
            </a:schemeClr>
          </a:lnRef>
          <a:fillRef idx="1">
            <a:schemeClr val="accent1"/>
          </a:fillRef>
          <a:effectRef idx="0">
            <a:schemeClr val="accent1"/>
          </a:effectRef>
          <a:fontRef idx="minor">
            <a:schemeClr val="lt1"/>
          </a:fontRef>
        </p:style>
      </p:sp>
      <p:cxnSp>
        <p:nvCxnSpPr>
          <p:cNvPr id="18" name="Straight Connector 17">
            <a:extLst>
              <a:ext uri="{FF2B5EF4-FFF2-40B4-BE49-F238E27FC236}">
                <a16:creationId xmlns:a16="http://schemas.microsoft.com/office/drawing/2014/main" id="{5F0B8816-EFF8-4E7C-AEC1-987D4EE648F1}"/>
              </a:ext>
            </a:extLst>
          </p:cNvPr>
          <p:cNvCxnSpPr>
            <a:cxnSpLocks/>
          </p:cNvCxnSpPr>
          <p:nvPr userDrawn="1"/>
        </p:nvCxnSpPr>
        <p:spPr>
          <a:xfrm flipH="1" flipV="1">
            <a:off x="-5932" y="0"/>
            <a:ext cx="3809" cy="6857997"/>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2B5B64A5-A6D5-4050-BAC4-E246829DF430}"/>
              </a:ext>
            </a:extLst>
          </p:cNvPr>
          <p:cNvCxnSpPr>
            <a:cxnSpLocks/>
          </p:cNvCxnSpPr>
          <p:nvPr userDrawn="1"/>
        </p:nvCxnSpPr>
        <p:spPr>
          <a:xfrm flipV="1">
            <a:off x="-32436" y="8261"/>
            <a:ext cx="9235440" cy="1"/>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pic>
        <p:nvPicPr>
          <p:cNvPr id="31" name="Picture 30" descr="Logo&#10;&#10;Description automatically generated">
            <a:extLst>
              <a:ext uri="{FF2B5EF4-FFF2-40B4-BE49-F238E27FC236}">
                <a16:creationId xmlns:a16="http://schemas.microsoft.com/office/drawing/2014/main" id="{370668AB-6B94-4243-A6A5-4EDC87C8B508}"/>
              </a:ext>
            </a:extLst>
          </p:cNvPr>
          <p:cNvPicPr>
            <a:picLocks noChangeAspect="1"/>
          </p:cNvPicPr>
          <p:nvPr userDrawn="1"/>
        </p:nvPicPr>
        <p:blipFill>
          <a:blip r:embed="rId3"/>
          <a:stretch>
            <a:fillRect/>
          </a:stretch>
        </p:blipFill>
        <p:spPr>
          <a:xfrm>
            <a:off x="3004824" y="46971"/>
            <a:ext cx="3278818" cy="2319734"/>
          </a:xfrm>
          <a:prstGeom prst="rect">
            <a:avLst/>
          </a:prstGeom>
        </p:spPr>
      </p:pic>
      <p:sp>
        <p:nvSpPr>
          <p:cNvPr id="32" name="TextBox 31">
            <a:extLst>
              <a:ext uri="{FF2B5EF4-FFF2-40B4-BE49-F238E27FC236}">
                <a16:creationId xmlns:a16="http://schemas.microsoft.com/office/drawing/2014/main" id="{A723C23A-9829-0C47-85AC-FD590BD245D5}"/>
              </a:ext>
            </a:extLst>
          </p:cNvPr>
          <p:cNvSpPr txBox="1"/>
          <p:nvPr userDrawn="1"/>
        </p:nvSpPr>
        <p:spPr>
          <a:xfrm>
            <a:off x="185737" y="852895"/>
            <a:ext cx="3278818" cy="707886"/>
          </a:xfrm>
          <a:prstGeom prst="rect">
            <a:avLst/>
          </a:prstGeom>
          <a:noFill/>
        </p:spPr>
        <p:txBody>
          <a:bodyPr wrap="square" rtlCol="0">
            <a:spAutoFit/>
          </a:bodyPr>
          <a:lstStyle/>
          <a:p>
            <a:pPr marL="0" algn="ctr" defTabSz="914400" rtl="1" eaLnBrk="1" latinLnBrk="0" hangingPunct="1"/>
            <a:r>
              <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COLLAGE OF COMPUTER</a:t>
            </a:r>
          </a:p>
          <a:p>
            <a:pPr marL="0" algn="ctr" defTabSz="914400" rtl="1" eaLnBrk="1" latinLnBrk="0" hangingPunct="1"/>
            <a:r>
              <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 SCIENCE &amp; ENGINEERING </a:t>
            </a:r>
          </a:p>
        </p:txBody>
      </p:sp>
      <p:cxnSp>
        <p:nvCxnSpPr>
          <p:cNvPr id="33" name="Straight Connector 32">
            <a:extLst>
              <a:ext uri="{FF2B5EF4-FFF2-40B4-BE49-F238E27FC236}">
                <a16:creationId xmlns:a16="http://schemas.microsoft.com/office/drawing/2014/main" id="{322341BA-F8B4-5440-8DF5-89AF9CF24FED}"/>
              </a:ext>
            </a:extLst>
          </p:cNvPr>
          <p:cNvCxnSpPr>
            <a:cxnSpLocks/>
          </p:cNvCxnSpPr>
          <p:nvPr userDrawn="1"/>
        </p:nvCxnSpPr>
        <p:spPr>
          <a:xfrm flipV="1">
            <a:off x="375762" y="1574983"/>
            <a:ext cx="2926080" cy="4683"/>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369ACA3-551E-D542-BD71-4881E6644B70}"/>
              </a:ext>
            </a:extLst>
          </p:cNvPr>
          <p:cNvSpPr txBox="1"/>
          <p:nvPr userDrawn="1"/>
        </p:nvSpPr>
        <p:spPr>
          <a:xfrm>
            <a:off x="-785970" y="1579097"/>
            <a:ext cx="5072063" cy="292388"/>
          </a:xfrm>
          <a:prstGeom prst="rect">
            <a:avLst/>
          </a:prstGeom>
          <a:noFill/>
        </p:spPr>
        <p:txBody>
          <a:bodyPr wrap="square" rtlCol="0">
            <a:spAutoFit/>
          </a:bodyPr>
          <a:lstStyle/>
          <a:p>
            <a:pPr marL="0" algn="ctr" defTabSz="914400" rtl="1" eaLnBrk="1" latinLnBrk="0" hangingPunct="1"/>
            <a:r>
              <a:rPr lang="en-US"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UNIVERSITY OF JEDDAH</a:t>
            </a:r>
          </a:p>
        </p:txBody>
      </p:sp>
      <p:sp>
        <p:nvSpPr>
          <p:cNvPr id="35" name="TextBox 34">
            <a:extLst>
              <a:ext uri="{FF2B5EF4-FFF2-40B4-BE49-F238E27FC236}">
                <a16:creationId xmlns:a16="http://schemas.microsoft.com/office/drawing/2014/main" id="{E72639E4-89B5-1D49-B470-747E56896B62}"/>
              </a:ext>
            </a:extLst>
          </p:cNvPr>
          <p:cNvSpPr txBox="1"/>
          <p:nvPr userDrawn="1"/>
        </p:nvSpPr>
        <p:spPr>
          <a:xfrm>
            <a:off x="5679447" y="865829"/>
            <a:ext cx="3278818" cy="707886"/>
          </a:xfrm>
          <a:prstGeom prst="rect">
            <a:avLst/>
          </a:prstGeom>
          <a:noFill/>
        </p:spPr>
        <p:txBody>
          <a:bodyPr wrap="square" rtlCol="0">
            <a:spAutoFit/>
          </a:bodyPr>
          <a:lstStyle/>
          <a:p>
            <a:pPr marL="0" algn="ctr" defTabSz="914400" rtl="1" eaLnBrk="1" latinLnBrk="0" hangingPunct="1"/>
            <a:r>
              <a:rPr lang="ar-SA"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كــلـــية عــلــــــــــوم </a:t>
            </a:r>
          </a:p>
          <a:p>
            <a:pPr marL="0" algn="ctr" defTabSz="914400" rtl="1" eaLnBrk="1" latinLnBrk="0" hangingPunct="1"/>
            <a:r>
              <a:rPr lang="ar-SA"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و هـنــدســـة الحـــــــاســــب</a:t>
            </a:r>
            <a:endPar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endParaRPr>
          </a:p>
        </p:txBody>
      </p:sp>
      <p:sp>
        <p:nvSpPr>
          <p:cNvPr id="36" name="TextBox 35">
            <a:extLst>
              <a:ext uri="{FF2B5EF4-FFF2-40B4-BE49-F238E27FC236}">
                <a16:creationId xmlns:a16="http://schemas.microsoft.com/office/drawing/2014/main" id="{36F4847C-B76C-6846-8360-9D2AD3FA67B2}"/>
              </a:ext>
            </a:extLst>
          </p:cNvPr>
          <p:cNvSpPr txBox="1"/>
          <p:nvPr userDrawn="1"/>
        </p:nvSpPr>
        <p:spPr>
          <a:xfrm>
            <a:off x="4782824" y="1579097"/>
            <a:ext cx="5072063" cy="292388"/>
          </a:xfrm>
          <a:prstGeom prst="rect">
            <a:avLst/>
          </a:prstGeom>
          <a:noFill/>
        </p:spPr>
        <p:txBody>
          <a:bodyPr wrap="square" rtlCol="0">
            <a:spAutoFit/>
          </a:bodyPr>
          <a:lstStyle/>
          <a:p>
            <a:pPr marL="0" algn="ctr" defTabSz="914400" rtl="1" eaLnBrk="1" latinLnBrk="0" hangingPunct="1"/>
            <a:r>
              <a:rPr lang="ar-SA"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جــــامعـــة جــــــــــــــدة </a:t>
            </a:r>
            <a:endParaRPr lang="en-US"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endParaRPr>
          </a:p>
        </p:txBody>
      </p:sp>
      <p:cxnSp>
        <p:nvCxnSpPr>
          <p:cNvPr id="37" name="Straight Connector 36">
            <a:extLst>
              <a:ext uri="{FF2B5EF4-FFF2-40B4-BE49-F238E27FC236}">
                <a16:creationId xmlns:a16="http://schemas.microsoft.com/office/drawing/2014/main" id="{73D420C2-74C6-E448-ABF8-408E3C156421}"/>
              </a:ext>
            </a:extLst>
          </p:cNvPr>
          <p:cNvCxnSpPr>
            <a:cxnSpLocks/>
          </p:cNvCxnSpPr>
          <p:nvPr userDrawn="1"/>
        </p:nvCxnSpPr>
        <p:spPr>
          <a:xfrm>
            <a:off x="5770786" y="1573715"/>
            <a:ext cx="3017520"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4830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rgbClr val="565351"/>
                </a:solidFill>
              </a:defRPr>
            </a:lvl1pPr>
          </a:lstStyle>
          <a:p>
            <a:r>
              <a:rPr lang="en-US"/>
              <a:t>Click to edit Master title style</a:t>
            </a:r>
          </a:p>
        </p:txBody>
      </p:sp>
      <p:sp>
        <p:nvSpPr>
          <p:cNvPr id="4" name="Date Placeholder 3"/>
          <p:cNvSpPr>
            <a:spLocks noGrp="1"/>
          </p:cNvSpPr>
          <p:nvPr>
            <p:ph type="dt" sz="half" idx="10"/>
          </p:nvPr>
        </p:nvSpPr>
        <p:spPr/>
        <p:txBody>
          <a:bodyPr/>
          <a:lstStyle/>
          <a:p>
            <a:fld id="{428B66AD-B9AD-6E48-A7F8-A3C7D94EDF8F}" type="datetime1">
              <a:rPr lang="en-US" smtClean="0"/>
              <a:t>10/3/2023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lvl1pPr>
              <a:buClr>
                <a:srgbClr val="84CDEA"/>
              </a:buClr>
              <a:defRPr sz="2600">
                <a:solidFill>
                  <a:srgbClr val="565351"/>
                </a:solidFill>
              </a:defRPr>
            </a:lvl1pPr>
            <a:lvl2pPr>
              <a:buClr>
                <a:srgbClr val="565351"/>
              </a:buClr>
              <a:defRPr>
                <a:solidFill>
                  <a:srgbClr val="565351"/>
                </a:solidFill>
              </a:defRPr>
            </a:lvl2pPr>
            <a:lvl3pPr marL="731520" indent="-274320">
              <a:buClr>
                <a:srgbClr val="565351"/>
              </a:buClr>
              <a:buFont typeface="Wingdings" panose="05000000000000000000" pitchFamily="2" charset="2"/>
              <a:buChar char="§"/>
              <a:defRPr sz="2000">
                <a:solidFill>
                  <a:srgbClr val="565351"/>
                </a:solidFill>
              </a:defRPr>
            </a:lvl3pPr>
            <a:lvl4pPr marL="914400" indent="-274320">
              <a:buClr>
                <a:srgbClr val="565351"/>
              </a:buClr>
              <a:buFont typeface="Wingdings" panose="05000000000000000000" pitchFamily="2" charset="2"/>
              <a:buChar char="§"/>
              <a:defRPr sz="2000">
                <a:solidFill>
                  <a:srgbClr val="565351"/>
                </a:solidFill>
              </a:defRPr>
            </a:lvl4pPr>
            <a:lvl5pPr marL="1097280" indent="-274320">
              <a:buClr>
                <a:srgbClr val="565351"/>
              </a:buClr>
              <a:buFont typeface="Wingdings" panose="05000000000000000000" pitchFamily="2" charset="2"/>
              <a:buChar char="§"/>
              <a:defRPr sz="2000">
                <a:solidFill>
                  <a:srgbClr val="56535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4559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rgbClr val="565351"/>
                </a:solidFill>
              </a:defRPr>
            </a:lvl1pPr>
          </a:lstStyle>
          <a:p>
            <a:r>
              <a:rPr lang="en-US"/>
              <a:t>Click to edit Master title style</a:t>
            </a:r>
          </a:p>
        </p:txBody>
      </p:sp>
      <p:sp>
        <p:nvSpPr>
          <p:cNvPr id="4" name="Date Placeholder 3"/>
          <p:cNvSpPr>
            <a:spLocks noGrp="1"/>
          </p:cNvSpPr>
          <p:nvPr>
            <p:ph type="dt" sz="half" idx="10"/>
          </p:nvPr>
        </p:nvSpPr>
        <p:spPr/>
        <p:txBody>
          <a:bodyPr/>
          <a:lstStyle/>
          <a:p>
            <a:fld id="{BBAECC06-C7D4-1747-9BAC-5ADF6973C413}" type="datetime1">
              <a:rPr lang="en-US" smtClean="0"/>
              <a:t>10/3/2023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lvl1pPr>
              <a:buClr>
                <a:srgbClr val="88A6B1"/>
              </a:buClr>
              <a:defRPr sz="2600">
                <a:solidFill>
                  <a:srgbClr val="88A6B1"/>
                </a:solidFill>
              </a:defRPr>
            </a:lvl1pPr>
            <a:lvl2pPr>
              <a:buClr>
                <a:srgbClr val="88A6B1"/>
              </a:buClr>
              <a:defRPr>
                <a:solidFill>
                  <a:srgbClr val="88A6B1"/>
                </a:solidFill>
              </a:defRPr>
            </a:lvl2pPr>
            <a:lvl3pPr marL="731520" indent="-274320">
              <a:buClr>
                <a:srgbClr val="88A6B1"/>
              </a:buClr>
              <a:buFont typeface="Wingdings" panose="05000000000000000000" pitchFamily="2" charset="2"/>
              <a:buChar char="§"/>
              <a:defRPr sz="2000">
                <a:solidFill>
                  <a:srgbClr val="88A6B1"/>
                </a:solidFill>
              </a:defRPr>
            </a:lvl3pPr>
            <a:lvl4pPr marL="914400" indent="-274320">
              <a:buClr>
                <a:srgbClr val="88A6B1"/>
              </a:buClr>
              <a:buFont typeface="Wingdings" panose="05000000000000000000" pitchFamily="2" charset="2"/>
              <a:buChar char="§"/>
              <a:defRPr sz="2000">
                <a:solidFill>
                  <a:srgbClr val="88A6B1"/>
                </a:solidFill>
              </a:defRPr>
            </a:lvl4pPr>
            <a:lvl5pPr marL="1097280" indent="-274320">
              <a:buClr>
                <a:srgbClr val="88A6B1"/>
              </a:buClr>
              <a:buFont typeface="Wingdings" panose="05000000000000000000" pitchFamily="2" charset="2"/>
              <a:buChar char="§"/>
              <a:defRPr sz="2000">
                <a:solidFill>
                  <a:srgbClr val="88A6B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9183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16C63C-7E12-D040-9BFC-CED05FF7D470}" type="datetime1">
              <a:rPr lang="en-US" smtClean="0"/>
              <a:t>10/3/2023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4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p>
        </p:txBody>
      </p:sp>
      <p:sp>
        <p:nvSpPr>
          <p:cNvPr id="3" name="Content Placeholder 2"/>
          <p:cNvSpPr>
            <a:spLocks noGrp="1"/>
          </p:cNvSpPr>
          <p:nvPr>
            <p:ph sz="half" idx="1"/>
          </p:nvPr>
        </p:nvSpPr>
        <p:spPr>
          <a:xfrm>
            <a:off x="822960" y="1845734"/>
            <a:ext cx="3703320" cy="4023360"/>
          </a:xfrm>
        </p:spPr>
        <p:txBody>
          <a:bodyPr/>
          <a:lstStyle>
            <a:lvl1pPr>
              <a:buClr>
                <a:srgbClr val="84CDEA"/>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3440" y="1845735"/>
            <a:ext cx="3703320" cy="4023360"/>
          </a:xfrm>
        </p:spPr>
        <p:txBody>
          <a:bodyPr/>
          <a:lstStyle>
            <a:lvl1pPr>
              <a:buClr>
                <a:srgbClr val="84CDEA"/>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8987DC-EF00-9844-8C8C-DB85411C810C}" type="datetime1">
              <a:rPr lang="en-US" smtClean="0"/>
              <a:t>10/3/2023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1745288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815C23F-C598-3F49-9FE3-6071741BE353}" type="datetime1">
              <a:rPr lang="en-US" smtClean="0"/>
              <a:t>10/3/2023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119233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F66BD12-5D01-AB4B-A157-4C071A505070}" type="datetime1">
              <a:rPr lang="en-US" smtClean="0"/>
              <a:t>10/3/2023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399158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CD5D1259-9E66-E241-B0DB-D3144AF5C20E}" type="datetime1">
              <a:rPr lang="en-US" smtClean="0"/>
              <a:t>10/3/2023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475624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A59F509-0EC8-5246-80F7-C95CE727AFCC}" type="datetime1">
              <a:rPr lang="en-US" smtClean="0"/>
              <a:t>10/3/2023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2924215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rgbClr val="0A4B67"/>
          </a:solidFill>
          <a:ln>
            <a:solidFill>
              <a:srgbClr val="84CDEA"/>
            </a:solid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rgbClr val="84CDE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6CBA62D3-B106-3146-B5B5-E66A18E804C2}" type="datetime1">
              <a:rPr lang="en-US" smtClean="0"/>
              <a:t>10/3/2023</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C8A9BBF-D171-497A-B4A2-0767A13C4597}" type="slidenum">
              <a:rPr lang="en-US" smtClean="0"/>
              <a:t>‹#›</a:t>
            </a:fld>
            <a:endParaRPr lang="en-US"/>
          </a:p>
        </p:txBody>
      </p:sp>
    </p:spTree>
    <p:extLst>
      <p:ext uri="{BB962C8B-B14F-4D97-AF65-F5344CB8AC3E}">
        <p14:creationId xmlns:p14="http://schemas.microsoft.com/office/powerpoint/2010/main" val="2444531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08B15B-E63B-A741-9DEA-9AA37D2B7DBF}" type="datetime1">
              <a:rPr lang="en-US" smtClean="0"/>
              <a:t>10/3/2023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41425106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489117-AA99-A343-9D72-6FCA37B5BE17}" type="datetime1">
              <a:rPr lang="en-US" smtClean="0"/>
              <a:t>10/3/2023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24794780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2144E2-60F2-DF46-A244-D7B3522DD83D}" type="datetime1">
              <a:rPr lang="en-US" smtClean="0"/>
              <a:t>10/3/2023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3386736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5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DB5C5D66-23E7-0C4F-8B0A-A1C9C050780A}" type="datetime1">
              <a:rPr lang="en-US" smtClean="0"/>
              <a:t>10/3/2023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spTree>
    <p:extLst>
      <p:ext uri="{BB962C8B-B14F-4D97-AF65-F5344CB8AC3E}">
        <p14:creationId xmlns:p14="http://schemas.microsoft.com/office/powerpoint/2010/main" val="35435914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8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87DCCB30-1A6D-2E42-BCC5-3E80F21AA084}" type="datetime1">
              <a:rPr lang="en-US" smtClean="0"/>
              <a:t>10/3/2023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4647" y="-152400"/>
            <a:ext cx="1059353" cy="1059353"/>
          </a:xfrm>
          <a:prstGeom prst="rect">
            <a:avLst/>
          </a:prstGeom>
        </p:spPr>
      </p:pic>
      <p:sp>
        <p:nvSpPr>
          <p:cNvPr id="10" name="Text Placeholder 2">
            <a:extLst>
              <a:ext uri="{FF2B5EF4-FFF2-40B4-BE49-F238E27FC236}">
                <a16:creationId xmlns:a16="http://schemas.microsoft.com/office/drawing/2014/main" id="{6187854B-FEC4-4BF8-A3DE-39B0F5014508}"/>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buClr>
              <a:buFont typeface="Wingdings" panose="05000000000000000000" pitchFamily="2" charset="2"/>
              <a:buChar char="§"/>
              <a:defRPr sz="3200">
                <a:solidFill>
                  <a:schemeClr val="tx2"/>
                </a:solidFill>
                <a:latin typeface="+mj-lt"/>
              </a:defRPr>
            </a:lvl1pPr>
            <a:lvl2pPr marL="548640" indent="-274320">
              <a:buClr>
                <a:schemeClr val="accent2"/>
              </a:buClr>
              <a:buFont typeface="Wingdings" panose="05000000000000000000" pitchFamily="2" charset="2"/>
              <a:buChar char="§"/>
              <a:defRPr sz="2800">
                <a:solidFill>
                  <a:schemeClr val="tx2"/>
                </a:solidFill>
                <a:latin typeface="+mj-lt"/>
              </a:defRPr>
            </a:lvl2pPr>
            <a:lvl3pPr marL="731520" indent="-274320">
              <a:buClr>
                <a:schemeClr val="accent2"/>
              </a:buClr>
              <a:buFont typeface="Wingdings" panose="05000000000000000000" pitchFamily="2" charset="2"/>
              <a:buChar char="§"/>
              <a:defRPr sz="2000">
                <a:solidFill>
                  <a:schemeClr val="tx2"/>
                </a:solidFill>
                <a:latin typeface="+mj-lt"/>
              </a:defRPr>
            </a:lvl3pPr>
            <a:lvl4pPr marL="914400" indent="-274320">
              <a:buClr>
                <a:schemeClr val="accent2"/>
              </a:buClr>
              <a:buFont typeface="Wingdings" panose="05000000000000000000" pitchFamily="2" charset="2"/>
              <a:buChar char="§"/>
              <a:defRPr sz="2000">
                <a:solidFill>
                  <a:schemeClr val="tx2"/>
                </a:solidFill>
                <a:latin typeface="+mj-lt"/>
              </a:defRPr>
            </a:lvl4pPr>
            <a:lvl5pPr marL="1097280" indent="-274320">
              <a:buClr>
                <a:schemeClr val="accent2"/>
              </a:buClr>
              <a:buFont typeface="Wingdings" panose="05000000000000000000" pitchFamily="2" charset="2"/>
              <a:buChar char="§"/>
              <a:defRPr sz="2000">
                <a:solidFill>
                  <a:schemeClr val="tx2"/>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03021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9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E28DCBF6-F73E-B844-90B5-BA38F3F93D1B}" type="datetime1">
              <a:rPr lang="en-US" smtClean="0"/>
              <a:t>10/3/2023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E83D2542-5A33-4E2C-863D-145C356406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4647" y="-152400"/>
            <a:ext cx="1059353" cy="1059353"/>
          </a:xfrm>
          <a:prstGeom prst="rect">
            <a:avLst/>
          </a:prstGeom>
        </p:spPr>
      </p:pic>
    </p:spTree>
    <p:extLst>
      <p:ext uri="{BB962C8B-B14F-4D97-AF65-F5344CB8AC3E}">
        <p14:creationId xmlns:p14="http://schemas.microsoft.com/office/powerpoint/2010/main" val="3417299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7E5CE842-8249-8A43-8E1B-D93301EA5234}" type="datetime1">
              <a:rPr lang="en-US" smtClean="0"/>
              <a:t>10/3/2023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
        <p:nvSpPr>
          <p:cNvPr id="10" name="Text Placeholder 2">
            <a:extLst>
              <a:ext uri="{FF2B5EF4-FFF2-40B4-BE49-F238E27FC236}">
                <a16:creationId xmlns:a16="http://schemas.microsoft.com/office/drawing/2014/main" id="{29EAA3A6-8930-4E04-BD7A-70348C3D39E6}"/>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lumMod val="75000"/>
                </a:schemeClr>
              </a:buClr>
              <a:buFont typeface="Wingdings" panose="05000000000000000000" pitchFamily="2" charset="2"/>
              <a:buChar char="v"/>
              <a:defRPr>
                <a:solidFill>
                  <a:schemeClr val="tx2"/>
                </a:solidFill>
              </a:defRPr>
            </a:lvl1pPr>
            <a:lvl2pPr marL="548640" indent="-274320">
              <a:buClr>
                <a:schemeClr val="accent2">
                  <a:lumMod val="75000"/>
                </a:schemeClr>
              </a:buClr>
              <a:buFont typeface="Wingdings" panose="05000000000000000000" pitchFamily="2" charset="2"/>
              <a:buChar char="v"/>
              <a:defRPr>
                <a:solidFill>
                  <a:schemeClr val="tx2"/>
                </a:solidFill>
              </a:defRPr>
            </a:lvl2pPr>
            <a:lvl3pPr marL="731520" indent="-274320">
              <a:buClr>
                <a:schemeClr val="accent2">
                  <a:lumMod val="75000"/>
                </a:schemeClr>
              </a:buClr>
              <a:buFont typeface="Wingdings" panose="05000000000000000000" pitchFamily="2" charset="2"/>
              <a:buChar char="v"/>
              <a:defRPr>
                <a:solidFill>
                  <a:schemeClr val="tx2"/>
                </a:solidFill>
              </a:defRPr>
            </a:lvl3pPr>
            <a:lvl4pPr marL="914400" indent="-274320">
              <a:buClr>
                <a:schemeClr val="accent2">
                  <a:lumMod val="75000"/>
                </a:schemeClr>
              </a:buClr>
              <a:buFont typeface="Wingdings" panose="05000000000000000000" pitchFamily="2" charset="2"/>
              <a:buChar char="v"/>
              <a:defRPr>
                <a:solidFill>
                  <a:schemeClr val="tx2"/>
                </a:solidFill>
              </a:defRPr>
            </a:lvl4pPr>
            <a:lvl5pPr marL="1097280" indent="-274320">
              <a:buClr>
                <a:schemeClr val="accent2">
                  <a:lumMod val="75000"/>
                </a:schemeClr>
              </a:buClr>
              <a:buFont typeface="Wingdings" panose="05000000000000000000" pitchFamily="2" charset="2"/>
              <a:buChar char="v"/>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98352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6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D4AD75E8-E6D9-3E42-B3C2-280D09D847BE}" type="datetime1">
              <a:rPr lang="en-US" smtClean="0"/>
              <a:t>10/3/2023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92FE125C-DA19-42DA-8C07-FA8039F5119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Tree>
    <p:extLst>
      <p:ext uri="{BB962C8B-B14F-4D97-AF65-F5344CB8AC3E}">
        <p14:creationId xmlns:p14="http://schemas.microsoft.com/office/powerpoint/2010/main" val="7442238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79107F6D-1FE4-8A49-840F-5919ACFA3FD0}" type="datetime1">
              <a:rPr lang="en-US" smtClean="0"/>
              <a:t>10/3/2023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
        <p:nvSpPr>
          <p:cNvPr id="10" name="Text Placeholder 2">
            <a:extLst>
              <a:ext uri="{FF2B5EF4-FFF2-40B4-BE49-F238E27FC236}">
                <a16:creationId xmlns:a16="http://schemas.microsoft.com/office/drawing/2014/main" id="{98729288-CC54-4647-B966-CF553EF13B92}"/>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lumMod val="75000"/>
                </a:schemeClr>
              </a:buClr>
              <a:buFont typeface="Wingdings" panose="05000000000000000000" pitchFamily="2" charset="2"/>
              <a:buChar char="v"/>
              <a:defRPr>
                <a:solidFill>
                  <a:schemeClr val="tx2"/>
                </a:solidFill>
              </a:defRPr>
            </a:lvl1pPr>
            <a:lvl2pPr marL="548640" indent="-274320">
              <a:buClr>
                <a:schemeClr val="accent2">
                  <a:lumMod val="75000"/>
                </a:schemeClr>
              </a:buClr>
              <a:buFont typeface="Wingdings" panose="05000000000000000000" pitchFamily="2" charset="2"/>
              <a:buChar char="v"/>
              <a:defRPr>
                <a:solidFill>
                  <a:schemeClr val="tx2"/>
                </a:solidFill>
              </a:defRPr>
            </a:lvl2pPr>
            <a:lvl3pPr marL="731520" indent="-274320">
              <a:buClr>
                <a:schemeClr val="accent2">
                  <a:lumMod val="75000"/>
                </a:schemeClr>
              </a:buClr>
              <a:buFont typeface="Wingdings" panose="05000000000000000000" pitchFamily="2" charset="2"/>
              <a:buChar char="v"/>
              <a:defRPr>
                <a:solidFill>
                  <a:schemeClr val="tx2"/>
                </a:solidFill>
              </a:defRPr>
            </a:lvl3pPr>
            <a:lvl4pPr marL="914400" indent="-274320">
              <a:buClr>
                <a:schemeClr val="accent2">
                  <a:lumMod val="75000"/>
                </a:schemeClr>
              </a:buClr>
              <a:buFont typeface="Wingdings" panose="05000000000000000000" pitchFamily="2" charset="2"/>
              <a:buChar char="v"/>
              <a:defRPr>
                <a:solidFill>
                  <a:schemeClr val="tx2"/>
                </a:solidFill>
              </a:defRPr>
            </a:lvl4pPr>
            <a:lvl5pPr marL="1097280" indent="-274320">
              <a:buClr>
                <a:schemeClr val="accent2">
                  <a:lumMod val="75000"/>
                </a:schemeClr>
              </a:buClr>
              <a:buFont typeface="Wingdings" panose="05000000000000000000" pitchFamily="2" charset="2"/>
              <a:buChar char="v"/>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83427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7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78A0CE7-1A78-B749-A181-0CB124262D26}" type="datetime1">
              <a:rPr lang="en-US" smtClean="0"/>
              <a:t>10/3/2023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39FF6332-602A-4C2A-BD1E-7565ECDF5B6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Tree>
    <p:extLst>
      <p:ext uri="{BB962C8B-B14F-4D97-AF65-F5344CB8AC3E}">
        <p14:creationId xmlns:p14="http://schemas.microsoft.com/office/powerpoint/2010/main" val="18124360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a:t>Click to edit Master title style</a:t>
            </a:r>
          </a:p>
        </p:txBody>
      </p:sp>
      <p:sp>
        <p:nvSpPr>
          <p:cNvPr id="4" name="Date Placeholder 3"/>
          <p:cNvSpPr>
            <a:spLocks noGrp="1"/>
          </p:cNvSpPr>
          <p:nvPr>
            <p:ph type="dt" sz="half" idx="10"/>
          </p:nvPr>
        </p:nvSpPr>
        <p:spPr/>
        <p:txBody>
          <a:bodyPr/>
          <a:lstStyle/>
          <a:p>
            <a:fld id="{D78EB7BC-403A-8A44-A663-FD167E87AE44}" type="datetime1">
              <a:rPr lang="en-US" smtClean="0"/>
              <a:t>10/3/2023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0665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5E94D-AB62-E84E-A49C-DD6A8F51C491}"/>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6548DE-348F-0D44-8485-97F299E5886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E26162-1B8D-B748-8A10-BD7FD12FEF3C}"/>
              </a:ext>
            </a:extLst>
          </p:cNvPr>
          <p:cNvSpPr>
            <a:spLocks noGrp="1"/>
          </p:cNvSpPr>
          <p:nvPr>
            <p:ph type="dt" sz="half" idx="10"/>
          </p:nvPr>
        </p:nvSpPr>
        <p:spPr/>
        <p:txBody>
          <a:bodyPr/>
          <a:lstStyle/>
          <a:p>
            <a:fld id="{82D7B2BE-DDF3-6D43-A226-4CE36737DFF8}" type="datetime1">
              <a:rPr lang="en-US" smtClean="0"/>
              <a:t>10/3/2023</a:t>
            </a:fld>
            <a:endParaRPr lang="en-US"/>
          </a:p>
        </p:txBody>
      </p:sp>
      <p:sp>
        <p:nvSpPr>
          <p:cNvPr id="5" name="Footer Placeholder 4">
            <a:extLst>
              <a:ext uri="{FF2B5EF4-FFF2-40B4-BE49-F238E27FC236}">
                <a16:creationId xmlns:a16="http://schemas.microsoft.com/office/drawing/2014/main" id="{976D9D1D-9864-8648-83E4-1D8B62B213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6507A0-C8CD-5445-9AEE-B23C377C4F0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1757908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8B906-B07C-7D41-AC4D-750B959C9A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DD5779-8D81-7849-8E67-83ECBF60F3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8AA4F1-7B19-0240-B7F8-1BDF7D6347D9}"/>
              </a:ext>
            </a:extLst>
          </p:cNvPr>
          <p:cNvSpPr>
            <a:spLocks noGrp="1"/>
          </p:cNvSpPr>
          <p:nvPr>
            <p:ph type="dt" sz="half" idx="10"/>
          </p:nvPr>
        </p:nvSpPr>
        <p:spPr/>
        <p:txBody>
          <a:bodyPr/>
          <a:lstStyle/>
          <a:p>
            <a:fld id="{DB27A88B-F2DD-3743-8F57-25E5E92043B0}" type="datetime1">
              <a:rPr lang="en-US" smtClean="0"/>
              <a:t>10/3/2023</a:t>
            </a:fld>
            <a:endParaRPr lang="en-US"/>
          </a:p>
        </p:txBody>
      </p:sp>
      <p:sp>
        <p:nvSpPr>
          <p:cNvPr id="5" name="Footer Placeholder 4">
            <a:extLst>
              <a:ext uri="{FF2B5EF4-FFF2-40B4-BE49-F238E27FC236}">
                <a16:creationId xmlns:a16="http://schemas.microsoft.com/office/drawing/2014/main" id="{E5414F5D-4D50-5A4A-91C9-B5B4F14511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22065B-EF6D-5B4A-8E62-EAFF67B71788}"/>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200125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BE47D-172F-034A-8698-73581C856F4B}"/>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3A576A-13DD-034D-9029-CC506C79F0FA}"/>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14F2D7-B746-2842-8F52-519E07CFBA07}"/>
              </a:ext>
            </a:extLst>
          </p:cNvPr>
          <p:cNvSpPr>
            <a:spLocks noGrp="1"/>
          </p:cNvSpPr>
          <p:nvPr>
            <p:ph type="dt" sz="half" idx="10"/>
          </p:nvPr>
        </p:nvSpPr>
        <p:spPr/>
        <p:txBody>
          <a:bodyPr/>
          <a:lstStyle/>
          <a:p>
            <a:fld id="{AEDA15C4-E8CB-C04F-BC65-CB0837703214}" type="datetime1">
              <a:rPr lang="en-US" smtClean="0"/>
              <a:t>10/3/2023</a:t>
            </a:fld>
            <a:endParaRPr lang="en-US"/>
          </a:p>
        </p:txBody>
      </p:sp>
      <p:sp>
        <p:nvSpPr>
          <p:cNvPr id="5" name="Footer Placeholder 4">
            <a:extLst>
              <a:ext uri="{FF2B5EF4-FFF2-40B4-BE49-F238E27FC236}">
                <a16:creationId xmlns:a16="http://schemas.microsoft.com/office/drawing/2014/main" id="{EF7E68B1-5017-E64D-9D8C-C1341A22E3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E262E6-3D1E-2D4B-B7BC-0A7197BAA87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5787499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4806B-ED8B-CC4E-A51A-6CDCADC964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299E7B-D87E-CA4D-A578-EBDC0C47E881}"/>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F5550-A328-154E-8FA0-3793746FBC49}"/>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74ED10-64BB-9144-9B71-07151AB520AC}"/>
              </a:ext>
            </a:extLst>
          </p:cNvPr>
          <p:cNvSpPr>
            <a:spLocks noGrp="1"/>
          </p:cNvSpPr>
          <p:nvPr>
            <p:ph type="dt" sz="half" idx="10"/>
          </p:nvPr>
        </p:nvSpPr>
        <p:spPr/>
        <p:txBody>
          <a:bodyPr/>
          <a:lstStyle/>
          <a:p>
            <a:fld id="{85089F18-38DA-0947-9593-25D4010703FB}" type="datetime1">
              <a:rPr lang="en-US" smtClean="0"/>
              <a:t>10/3/2023</a:t>
            </a:fld>
            <a:endParaRPr lang="en-US"/>
          </a:p>
        </p:txBody>
      </p:sp>
      <p:sp>
        <p:nvSpPr>
          <p:cNvPr id="6" name="Footer Placeholder 5">
            <a:extLst>
              <a:ext uri="{FF2B5EF4-FFF2-40B4-BE49-F238E27FC236}">
                <a16:creationId xmlns:a16="http://schemas.microsoft.com/office/drawing/2014/main" id="{25A7A753-FB3D-094E-A536-0484A8BE2B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AA6079-FE42-C140-9B28-ED67471AE867}"/>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8534708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784D0-75F5-CD41-9AEF-CB198A0D97E0}"/>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7D959F-E739-F542-8EBA-7BBF7E5A363B}"/>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65DF34-2D6B-454C-BFDA-F81C29E7822E}"/>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2658768-2FB0-D847-83EE-654C76812F8C}"/>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A27B69-16F8-C048-9335-D0E599CA22E3}"/>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E98362-01EA-604E-BA80-BC012B7FAA68}"/>
              </a:ext>
            </a:extLst>
          </p:cNvPr>
          <p:cNvSpPr>
            <a:spLocks noGrp="1"/>
          </p:cNvSpPr>
          <p:nvPr>
            <p:ph type="dt" sz="half" idx="10"/>
          </p:nvPr>
        </p:nvSpPr>
        <p:spPr/>
        <p:txBody>
          <a:bodyPr/>
          <a:lstStyle/>
          <a:p>
            <a:fld id="{ED9A19EE-DABD-FF45-9B3D-868C2008B2F5}" type="datetime1">
              <a:rPr lang="en-US" smtClean="0"/>
              <a:t>10/3/2023</a:t>
            </a:fld>
            <a:endParaRPr lang="en-US"/>
          </a:p>
        </p:txBody>
      </p:sp>
      <p:sp>
        <p:nvSpPr>
          <p:cNvPr id="8" name="Footer Placeholder 7">
            <a:extLst>
              <a:ext uri="{FF2B5EF4-FFF2-40B4-BE49-F238E27FC236}">
                <a16:creationId xmlns:a16="http://schemas.microsoft.com/office/drawing/2014/main" id="{3D58B9EA-23BB-BD43-AE55-BD94F3A70B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7FEF2B-07B5-9C42-B58D-B5FF51C49905}"/>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012097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CC87-431B-E24A-86AB-554B550FA5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6090D8-3391-5741-87F5-2BCDB8997B8A}"/>
              </a:ext>
            </a:extLst>
          </p:cNvPr>
          <p:cNvSpPr>
            <a:spLocks noGrp="1"/>
          </p:cNvSpPr>
          <p:nvPr>
            <p:ph type="dt" sz="half" idx="10"/>
          </p:nvPr>
        </p:nvSpPr>
        <p:spPr/>
        <p:txBody>
          <a:bodyPr/>
          <a:lstStyle/>
          <a:p>
            <a:fld id="{E7C58DD7-86D3-9543-A3F5-DCAC5C3EC996}" type="datetime1">
              <a:rPr lang="en-US" smtClean="0"/>
              <a:t>10/3/2023</a:t>
            </a:fld>
            <a:endParaRPr lang="en-US"/>
          </a:p>
        </p:txBody>
      </p:sp>
      <p:sp>
        <p:nvSpPr>
          <p:cNvPr id="4" name="Footer Placeholder 3">
            <a:extLst>
              <a:ext uri="{FF2B5EF4-FFF2-40B4-BE49-F238E27FC236}">
                <a16:creationId xmlns:a16="http://schemas.microsoft.com/office/drawing/2014/main" id="{0B09D265-B6E2-2540-8068-45F6C7B8AD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A30A8C-D91D-2A49-8733-39D5374D66A5}"/>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940768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29DEDE-71EE-4448-AE52-7A3240E2492C}"/>
              </a:ext>
            </a:extLst>
          </p:cNvPr>
          <p:cNvSpPr>
            <a:spLocks noGrp="1"/>
          </p:cNvSpPr>
          <p:nvPr>
            <p:ph type="dt" sz="half" idx="10"/>
          </p:nvPr>
        </p:nvSpPr>
        <p:spPr/>
        <p:txBody>
          <a:bodyPr/>
          <a:lstStyle/>
          <a:p>
            <a:fld id="{49838251-72EC-7341-947D-39CD70D3F6EE}" type="datetime1">
              <a:rPr lang="en-US" smtClean="0"/>
              <a:t>10/3/2023</a:t>
            </a:fld>
            <a:endParaRPr lang="en-US"/>
          </a:p>
        </p:txBody>
      </p:sp>
      <p:sp>
        <p:nvSpPr>
          <p:cNvPr id="3" name="Footer Placeholder 2">
            <a:extLst>
              <a:ext uri="{FF2B5EF4-FFF2-40B4-BE49-F238E27FC236}">
                <a16:creationId xmlns:a16="http://schemas.microsoft.com/office/drawing/2014/main" id="{421F8A0A-B7DA-2E41-ADC9-3BA00052CA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CDFF72-3DFA-5443-B19A-D882B4A1822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2006097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9B2A5-8463-0E45-B968-09BB46EEE821}"/>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192249-8B24-044B-B428-FDF53269423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15850F-41D2-C244-BE67-588A22885AA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A0BA6-7607-1841-ADE7-A7EE8626370B}"/>
              </a:ext>
            </a:extLst>
          </p:cNvPr>
          <p:cNvSpPr>
            <a:spLocks noGrp="1"/>
          </p:cNvSpPr>
          <p:nvPr>
            <p:ph type="dt" sz="half" idx="10"/>
          </p:nvPr>
        </p:nvSpPr>
        <p:spPr/>
        <p:txBody>
          <a:bodyPr/>
          <a:lstStyle/>
          <a:p>
            <a:fld id="{9B2151BF-94DA-6647-804B-F9A617163AF7}" type="datetime1">
              <a:rPr lang="en-US" smtClean="0"/>
              <a:t>10/3/2023</a:t>
            </a:fld>
            <a:endParaRPr lang="en-US"/>
          </a:p>
        </p:txBody>
      </p:sp>
      <p:sp>
        <p:nvSpPr>
          <p:cNvPr id="6" name="Footer Placeholder 5">
            <a:extLst>
              <a:ext uri="{FF2B5EF4-FFF2-40B4-BE49-F238E27FC236}">
                <a16:creationId xmlns:a16="http://schemas.microsoft.com/office/drawing/2014/main" id="{DFE0F34D-E7B8-8F4E-B279-A9B4F79966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003CD8-B992-1746-AD26-32A76C36211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11640867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28A51-10EF-1E4E-B3AE-97D9690F5256}"/>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7A29CC-C524-664A-B04C-24A0F0002BDD}"/>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577383-80F2-974A-95B0-54EE043F0E6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34A7CE-0B2C-F846-AE0D-E9A65F195F76}"/>
              </a:ext>
            </a:extLst>
          </p:cNvPr>
          <p:cNvSpPr>
            <a:spLocks noGrp="1"/>
          </p:cNvSpPr>
          <p:nvPr>
            <p:ph type="dt" sz="half" idx="10"/>
          </p:nvPr>
        </p:nvSpPr>
        <p:spPr/>
        <p:txBody>
          <a:bodyPr/>
          <a:lstStyle/>
          <a:p>
            <a:fld id="{F415CF65-8B95-E947-B306-AD8B9AFCD0C6}" type="datetime1">
              <a:rPr lang="en-US" smtClean="0"/>
              <a:t>10/3/2023</a:t>
            </a:fld>
            <a:endParaRPr lang="en-US"/>
          </a:p>
        </p:txBody>
      </p:sp>
      <p:sp>
        <p:nvSpPr>
          <p:cNvPr id="6" name="Footer Placeholder 5">
            <a:extLst>
              <a:ext uri="{FF2B5EF4-FFF2-40B4-BE49-F238E27FC236}">
                <a16:creationId xmlns:a16="http://schemas.microsoft.com/office/drawing/2014/main" id="{CE700DF7-CAE7-4544-99A8-D2AFF7BCDE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AF912A-35AA-5340-A6DD-8CF8567AE1D6}"/>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8520032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B558E-261E-0D48-AAEC-0159545C57C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D54A8B-8EB9-5C42-9CFC-A1CD5690D0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8FD7EA-1D89-9B45-8E3B-F3D971FCC324}"/>
              </a:ext>
            </a:extLst>
          </p:cNvPr>
          <p:cNvSpPr>
            <a:spLocks noGrp="1"/>
          </p:cNvSpPr>
          <p:nvPr>
            <p:ph type="dt" sz="half" idx="10"/>
          </p:nvPr>
        </p:nvSpPr>
        <p:spPr/>
        <p:txBody>
          <a:bodyPr/>
          <a:lstStyle/>
          <a:p>
            <a:fld id="{45E326F1-4A6C-904D-BBF5-55A97190C62E}" type="datetime1">
              <a:rPr lang="en-US" smtClean="0"/>
              <a:t>10/3/2023</a:t>
            </a:fld>
            <a:endParaRPr lang="en-US"/>
          </a:p>
        </p:txBody>
      </p:sp>
      <p:sp>
        <p:nvSpPr>
          <p:cNvPr id="5" name="Footer Placeholder 4">
            <a:extLst>
              <a:ext uri="{FF2B5EF4-FFF2-40B4-BE49-F238E27FC236}">
                <a16:creationId xmlns:a16="http://schemas.microsoft.com/office/drawing/2014/main" id="{6702F157-B4BF-0D4E-B227-367844B9F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EC4DCA-8C92-2F4C-A77F-2E1AE3CFFFD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6943632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138E10-25D9-0841-B84C-B3D5BD26BEDC}"/>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176578-CBA7-4146-881E-E79B341102C1}"/>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64126B-1DBB-F445-849E-8DB3041D5DDF}"/>
              </a:ext>
            </a:extLst>
          </p:cNvPr>
          <p:cNvSpPr>
            <a:spLocks noGrp="1"/>
          </p:cNvSpPr>
          <p:nvPr>
            <p:ph type="dt" sz="half" idx="10"/>
          </p:nvPr>
        </p:nvSpPr>
        <p:spPr/>
        <p:txBody>
          <a:bodyPr/>
          <a:lstStyle/>
          <a:p>
            <a:fld id="{5D62DA29-4527-5B4B-81DE-1DA58A1FF0D8}" type="datetime1">
              <a:rPr lang="en-US" smtClean="0"/>
              <a:t>10/3/2023</a:t>
            </a:fld>
            <a:endParaRPr lang="en-US"/>
          </a:p>
        </p:txBody>
      </p:sp>
      <p:sp>
        <p:nvSpPr>
          <p:cNvPr id="5" name="Footer Placeholder 4">
            <a:extLst>
              <a:ext uri="{FF2B5EF4-FFF2-40B4-BE49-F238E27FC236}">
                <a16:creationId xmlns:a16="http://schemas.microsoft.com/office/drawing/2014/main" id="{9330BA6C-D326-CC45-B516-B35C216BCD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A96C6D-88A9-424F-B97B-5F788E3BD38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942943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6646272"/>
            <a:ext cx="9144001" cy="220605"/>
          </a:xfrm>
          <a:prstGeom prst="rect">
            <a:avLst/>
          </a:prstGeom>
          <a:solidFill>
            <a:srgbClr val="0A4B6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604458"/>
            <a:ext cx="9144001" cy="45719"/>
          </a:xfrm>
          <a:prstGeom prst="rect">
            <a:avLst/>
          </a:prstGeom>
          <a:solidFill>
            <a:srgbClr val="84CDE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6304" y="115826"/>
            <a:ext cx="8851392" cy="1292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6305" y="1441107"/>
            <a:ext cx="8851392" cy="5130263"/>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22961" y="6646272"/>
            <a:ext cx="1854203" cy="187517"/>
          </a:xfrm>
          <a:prstGeom prst="rect">
            <a:avLst/>
          </a:prstGeom>
        </p:spPr>
        <p:txBody>
          <a:bodyPr vert="horz" lIns="91440" tIns="45720" rIns="91440" bIns="45720" rtlCol="0" anchor="ctr"/>
          <a:lstStyle>
            <a:lvl1pPr algn="l">
              <a:defRPr sz="900">
                <a:solidFill>
                  <a:srgbClr val="FFFFFF"/>
                </a:solidFill>
              </a:defRPr>
            </a:lvl1pPr>
          </a:lstStyle>
          <a:p>
            <a:fld id="{5446D974-CBC7-EE4D-B60D-B7706E54EFC8}" type="datetime1">
              <a:rPr lang="en-US" smtClean="0"/>
              <a:t>10/3/2023</a:t>
            </a:fld>
            <a:endParaRPr lang="en-US"/>
          </a:p>
        </p:txBody>
      </p:sp>
      <p:sp>
        <p:nvSpPr>
          <p:cNvPr id="5" name="Footer Placeholder 4"/>
          <p:cNvSpPr>
            <a:spLocks noGrp="1"/>
          </p:cNvSpPr>
          <p:nvPr>
            <p:ph type="ftr" sz="quarter" idx="3"/>
          </p:nvPr>
        </p:nvSpPr>
        <p:spPr>
          <a:xfrm>
            <a:off x="2764639" y="6646272"/>
            <a:ext cx="3617103" cy="187517"/>
          </a:xfrm>
          <a:prstGeom prst="rect">
            <a:avLst/>
          </a:prstGeom>
        </p:spPr>
        <p:txBody>
          <a:bodyPr vert="horz" lIns="91440" tIns="45720" rIns="91440" bIns="45720" rtlCol="0" anchor="ctr"/>
          <a:lstStyle>
            <a:lvl1pPr algn="ctr">
              <a:defRPr sz="800" cap="none"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646272"/>
            <a:ext cx="984019" cy="187517"/>
          </a:xfrm>
          <a:prstGeom prst="rect">
            <a:avLst/>
          </a:prstGeom>
        </p:spPr>
        <p:txBody>
          <a:bodyPr vert="horz" lIns="91440" tIns="45720" rIns="91440" bIns="45720" rtlCol="0" anchor="ctr"/>
          <a:lstStyle>
            <a:lvl1pPr algn="r">
              <a:defRPr sz="1050" b="1">
                <a:solidFill>
                  <a:schemeClr val="bg1"/>
                </a:solidFill>
              </a:defRPr>
            </a:lvl1pPr>
          </a:lstStyle>
          <a:p>
            <a:fld id="{9C8A9BBF-D171-497A-B4A2-0767A13C4597}" type="slidenum">
              <a:rPr lang="en-US" smtClean="0"/>
              <a:pPr/>
              <a:t>‹#›</a:t>
            </a:fld>
            <a:endParaRPr lang="en-US"/>
          </a:p>
        </p:txBody>
      </p:sp>
    </p:spTree>
    <p:extLst>
      <p:ext uri="{BB962C8B-B14F-4D97-AF65-F5344CB8AC3E}">
        <p14:creationId xmlns:p14="http://schemas.microsoft.com/office/powerpoint/2010/main" val="1568099172"/>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50" r:id="rId14"/>
    <p:sldLayoutId id="2147483751" r:id="rId15"/>
    <p:sldLayoutId id="2147483752" r:id="rId16"/>
    <p:sldLayoutId id="2147483753" r:id="rId17"/>
    <p:sldLayoutId id="2147483754" r:id="rId18"/>
    <p:sldLayoutId id="2147483755" r:id="rId19"/>
    <p:sldLayoutId id="2147483756" r:id="rId20"/>
    <p:sldLayoutId id="2147483689" r:id="rId21"/>
  </p:sldLayoutIdLst>
  <p:hf hdr="0" ftr="0" dt="0"/>
  <p:txStyles>
    <p:titleStyle>
      <a:lvl1pPr algn="ctr" defTabSz="914400" rtl="0" eaLnBrk="1" latinLnBrk="0" hangingPunct="1">
        <a:lnSpc>
          <a:spcPct val="85000"/>
        </a:lnSpc>
        <a:spcBef>
          <a:spcPct val="0"/>
        </a:spcBef>
        <a:buNone/>
        <a:defRPr sz="4400" b="0" kern="1200" spc="-50" baseline="0">
          <a:solidFill>
            <a:schemeClr val="tx2"/>
          </a:solidFill>
          <a:latin typeface="+mj-lt"/>
          <a:ea typeface="+mj-ea"/>
          <a:cs typeface="+mj-cs"/>
        </a:defRPr>
      </a:lvl1pPr>
    </p:titleStyle>
    <p:bodyStyle>
      <a:lvl1pPr marL="365760" indent="-274320" algn="justLow"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F2B942-B92A-2E45-8EC0-57867F6F01EB}"/>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3A5CF6-438F-FE41-AE0D-B759171B0C6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ADD81B-544C-D244-83E4-4E486AE7EECA}"/>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589413-073D-8B47-B309-030A36FC1175}" type="datetime1">
              <a:rPr lang="en-US" smtClean="0"/>
              <a:t>10/3/2023</a:t>
            </a:fld>
            <a:endParaRPr lang="en-US"/>
          </a:p>
        </p:txBody>
      </p:sp>
      <p:sp>
        <p:nvSpPr>
          <p:cNvPr id="5" name="Footer Placeholder 4">
            <a:extLst>
              <a:ext uri="{FF2B5EF4-FFF2-40B4-BE49-F238E27FC236}">
                <a16:creationId xmlns:a16="http://schemas.microsoft.com/office/drawing/2014/main" id="{10E8B353-9F5D-7C4C-9D19-B7C6D6F6A2A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22C5F08-BBA1-684A-BFC9-EF43E5A8A4B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D5DC26-60E4-8E43-A906-D21F61161A83}" type="slidenum">
              <a:rPr lang="en-US" smtClean="0"/>
              <a:t>‹#›</a:t>
            </a:fld>
            <a:endParaRPr lang="en-US"/>
          </a:p>
        </p:txBody>
      </p:sp>
    </p:spTree>
    <p:extLst>
      <p:ext uri="{BB962C8B-B14F-4D97-AF65-F5344CB8AC3E}">
        <p14:creationId xmlns:p14="http://schemas.microsoft.com/office/powerpoint/2010/main" val="240727111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F092033-53A0-4557-BC8C-EDF7C4004F50}"/>
              </a:ext>
            </a:extLst>
          </p:cNvPr>
          <p:cNvSpPr>
            <a:spLocks noGrp="1" noChangeArrowheads="1"/>
          </p:cNvSpPr>
          <p:nvPr>
            <p:ph type="ctrTitle"/>
          </p:nvPr>
        </p:nvSpPr>
        <p:spPr/>
        <p:txBody>
          <a:bodyPr>
            <a:normAutofit/>
          </a:bodyPr>
          <a:lstStyle/>
          <a:p>
            <a:r>
              <a:rPr lang="en-US" altLang="en-US" b="1" dirty="0">
                <a:solidFill>
                  <a:schemeClr val="tx1"/>
                </a:solidFill>
              </a:rPr>
              <a:t>Chapter  3.3</a:t>
            </a:r>
            <a:br>
              <a:rPr lang="en-US" altLang="en-US" b="1" dirty="0">
                <a:solidFill>
                  <a:schemeClr val="tx1"/>
                </a:solidFill>
                <a:cs typeface="Calibri Light"/>
              </a:rPr>
            </a:br>
            <a:r>
              <a:rPr lang="en-US" altLang="en-US" b="1" dirty="0">
                <a:solidFill>
                  <a:schemeClr val="tx1"/>
                </a:solidFill>
              </a:rPr>
              <a:t>High-Quality Variables</a:t>
            </a:r>
            <a:endParaRPr lang="en-US" altLang="en-US" dirty="0">
              <a:solidFill>
                <a:schemeClr val="tx1"/>
              </a:solidFill>
            </a:endParaRPr>
          </a:p>
        </p:txBody>
      </p:sp>
      <p:sp>
        <p:nvSpPr>
          <p:cNvPr id="4099" name="Subtitle 3">
            <a:extLst>
              <a:ext uri="{FF2B5EF4-FFF2-40B4-BE49-F238E27FC236}">
                <a16:creationId xmlns:a16="http://schemas.microsoft.com/office/drawing/2014/main" id="{B6B8808F-B611-4A7E-94DA-CDF020C7794F}"/>
              </a:ext>
            </a:extLst>
          </p:cNvPr>
          <p:cNvSpPr>
            <a:spLocks noGrp="1" noChangeArrowheads="1"/>
          </p:cNvSpPr>
          <p:nvPr>
            <p:ph type="subTitle" idx="1"/>
          </p:nvPr>
        </p:nvSpPr>
        <p:spPr/>
        <p:txBody>
          <a:bodyPr/>
          <a:lstStyle/>
          <a:p>
            <a:r>
              <a:rPr lang="en-US" altLang="en-US" b="1" dirty="0">
                <a:solidFill>
                  <a:srgbClr val="6E96A2"/>
                </a:solidFill>
              </a:rPr>
              <a:t>CCSW 325 (Software Construction)</a:t>
            </a:r>
          </a:p>
        </p:txBody>
      </p:sp>
      <p:sp>
        <p:nvSpPr>
          <p:cNvPr id="4101" name="Rectangle 6">
            <a:extLst>
              <a:ext uri="{FF2B5EF4-FFF2-40B4-BE49-F238E27FC236}">
                <a16:creationId xmlns:a16="http://schemas.microsoft.com/office/drawing/2014/main" id="{AEE57C53-6C77-4FD6-9666-64A46DD2907C}"/>
              </a:ext>
            </a:extLst>
          </p:cNvPr>
          <p:cNvSpPr>
            <a:spLocks noChangeArrowheads="1"/>
          </p:cNvSpPr>
          <p:nvPr/>
        </p:nvSpPr>
        <p:spPr bwMode="auto">
          <a:xfrm>
            <a:off x="3052763" y="2057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02" name="Rectangle 1029">
            <a:extLst>
              <a:ext uri="{FF2B5EF4-FFF2-40B4-BE49-F238E27FC236}">
                <a16:creationId xmlns:a16="http://schemas.microsoft.com/office/drawing/2014/main" id="{94F01EDA-3993-4F5B-8338-A155D71634A5}"/>
              </a:ext>
            </a:extLst>
          </p:cNvPr>
          <p:cNvSpPr>
            <a:spLocks noChangeArrowheads="1"/>
          </p:cNvSpPr>
          <p:nvPr/>
        </p:nvSpPr>
        <p:spPr bwMode="auto">
          <a:xfrm>
            <a:off x="0" y="2405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03" name="Rectangle 1031">
            <a:extLst>
              <a:ext uri="{FF2B5EF4-FFF2-40B4-BE49-F238E27FC236}">
                <a16:creationId xmlns:a16="http://schemas.microsoft.com/office/drawing/2014/main" id="{D4B57B18-3F97-4D1E-AA13-041A7DDAEFC6}"/>
              </a:ext>
            </a:extLst>
          </p:cNvPr>
          <p:cNvSpPr>
            <a:spLocks noChangeArrowheads="1"/>
          </p:cNvSpPr>
          <p:nvPr/>
        </p:nvSpPr>
        <p:spPr bwMode="auto">
          <a:xfrm>
            <a:off x="0" y="2263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 name="Slide Number Placeholder 2">
            <a:extLst>
              <a:ext uri="{FF2B5EF4-FFF2-40B4-BE49-F238E27FC236}">
                <a16:creationId xmlns:a16="http://schemas.microsoft.com/office/drawing/2014/main" id="{089F2176-6175-6A4D-84ED-59A2EE053491}"/>
              </a:ext>
            </a:extLst>
          </p:cNvPr>
          <p:cNvSpPr>
            <a:spLocks noGrp="1"/>
          </p:cNvSpPr>
          <p:nvPr>
            <p:ph type="sldNum" sz="quarter" idx="12"/>
          </p:nvPr>
        </p:nvSpPr>
        <p:spPr/>
        <p:txBody>
          <a:bodyPr/>
          <a:lstStyle/>
          <a:p>
            <a:fld id="{9C8A9BBF-D171-497A-B4A2-0767A13C4597}"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Outline</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2</a:t>
            </a:fld>
            <a:endParaRPr lang="en-US" sz="700"/>
          </a:p>
        </p:txBody>
      </p:sp>
      <p:sp>
        <p:nvSpPr>
          <p:cNvPr id="4" name="Content Placeholder 3">
            <a:extLst>
              <a:ext uri="{FF2B5EF4-FFF2-40B4-BE49-F238E27FC236}">
                <a16:creationId xmlns:a16="http://schemas.microsoft.com/office/drawing/2014/main" id="{13DBD703-CB40-13F3-AF07-698E2629FCEA}"/>
              </a:ext>
            </a:extLst>
          </p:cNvPr>
          <p:cNvSpPr>
            <a:spLocks noGrp="1"/>
          </p:cNvSpPr>
          <p:nvPr>
            <p:ph idx="1"/>
          </p:nvPr>
        </p:nvSpPr>
        <p:spPr>
          <a:xfrm>
            <a:off x="333829" y="1234281"/>
            <a:ext cx="8418285" cy="4389437"/>
          </a:xfrm>
        </p:spPr>
        <p:txBody>
          <a:bodyPr/>
          <a:lstStyle/>
          <a:p>
            <a:r>
              <a:rPr lang="en-US" dirty="0">
                <a:solidFill>
                  <a:schemeClr val="tx1"/>
                </a:solidFill>
              </a:rPr>
              <a:t>The Power of Variable Names</a:t>
            </a:r>
          </a:p>
        </p:txBody>
      </p:sp>
    </p:spTree>
    <p:extLst>
      <p:ext uri="{BB962C8B-B14F-4D97-AF65-F5344CB8AC3E}">
        <p14:creationId xmlns:p14="http://schemas.microsoft.com/office/powerpoint/2010/main" val="1660404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GB" altLang="en-US" sz="4400" b="1" dirty="0">
                <a:solidFill>
                  <a:schemeClr val="tx1"/>
                </a:solidFill>
              </a:rPr>
              <a:t>Good Names</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3</a:t>
            </a:fld>
            <a:endParaRPr lang="en-US" sz="700"/>
          </a:p>
        </p:txBody>
      </p:sp>
      <p:pic>
        <p:nvPicPr>
          <p:cNvPr id="10" name="Picture 2">
            <a:extLst>
              <a:ext uri="{FF2B5EF4-FFF2-40B4-BE49-F238E27FC236}">
                <a16:creationId xmlns:a16="http://schemas.microsoft.com/office/drawing/2014/main" id="{3F72D2DA-2A5B-AF63-8B55-91454204B8AA}"/>
              </a:ext>
            </a:extLst>
          </p:cNvPr>
          <p:cNvPicPr>
            <a:picLocks noChangeAspect="1" noChangeArrowheads="1"/>
          </p:cNvPicPr>
          <p:nvPr/>
        </p:nvPicPr>
        <p:blipFill>
          <a:blip r:embed="rId2" cstate="print"/>
          <a:srcRect/>
          <a:stretch>
            <a:fillRect/>
          </a:stretch>
        </p:blipFill>
        <p:spPr bwMode="auto">
          <a:xfrm>
            <a:off x="152400" y="2030413"/>
            <a:ext cx="8860971" cy="3667125"/>
          </a:xfrm>
          <a:prstGeom prst="rect">
            <a:avLst/>
          </a:prstGeom>
          <a:noFill/>
          <a:ln w="9525">
            <a:noFill/>
            <a:miter lim="800000"/>
            <a:headEnd/>
            <a:tailEnd/>
          </a:ln>
        </p:spPr>
      </p:pic>
    </p:spTree>
    <p:extLst>
      <p:ext uri="{BB962C8B-B14F-4D97-AF65-F5344CB8AC3E}">
        <p14:creationId xmlns:p14="http://schemas.microsoft.com/office/powerpoint/2010/main" val="2997704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GB" altLang="en-US" sz="4400" b="1" dirty="0">
                <a:solidFill>
                  <a:schemeClr val="tx1"/>
                </a:solidFill>
              </a:rPr>
              <a:t>Good Names</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4</a:t>
            </a:fld>
            <a:endParaRPr lang="en-US" sz="700"/>
          </a:p>
        </p:txBody>
      </p:sp>
      <p:pic>
        <p:nvPicPr>
          <p:cNvPr id="6" name="Picture 2">
            <a:extLst>
              <a:ext uri="{FF2B5EF4-FFF2-40B4-BE49-F238E27FC236}">
                <a16:creationId xmlns:a16="http://schemas.microsoft.com/office/drawing/2014/main" id="{4E988F56-77C9-D57B-D120-396E938FC604}"/>
              </a:ext>
            </a:extLst>
          </p:cNvPr>
          <p:cNvPicPr>
            <a:picLocks noChangeAspect="1"/>
          </p:cNvPicPr>
          <p:nvPr/>
        </p:nvPicPr>
        <p:blipFill>
          <a:blip r:embed="rId2" cstate="print"/>
          <a:srcRect/>
          <a:stretch>
            <a:fillRect/>
          </a:stretch>
        </p:blipFill>
        <p:spPr bwMode="auto">
          <a:xfrm>
            <a:off x="39688" y="1556747"/>
            <a:ext cx="5141912" cy="1776412"/>
          </a:xfrm>
          <a:prstGeom prst="rect">
            <a:avLst/>
          </a:prstGeom>
          <a:noFill/>
          <a:ln w="9525">
            <a:noFill/>
            <a:miter lim="800000"/>
            <a:headEnd/>
            <a:tailEnd/>
          </a:ln>
        </p:spPr>
      </p:pic>
      <p:pic>
        <p:nvPicPr>
          <p:cNvPr id="7" name="Picture 3">
            <a:extLst>
              <a:ext uri="{FF2B5EF4-FFF2-40B4-BE49-F238E27FC236}">
                <a16:creationId xmlns:a16="http://schemas.microsoft.com/office/drawing/2014/main" id="{F014278E-73A9-386A-783F-5A12C6F96AEA}"/>
              </a:ext>
            </a:extLst>
          </p:cNvPr>
          <p:cNvPicPr>
            <a:picLocks noChangeAspect="1"/>
          </p:cNvPicPr>
          <p:nvPr/>
        </p:nvPicPr>
        <p:blipFill>
          <a:blip r:embed="rId3" cstate="print"/>
          <a:srcRect/>
          <a:stretch>
            <a:fillRect/>
          </a:stretch>
        </p:blipFill>
        <p:spPr bwMode="auto">
          <a:xfrm>
            <a:off x="3419475" y="4165009"/>
            <a:ext cx="2981325" cy="2481263"/>
          </a:xfrm>
          <a:prstGeom prst="rect">
            <a:avLst/>
          </a:prstGeom>
          <a:noFill/>
          <a:ln w="9525">
            <a:noFill/>
            <a:miter lim="800000"/>
            <a:headEnd/>
            <a:tailEnd/>
          </a:ln>
        </p:spPr>
      </p:pic>
      <p:sp>
        <p:nvSpPr>
          <p:cNvPr id="8" name="Cloud Callout 7">
            <a:extLst>
              <a:ext uri="{FF2B5EF4-FFF2-40B4-BE49-F238E27FC236}">
                <a16:creationId xmlns:a16="http://schemas.microsoft.com/office/drawing/2014/main" id="{4C077DFA-C87C-EAC1-9DD8-793FF924D25D}"/>
              </a:ext>
            </a:extLst>
          </p:cNvPr>
          <p:cNvSpPr/>
          <p:nvPr/>
        </p:nvSpPr>
        <p:spPr>
          <a:xfrm>
            <a:off x="6896100" y="3534772"/>
            <a:ext cx="2171700" cy="1219200"/>
          </a:xfrm>
          <a:prstGeom prst="cloudCallout">
            <a:avLst>
              <a:gd name="adj1" fmla="val -92262"/>
              <a:gd name="adj2" fmla="val 42091"/>
            </a:avLst>
          </a:prstGeom>
          <a:solidFill>
            <a:schemeClr val="accent6">
              <a:lumMod val="20000"/>
              <a:lumOff val="8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dirty="0">
                <a:solidFill>
                  <a:schemeClr val="tx1"/>
                </a:solidFill>
              </a:rPr>
              <a:t>What do x, xl, xx, and xxx mean?</a:t>
            </a:r>
          </a:p>
        </p:txBody>
      </p:sp>
      <p:sp>
        <p:nvSpPr>
          <p:cNvPr id="9" name="Cloud Callout 8">
            <a:extLst>
              <a:ext uri="{FF2B5EF4-FFF2-40B4-BE49-F238E27FC236}">
                <a16:creationId xmlns:a16="http://schemas.microsoft.com/office/drawing/2014/main" id="{DE8D0797-3F77-6EB8-E59A-948CCBBC9BBE}"/>
              </a:ext>
            </a:extLst>
          </p:cNvPr>
          <p:cNvSpPr/>
          <p:nvPr/>
        </p:nvSpPr>
        <p:spPr>
          <a:xfrm>
            <a:off x="7010400" y="4988922"/>
            <a:ext cx="2057400" cy="1087437"/>
          </a:xfrm>
          <a:prstGeom prst="cloudCallout">
            <a:avLst>
              <a:gd name="adj1" fmla="val -91196"/>
              <a:gd name="adj2" fmla="val -47146"/>
            </a:avLst>
          </a:prstGeom>
          <a:solidFill>
            <a:schemeClr val="accent6">
              <a:lumMod val="20000"/>
              <a:lumOff val="8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dirty="0">
                <a:solidFill>
                  <a:schemeClr val="tx1"/>
                </a:solidFill>
              </a:rPr>
              <a:t>What does </a:t>
            </a:r>
            <a:r>
              <a:rPr lang="en-GB" dirty="0" err="1">
                <a:solidFill>
                  <a:schemeClr val="tx1"/>
                </a:solidFill>
                <a:latin typeface="Arial" panose="020B0604020202020204" pitchFamily="34" charset="0"/>
                <a:cs typeface="Arial" panose="020B0604020202020204" pitchFamily="34" charset="0"/>
              </a:rPr>
              <a:t>aretha</a:t>
            </a:r>
            <a:r>
              <a:rPr lang="en-GB" dirty="0">
                <a:solidFill>
                  <a:schemeClr val="tx1"/>
                </a:solidFill>
              </a:rPr>
              <a:t> mean? </a:t>
            </a:r>
          </a:p>
        </p:txBody>
      </p:sp>
      <p:sp>
        <p:nvSpPr>
          <p:cNvPr id="10" name="Cloud Callout 9">
            <a:extLst>
              <a:ext uri="{FF2B5EF4-FFF2-40B4-BE49-F238E27FC236}">
                <a16:creationId xmlns:a16="http://schemas.microsoft.com/office/drawing/2014/main" id="{CF2F1B1A-5109-CF41-22AF-625AB3ABBD5E}"/>
              </a:ext>
            </a:extLst>
          </p:cNvPr>
          <p:cNvSpPr/>
          <p:nvPr/>
        </p:nvSpPr>
        <p:spPr>
          <a:xfrm>
            <a:off x="76200" y="4628559"/>
            <a:ext cx="3124200" cy="1447800"/>
          </a:xfrm>
          <a:prstGeom prst="cloudCallout">
            <a:avLst>
              <a:gd name="adj1" fmla="val 79929"/>
              <a:gd name="adj2" fmla="val -15292"/>
            </a:avLst>
          </a:prstGeom>
          <a:solidFill>
            <a:schemeClr val="accent6">
              <a:lumMod val="20000"/>
              <a:lumOff val="8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dirty="0">
                <a:solidFill>
                  <a:schemeClr val="tx1"/>
                </a:solidFill>
              </a:rPr>
              <a:t>What’s happening in this piece of code? </a:t>
            </a:r>
          </a:p>
        </p:txBody>
      </p:sp>
      <p:sp>
        <p:nvSpPr>
          <p:cNvPr id="11" name="Cloud Callout 10">
            <a:extLst>
              <a:ext uri="{FF2B5EF4-FFF2-40B4-BE49-F238E27FC236}">
                <a16:creationId xmlns:a16="http://schemas.microsoft.com/office/drawing/2014/main" id="{943F60C8-7C6E-422C-5483-66F082D2041E}"/>
              </a:ext>
            </a:extLst>
          </p:cNvPr>
          <p:cNvSpPr/>
          <p:nvPr/>
        </p:nvSpPr>
        <p:spPr>
          <a:xfrm>
            <a:off x="5562601" y="1505947"/>
            <a:ext cx="3541712" cy="1776412"/>
          </a:xfrm>
          <a:prstGeom prst="cloudCallout">
            <a:avLst>
              <a:gd name="adj1" fmla="val -61794"/>
              <a:gd name="adj2" fmla="val 117591"/>
            </a:avLst>
          </a:prstGeom>
          <a:solidFill>
            <a:schemeClr val="accent6">
              <a:lumMod val="20000"/>
              <a:lumOff val="8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dirty="0">
                <a:solidFill>
                  <a:schemeClr val="tx1"/>
                </a:solidFill>
              </a:rPr>
              <a:t>Which variable would you use to print the customer’s bill for just the new set of purchases?</a:t>
            </a:r>
          </a:p>
        </p:txBody>
      </p:sp>
      <p:sp>
        <p:nvSpPr>
          <p:cNvPr id="12" name="Rectangle 10">
            <a:extLst>
              <a:ext uri="{FF2B5EF4-FFF2-40B4-BE49-F238E27FC236}">
                <a16:creationId xmlns:a16="http://schemas.microsoft.com/office/drawing/2014/main" id="{22ECDC01-1333-2EC9-9C7A-127C144C6864}"/>
              </a:ext>
            </a:extLst>
          </p:cNvPr>
          <p:cNvSpPr>
            <a:spLocks noChangeArrowheads="1"/>
          </p:cNvSpPr>
          <p:nvPr/>
        </p:nvSpPr>
        <p:spPr bwMode="auto">
          <a:xfrm>
            <a:off x="0" y="3409359"/>
            <a:ext cx="5181600" cy="923925"/>
          </a:xfrm>
          <a:prstGeom prst="rect">
            <a:avLst/>
          </a:prstGeom>
          <a:noFill/>
          <a:ln w="9525">
            <a:noFill/>
            <a:miter lim="800000"/>
            <a:headEnd/>
            <a:tailEnd/>
          </a:ln>
        </p:spPr>
        <p:txBody>
          <a:bodyPr>
            <a:spAutoFit/>
          </a:bodyPr>
          <a:lstStyle/>
          <a:p>
            <a:r>
              <a:rPr lang="en-GB"/>
              <a:t>This code computed a total customer bill based on an outstanding balance and a new set of purchases. </a:t>
            </a:r>
          </a:p>
        </p:txBody>
      </p:sp>
    </p:spTree>
    <p:extLst>
      <p:ext uri="{BB962C8B-B14F-4D97-AF65-F5344CB8AC3E}">
        <p14:creationId xmlns:p14="http://schemas.microsoft.com/office/powerpoint/2010/main" val="3810758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GB" altLang="en-US" sz="4400" b="1" dirty="0">
                <a:solidFill>
                  <a:schemeClr val="tx1"/>
                </a:solidFill>
              </a:rPr>
              <a:t>Good Names</a:t>
            </a:r>
            <a:endParaRPr lang="en-US" b="1" dirty="0">
              <a:solidFill>
                <a:schemeClr val="tx1"/>
              </a:solidFill>
              <a:latin typeface="+mn-lt"/>
            </a:endParaRPr>
          </a:p>
        </p:txBody>
      </p:sp>
      <p:sp>
        <p:nvSpPr>
          <p:cNvPr id="9219" name="Content Placeholder 6"/>
          <p:cNvSpPr>
            <a:spLocks noGrp="1"/>
          </p:cNvSpPr>
          <p:nvPr>
            <p:ph sz="half" idx="1"/>
          </p:nvPr>
        </p:nvSpPr>
        <p:spPr>
          <a:xfrm>
            <a:off x="400547" y="1597255"/>
            <a:ext cx="7889837" cy="4454055"/>
          </a:xfrm>
        </p:spPr>
        <p:txBody>
          <a:bodyPr vert="horz" lIns="0" tIns="45720" rIns="0" bIns="45720" rtlCol="0" anchor="t">
            <a:normAutofit/>
          </a:bodyPr>
          <a:lstStyle/>
          <a:p>
            <a:pPr marL="91440" indent="0">
              <a:buNone/>
            </a:pPr>
            <a:endParaRPr lang="en-US" sz="2000" b="1" dirty="0"/>
          </a:p>
          <a:p>
            <a:pPr marL="91440" indent="0">
              <a:buNone/>
            </a:pPr>
            <a:endParaRPr lang="en-US" sz="2400" dirty="0"/>
          </a:p>
          <a:p>
            <a:pPr marL="605790" indent="-514350">
              <a:buFont typeface="+mj-lt"/>
              <a:buAutoNum type="arabicPeriod"/>
            </a:pPr>
            <a:endParaRPr lang="en-US" sz="2400" dirty="0"/>
          </a:p>
          <a:p>
            <a:pPr marL="91440" indent="0">
              <a:buNone/>
            </a:pPr>
            <a:endParaRPr lang="en-US" sz="2400" dirty="0"/>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5</a:t>
            </a:fld>
            <a:endParaRPr lang="en-US" sz="700"/>
          </a:p>
        </p:txBody>
      </p:sp>
      <p:pic>
        <p:nvPicPr>
          <p:cNvPr id="4" name="Picture 4">
            <a:extLst>
              <a:ext uri="{FF2B5EF4-FFF2-40B4-BE49-F238E27FC236}">
                <a16:creationId xmlns:a16="http://schemas.microsoft.com/office/drawing/2014/main" id="{55AAEEE1-EAC3-6935-0F7E-5C868892FA60}"/>
              </a:ext>
            </a:extLst>
          </p:cNvPr>
          <p:cNvPicPr>
            <a:picLocks noChangeAspect="1"/>
          </p:cNvPicPr>
          <p:nvPr/>
        </p:nvPicPr>
        <p:blipFill>
          <a:blip r:embed="rId2" cstate="print"/>
          <a:srcRect/>
          <a:stretch>
            <a:fillRect/>
          </a:stretch>
        </p:blipFill>
        <p:spPr bwMode="auto">
          <a:xfrm>
            <a:off x="136525" y="1401652"/>
            <a:ext cx="7850187" cy="1755775"/>
          </a:xfrm>
          <a:prstGeom prst="rect">
            <a:avLst/>
          </a:prstGeom>
          <a:noFill/>
          <a:ln w="9525">
            <a:noFill/>
            <a:miter lim="800000"/>
            <a:headEnd/>
            <a:tailEnd/>
          </a:ln>
        </p:spPr>
      </p:pic>
      <p:pic>
        <p:nvPicPr>
          <p:cNvPr id="6" name="Picture 5">
            <a:extLst>
              <a:ext uri="{FF2B5EF4-FFF2-40B4-BE49-F238E27FC236}">
                <a16:creationId xmlns:a16="http://schemas.microsoft.com/office/drawing/2014/main" id="{505984C4-DAA0-6AD6-6859-174AA36354DA}"/>
              </a:ext>
            </a:extLst>
          </p:cNvPr>
          <p:cNvPicPr>
            <a:picLocks noChangeAspect="1"/>
          </p:cNvPicPr>
          <p:nvPr/>
        </p:nvPicPr>
        <p:blipFill>
          <a:blip r:embed="rId3" cstate="print"/>
          <a:srcRect/>
          <a:stretch>
            <a:fillRect/>
          </a:stretch>
        </p:blipFill>
        <p:spPr bwMode="auto">
          <a:xfrm>
            <a:off x="5700712" y="4221052"/>
            <a:ext cx="3443288" cy="2293938"/>
          </a:xfrm>
          <a:prstGeom prst="rect">
            <a:avLst/>
          </a:prstGeom>
          <a:noFill/>
          <a:ln w="9525">
            <a:noFill/>
            <a:miter lim="800000"/>
            <a:headEnd/>
            <a:tailEnd/>
          </a:ln>
        </p:spPr>
      </p:pic>
      <p:sp>
        <p:nvSpPr>
          <p:cNvPr id="7" name="Cloud Callout 6">
            <a:extLst>
              <a:ext uri="{FF2B5EF4-FFF2-40B4-BE49-F238E27FC236}">
                <a16:creationId xmlns:a16="http://schemas.microsoft.com/office/drawing/2014/main" id="{2B8AEF18-1AB5-B2EA-8FEF-20AF89B73D49}"/>
              </a:ext>
            </a:extLst>
          </p:cNvPr>
          <p:cNvSpPr/>
          <p:nvPr/>
        </p:nvSpPr>
        <p:spPr>
          <a:xfrm>
            <a:off x="1738312" y="3382852"/>
            <a:ext cx="4343400" cy="1524000"/>
          </a:xfrm>
          <a:prstGeom prst="cloudCallout">
            <a:avLst>
              <a:gd name="adj1" fmla="val 76366"/>
              <a:gd name="adj2" fmla="val 26953"/>
            </a:avLst>
          </a:prstGeom>
          <a:solidFill>
            <a:schemeClr val="accent6">
              <a:lumMod val="20000"/>
              <a:lumOff val="8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dirty="0">
                <a:solidFill>
                  <a:schemeClr val="tx1"/>
                </a:solidFill>
              </a:rPr>
              <a:t>A good variable name is readable, memorable, and appropriate</a:t>
            </a:r>
          </a:p>
        </p:txBody>
      </p:sp>
    </p:spTree>
    <p:extLst>
      <p:ext uri="{BB962C8B-B14F-4D97-AF65-F5344CB8AC3E}">
        <p14:creationId xmlns:p14="http://schemas.microsoft.com/office/powerpoint/2010/main" val="251095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fontScale="90000"/>
          </a:bodyPr>
          <a:lstStyle/>
          <a:p>
            <a:r>
              <a:rPr lang="en-GB" altLang="en-US" sz="4400" b="1" dirty="0">
                <a:solidFill>
                  <a:schemeClr val="tx1"/>
                </a:solidFill>
              </a:rPr>
              <a:t>The Most Important Naming Consideration</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6</a:t>
            </a:fld>
            <a:endParaRPr lang="en-US" sz="700"/>
          </a:p>
        </p:txBody>
      </p:sp>
      <p:sp>
        <p:nvSpPr>
          <p:cNvPr id="2" name="Content Placeholder 3">
            <a:extLst>
              <a:ext uri="{FF2B5EF4-FFF2-40B4-BE49-F238E27FC236}">
                <a16:creationId xmlns:a16="http://schemas.microsoft.com/office/drawing/2014/main" id="{A94492C1-9DBF-8ACD-CDF4-73A986D0E706}"/>
              </a:ext>
            </a:extLst>
          </p:cNvPr>
          <p:cNvSpPr txBox="1">
            <a:spLocks/>
          </p:cNvSpPr>
          <p:nvPr/>
        </p:nvSpPr>
        <p:spPr>
          <a:xfrm>
            <a:off x="437123" y="3163410"/>
            <a:ext cx="5891106" cy="3338990"/>
          </a:xfrm>
          <a:prstGeom prst="rect">
            <a:avLst/>
          </a:prstGeom>
        </p:spPr>
        <p:txBody>
          <a:bodyPr vert="horz" lIns="0" tIns="45720" rIns="0" bIns="45720" rtlCol="0">
            <a:normAutofit fontScale="92500" lnSpcReduction="10000"/>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GB" sz="2400" dirty="0">
                <a:solidFill>
                  <a:schemeClr val="tx1"/>
                </a:solidFill>
              </a:rPr>
              <a:t>An effective technique for coming up with a good name is to state in words what the variable represents. </a:t>
            </a:r>
          </a:p>
          <a:p>
            <a:r>
              <a:rPr lang="en-GB" sz="2400" dirty="0">
                <a:solidFill>
                  <a:schemeClr val="tx1"/>
                </a:solidFill>
              </a:rPr>
              <a:t>Often that statement itself is the best variable name. </a:t>
            </a:r>
          </a:p>
          <a:p>
            <a:r>
              <a:rPr lang="en-GB" sz="2400" dirty="0">
                <a:solidFill>
                  <a:schemeClr val="tx1"/>
                </a:solidFill>
              </a:rPr>
              <a:t>It’s easy to read because it doesn’t contain cryptic abbreviations, and it’s unambiguous.</a:t>
            </a:r>
          </a:p>
          <a:p>
            <a:r>
              <a:rPr lang="en-GB" sz="2400" dirty="0">
                <a:solidFill>
                  <a:schemeClr val="tx1"/>
                </a:solidFill>
              </a:rPr>
              <a:t>It’s easy to remember because the name is similar to the concept. </a:t>
            </a:r>
          </a:p>
        </p:txBody>
      </p:sp>
      <p:pic>
        <p:nvPicPr>
          <p:cNvPr id="6" name="Picture 7">
            <a:extLst>
              <a:ext uri="{FF2B5EF4-FFF2-40B4-BE49-F238E27FC236}">
                <a16:creationId xmlns:a16="http://schemas.microsoft.com/office/drawing/2014/main" id="{FCBD3ACF-2C5B-F5BB-C820-91FB479975BB}"/>
              </a:ext>
            </a:extLst>
          </p:cNvPr>
          <p:cNvPicPr>
            <a:picLocks noChangeAspect="1" noChangeArrowheads="1"/>
          </p:cNvPicPr>
          <p:nvPr/>
        </p:nvPicPr>
        <p:blipFill>
          <a:blip r:embed="rId2" cstate="print"/>
          <a:srcRect/>
          <a:stretch>
            <a:fillRect/>
          </a:stretch>
        </p:blipFill>
        <p:spPr bwMode="auto">
          <a:xfrm>
            <a:off x="6598196" y="2895822"/>
            <a:ext cx="2429689" cy="3041650"/>
          </a:xfrm>
          <a:prstGeom prst="rect">
            <a:avLst/>
          </a:prstGeom>
          <a:noFill/>
          <a:ln w="9525">
            <a:noFill/>
            <a:miter lim="800000"/>
            <a:headEnd/>
            <a:tailEnd/>
          </a:ln>
        </p:spPr>
      </p:pic>
      <p:sp>
        <p:nvSpPr>
          <p:cNvPr id="7" name="Cloud Callout 6">
            <a:extLst>
              <a:ext uri="{FF2B5EF4-FFF2-40B4-BE49-F238E27FC236}">
                <a16:creationId xmlns:a16="http://schemas.microsoft.com/office/drawing/2014/main" id="{B28ECABC-8B45-061F-7E75-857375526395}"/>
              </a:ext>
            </a:extLst>
          </p:cNvPr>
          <p:cNvSpPr/>
          <p:nvPr/>
        </p:nvSpPr>
        <p:spPr>
          <a:xfrm>
            <a:off x="0" y="1094010"/>
            <a:ext cx="9144000" cy="1676400"/>
          </a:xfrm>
          <a:prstGeom prst="cloudCallout">
            <a:avLst>
              <a:gd name="adj1" fmla="val 20912"/>
              <a:gd name="adj2" fmla="val 69252"/>
            </a:avLst>
          </a:prstGeom>
          <a:solidFill>
            <a:schemeClr val="accent6">
              <a:lumMod val="20000"/>
              <a:lumOff val="8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altLang="en-US" sz="2400" dirty="0">
                <a:solidFill>
                  <a:schemeClr val="tx1"/>
                </a:solidFill>
              </a:rPr>
              <a:t>The most important consideration in naming a variable is that the name fully and accurately describe the entity the variable represents.</a:t>
            </a:r>
          </a:p>
        </p:txBody>
      </p:sp>
    </p:spTree>
    <p:extLst>
      <p:ext uri="{BB962C8B-B14F-4D97-AF65-F5344CB8AC3E}">
        <p14:creationId xmlns:p14="http://schemas.microsoft.com/office/powerpoint/2010/main" val="268952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Autofit/>
          </a:bodyPr>
          <a:lstStyle/>
          <a:p>
            <a:r>
              <a:rPr lang="en-GB" altLang="en-US" sz="4000" b="1" dirty="0"/>
              <a:t>The Most Important Naming Consideration</a:t>
            </a:r>
            <a:endParaRPr lang="en-US" sz="4000" b="1" dirty="0">
              <a:solidFill>
                <a:schemeClr val="tx1"/>
              </a:solidFill>
              <a:latin typeface="+mn-lt"/>
            </a:endParaRPr>
          </a:p>
        </p:txBody>
      </p:sp>
      <p:sp>
        <p:nvSpPr>
          <p:cNvPr id="9219" name="Content Placeholder 6"/>
          <p:cNvSpPr>
            <a:spLocks noGrp="1"/>
          </p:cNvSpPr>
          <p:nvPr>
            <p:ph sz="half" idx="1"/>
          </p:nvPr>
        </p:nvSpPr>
        <p:spPr>
          <a:xfrm>
            <a:off x="400547" y="1597255"/>
            <a:ext cx="7889837" cy="4454055"/>
          </a:xfrm>
        </p:spPr>
        <p:txBody>
          <a:bodyPr vert="horz" lIns="0" tIns="45720" rIns="0" bIns="45720" rtlCol="0" anchor="t">
            <a:normAutofit/>
          </a:bodyPr>
          <a:lstStyle/>
          <a:p>
            <a:pPr marL="91440" indent="0">
              <a:buNone/>
            </a:pPr>
            <a:endParaRPr lang="en-US" sz="2000" b="1" dirty="0"/>
          </a:p>
          <a:p>
            <a:pPr marL="91440" indent="0">
              <a:buNone/>
            </a:pPr>
            <a:endParaRPr lang="en-US" sz="2400" dirty="0"/>
          </a:p>
          <a:p>
            <a:pPr marL="605790" indent="-514350">
              <a:buFont typeface="+mj-lt"/>
              <a:buAutoNum type="arabicPeriod"/>
            </a:pPr>
            <a:endParaRPr lang="en-US" sz="2400" dirty="0"/>
          </a:p>
          <a:p>
            <a:pPr marL="91440" indent="0">
              <a:buNone/>
            </a:pPr>
            <a:endParaRPr lang="en-US" sz="2400" dirty="0"/>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7</a:t>
            </a:fld>
            <a:endParaRPr lang="en-US" sz="700"/>
          </a:p>
        </p:txBody>
      </p:sp>
      <p:pic>
        <p:nvPicPr>
          <p:cNvPr id="6" name="Picture 5">
            <a:extLst>
              <a:ext uri="{FF2B5EF4-FFF2-40B4-BE49-F238E27FC236}">
                <a16:creationId xmlns:a16="http://schemas.microsoft.com/office/drawing/2014/main" id="{90BDA71C-2A48-7D3F-AE03-CB06FCDDEEF0}"/>
              </a:ext>
            </a:extLst>
          </p:cNvPr>
          <p:cNvPicPr>
            <a:picLocks noChangeAspect="1" noChangeArrowheads="1"/>
          </p:cNvPicPr>
          <p:nvPr/>
        </p:nvPicPr>
        <p:blipFill>
          <a:blip r:embed="rId2" cstate="print"/>
          <a:srcRect/>
          <a:stretch>
            <a:fillRect/>
          </a:stretch>
        </p:blipFill>
        <p:spPr bwMode="auto">
          <a:xfrm>
            <a:off x="185737" y="2362194"/>
            <a:ext cx="8772525" cy="2924175"/>
          </a:xfrm>
          <a:prstGeom prst="rect">
            <a:avLst/>
          </a:prstGeom>
          <a:noFill/>
          <a:ln w="9525">
            <a:noFill/>
            <a:miter lim="800000"/>
            <a:headEnd/>
            <a:tailEnd/>
          </a:ln>
        </p:spPr>
      </p:pic>
    </p:spTree>
    <p:extLst>
      <p:ext uri="{BB962C8B-B14F-4D97-AF65-F5344CB8AC3E}">
        <p14:creationId xmlns:p14="http://schemas.microsoft.com/office/powerpoint/2010/main" val="91697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GB" altLang="en-US" sz="4400" b="1" dirty="0">
                <a:solidFill>
                  <a:schemeClr val="tx1"/>
                </a:solidFill>
              </a:rPr>
              <a:t>Naming Specific Types of Data</a:t>
            </a:r>
            <a:endParaRPr lang="en-US" b="1" dirty="0">
              <a:solidFill>
                <a:schemeClr val="tx1"/>
              </a:solidFill>
              <a:latin typeface="+mn-lt"/>
            </a:endParaRPr>
          </a:p>
        </p:txBody>
      </p:sp>
      <p:sp>
        <p:nvSpPr>
          <p:cNvPr id="9219" name="Content Placeholder 6"/>
          <p:cNvSpPr>
            <a:spLocks noGrp="1"/>
          </p:cNvSpPr>
          <p:nvPr>
            <p:ph sz="half" idx="1"/>
          </p:nvPr>
        </p:nvSpPr>
        <p:spPr>
          <a:xfrm>
            <a:off x="400547" y="1597255"/>
            <a:ext cx="7889837" cy="4454055"/>
          </a:xfrm>
        </p:spPr>
        <p:txBody>
          <a:bodyPr vert="horz" lIns="0" tIns="45720" rIns="0" bIns="45720" rtlCol="0" anchor="t">
            <a:normAutofit/>
          </a:bodyPr>
          <a:lstStyle/>
          <a:p>
            <a:pPr marL="91440" indent="0">
              <a:buNone/>
            </a:pPr>
            <a:endParaRPr lang="en-US" sz="2000" b="1" dirty="0"/>
          </a:p>
          <a:p>
            <a:pPr marL="91440" indent="0">
              <a:buNone/>
            </a:pPr>
            <a:endParaRPr lang="en-US" sz="2400" dirty="0"/>
          </a:p>
          <a:p>
            <a:pPr marL="605790" indent="-514350">
              <a:buFont typeface="+mj-lt"/>
              <a:buAutoNum type="arabicPeriod"/>
            </a:pPr>
            <a:endParaRPr lang="en-US" sz="2400" dirty="0"/>
          </a:p>
          <a:p>
            <a:pPr marL="91440" indent="0">
              <a:buNone/>
            </a:pPr>
            <a:endParaRPr lang="en-US" sz="2400" dirty="0"/>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8</a:t>
            </a:fld>
            <a:endParaRPr lang="en-US" sz="700"/>
          </a:p>
        </p:txBody>
      </p:sp>
      <p:sp>
        <p:nvSpPr>
          <p:cNvPr id="3" name="Content Placeholder 3">
            <a:extLst>
              <a:ext uri="{FF2B5EF4-FFF2-40B4-BE49-F238E27FC236}">
                <a16:creationId xmlns:a16="http://schemas.microsoft.com/office/drawing/2014/main" id="{D3C442CF-53A2-0392-90A3-6725147F45D1}"/>
              </a:ext>
            </a:extLst>
          </p:cNvPr>
          <p:cNvSpPr txBox="1">
            <a:spLocks/>
          </p:cNvSpPr>
          <p:nvPr/>
        </p:nvSpPr>
        <p:spPr>
          <a:xfrm>
            <a:off x="406400" y="1234281"/>
            <a:ext cx="8273143" cy="4389437"/>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GB" dirty="0">
                <a:solidFill>
                  <a:schemeClr val="tx1"/>
                </a:solidFill>
              </a:rPr>
              <a:t>Naming Loop Indexes </a:t>
            </a:r>
          </a:p>
        </p:txBody>
      </p:sp>
      <p:pic>
        <p:nvPicPr>
          <p:cNvPr id="2" name="Picture 4">
            <a:extLst>
              <a:ext uri="{FF2B5EF4-FFF2-40B4-BE49-F238E27FC236}">
                <a16:creationId xmlns:a16="http://schemas.microsoft.com/office/drawing/2014/main" id="{F06F21C9-E812-7A58-2AB2-9EBE0549D62B}"/>
              </a:ext>
            </a:extLst>
          </p:cNvPr>
          <p:cNvPicPr>
            <a:picLocks noChangeAspect="1"/>
          </p:cNvPicPr>
          <p:nvPr/>
        </p:nvPicPr>
        <p:blipFill>
          <a:blip r:embed="rId2" cstate="print"/>
          <a:srcRect/>
          <a:stretch>
            <a:fillRect/>
          </a:stretch>
        </p:blipFill>
        <p:spPr bwMode="auto">
          <a:xfrm>
            <a:off x="700088" y="3751492"/>
            <a:ext cx="5014912" cy="990600"/>
          </a:xfrm>
          <a:prstGeom prst="rect">
            <a:avLst/>
          </a:prstGeom>
          <a:noFill/>
          <a:ln w="9525">
            <a:noFill/>
            <a:miter lim="800000"/>
            <a:headEnd/>
            <a:tailEnd/>
          </a:ln>
        </p:spPr>
      </p:pic>
      <p:sp>
        <p:nvSpPr>
          <p:cNvPr id="4" name="Cloud Callout 3">
            <a:extLst>
              <a:ext uri="{FF2B5EF4-FFF2-40B4-BE49-F238E27FC236}">
                <a16:creationId xmlns:a16="http://schemas.microsoft.com/office/drawing/2014/main" id="{3D7FCA90-016D-0D3E-5765-0CF2ABD4317C}"/>
              </a:ext>
            </a:extLst>
          </p:cNvPr>
          <p:cNvSpPr/>
          <p:nvPr/>
        </p:nvSpPr>
        <p:spPr>
          <a:xfrm>
            <a:off x="609600" y="1597255"/>
            <a:ext cx="8305800" cy="1752600"/>
          </a:xfrm>
          <a:prstGeom prst="cloudCallout">
            <a:avLst>
              <a:gd name="adj1" fmla="val 18507"/>
              <a:gd name="adj2" fmla="val 78859"/>
            </a:avLst>
          </a:prstGeom>
          <a:solidFill>
            <a:schemeClr val="accent6">
              <a:lumMod val="20000"/>
              <a:lumOff val="8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Guidelines for naming variables in loops have arisen because loops are such a common feature of computer programming. The names </a:t>
            </a:r>
            <a:r>
              <a:rPr lang="en-US" i="1" dirty="0" err="1">
                <a:solidFill>
                  <a:schemeClr val="tx1"/>
                </a:solidFill>
              </a:rPr>
              <a:t>i</a:t>
            </a:r>
            <a:r>
              <a:rPr lang="en-US" i="1" dirty="0">
                <a:solidFill>
                  <a:schemeClr val="tx1"/>
                </a:solidFill>
              </a:rPr>
              <a:t>, j, </a:t>
            </a:r>
            <a:r>
              <a:rPr lang="en-US" dirty="0">
                <a:solidFill>
                  <a:schemeClr val="tx1"/>
                </a:solidFill>
              </a:rPr>
              <a:t>and </a:t>
            </a:r>
            <a:r>
              <a:rPr lang="en-US" i="1" dirty="0">
                <a:solidFill>
                  <a:schemeClr val="tx1"/>
                </a:solidFill>
              </a:rPr>
              <a:t>k are customary</a:t>
            </a:r>
            <a:endParaRPr lang="en-US" dirty="0">
              <a:solidFill>
                <a:schemeClr val="tx1"/>
              </a:solidFill>
            </a:endParaRPr>
          </a:p>
        </p:txBody>
      </p:sp>
      <p:pic>
        <p:nvPicPr>
          <p:cNvPr id="6" name="Picture 7">
            <a:extLst>
              <a:ext uri="{FF2B5EF4-FFF2-40B4-BE49-F238E27FC236}">
                <a16:creationId xmlns:a16="http://schemas.microsoft.com/office/drawing/2014/main" id="{DD9F0E83-D41C-F35F-2EA2-CCDDE12DE950}"/>
              </a:ext>
            </a:extLst>
          </p:cNvPr>
          <p:cNvPicPr>
            <a:picLocks noChangeAspect="1" noChangeArrowheads="1"/>
          </p:cNvPicPr>
          <p:nvPr/>
        </p:nvPicPr>
        <p:blipFill>
          <a:blip r:embed="rId3" cstate="print"/>
          <a:srcRect/>
          <a:stretch>
            <a:fillRect/>
          </a:stretch>
        </p:blipFill>
        <p:spPr bwMode="auto">
          <a:xfrm>
            <a:off x="6400800" y="3453042"/>
            <a:ext cx="2486025" cy="3041650"/>
          </a:xfrm>
          <a:prstGeom prst="rect">
            <a:avLst/>
          </a:prstGeom>
          <a:noFill/>
          <a:ln w="9525">
            <a:noFill/>
            <a:miter lim="800000"/>
            <a:headEnd/>
            <a:tailEnd/>
          </a:ln>
        </p:spPr>
      </p:pic>
    </p:spTree>
    <p:extLst>
      <p:ext uri="{BB962C8B-B14F-4D97-AF65-F5344CB8AC3E}">
        <p14:creationId xmlns:p14="http://schemas.microsoft.com/office/powerpoint/2010/main" val="381756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GB" altLang="en-US" sz="4400" b="1" dirty="0">
                <a:solidFill>
                  <a:schemeClr val="tx1"/>
                </a:solidFill>
              </a:rPr>
              <a:t>Naming Specific Types of Data</a:t>
            </a:r>
            <a:endParaRPr lang="en-US" b="1" dirty="0">
              <a:solidFill>
                <a:schemeClr val="tx1"/>
              </a:solidFill>
              <a:latin typeface="+mn-lt"/>
            </a:endParaRPr>
          </a:p>
        </p:txBody>
      </p:sp>
      <p:sp>
        <p:nvSpPr>
          <p:cNvPr id="9219" name="Content Placeholder 6"/>
          <p:cNvSpPr>
            <a:spLocks noGrp="1"/>
          </p:cNvSpPr>
          <p:nvPr>
            <p:ph sz="half" idx="1"/>
          </p:nvPr>
        </p:nvSpPr>
        <p:spPr>
          <a:xfrm>
            <a:off x="400547" y="1597255"/>
            <a:ext cx="7889837" cy="4454055"/>
          </a:xfrm>
        </p:spPr>
        <p:txBody>
          <a:bodyPr vert="horz" lIns="0" tIns="45720" rIns="0" bIns="45720" rtlCol="0" anchor="t">
            <a:normAutofit/>
          </a:bodyPr>
          <a:lstStyle/>
          <a:p>
            <a:pPr marL="91440" indent="0">
              <a:buNone/>
            </a:pPr>
            <a:endParaRPr lang="en-US" sz="2000" b="1" dirty="0"/>
          </a:p>
          <a:p>
            <a:pPr marL="91440" indent="0">
              <a:buNone/>
            </a:pPr>
            <a:endParaRPr lang="en-US" sz="2400" dirty="0"/>
          </a:p>
          <a:p>
            <a:pPr marL="605790" indent="-514350">
              <a:buFont typeface="+mj-lt"/>
              <a:buAutoNum type="arabicPeriod"/>
            </a:pPr>
            <a:endParaRPr lang="en-US" sz="2400" dirty="0"/>
          </a:p>
          <a:p>
            <a:pPr marL="91440" indent="0">
              <a:buNone/>
            </a:pPr>
            <a:endParaRPr lang="en-US" sz="2400" dirty="0"/>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9</a:t>
            </a:fld>
            <a:endParaRPr lang="en-US" sz="700"/>
          </a:p>
        </p:txBody>
      </p:sp>
      <p:sp>
        <p:nvSpPr>
          <p:cNvPr id="3" name="Content Placeholder 3">
            <a:extLst>
              <a:ext uri="{FF2B5EF4-FFF2-40B4-BE49-F238E27FC236}">
                <a16:creationId xmlns:a16="http://schemas.microsoft.com/office/drawing/2014/main" id="{7477EBB7-D419-B507-3185-EB329609344E}"/>
              </a:ext>
            </a:extLst>
          </p:cNvPr>
          <p:cNvSpPr txBox="1">
            <a:spLocks/>
          </p:cNvSpPr>
          <p:nvPr/>
        </p:nvSpPr>
        <p:spPr>
          <a:xfrm>
            <a:off x="406400" y="1234281"/>
            <a:ext cx="8273143" cy="4389437"/>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GB" dirty="0">
                <a:solidFill>
                  <a:schemeClr val="tx1"/>
                </a:solidFill>
              </a:rPr>
              <a:t>Naming Loop Indexes </a:t>
            </a:r>
          </a:p>
        </p:txBody>
      </p:sp>
      <p:pic>
        <p:nvPicPr>
          <p:cNvPr id="2" name="Picture 7">
            <a:extLst>
              <a:ext uri="{FF2B5EF4-FFF2-40B4-BE49-F238E27FC236}">
                <a16:creationId xmlns:a16="http://schemas.microsoft.com/office/drawing/2014/main" id="{F1AA719F-C39B-3886-2F37-42F7954A7E05}"/>
              </a:ext>
            </a:extLst>
          </p:cNvPr>
          <p:cNvPicPr>
            <a:picLocks noChangeAspect="1"/>
          </p:cNvPicPr>
          <p:nvPr/>
        </p:nvPicPr>
        <p:blipFill>
          <a:blip r:embed="rId2" cstate="print"/>
          <a:srcRect/>
          <a:stretch>
            <a:fillRect/>
          </a:stretch>
        </p:blipFill>
        <p:spPr bwMode="auto">
          <a:xfrm>
            <a:off x="223837" y="2916238"/>
            <a:ext cx="8696325" cy="1554162"/>
          </a:xfrm>
          <a:prstGeom prst="rect">
            <a:avLst/>
          </a:prstGeom>
          <a:noFill/>
          <a:ln w="9525">
            <a:noFill/>
            <a:miter lim="800000"/>
            <a:headEnd/>
            <a:tailEnd/>
          </a:ln>
        </p:spPr>
      </p:pic>
      <p:sp>
        <p:nvSpPr>
          <p:cNvPr id="4" name="Rectangle 7">
            <a:extLst>
              <a:ext uri="{FF2B5EF4-FFF2-40B4-BE49-F238E27FC236}">
                <a16:creationId xmlns:a16="http://schemas.microsoft.com/office/drawing/2014/main" id="{7F5A10EB-F0EC-3818-F3A2-8D12712E0D89}"/>
              </a:ext>
            </a:extLst>
          </p:cNvPr>
          <p:cNvSpPr>
            <a:spLocks noChangeArrowheads="1"/>
          </p:cNvSpPr>
          <p:nvPr/>
        </p:nvSpPr>
        <p:spPr bwMode="auto">
          <a:xfrm>
            <a:off x="223837" y="2032000"/>
            <a:ext cx="8659812" cy="646113"/>
          </a:xfrm>
          <a:prstGeom prst="rect">
            <a:avLst/>
          </a:prstGeom>
          <a:noFill/>
          <a:ln w="9525">
            <a:solidFill>
              <a:schemeClr val="tx1"/>
            </a:solidFill>
            <a:miter lim="800000"/>
            <a:headEnd/>
            <a:tailEnd/>
          </a:ln>
        </p:spPr>
        <p:txBody>
          <a:bodyPr>
            <a:spAutoFit/>
          </a:bodyPr>
          <a:lstStyle/>
          <a:p>
            <a:pPr algn="ctr"/>
            <a:r>
              <a:rPr lang="en-US" dirty="0"/>
              <a:t>If you have several nested loops, assign longer names to the loop variables to improve readability.</a:t>
            </a:r>
          </a:p>
        </p:txBody>
      </p:sp>
    </p:spTree>
    <p:extLst>
      <p:ext uri="{BB962C8B-B14F-4D97-AF65-F5344CB8AC3E}">
        <p14:creationId xmlns:p14="http://schemas.microsoft.com/office/powerpoint/2010/main" val="4288430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GB" altLang="en-US" sz="4400" b="1" dirty="0">
                <a:solidFill>
                  <a:schemeClr val="tx1"/>
                </a:solidFill>
              </a:rPr>
              <a:t>Naming Specific Types of Data</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10</a:t>
            </a:fld>
            <a:endParaRPr lang="en-US" sz="700"/>
          </a:p>
        </p:txBody>
      </p:sp>
      <p:sp>
        <p:nvSpPr>
          <p:cNvPr id="3" name="Content Placeholder 3">
            <a:extLst>
              <a:ext uri="{FF2B5EF4-FFF2-40B4-BE49-F238E27FC236}">
                <a16:creationId xmlns:a16="http://schemas.microsoft.com/office/drawing/2014/main" id="{542D155B-F530-2906-4CB9-5F12B99967EC}"/>
              </a:ext>
            </a:extLst>
          </p:cNvPr>
          <p:cNvSpPr txBox="1">
            <a:spLocks/>
          </p:cNvSpPr>
          <p:nvPr/>
        </p:nvSpPr>
        <p:spPr>
          <a:xfrm>
            <a:off x="406400" y="1234281"/>
            <a:ext cx="8273143" cy="4389437"/>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GB" dirty="0">
                <a:solidFill>
                  <a:schemeClr val="tx1"/>
                </a:solidFill>
              </a:rPr>
              <a:t>Naming Loop Indexes </a:t>
            </a:r>
          </a:p>
        </p:txBody>
      </p:sp>
      <p:sp>
        <p:nvSpPr>
          <p:cNvPr id="6" name="Rectangle 8">
            <a:extLst>
              <a:ext uri="{FF2B5EF4-FFF2-40B4-BE49-F238E27FC236}">
                <a16:creationId xmlns:a16="http://schemas.microsoft.com/office/drawing/2014/main" id="{24D004F2-D2E2-30F6-3972-5FBB779A8FDA}"/>
              </a:ext>
            </a:extLst>
          </p:cNvPr>
          <p:cNvSpPr>
            <a:spLocks noChangeArrowheads="1"/>
          </p:cNvSpPr>
          <p:nvPr/>
        </p:nvSpPr>
        <p:spPr bwMode="auto">
          <a:xfrm>
            <a:off x="203200" y="2063057"/>
            <a:ext cx="8534400" cy="646113"/>
          </a:xfrm>
          <a:prstGeom prst="rect">
            <a:avLst/>
          </a:prstGeom>
          <a:noFill/>
          <a:ln w="9525">
            <a:solidFill>
              <a:schemeClr val="tx1"/>
            </a:solidFill>
            <a:miter lim="800000"/>
            <a:headEnd/>
            <a:tailEnd/>
          </a:ln>
        </p:spPr>
        <p:txBody>
          <a:bodyPr>
            <a:spAutoFit/>
          </a:bodyPr>
          <a:lstStyle/>
          <a:p>
            <a:pPr algn="ctr"/>
            <a:r>
              <a:rPr lang="en-US"/>
              <a:t>If a variable is to be used outside the loop, it should be given a name more meaningful than </a:t>
            </a:r>
            <a:r>
              <a:rPr lang="en-US" i="1"/>
              <a:t>i, j, or k.</a:t>
            </a:r>
            <a:endParaRPr lang="en-US"/>
          </a:p>
        </p:txBody>
      </p:sp>
      <p:pic>
        <p:nvPicPr>
          <p:cNvPr id="7" name="Picture 2">
            <a:extLst>
              <a:ext uri="{FF2B5EF4-FFF2-40B4-BE49-F238E27FC236}">
                <a16:creationId xmlns:a16="http://schemas.microsoft.com/office/drawing/2014/main" id="{A1C040C0-60D3-B1CD-43FC-8D1D407AD52B}"/>
              </a:ext>
            </a:extLst>
          </p:cNvPr>
          <p:cNvPicPr>
            <a:picLocks noChangeAspect="1" noChangeArrowheads="1"/>
          </p:cNvPicPr>
          <p:nvPr/>
        </p:nvPicPr>
        <p:blipFill>
          <a:blip r:embed="rId2" cstate="print"/>
          <a:srcRect/>
          <a:stretch>
            <a:fillRect/>
          </a:stretch>
        </p:blipFill>
        <p:spPr bwMode="auto">
          <a:xfrm>
            <a:off x="769938" y="2891732"/>
            <a:ext cx="7096125" cy="2828925"/>
          </a:xfrm>
          <a:prstGeom prst="rect">
            <a:avLst/>
          </a:prstGeom>
          <a:noFill/>
          <a:ln w="9525">
            <a:noFill/>
            <a:miter lim="800000"/>
            <a:headEnd/>
            <a:tailEnd/>
          </a:ln>
        </p:spPr>
      </p:pic>
    </p:spTree>
    <p:extLst>
      <p:ext uri="{BB962C8B-B14F-4D97-AF65-F5344CB8AC3E}">
        <p14:creationId xmlns:p14="http://schemas.microsoft.com/office/powerpoint/2010/main" val="3107751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GB" altLang="en-US" sz="4400" b="1" dirty="0">
                <a:solidFill>
                  <a:schemeClr val="tx1"/>
                </a:solidFill>
              </a:rPr>
              <a:t>Naming Specific Types of Data</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11</a:t>
            </a:fld>
            <a:endParaRPr lang="en-US" sz="700"/>
          </a:p>
        </p:txBody>
      </p:sp>
      <p:sp>
        <p:nvSpPr>
          <p:cNvPr id="6" name="Content Placeholder 3">
            <a:extLst>
              <a:ext uri="{FF2B5EF4-FFF2-40B4-BE49-F238E27FC236}">
                <a16:creationId xmlns:a16="http://schemas.microsoft.com/office/drawing/2014/main" id="{4D0F9074-D582-1160-A018-6F9A9884C2E4}"/>
              </a:ext>
            </a:extLst>
          </p:cNvPr>
          <p:cNvSpPr txBox="1">
            <a:spLocks/>
          </p:cNvSpPr>
          <p:nvPr/>
        </p:nvSpPr>
        <p:spPr>
          <a:xfrm>
            <a:off x="319314" y="1930967"/>
            <a:ext cx="5907315" cy="4389437"/>
          </a:xfrm>
          <a:prstGeom prst="rect">
            <a:avLst/>
          </a:prstGeom>
        </p:spPr>
        <p:txBody>
          <a:bodyPr vert="horz" lIns="0" tIns="45720" rIns="0" bIns="45720" rtlCol="0">
            <a:normAutofit fontScale="85000" lnSpcReduction="20000"/>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73050" indent="-273050">
              <a:spcBef>
                <a:spcPct val="20000"/>
              </a:spcBef>
              <a:buClr>
                <a:srgbClr val="00B0F0"/>
              </a:buClr>
              <a:buSzPct val="95000"/>
              <a:buFont typeface="Wingdings 2" pitchFamily="18" charset="2"/>
              <a:buChar char=""/>
            </a:pPr>
            <a:r>
              <a:rPr lang="en-GB" sz="3100" dirty="0">
                <a:solidFill>
                  <a:schemeClr val="tx1"/>
                </a:solidFill>
                <a:latin typeface="+mn-lt"/>
                <a:cs typeface="+mn-cs"/>
              </a:rPr>
              <a:t>Keep typical Boolean names in mind</a:t>
            </a:r>
          </a:p>
          <a:p>
            <a:pPr marL="730250" lvl="1" indent="-273050">
              <a:spcBef>
                <a:spcPct val="20000"/>
              </a:spcBef>
              <a:buClr>
                <a:srgbClr val="0070C0"/>
              </a:buClr>
              <a:buSzPct val="95000"/>
              <a:buFont typeface="Wingdings 2" pitchFamily="18" charset="2"/>
              <a:buChar char=""/>
            </a:pPr>
            <a:r>
              <a:rPr lang="en-GB" b="1" dirty="0">
                <a:solidFill>
                  <a:schemeClr val="tx1"/>
                </a:solidFill>
                <a:latin typeface="+mn-lt"/>
                <a:cs typeface="+mn-cs"/>
              </a:rPr>
              <a:t>done :</a:t>
            </a:r>
            <a:r>
              <a:rPr lang="en-GB" dirty="0">
                <a:solidFill>
                  <a:schemeClr val="tx1"/>
                </a:solidFill>
                <a:latin typeface="+mn-lt"/>
                <a:cs typeface="+mn-cs"/>
              </a:rPr>
              <a:t> Use done to indicate whether something is done. Set done to False before something is done, and set it to True when something is completed. </a:t>
            </a:r>
          </a:p>
          <a:p>
            <a:pPr marL="730250" lvl="1" indent="-273050">
              <a:spcBef>
                <a:spcPct val="20000"/>
              </a:spcBef>
              <a:buClr>
                <a:srgbClr val="0070C0"/>
              </a:buClr>
              <a:buSzPct val="95000"/>
              <a:buFont typeface="Wingdings 2" pitchFamily="18" charset="2"/>
              <a:buChar char=""/>
            </a:pPr>
            <a:r>
              <a:rPr lang="en-GB" b="1" dirty="0">
                <a:solidFill>
                  <a:schemeClr val="tx1"/>
                </a:solidFill>
                <a:latin typeface="+mn-lt"/>
                <a:cs typeface="+mn-cs"/>
              </a:rPr>
              <a:t>error : </a:t>
            </a:r>
            <a:r>
              <a:rPr lang="en-GB" dirty="0">
                <a:solidFill>
                  <a:schemeClr val="tx1"/>
                </a:solidFill>
                <a:latin typeface="+mn-lt"/>
                <a:cs typeface="+mn-cs"/>
              </a:rPr>
              <a:t>Use error to indicate that an error has occurred. Set the variable to False when no error has occurred and to True when an error has occurred.</a:t>
            </a:r>
          </a:p>
          <a:p>
            <a:pPr marL="730250" lvl="1" indent="-273050">
              <a:spcBef>
                <a:spcPct val="20000"/>
              </a:spcBef>
              <a:buClr>
                <a:srgbClr val="0070C0"/>
              </a:buClr>
              <a:buSzPct val="95000"/>
              <a:buFont typeface="Wingdings 2" pitchFamily="18" charset="2"/>
              <a:buChar char=""/>
            </a:pPr>
            <a:r>
              <a:rPr lang="en-GB" b="1" dirty="0">
                <a:solidFill>
                  <a:schemeClr val="tx1"/>
                </a:solidFill>
                <a:latin typeface="+mn-lt"/>
                <a:cs typeface="+mn-cs"/>
              </a:rPr>
              <a:t>found : </a:t>
            </a:r>
            <a:r>
              <a:rPr lang="en-GB" dirty="0">
                <a:solidFill>
                  <a:schemeClr val="tx1"/>
                </a:solidFill>
                <a:latin typeface="+mn-lt"/>
                <a:cs typeface="+mn-cs"/>
              </a:rPr>
              <a:t>Use found to indicate whether a value has been found. Set found to False when the value has not been found and to True once the value has been found. </a:t>
            </a:r>
          </a:p>
          <a:p>
            <a:pPr marL="730250" lvl="1" indent="-273050">
              <a:spcBef>
                <a:spcPct val="20000"/>
              </a:spcBef>
              <a:buClr>
                <a:srgbClr val="0070C0"/>
              </a:buClr>
              <a:buSzPct val="95000"/>
              <a:buFont typeface="Wingdings 2" pitchFamily="18" charset="2"/>
              <a:buChar char=""/>
            </a:pPr>
            <a:r>
              <a:rPr lang="en-GB" b="1" dirty="0">
                <a:solidFill>
                  <a:schemeClr val="tx1"/>
                </a:solidFill>
                <a:latin typeface="+mn-lt"/>
                <a:cs typeface="+mn-cs"/>
              </a:rPr>
              <a:t>success</a:t>
            </a:r>
            <a:r>
              <a:rPr lang="en-GB" dirty="0">
                <a:solidFill>
                  <a:schemeClr val="tx1"/>
                </a:solidFill>
                <a:latin typeface="+mn-lt"/>
                <a:cs typeface="+mn-cs"/>
              </a:rPr>
              <a:t> OR </a:t>
            </a:r>
            <a:r>
              <a:rPr lang="en-GB" b="1" dirty="0">
                <a:solidFill>
                  <a:schemeClr val="tx1"/>
                </a:solidFill>
                <a:latin typeface="+mn-lt"/>
                <a:cs typeface="+mn-cs"/>
              </a:rPr>
              <a:t>ok :</a:t>
            </a:r>
            <a:r>
              <a:rPr lang="en-GB" dirty="0">
                <a:solidFill>
                  <a:schemeClr val="tx1"/>
                </a:solidFill>
                <a:latin typeface="+mn-lt"/>
                <a:cs typeface="+mn-cs"/>
              </a:rPr>
              <a:t> Use success OR ok to indicate whether an operation has been successful. Set the variable to False when an operation has failed and to True when an operation has succeeded.</a:t>
            </a:r>
          </a:p>
          <a:p>
            <a:endParaRPr lang="en-GB" dirty="0"/>
          </a:p>
        </p:txBody>
      </p:sp>
      <p:sp>
        <p:nvSpPr>
          <p:cNvPr id="7" name="Content Placeholder 3">
            <a:extLst>
              <a:ext uri="{FF2B5EF4-FFF2-40B4-BE49-F238E27FC236}">
                <a16:creationId xmlns:a16="http://schemas.microsoft.com/office/drawing/2014/main" id="{C94C3369-51CF-064B-92DB-8B9B549F63B8}"/>
              </a:ext>
            </a:extLst>
          </p:cNvPr>
          <p:cNvSpPr txBox="1">
            <a:spLocks/>
          </p:cNvSpPr>
          <p:nvPr/>
        </p:nvSpPr>
        <p:spPr>
          <a:xfrm>
            <a:off x="319314" y="1234282"/>
            <a:ext cx="8273143" cy="565490"/>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73050" indent="-273050">
              <a:spcBef>
                <a:spcPct val="20000"/>
              </a:spcBef>
              <a:buClr>
                <a:srgbClr val="00B0F0"/>
              </a:buClr>
              <a:buSzPct val="95000"/>
              <a:buFont typeface="Wingdings 2" pitchFamily="18" charset="2"/>
              <a:buChar char=""/>
            </a:pPr>
            <a:r>
              <a:rPr lang="en-GB" dirty="0">
                <a:solidFill>
                  <a:schemeClr val="tx1"/>
                </a:solidFill>
              </a:rPr>
              <a:t>N</a:t>
            </a:r>
            <a:r>
              <a:rPr lang="en-GB" dirty="0">
                <a:solidFill>
                  <a:schemeClr val="tx1"/>
                </a:solidFill>
                <a:latin typeface="+mn-lt"/>
                <a:cs typeface="+mn-cs"/>
              </a:rPr>
              <a:t>aming Boolean Variables</a:t>
            </a:r>
            <a:endParaRPr lang="en-GB" dirty="0"/>
          </a:p>
        </p:txBody>
      </p:sp>
      <p:sp>
        <p:nvSpPr>
          <p:cNvPr id="8" name="Cloud Callout 7">
            <a:extLst>
              <a:ext uri="{FF2B5EF4-FFF2-40B4-BE49-F238E27FC236}">
                <a16:creationId xmlns:a16="http://schemas.microsoft.com/office/drawing/2014/main" id="{F1FF5DE9-D8DF-95B8-9303-C0FAA1CD8B5D}"/>
              </a:ext>
            </a:extLst>
          </p:cNvPr>
          <p:cNvSpPr/>
          <p:nvPr/>
        </p:nvSpPr>
        <p:spPr>
          <a:xfrm>
            <a:off x="4546975" y="937885"/>
            <a:ext cx="4277711" cy="1011237"/>
          </a:xfrm>
          <a:prstGeom prst="cloudCallout">
            <a:avLst>
              <a:gd name="adj1" fmla="val 14354"/>
              <a:gd name="adj2" fmla="val 120795"/>
            </a:avLst>
          </a:prstGeom>
          <a:solidFill>
            <a:schemeClr val="accent6">
              <a:lumMod val="20000"/>
              <a:lumOff val="8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dirty="0">
                <a:solidFill>
                  <a:schemeClr val="tx1"/>
                </a:solidFill>
              </a:rPr>
              <a:t>Give Boolean variables names that imply True or False </a:t>
            </a:r>
            <a:r>
              <a:rPr lang="en-US" dirty="0">
                <a:solidFill>
                  <a:schemeClr val="tx1"/>
                </a:solidFill>
              </a:rPr>
              <a:t>.</a:t>
            </a:r>
          </a:p>
        </p:txBody>
      </p:sp>
      <p:pic>
        <p:nvPicPr>
          <p:cNvPr id="9" name="Picture 7">
            <a:extLst>
              <a:ext uri="{FF2B5EF4-FFF2-40B4-BE49-F238E27FC236}">
                <a16:creationId xmlns:a16="http://schemas.microsoft.com/office/drawing/2014/main" id="{508863DB-9F3E-510F-2E66-B1819D8C0CB2}"/>
              </a:ext>
            </a:extLst>
          </p:cNvPr>
          <p:cNvPicPr>
            <a:picLocks noChangeAspect="1" noChangeArrowheads="1"/>
          </p:cNvPicPr>
          <p:nvPr/>
        </p:nvPicPr>
        <p:blipFill>
          <a:blip r:embed="rId2" cstate="print"/>
          <a:srcRect/>
          <a:stretch>
            <a:fillRect/>
          </a:stretch>
        </p:blipFill>
        <p:spPr bwMode="auto">
          <a:xfrm>
            <a:off x="6657975" y="2878465"/>
            <a:ext cx="2486025" cy="3041650"/>
          </a:xfrm>
          <a:prstGeom prst="rect">
            <a:avLst/>
          </a:prstGeom>
          <a:noFill/>
          <a:ln w="9525">
            <a:noFill/>
            <a:miter lim="800000"/>
            <a:headEnd/>
            <a:tailEnd/>
          </a:ln>
        </p:spPr>
      </p:pic>
    </p:spTree>
    <p:extLst>
      <p:ext uri="{BB962C8B-B14F-4D97-AF65-F5344CB8AC3E}">
        <p14:creationId xmlns:p14="http://schemas.microsoft.com/office/powerpoint/2010/main" val="3830405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GB" altLang="en-US" sz="4400" b="1" dirty="0">
                <a:solidFill>
                  <a:schemeClr val="tx1"/>
                </a:solidFill>
              </a:rPr>
              <a:t>Naming Specific Types of Data</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12</a:t>
            </a:fld>
            <a:endParaRPr lang="en-US" sz="700"/>
          </a:p>
        </p:txBody>
      </p:sp>
      <p:sp>
        <p:nvSpPr>
          <p:cNvPr id="11" name="Content Placeholder 3">
            <a:extLst>
              <a:ext uri="{FF2B5EF4-FFF2-40B4-BE49-F238E27FC236}">
                <a16:creationId xmlns:a16="http://schemas.microsoft.com/office/drawing/2014/main" id="{7ADE0687-7681-7E09-6786-A3B140EC02D9}"/>
              </a:ext>
            </a:extLst>
          </p:cNvPr>
          <p:cNvSpPr txBox="1">
            <a:spLocks/>
          </p:cNvSpPr>
          <p:nvPr/>
        </p:nvSpPr>
        <p:spPr>
          <a:xfrm>
            <a:off x="422608" y="1183205"/>
            <a:ext cx="8273143" cy="5463067"/>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GB" dirty="0">
                <a:solidFill>
                  <a:schemeClr val="tx1"/>
                </a:solidFill>
              </a:rPr>
              <a:t>Naming Enumerated Types </a:t>
            </a:r>
          </a:p>
          <a:p>
            <a:pPr lvl="1">
              <a:buClr>
                <a:srgbClr val="0070C0"/>
              </a:buClr>
            </a:pPr>
            <a:r>
              <a:rPr lang="en-GB" dirty="0">
                <a:solidFill>
                  <a:schemeClr val="tx1"/>
                </a:solidFill>
              </a:rPr>
              <a:t>When you use an enumerated type, you can ensure that it’s clear that members of  the type all belong to the same group by using a group prefix, such as </a:t>
            </a:r>
            <a:r>
              <a:rPr lang="en-GB" dirty="0" err="1">
                <a:solidFill>
                  <a:schemeClr val="tx1"/>
                </a:solidFill>
              </a:rPr>
              <a:t>Color</a:t>
            </a:r>
            <a:r>
              <a:rPr lang="en-GB" dirty="0">
                <a:solidFill>
                  <a:schemeClr val="tx1"/>
                </a:solidFill>
              </a:rPr>
              <a:t>_, Planet_, or Month_.</a:t>
            </a:r>
            <a:endParaRPr lang="ar-SA" dirty="0">
              <a:solidFill>
                <a:schemeClr val="tx1"/>
              </a:solidFill>
            </a:endParaRPr>
          </a:p>
          <a:p>
            <a:pPr marL="274320" lvl="1" indent="0">
              <a:buClr>
                <a:srgbClr val="0070C0"/>
              </a:buClr>
              <a:buNone/>
            </a:pPr>
            <a:endParaRPr lang="en-GB" dirty="0">
              <a:solidFill>
                <a:schemeClr val="tx1"/>
              </a:solidFill>
            </a:endParaRPr>
          </a:p>
          <a:p>
            <a:r>
              <a:rPr lang="en-GB" dirty="0">
                <a:solidFill>
                  <a:schemeClr val="tx1"/>
                </a:solidFill>
              </a:rPr>
              <a:t>Naming Constants </a:t>
            </a:r>
          </a:p>
          <a:p>
            <a:pPr lvl="1">
              <a:buClr>
                <a:srgbClr val="0070C0"/>
              </a:buClr>
            </a:pPr>
            <a:r>
              <a:rPr lang="en-GB" dirty="0">
                <a:solidFill>
                  <a:schemeClr val="tx1"/>
                </a:solidFill>
              </a:rPr>
              <a:t>When naming constants, name the abstract entity the constant represents rather than the number the constant refers to. </a:t>
            </a:r>
          </a:p>
          <a:p>
            <a:pPr lvl="2">
              <a:buClr>
                <a:srgbClr val="0070C0"/>
              </a:buClr>
            </a:pPr>
            <a:r>
              <a:rPr lang="en-GB" dirty="0">
                <a:solidFill>
                  <a:schemeClr val="tx1"/>
                </a:solidFill>
              </a:rPr>
              <a:t>FIVE is a </a:t>
            </a:r>
            <a:r>
              <a:rPr lang="en-GB" b="1" dirty="0">
                <a:solidFill>
                  <a:srgbClr val="FF0000"/>
                </a:solidFill>
              </a:rPr>
              <a:t>bad</a:t>
            </a:r>
            <a:r>
              <a:rPr lang="en-GB" dirty="0"/>
              <a:t> </a:t>
            </a:r>
            <a:r>
              <a:rPr lang="en-GB" dirty="0">
                <a:solidFill>
                  <a:schemeClr val="tx1"/>
                </a:solidFill>
              </a:rPr>
              <a:t>name for a constant </a:t>
            </a:r>
          </a:p>
          <a:p>
            <a:pPr lvl="2">
              <a:buClr>
                <a:srgbClr val="0070C0"/>
              </a:buClr>
            </a:pPr>
            <a:r>
              <a:rPr lang="en-GB" dirty="0">
                <a:solidFill>
                  <a:schemeClr val="tx1"/>
                </a:solidFill>
              </a:rPr>
              <a:t>CYCLES_NEEDED is a </a:t>
            </a:r>
            <a:r>
              <a:rPr lang="en-GB" b="1" dirty="0">
                <a:solidFill>
                  <a:srgbClr val="00B050"/>
                </a:solidFill>
              </a:rPr>
              <a:t>good</a:t>
            </a:r>
            <a:r>
              <a:rPr lang="en-GB" dirty="0"/>
              <a:t> </a:t>
            </a:r>
            <a:r>
              <a:rPr lang="en-GB" dirty="0">
                <a:solidFill>
                  <a:schemeClr val="tx1"/>
                </a:solidFill>
              </a:rPr>
              <a:t>name.</a:t>
            </a:r>
          </a:p>
        </p:txBody>
      </p:sp>
    </p:spTree>
    <p:extLst>
      <p:ext uri="{BB962C8B-B14F-4D97-AF65-F5344CB8AC3E}">
        <p14:creationId xmlns:p14="http://schemas.microsoft.com/office/powerpoint/2010/main" val="3564204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fontScale="90000"/>
          </a:bodyPr>
          <a:lstStyle/>
          <a:p>
            <a:r>
              <a:rPr lang="en-GB" altLang="en-US" sz="4400" b="1" dirty="0">
                <a:solidFill>
                  <a:schemeClr val="tx1"/>
                </a:solidFill>
              </a:rPr>
              <a:t>Naming Conventions</a:t>
            </a:r>
            <a:br>
              <a:rPr lang="en-GB" altLang="en-US" sz="4400" b="1" dirty="0">
                <a:solidFill>
                  <a:schemeClr val="tx1"/>
                </a:solidFill>
              </a:rPr>
            </a:br>
            <a:r>
              <a:rPr lang="en-GB" altLang="en-US" sz="2200" dirty="0">
                <a:solidFill>
                  <a:schemeClr val="tx1"/>
                </a:solidFill>
              </a:rPr>
              <a:t>When You Should Have a Naming Convention?</a:t>
            </a:r>
            <a:endParaRPr lang="en-US" sz="2200"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13</a:t>
            </a:fld>
            <a:endParaRPr lang="en-US" sz="700"/>
          </a:p>
        </p:txBody>
      </p:sp>
      <p:sp>
        <p:nvSpPr>
          <p:cNvPr id="11" name="Content Placeholder 3">
            <a:extLst>
              <a:ext uri="{FF2B5EF4-FFF2-40B4-BE49-F238E27FC236}">
                <a16:creationId xmlns:a16="http://schemas.microsoft.com/office/drawing/2014/main" id="{7ADE0687-7681-7E09-6786-A3B140EC02D9}"/>
              </a:ext>
            </a:extLst>
          </p:cNvPr>
          <p:cNvSpPr txBox="1">
            <a:spLocks/>
          </p:cNvSpPr>
          <p:nvPr/>
        </p:nvSpPr>
        <p:spPr>
          <a:xfrm>
            <a:off x="422608" y="1183205"/>
            <a:ext cx="8273143" cy="5463067"/>
          </a:xfrm>
          <a:prstGeom prst="rect">
            <a:avLst/>
          </a:prstGeom>
        </p:spPr>
        <p:txBody>
          <a:bodyPr vert="horz" lIns="0" tIns="45720" rIns="0" bIns="45720" rtlCol="0">
            <a:normAutofit fontScale="92500" lnSpcReduction="20000"/>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GB" sz="2800" dirty="0">
                <a:solidFill>
                  <a:schemeClr val="tx1"/>
                </a:solidFill>
              </a:rPr>
              <a:t>When multiple programmers are working on a project </a:t>
            </a:r>
          </a:p>
          <a:p>
            <a:r>
              <a:rPr lang="en-GB" sz="2800" dirty="0">
                <a:solidFill>
                  <a:schemeClr val="tx1"/>
                </a:solidFill>
              </a:rPr>
              <a:t>When you plan to turn a program over to another programmer for modifications and maintenance (which is nearly always) </a:t>
            </a:r>
          </a:p>
          <a:p>
            <a:r>
              <a:rPr lang="en-GB" sz="2800" dirty="0">
                <a:solidFill>
                  <a:schemeClr val="tx1"/>
                </a:solidFill>
              </a:rPr>
              <a:t>When your programs are reviewed by other programmers in your organization </a:t>
            </a:r>
          </a:p>
          <a:p>
            <a:r>
              <a:rPr lang="en-GB" sz="2800" dirty="0">
                <a:solidFill>
                  <a:schemeClr val="tx1"/>
                </a:solidFill>
              </a:rPr>
              <a:t>When your program is so large that you can’t hold the whole thing in your brain at once and must think about it in pieces</a:t>
            </a:r>
          </a:p>
          <a:p>
            <a:r>
              <a:rPr lang="en-GB" sz="2800" dirty="0">
                <a:solidFill>
                  <a:schemeClr val="tx1"/>
                </a:solidFill>
              </a:rPr>
              <a:t>When the program will be long-lived enough that you might put it aside for a few weeks or months before working on it again </a:t>
            </a:r>
          </a:p>
          <a:p>
            <a:r>
              <a:rPr lang="en-GB" sz="2800" dirty="0">
                <a:solidFill>
                  <a:schemeClr val="tx1"/>
                </a:solidFill>
              </a:rPr>
              <a:t>When you have a lot of unusual terms that are common on a project and want to have standard terms or abbreviations to use in coding</a:t>
            </a:r>
          </a:p>
        </p:txBody>
      </p:sp>
    </p:spTree>
    <p:extLst>
      <p:ext uri="{BB962C8B-B14F-4D97-AF65-F5344CB8AC3E}">
        <p14:creationId xmlns:p14="http://schemas.microsoft.com/office/powerpoint/2010/main" val="3210058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GB" altLang="en-US" sz="4400" b="1" dirty="0">
                <a:solidFill>
                  <a:schemeClr val="tx1"/>
                </a:solidFill>
              </a:rPr>
              <a:t>Naming Conventions Sample</a:t>
            </a:r>
            <a:endParaRPr lang="en-US" sz="2200"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14</a:t>
            </a:fld>
            <a:endParaRPr lang="en-US" sz="700"/>
          </a:p>
        </p:txBody>
      </p:sp>
      <p:pic>
        <p:nvPicPr>
          <p:cNvPr id="2" name="Picture 4">
            <a:extLst>
              <a:ext uri="{FF2B5EF4-FFF2-40B4-BE49-F238E27FC236}">
                <a16:creationId xmlns:a16="http://schemas.microsoft.com/office/drawing/2014/main" id="{7096871A-E47B-AA92-E476-B6E249FF079F}"/>
              </a:ext>
            </a:extLst>
          </p:cNvPr>
          <p:cNvPicPr>
            <a:picLocks noChangeAspect="1"/>
          </p:cNvPicPr>
          <p:nvPr/>
        </p:nvPicPr>
        <p:blipFill>
          <a:blip r:embed="rId2" cstate="print"/>
          <a:srcRect/>
          <a:stretch>
            <a:fillRect/>
          </a:stretch>
        </p:blipFill>
        <p:spPr bwMode="auto">
          <a:xfrm>
            <a:off x="1370388" y="1115043"/>
            <a:ext cx="7038975" cy="5222875"/>
          </a:xfrm>
          <a:prstGeom prst="rect">
            <a:avLst/>
          </a:prstGeom>
          <a:noFill/>
          <a:ln w="9525">
            <a:noFill/>
            <a:miter lim="800000"/>
            <a:headEnd/>
            <a:tailEnd/>
          </a:ln>
        </p:spPr>
      </p:pic>
    </p:spTree>
    <p:extLst>
      <p:ext uri="{BB962C8B-B14F-4D97-AF65-F5344CB8AC3E}">
        <p14:creationId xmlns:p14="http://schemas.microsoft.com/office/powerpoint/2010/main" val="1916478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GB" altLang="en-US" sz="4400" b="1" dirty="0">
                <a:solidFill>
                  <a:schemeClr val="tx1"/>
                </a:solidFill>
              </a:rPr>
              <a:t>Creating Short Names</a:t>
            </a:r>
            <a:endParaRPr lang="en-US" sz="2200"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15</a:t>
            </a:fld>
            <a:endParaRPr lang="en-US" sz="700"/>
          </a:p>
        </p:txBody>
      </p:sp>
      <p:sp>
        <p:nvSpPr>
          <p:cNvPr id="3" name="Content Placeholder 3">
            <a:extLst>
              <a:ext uri="{FF2B5EF4-FFF2-40B4-BE49-F238E27FC236}">
                <a16:creationId xmlns:a16="http://schemas.microsoft.com/office/drawing/2014/main" id="{C4CF2DFD-A88F-C76D-44B4-16A263A0ECAA}"/>
              </a:ext>
            </a:extLst>
          </p:cNvPr>
          <p:cNvSpPr txBox="1">
            <a:spLocks/>
          </p:cNvSpPr>
          <p:nvPr/>
        </p:nvSpPr>
        <p:spPr>
          <a:xfrm>
            <a:off x="422608" y="1183205"/>
            <a:ext cx="8273143" cy="5463067"/>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GB" sz="2400" dirty="0">
                <a:solidFill>
                  <a:schemeClr val="tx1"/>
                </a:solidFill>
              </a:rPr>
              <a:t>Here are several guidelines for creating abbreviations.</a:t>
            </a:r>
            <a:r>
              <a:rPr lang="en-GB" sz="1800" dirty="0">
                <a:solidFill>
                  <a:schemeClr val="tx1"/>
                </a:solidFill>
              </a:rPr>
              <a:t> </a:t>
            </a:r>
          </a:p>
          <a:p>
            <a:pPr lvl="1">
              <a:buClr>
                <a:srgbClr val="0070C0"/>
              </a:buClr>
            </a:pPr>
            <a:r>
              <a:rPr lang="en-GB" sz="1800" dirty="0">
                <a:solidFill>
                  <a:schemeClr val="tx1"/>
                </a:solidFill>
              </a:rPr>
              <a:t>Use standard abbreviations (the ones in common use, which are listed in a dictionary). </a:t>
            </a:r>
          </a:p>
          <a:p>
            <a:pPr lvl="1">
              <a:buClr>
                <a:srgbClr val="0070C0"/>
              </a:buClr>
            </a:pPr>
            <a:r>
              <a:rPr lang="en-GB" sz="1800" dirty="0">
                <a:solidFill>
                  <a:schemeClr val="tx1"/>
                </a:solidFill>
              </a:rPr>
              <a:t>Remove all nonleading vowels. (computer becomes </a:t>
            </a:r>
            <a:r>
              <a:rPr lang="en-GB" sz="1800" dirty="0" err="1">
                <a:solidFill>
                  <a:schemeClr val="tx1"/>
                </a:solidFill>
              </a:rPr>
              <a:t>cmptr</a:t>
            </a:r>
            <a:r>
              <a:rPr lang="en-GB" sz="1800" dirty="0">
                <a:solidFill>
                  <a:schemeClr val="tx1"/>
                </a:solidFill>
              </a:rPr>
              <a:t>, and screen becomes </a:t>
            </a:r>
            <a:r>
              <a:rPr lang="en-GB" sz="1800" dirty="0" err="1">
                <a:solidFill>
                  <a:schemeClr val="tx1"/>
                </a:solidFill>
              </a:rPr>
              <a:t>scrn</a:t>
            </a:r>
            <a:r>
              <a:rPr lang="en-GB" sz="1800" dirty="0">
                <a:solidFill>
                  <a:schemeClr val="tx1"/>
                </a:solidFill>
              </a:rPr>
              <a:t>. apple becomes </a:t>
            </a:r>
            <a:r>
              <a:rPr lang="en-GB" sz="1800" dirty="0" err="1">
                <a:solidFill>
                  <a:schemeClr val="tx1"/>
                </a:solidFill>
              </a:rPr>
              <a:t>appl</a:t>
            </a:r>
            <a:r>
              <a:rPr lang="en-GB" sz="1800" dirty="0">
                <a:solidFill>
                  <a:schemeClr val="tx1"/>
                </a:solidFill>
              </a:rPr>
              <a:t>, and integer becomes </a:t>
            </a:r>
            <a:r>
              <a:rPr lang="en-GB" sz="1800" dirty="0" err="1">
                <a:solidFill>
                  <a:schemeClr val="tx1"/>
                </a:solidFill>
              </a:rPr>
              <a:t>intgr</a:t>
            </a:r>
            <a:r>
              <a:rPr lang="en-GB" sz="1800" dirty="0">
                <a:solidFill>
                  <a:schemeClr val="tx1"/>
                </a:solidFill>
              </a:rPr>
              <a:t>.) </a:t>
            </a:r>
          </a:p>
          <a:p>
            <a:pPr lvl="1">
              <a:buClr>
                <a:srgbClr val="0070C0"/>
              </a:buClr>
            </a:pPr>
            <a:r>
              <a:rPr lang="en-GB" sz="1800" dirty="0">
                <a:solidFill>
                  <a:schemeClr val="tx1"/>
                </a:solidFill>
              </a:rPr>
              <a:t>Remove articles: and, or, the, and so on. </a:t>
            </a:r>
          </a:p>
          <a:p>
            <a:pPr lvl="1">
              <a:buClr>
                <a:srgbClr val="0070C0"/>
              </a:buClr>
            </a:pPr>
            <a:r>
              <a:rPr lang="en-GB" sz="1800" dirty="0">
                <a:solidFill>
                  <a:schemeClr val="tx1"/>
                </a:solidFill>
              </a:rPr>
              <a:t>Use the first letter or first few letters of each word.  </a:t>
            </a:r>
          </a:p>
          <a:p>
            <a:pPr lvl="1">
              <a:buClr>
                <a:srgbClr val="0070C0"/>
              </a:buClr>
            </a:pPr>
            <a:r>
              <a:rPr lang="en-GB" sz="1800" dirty="0">
                <a:solidFill>
                  <a:schemeClr val="tx1"/>
                </a:solidFill>
              </a:rPr>
              <a:t>Truncate after the first, second, or third (whichever is appropriate) letter of each word. </a:t>
            </a:r>
          </a:p>
          <a:p>
            <a:pPr lvl="1">
              <a:buClr>
                <a:srgbClr val="0070C0"/>
              </a:buClr>
            </a:pPr>
            <a:r>
              <a:rPr lang="en-GB" sz="1800" dirty="0">
                <a:solidFill>
                  <a:schemeClr val="tx1"/>
                </a:solidFill>
              </a:rPr>
              <a:t>Keep the first and last letters of each word. </a:t>
            </a:r>
          </a:p>
          <a:p>
            <a:pPr lvl="1">
              <a:buClr>
                <a:srgbClr val="0070C0"/>
              </a:buClr>
            </a:pPr>
            <a:r>
              <a:rPr lang="en-GB" sz="1800" dirty="0">
                <a:solidFill>
                  <a:schemeClr val="tx1"/>
                </a:solidFill>
              </a:rPr>
              <a:t>Use every significant word in the name, up to a maximum of three words. </a:t>
            </a:r>
          </a:p>
          <a:p>
            <a:pPr lvl="1">
              <a:buClr>
                <a:srgbClr val="0070C0"/>
              </a:buClr>
            </a:pPr>
            <a:r>
              <a:rPr lang="en-GB" sz="1800" dirty="0">
                <a:solidFill>
                  <a:schemeClr val="tx1"/>
                </a:solidFill>
              </a:rPr>
              <a:t>Remove useless suffixes—</a:t>
            </a:r>
            <a:r>
              <a:rPr lang="en-GB" sz="1800" dirty="0" err="1">
                <a:solidFill>
                  <a:schemeClr val="tx1"/>
                </a:solidFill>
              </a:rPr>
              <a:t>ing</a:t>
            </a:r>
            <a:r>
              <a:rPr lang="en-GB" sz="1800" dirty="0">
                <a:solidFill>
                  <a:schemeClr val="tx1"/>
                </a:solidFill>
              </a:rPr>
              <a:t>, ed, and so on. </a:t>
            </a:r>
          </a:p>
          <a:p>
            <a:pPr lvl="1">
              <a:buClr>
                <a:srgbClr val="0070C0"/>
              </a:buClr>
            </a:pPr>
            <a:r>
              <a:rPr lang="en-GB" sz="1800" dirty="0">
                <a:solidFill>
                  <a:schemeClr val="tx1"/>
                </a:solidFill>
              </a:rPr>
              <a:t>Keep the most noticeable sound in each syllable. </a:t>
            </a:r>
          </a:p>
          <a:p>
            <a:pPr lvl="1">
              <a:buClr>
                <a:srgbClr val="0070C0"/>
              </a:buClr>
            </a:pPr>
            <a:r>
              <a:rPr lang="en-GB" sz="1800" dirty="0">
                <a:solidFill>
                  <a:schemeClr val="tx1"/>
                </a:solidFill>
              </a:rPr>
              <a:t>Iterate through these techniques until you abbreviate each variable name to between 8 to 20 characters, or the number of characters to which your language limits variable names.</a:t>
            </a:r>
          </a:p>
        </p:txBody>
      </p:sp>
    </p:spTree>
    <p:extLst>
      <p:ext uri="{BB962C8B-B14F-4D97-AF65-F5344CB8AC3E}">
        <p14:creationId xmlns:p14="http://schemas.microsoft.com/office/powerpoint/2010/main" val="879807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GB" altLang="en-US" sz="4400" b="1" dirty="0">
                <a:solidFill>
                  <a:schemeClr val="tx1"/>
                </a:solidFill>
              </a:rPr>
              <a:t>Rules for abbreviations</a:t>
            </a:r>
            <a:endParaRPr lang="en-US" sz="2200"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16</a:t>
            </a:fld>
            <a:endParaRPr lang="en-US" sz="700"/>
          </a:p>
        </p:txBody>
      </p:sp>
      <p:sp>
        <p:nvSpPr>
          <p:cNvPr id="3" name="Content Placeholder 3">
            <a:extLst>
              <a:ext uri="{FF2B5EF4-FFF2-40B4-BE49-F238E27FC236}">
                <a16:creationId xmlns:a16="http://schemas.microsoft.com/office/drawing/2014/main" id="{C4CF2DFD-A88F-C76D-44B4-16A263A0ECAA}"/>
              </a:ext>
            </a:extLst>
          </p:cNvPr>
          <p:cNvSpPr txBox="1">
            <a:spLocks/>
          </p:cNvSpPr>
          <p:nvPr/>
        </p:nvSpPr>
        <p:spPr>
          <a:xfrm>
            <a:off x="422608" y="1183205"/>
            <a:ext cx="8273143" cy="5463067"/>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GB" sz="2400" dirty="0">
                <a:solidFill>
                  <a:schemeClr val="tx1"/>
                </a:solidFill>
              </a:rPr>
              <a:t>Don’t abbreviate by removing one character from a word </a:t>
            </a:r>
          </a:p>
          <a:p>
            <a:r>
              <a:rPr lang="en-GB" sz="2400" dirty="0">
                <a:solidFill>
                  <a:schemeClr val="tx1"/>
                </a:solidFill>
              </a:rPr>
              <a:t>Abbreviate consistently </a:t>
            </a:r>
          </a:p>
          <a:p>
            <a:r>
              <a:rPr lang="en-GB" sz="2400" dirty="0">
                <a:solidFill>
                  <a:schemeClr val="tx1"/>
                </a:solidFill>
              </a:rPr>
              <a:t>Create names that you can pronounce</a:t>
            </a:r>
          </a:p>
          <a:p>
            <a:r>
              <a:rPr lang="en-GB" sz="2400" dirty="0">
                <a:solidFill>
                  <a:schemeClr val="tx1"/>
                </a:solidFill>
              </a:rPr>
              <a:t>Avoid combinations that result in mispronunciation</a:t>
            </a:r>
          </a:p>
          <a:p>
            <a:r>
              <a:rPr lang="en-GB" sz="2400" dirty="0">
                <a:solidFill>
                  <a:schemeClr val="tx1"/>
                </a:solidFill>
              </a:rPr>
              <a:t>Use a thesaurus to resolve naming collisions</a:t>
            </a:r>
          </a:p>
          <a:p>
            <a:r>
              <a:rPr lang="en-GB" sz="2400" dirty="0">
                <a:solidFill>
                  <a:schemeClr val="tx1"/>
                </a:solidFill>
              </a:rPr>
              <a:t>Document extremely short names with translation tables in the code </a:t>
            </a:r>
          </a:p>
          <a:p>
            <a:r>
              <a:rPr lang="en-GB" sz="2400" dirty="0">
                <a:solidFill>
                  <a:schemeClr val="tx1"/>
                </a:solidFill>
              </a:rPr>
              <a:t>Document all abbreviations in a project-level “Standard Abbreviations” document </a:t>
            </a:r>
          </a:p>
          <a:p>
            <a:r>
              <a:rPr lang="en-GB" sz="2400" dirty="0">
                <a:solidFill>
                  <a:schemeClr val="tx1"/>
                </a:solidFill>
              </a:rPr>
              <a:t>Remember that names matter more to the reader of the code than to the writer</a:t>
            </a:r>
          </a:p>
        </p:txBody>
      </p:sp>
    </p:spTree>
    <p:extLst>
      <p:ext uri="{BB962C8B-B14F-4D97-AF65-F5344CB8AC3E}">
        <p14:creationId xmlns:p14="http://schemas.microsoft.com/office/powerpoint/2010/main" val="39647694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GB" altLang="en-US" sz="4400" b="1" dirty="0">
                <a:solidFill>
                  <a:schemeClr val="tx1"/>
                </a:solidFill>
              </a:rPr>
              <a:t>Kinds of Names to Avoid </a:t>
            </a:r>
            <a:endParaRPr lang="en-US" sz="2200"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17</a:t>
            </a:fld>
            <a:endParaRPr lang="en-US" sz="700"/>
          </a:p>
        </p:txBody>
      </p:sp>
      <p:sp>
        <p:nvSpPr>
          <p:cNvPr id="3" name="Content Placeholder 3">
            <a:extLst>
              <a:ext uri="{FF2B5EF4-FFF2-40B4-BE49-F238E27FC236}">
                <a16:creationId xmlns:a16="http://schemas.microsoft.com/office/drawing/2014/main" id="{C4CF2DFD-A88F-C76D-44B4-16A263A0ECAA}"/>
              </a:ext>
            </a:extLst>
          </p:cNvPr>
          <p:cNvSpPr txBox="1">
            <a:spLocks/>
          </p:cNvSpPr>
          <p:nvPr/>
        </p:nvSpPr>
        <p:spPr>
          <a:xfrm>
            <a:off x="422608" y="1183205"/>
            <a:ext cx="8273143" cy="5463067"/>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GB" dirty="0">
                <a:solidFill>
                  <a:schemeClr val="tx1"/>
                </a:solidFill>
              </a:rPr>
              <a:t>Avoid misleading names or abbreviations </a:t>
            </a:r>
          </a:p>
          <a:p>
            <a:pPr lvl="1">
              <a:buClr>
                <a:srgbClr val="0070C0"/>
              </a:buClr>
            </a:pPr>
            <a:r>
              <a:rPr lang="en-GB" sz="2200" dirty="0">
                <a:solidFill>
                  <a:schemeClr val="tx1"/>
                </a:solidFill>
              </a:rPr>
              <a:t>Be sure that a name is unambiguous. For example, FALSE is usually the opposite of TRUE and would be a bad abbreviation for “Fig and Almond Season.” </a:t>
            </a:r>
          </a:p>
          <a:p>
            <a:r>
              <a:rPr lang="en-GB" dirty="0">
                <a:solidFill>
                  <a:schemeClr val="tx1"/>
                </a:solidFill>
              </a:rPr>
              <a:t>Avoid names with similar meanings</a:t>
            </a:r>
          </a:p>
          <a:p>
            <a:pPr lvl="1">
              <a:buClr>
                <a:srgbClr val="0070C0"/>
              </a:buClr>
            </a:pPr>
            <a:r>
              <a:rPr lang="en-GB" sz="2200" dirty="0">
                <a:solidFill>
                  <a:schemeClr val="tx1"/>
                </a:solidFill>
              </a:rPr>
              <a:t>For example, input and </a:t>
            </a:r>
            <a:r>
              <a:rPr lang="en-GB" sz="2200" dirty="0" err="1">
                <a:solidFill>
                  <a:schemeClr val="tx1"/>
                </a:solidFill>
              </a:rPr>
              <a:t>inputValue</a:t>
            </a:r>
            <a:r>
              <a:rPr lang="en-GB" sz="2200" dirty="0">
                <a:solidFill>
                  <a:schemeClr val="tx1"/>
                </a:solidFill>
              </a:rPr>
              <a:t>, </a:t>
            </a:r>
            <a:r>
              <a:rPr lang="en-GB" sz="2200" dirty="0" err="1">
                <a:solidFill>
                  <a:schemeClr val="tx1"/>
                </a:solidFill>
              </a:rPr>
              <a:t>recordNum</a:t>
            </a:r>
            <a:r>
              <a:rPr lang="en-GB" sz="2200" dirty="0">
                <a:solidFill>
                  <a:schemeClr val="tx1"/>
                </a:solidFill>
              </a:rPr>
              <a:t> and </a:t>
            </a:r>
            <a:r>
              <a:rPr lang="en-GB" sz="2200" dirty="0" err="1">
                <a:solidFill>
                  <a:schemeClr val="tx1"/>
                </a:solidFill>
              </a:rPr>
              <a:t>numRecords</a:t>
            </a:r>
            <a:r>
              <a:rPr lang="en-GB" sz="2200" dirty="0">
                <a:solidFill>
                  <a:schemeClr val="tx1"/>
                </a:solidFill>
              </a:rPr>
              <a:t>, and </a:t>
            </a:r>
            <a:r>
              <a:rPr lang="en-GB" sz="2200" dirty="0" err="1">
                <a:solidFill>
                  <a:schemeClr val="tx1"/>
                </a:solidFill>
              </a:rPr>
              <a:t>fileNumber</a:t>
            </a:r>
            <a:r>
              <a:rPr lang="en-GB" sz="2200" dirty="0">
                <a:solidFill>
                  <a:schemeClr val="tx1"/>
                </a:solidFill>
              </a:rPr>
              <a:t> and </a:t>
            </a:r>
            <a:r>
              <a:rPr lang="en-GB" sz="2200" dirty="0" err="1">
                <a:solidFill>
                  <a:schemeClr val="tx1"/>
                </a:solidFill>
              </a:rPr>
              <a:t>fileIndex</a:t>
            </a:r>
            <a:r>
              <a:rPr lang="en-GB" sz="2200" dirty="0">
                <a:solidFill>
                  <a:schemeClr val="tx1"/>
                </a:solidFill>
              </a:rPr>
              <a:t> are so semantically similar that if you use them in the same piece of code you’ll easily confuse them</a:t>
            </a:r>
          </a:p>
          <a:p>
            <a:r>
              <a:rPr lang="en-GB" dirty="0">
                <a:solidFill>
                  <a:schemeClr val="tx1"/>
                </a:solidFill>
              </a:rPr>
              <a:t>Avoid variables with different meanings but similar names </a:t>
            </a:r>
          </a:p>
          <a:p>
            <a:pPr lvl="1">
              <a:buClr>
                <a:srgbClr val="0070C0"/>
              </a:buClr>
            </a:pPr>
            <a:r>
              <a:rPr lang="en-GB" sz="2200" dirty="0">
                <a:solidFill>
                  <a:schemeClr val="tx1"/>
                </a:solidFill>
              </a:rPr>
              <a:t>If you have two variables with similar names and different meanings, try to rename one of them or change your abbreviations</a:t>
            </a:r>
          </a:p>
        </p:txBody>
      </p:sp>
    </p:spTree>
    <p:extLst>
      <p:ext uri="{BB962C8B-B14F-4D97-AF65-F5344CB8AC3E}">
        <p14:creationId xmlns:p14="http://schemas.microsoft.com/office/powerpoint/2010/main" val="585906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GB" altLang="en-US" sz="4400" b="1" dirty="0">
                <a:solidFill>
                  <a:schemeClr val="tx1"/>
                </a:solidFill>
              </a:rPr>
              <a:t>Kinds of names to avoid</a:t>
            </a:r>
            <a:endParaRPr lang="en-US" sz="2200"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18</a:t>
            </a:fld>
            <a:endParaRPr lang="en-US" sz="700"/>
          </a:p>
        </p:txBody>
      </p:sp>
      <p:sp>
        <p:nvSpPr>
          <p:cNvPr id="3" name="Content Placeholder 3">
            <a:extLst>
              <a:ext uri="{FF2B5EF4-FFF2-40B4-BE49-F238E27FC236}">
                <a16:creationId xmlns:a16="http://schemas.microsoft.com/office/drawing/2014/main" id="{C4CF2DFD-A88F-C76D-44B4-16A263A0ECAA}"/>
              </a:ext>
            </a:extLst>
          </p:cNvPr>
          <p:cNvSpPr txBox="1">
            <a:spLocks/>
          </p:cNvSpPr>
          <p:nvPr/>
        </p:nvSpPr>
        <p:spPr>
          <a:xfrm>
            <a:off x="422608" y="1183205"/>
            <a:ext cx="8273143" cy="5463067"/>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GB" sz="2400" dirty="0">
                <a:solidFill>
                  <a:schemeClr val="tx1"/>
                </a:solidFill>
              </a:rPr>
              <a:t>Avoid names that sound similar, such as wrap and rap</a:t>
            </a:r>
          </a:p>
          <a:p>
            <a:r>
              <a:rPr lang="en-GB" sz="2400" dirty="0">
                <a:solidFill>
                  <a:schemeClr val="tx1"/>
                </a:solidFill>
              </a:rPr>
              <a:t>Avoid numerals in names</a:t>
            </a:r>
          </a:p>
          <a:p>
            <a:r>
              <a:rPr lang="en-GB" sz="2400" dirty="0">
                <a:solidFill>
                  <a:schemeClr val="tx1"/>
                </a:solidFill>
              </a:rPr>
              <a:t>Avoid misspelled words in names</a:t>
            </a:r>
          </a:p>
          <a:p>
            <a:r>
              <a:rPr lang="en-GB" sz="2400" dirty="0">
                <a:solidFill>
                  <a:schemeClr val="tx1"/>
                </a:solidFill>
              </a:rPr>
              <a:t>Avoid words that are commonly misspelled in English </a:t>
            </a:r>
          </a:p>
          <a:p>
            <a:r>
              <a:rPr lang="en-GB" sz="2400" dirty="0">
                <a:solidFill>
                  <a:schemeClr val="tx1"/>
                </a:solidFill>
              </a:rPr>
              <a:t>Don’t differentiate variable names solely by capitalization</a:t>
            </a:r>
          </a:p>
          <a:p>
            <a:r>
              <a:rPr lang="en-GB" sz="2400" dirty="0">
                <a:solidFill>
                  <a:schemeClr val="tx1"/>
                </a:solidFill>
              </a:rPr>
              <a:t>Avoid multiple natural languages </a:t>
            </a:r>
          </a:p>
          <a:p>
            <a:r>
              <a:rPr lang="en-GB" sz="2400" dirty="0">
                <a:solidFill>
                  <a:schemeClr val="tx1"/>
                </a:solidFill>
              </a:rPr>
              <a:t>Avoid the names of standard types, variables, and routines </a:t>
            </a:r>
          </a:p>
          <a:p>
            <a:r>
              <a:rPr lang="en-GB" sz="2400" dirty="0">
                <a:solidFill>
                  <a:schemeClr val="tx1"/>
                </a:solidFill>
              </a:rPr>
              <a:t>Don’t use names that are totally unrelated to what the variables represent</a:t>
            </a:r>
          </a:p>
          <a:p>
            <a:r>
              <a:rPr lang="en-GB" sz="2400" dirty="0">
                <a:solidFill>
                  <a:schemeClr val="tx1"/>
                </a:solidFill>
              </a:rPr>
              <a:t>Avoid names containing hard-to-read characters</a:t>
            </a:r>
          </a:p>
        </p:txBody>
      </p:sp>
    </p:spTree>
    <p:extLst>
      <p:ext uri="{BB962C8B-B14F-4D97-AF65-F5344CB8AC3E}">
        <p14:creationId xmlns:p14="http://schemas.microsoft.com/office/powerpoint/2010/main" val="2603667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b="1" dirty="0">
                <a:solidFill>
                  <a:schemeClr val="tx1"/>
                </a:solidFill>
                <a:latin typeface="+mn-lt"/>
              </a:rPr>
              <a:t>Reading</a:t>
            </a: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19</a:t>
            </a:fld>
            <a:endParaRPr lang="en-US" sz="700"/>
          </a:p>
        </p:txBody>
      </p:sp>
      <p:sp>
        <p:nvSpPr>
          <p:cNvPr id="3" name="Rectangle 6">
            <a:extLst>
              <a:ext uri="{FF2B5EF4-FFF2-40B4-BE49-F238E27FC236}">
                <a16:creationId xmlns:a16="http://schemas.microsoft.com/office/drawing/2014/main" id="{FA656E32-1156-FEA0-19B6-F14CFAE5A804}"/>
              </a:ext>
            </a:extLst>
          </p:cNvPr>
          <p:cNvSpPr>
            <a:spLocks noGrp="1" noChangeArrowheads="1"/>
          </p:cNvSpPr>
          <p:nvPr>
            <p:ph idx="1"/>
          </p:nvPr>
        </p:nvSpPr>
        <p:spPr>
          <a:xfrm>
            <a:off x="146120" y="1400727"/>
            <a:ext cx="8496839" cy="3429000"/>
          </a:xfrm>
        </p:spPr>
        <p:txBody>
          <a:bodyPr/>
          <a:lstStyle/>
          <a:p>
            <a:pPr marL="548640" lvl="1" indent="-274320" eaLnBrk="1" fontAlgn="auto" hangingPunct="1">
              <a:spcAft>
                <a:spcPts val="0"/>
              </a:spcAft>
              <a:buClr>
                <a:srgbClr val="0070C0"/>
              </a:buClr>
              <a:buFont typeface="Wingdings 3"/>
              <a:buChar char=""/>
              <a:defRPr/>
            </a:pPr>
            <a:r>
              <a:rPr lang="en-US" sz="2000" dirty="0">
                <a:solidFill>
                  <a:srgbClr val="46424D"/>
                </a:solidFill>
                <a:latin typeface="Arial"/>
                <a:ea typeface="ＭＳ Ｐゴシック" charset="-128"/>
                <a:cs typeface="Arial"/>
              </a:rPr>
              <a:t>Code Complete: A Practical Handbook of Software Construction, 2</a:t>
            </a:r>
            <a:r>
              <a:rPr lang="en-US" sz="2000" baseline="30000" dirty="0">
                <a:solidFill>
                  <a:srgbClr val="46424D"/>
                </a:solidFill>
                <a:latin typeface="Arial"/>
                <a:ea typeface="ＭＳ Ｐゴシック" charset="-128"/>
                <a:cs typeface="Arial"/>
              </a:rPr>
              <a:t>nd</a:t>
            </a:r>
            <a:r>
              <a:rPr lang="en-US" sz="2000" dirty="0">
                <a:solidFill>
                  <a:srgbClr val="46424D"/>
                </a:solidFill>
                <a:latin typeface="Arial"/>
                <a:ea typeface="ＭＳ Ｐゴシック" charset="-128"/>
                <a:cs typeface="Arial"/>
              </a:rPr>
              <a:t> Edition, Steve McConnell. </a:t>
            </a:r>
          </a:p>
          <a:p>
            <a:pPr marL="823277" lvl="2" indent="-274320" eaLnBrk="1" fontAlgn="auto" hangingPunct="1">
              <a:spcAft>
                <a:spcPts val="0"/>
              </a:spcAft>
              <a:buClr>
                <a:srgbClr val="0070C0"/>
              </a:buClr>
              <a:buFont typeface="Wingdings 3"/>
              <a:buChar char=""/>
              <a:defRPr/>
            </a:pPr>
            <a:r>
              <a:rPr lang="en-US" sz="1700" dirty="0">
                <a:solidFill>
                  <a:srgbClr val="46424D"/>
                </a:solidFill>
                <a:latin typeface="Arial"/>
                <a:ea typeface="ＭＳ Ｐゴシック" charset="-128"/>
                <a:cs typeface="Arial"/>
              </a:rPr>
              <a:t>Chapter 10</a:t>
            </a:r>
          </a:p>
          <a:p>
            <a:pPr marL="533400" lvl="1" indent="-533400" eaLnBrk="1" hangingPunct="1">
              <a:lnSpc>
                <a:spcPct val="115000"/>
              </a:lnSpc>
              <a:spcBef>
                <a:spcPct val="40000"/>
              </a:spcBef>
              <a:buClr>
                <a:srgbClr val="0BD0D9"/>
              </a:buClr>
              <a:buSzPct val="95000"/>
              <a:buFont typeface="Wingdings 2" pitchFamily="18" charset="2"/>
              <a:buNone/>
              <a:defRPr/>
            </a:pPr>
            <a:endParaRPr lang="en-NZ" altLang="en-US" dirty="0"/>
          </a:p>
        </p:txBody>
      </p:sp>
      <p:pic>
        <p:nvPicPr>
          <p:cNvPr id="4" name="Picture 2">
            <a:extLst>
              <a:ext uri="{FF2B5EF4-FFF2-40B4-BE49-F238E27FC236}">
                <a16:creationId xmlns:a16="http://schemas.microsoft.com/office/drawing/2014/main" id="{1A4C1AEE-513E-5F44-2B1B-675D0D4D3F8F}"/>
              </a:ext>
            </a:extLst>
          </p:cNvPr>
          <p:cNvPicPr>
            <a:picLocks noChangeAspect="1" noChangeArrowheads="1"/>
          </p:cNvPicPr>
          <p:nvPr/>
        </p:nvPicPr>
        <p:blipFill>
          <a:blip r:embed="rId2" cstate="print"/>
          <a:srcRect/>
          <a:stretch>
            <a:fillRect/>
          </a:stretch>
        </p:blipFill>
        <p:spPr bwMode="auto">
          <a:xfrm>
            <a:off x="2647167" y="2186758"/>
            <a:ext cx="4171950" cy="4343400"/>
          </a:xfrm>
          <a:prstGeom prst="rect">
            <a:avLst/>
          </a:prstGeom>
          <a:noFill/>
          <a:ln w="9525">
            <a:noFill/>
            <a:miter lim="800000"/>
            <a:headEnd/>
            <a:tailEnd/>
          </a:ln>
        </p:spPr>
      </p:pic>
    </p:spTree>
    <p:extLst>
      <p:ext uri="{BB962C8B-B14F-4D97-AF65-F5344CB8AC3E}">
        <p14:creationId xmlns:p14="http://schemas.microsoft.com/office/powerpoint/2010/main" val="34556855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20</a:t>
            </a:fld>
            <a:endParaRPr lang="en-US" sz="700"/>
          </a:p>
        </p:txBody>
      </p:sp>
      <p:sp>
        <p:nvSpPr>
          <p:cNvPr id="4" name="TextBox 3">
            <a:extLst>
              <a:ext uri="{FF2B5EF4-FFF2-40B4-BE49-F238E27FC236}">
                <a16:creationId xmlns:a16="http://schemas.microsoft.com/office/drawing/2014/main" id="{88C360D8-06EC-45E1-9F03-07203CCB8D4E}"/>
              </a:ext>
            </a:extLst>
          </p:cNvPr>
          <p:cNvSpPr txBox="1"/>
          <p:nvPr/>
        </p:nvSpPr>
        <p:spPr>
          <a:xfrm>
            <a:off x="1721224" y="2286000"/>
            <a:ext cx="570155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a:solidFill>
                  <a:srgbClr val="404040"/>
                </a:solidFill>
                <a:cs typeface="Calibri"/>
              </a:rPr>
              <a:t>Any questions? ​</a:t>
            </a:r>
          </a:p>
          <a:p>
            <a:pPr algn="ctr"/>
            <a:r>
              <a:rPr lang="en-US" sz="3600">
                <a:solidFill>
                  <a:srgbClr val="404040"/>
                </a:solidFill>
                <a:cs typeface="Calibri"/>
              </a:rPr>
              <a:t>Please feel free to raise your hands and ask.</a:t>
            </a:r>
          </a:p>
        </p:txBody>
      </p:sp>
      <p:pic>
        <p:nvPicPr>
          <p:cNvPr id="2" name="Picture 2">
            <a:extLst>
              <a:ext uri="{FF2B5EF4-FFF2-40B4-BE49-F238E27FC236}">
                <a16:creationId xmlns:a16="http://schemas.microsoft.com/office/drawing/2014/main" id="{D0711CCF-C1F4-43F6-B9FC-0A5338AB8F85}"/>
              </a:ext>
            </a:extLst>
          </p:cNvPr>
          <p:cNvPicPr>
            <a:picLocks noChangeAspect="1"/>
          </p:cNvPicPr>
          <p:nvPr/>
        </p:nvPicPr>
        <p:blipFill>
          <a:blip r:embed="rId2"/>
          <a:stretch>
            <a:fillRect/>
          </a:stretch>
        </p:blipFill>
        <p:spPr>
          <a:xfrm>
            <a:off x="3915508" y="675881"/>
            <a:ext cx="1299457" cy="1285931"/>
          </a:xfrm>
          <a:prstGeom prst="rect">
            <a:avLst/>
          </a:prstGeom>
        </p:spPr>
      </p:pic>
    </p:spTree>
    <p:extLst>
      <p:ext uri="{BB962C8B-B14F-4D97-AF65-F5344CB8AC3E}">
        <p14:creationId xmlns:p14="http://schemas.microsoft.com/office/powerpoint/2010/main" val="2615860504"/>
      </p:ext>
    </p:extLst>
  </p:cSld>
  <p:clrMapOvr>
    <a:masterClrMapping/>
  </p:clrMapOvr>
</p:sld>
</file>

<file path=ppt/theme/theme1.xml><?xml version="1.0" encoding="utf-8"?>
<a:theme xmlns:a="http://schemas.openxmlformats.org/drawingml/2006/main" name="Theme CPIT 110">
  <a:themeElements>
    <a:clrScheme name="Custom 1">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A2B7C0"/>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heme CPIT 110" id="{8B30B5B8-1EAF-4AD4-A47C-55C6155E0564}" vid="{0F986C0D-D438-41BC-BADF-01C576FE679B}"/>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91684B4F51014982BED21342ACE24F" ma:contentTypeVersion="12" ma:contentTypeDescription="Create a new document." ma:contentTypeScope="" ma:versionID="a6d97c19bf0848d1afa7cfd1ece83864">
  <xsd:schema xmlns:xsd="http://www.w3.org/2001/XMLSchema" xmlns:xs="http://www.w3.org/2001/XMLSchema" xmlns:p="http://schemas.microsoft.com/office/2006/metadata/properties" xmlns:ns2="d55b910c-306d-4260-bef9-52053e20f3ad" xmlns:ns3="9c7ea19a-b04b-43f3-b15e-cde561b15e5b" targetNamespace="http://schemas.microsoft.com/office/2006/metadata/properties" ma:root="true" ma:fieldsID="c0bbd26d2dc288229e6760ed0810afc6" ns2:_="" ns3:_="">
    <xsd:import namespace="d55b910c-306d-4260-bef9-52053e20f3ad"/>
    <xsd:import namespace="9c7ea19a-b04b-43f3-b15e-cde561b15e5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5b910c-306d-4260-bef9-52053e20f3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c7ea19a-b04b-43f3-b15e-cde561b15e5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198D305-912F-4EDA-B366-83F8180D3B01}">
  <ds:schemaRefs>
    <ds:schemaRef ds:uri="9c7ea19a-b04b-43f3-b15e-cde561b15e5b"/>
    <ds:schemaRef ds:uri="d55b910c-306d-4260-bef9-52053e20f3a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D0BDFD9-B336-410C-8C70-E8CCE7AD7CBC}">
  <ds:schemaRefs>
    <ds:schemaRef ds:uri="http://schemas.microsoft.com/sharepoint/v3/contenttype/forms"/>
  </ds:schemaRefs>
</ds:datastoreItem>
</file>

<file path=customXml/itemProps3.xml><?xml version="1.0" encoding="utf-8"?>
<ds:datastoreItem xmlns:ds="http://schemas.openxmlformats.org/officeDocument/2006/customXml" ds:itemID="{202E0C92-AC64-42CA-94F8-4CA15E127DA0}">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Theme CPIT 110</Template>
  <TotalTime>1272</TotalTime>
  <Words>2327</Words>
  <Application>Microsoft Office PowerPoint</Application>
  <PresentationFormat>On-screen Show (4:3)</PresentationFormat>
  <Paragraphs>181</Paragraphs>
  <Slides>20</Slides>
  <Notes>6</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20</vt:i4>
      </vt:variant>
    </vt:vector>
  </HeadingPairs>
  <TitlesOfParts>
    <vt:vector size="32" baseType="lpstr">
      <vt:lpstr>Arial</vt:lpstr>
      <vt:lpstr>Calibri</vt:lpstr>
      <vt:lpstr>Calibri Light</vt:lpstr>
      <vt:lpstr>Eurostile</vt:lpstr>
      <vt:lpstr>Söhne</vt:lpstr>
      <vt:lpstr>Söhne Mono</vt:lpstr>
      <vt:lpstr>Times New Roman</vt:lpstr>
      <vt:lpstr>Wingdings</vt:lpstr>
      <vt:lpstr>Wingdings 2</vt:lpstr>
      <vt:lpstr>Wingdings 3</vt:lpstr>
      <vt:lpstr>Theme CPIT 110</vt:lpstr>
      <vt:lpstr>Custom Design</vt:lpstr>
      <vt:lpstr>Chapter  3.3 High-Quality Variables</vt:lpstr>
      <vt:lpstr>Outline</vt:lpstr>
      <vt:lpstr>Good Names</vt:lpstr>
      <vt:lpstr>Good Names</vt:lpstr>
      <vt:lpstr>Good Names</vt:lpstr>
      <vt:lpstr>The Most Important Naming Consideration</vt:lpstr>
      <vt:lpstr>The Most Important Naming Consideration</vt:lpstr>
      <vt:lpstr>Naming Specific Types of Data</vt:lpstr>
      <vt:lpstr>Naming Specific Types of Data</vt:lpstr>
      <vt:lpstr>Naming Specific Types of Data</vt:lpstr>
      <vt:lpstr>Naming Specific Types of Data</vt:lpstr>
      <vt:lpstr>Naming Specific Types of Data</vt:lpstr>
      <vt:lpstr>Naming Conventions When You Should Have a Naming Convention?</vt:lpstr>
      <vt:lpstr>Naming Conventions Sample</vt:lpstr>
      <vt:lpstr>Creating Short Names</vt:lpstr>
      <vt:lpstr>Rules for abbreviations</vt:lpstr>
      <vt:lpstr>Kinds of Names to Avoid </vt:lpstr>
      <vt:lpstr>Kinds of names to avoid</vt:lpstr>
      <vt:lpstr>Reading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  Introduction to Problem-Solving</dc:title>
  <dc:creator>Ahmad Tayeb;ajtayeb@kau.edu.sa</dc:creator>
  <cp:lastModifiedBy>Mohammad Dakhilallah Mohammad Alahmadi</cp:lastModifiedBy>
  <cp:revision>36</cp:revision>
  <dcterms:created xsi:type="dcterms:W3CDTF">2019-06-07T16:06:41Z</dcterms:created>
  <dcterms:modified xsi:type="dcterms:W3CDTF">2023-10-03T20:56:16Z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0x0101007D91684B4F51014982BED21342ACE24F</vt:lpwstr>
  </property>
</Properties>
</file>