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19"/>
  </p:notesMasterIdLst>
  <p:sldIdLst>
    <p:sldId id="330" r:id="rId6"/>
    <p:sldId id="432" r:id="rId7"/>
    <p:sldId id="333" r:id="rId8"/>
    <p:sldId id="416" r:id="rId9"/>
    <p:sldId id="417" r:id="rId10"/>
    <p:sldId id="419" r:id="rId11"/>
    <p:sldId id="420" r:id="rId12"/>
    <p:sldId id="421" r:id="rId13"/>
    <p:sldId id="415" r:id="rId14"/>
    <p:sldId id="434" r:id="rId15"/>
    <p:sldId id="435" r:id="rId16"/>
    <p:sldId id="424" r:id="rId17"/>
    <p:sldId id="41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32"/>
            <p14:sldId id="333"/>
            <p14:sldId id="416"/>
            <p14:sldId id="417"/>
            <p14:sldId id="419"/>
            <p14:sldId id="420"/>
            <p14:sldId id="421"/>
            <p14:sldId id="415"/>
            <p14:sldId id="434"/>
            <p14:sldId id="435"/>
            <p14:sldId id="424"/>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94607"/>
  </p:normalViewPr>
  <p:slideViewPr>
    <p:cSldViewPr snapToGrid="0">
      <p:cViewPr varScale="1">
        <p:scale>
          <a:sx n="104" d="100"/>
          <a:sy n="104" d="100"/>
        </p:scale>
        <p:origin x="174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Dakhilallah Mohammad Alahmadi" userId="9b436a58-7297-423f-8410-66c59c69358a" providerId="ADAL" clId="{C8DE9D79-C3F2-4360-B491-8E44CFF0618B}"/>
    <pc:docChg chg="delSld modSection">
      <pc:chgData name="Mohammad Dakhilallah Mohammad Alahmadi" userId="9b436a58-7297-423f-8410-66c59c69358a" providerId="ADAL" clId="{C8DE9D79-C3F2-4360-B491-8E44CFF0618B}" dt="2023-09-09T19:48:46.361" v="0" actId="47"/>
      <pc:docMkLst>
        <pc:docMk/>
      </pc:docMkLst>
      <pc:sldChg chg="del">
        <pc:chgData name="Mohammad Dakhilallah Mohammad Alahmadi" userId="9b436a58-7297-423f-8410-66c59c69358a" providerId="ADAL" clId="{C8DE9D79-C3F2-4360-B491-8E44CFF0618B}" dt="2023-09-09T19:48:46.361" v="0" actId="47"/>
        <pc:sldMkLst>
          <pc:docMk/>
          <pc:sldMk cId="202596297" sldId="433"/>
        </pc:sldMkLst>
      </pc:sldChg>
    </pc:docChg>
  </pc:docChgLst>
  <pc:docChgLst>
    <pc:chgData name="Mohammad Dakhilallah Mohammad Alahmadi" userId="S::04100753@uj.edu.sa::9b436a58-7297-423f-8410-66c59c69358a" providerId="AD" clId="Web-{5815C9AE-687A-5F74-30EF-55F9DA27616D}"/>
    <pc:docChg chg="delSld modSection">
      <pc:chgData name="Mohammad Dakhilallah Mohammad Alahmadi" userId="S::04100753@uj.edu.sa::9b436a58-7297-423f-8410-66c59c69358a" providerId="AD" clId="Web-{5815C9AE-687A-5F74-30EF-55F9DA27616D}" dt="2023-08-25T12:14:16.043" v="1"/>
      <pc:docMkLst>
        <pc:docMk/>
      </pc:docMkLst>
      <pc:sldChg chg="del">
        <pc:chgData name="Mohammad Dakhilallah Mohammad Alahmadi" userId="S::04100753@uj.edu.sa::9b436a58-7297-423f-8410-66c59c69358a" providerId="AD" clId="Web-{5815C9AE-687A-5F74-30EF-55F9DA27616D}" dt="2023-08-25T12:14:16.043" v="1"/>
        <pc:sldMkLst>
          <pc:docMk/>
          <pc:sldMk cId="2586610191" sldId="423"/>
        </pc:sldMkLst>
      </pc:sldChg>
      <pc:sldChg chg="del">
        <pc:chgData name="Mohammad Dakhilallah Mohammad Alahmadi" userId="S::04100753@uj.edu.sa::9b436a58-7297-423f-8410-66c59c69358a" providerId="AD" clId="Web-{5815C9AE-687A-5F74-30EF-55F9DA27616D}" dt="2023-08-25T12:14:04.762" v="0"/>
        <pc:sldMkLst>
          <pc:docMk/>
          <pc:sldMk cId="1251082562" sldId="431"/>
        </pc:sldMkLst>
      </pc:sldChg>
    </pc:docChg>
  </pc:docChgLst>
  <pc:docChgLst>
    <pc:chgData name="Mohammad Dakhilallah Mohammad Alahmadi" userId="9b436a58-7297-423f-8410-66c59c69358a" providerId="ADAL" clId="{C96DE68B-73F4-458D-B335-1CC07B1AB446}"/>
    <pc:docChg chg="modSld">
      <pc:chgData name="Mohammad Dakhilallah Mohammad Alahmadi" userId="9b436a58-7297-423f-8410-66c59c69358a" providerId="ADAL" clId="{C96DE68B-73F4-458D-B335-1CC07B1AB446}" dt="2025-02-16T08:33:07.053" v="0" actId="113"/>
      <pc:docMkLst>
        <pc:docMk/>
      </pc:docMkLst>
      <pc:sldChg chg="modSp mod">
        <pc:chgData name="Mohammad Dakhilallah Mohammad Alahmadi" userId="9b436a58-7297-423f-8410-66c59c69358a" providerId="ADAL" clId="{C96DE68B-73F4-458D-B335-1CC07B1AB446}" dt="2025-02-16T08:33:07.053" v="0" actId="113"/>
        <pc:sldMkLst>
          <pc:docMk/>
          <pc:sldMk cId="1076553011" sldId="416"/>
        </pc:sldMkLst>
        <pc:spChg chg="mod">
          <ac:chgData name="Mohammad Dakhilallah Mohammad Alahmadi" userId="9b436a58-7297-423f-8410-66c59c69358a" providerId="ADAL" clId="{C96DE68B-73F4-458D-B335-1CC07B1AB446}" dt="2025-02-16T08:33:07.053" v="0" actId="113"/>
          <ac:spMkLst>
            <pc:docMk/>
            <pc:sldMk cId="1076553011" sldId="416"/>
            <ac:spMk id="5" creationId="{BDC76981-5FEB-5C8A-A3F9-161780269D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2/16/2025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2/16/2025</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2/16/2025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2/16/2025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2/16/2025</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2/16/2025</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2/16/2025</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2/16/2025</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2/16/2025</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2/16/2025</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2/16/2025</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2/16/2025</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2/16/2025</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2/16/2025</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2/16/2025</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2/16/2025</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2/16/2025</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a:bodyPr>
          <a:lstStyle/>
          <a:p>
            <a:r>
              <a:rPr lang="en-US" altLang="en-US" b="1" dirty="0">
                <a:solidFill>
                  <a:schemeClr val="tx1"/>
                </a:solidFill>
              </a:rPr>
              <a:t>Chapter  2.8</a:t>
            </a:r>
            <a:br>
              <a:rPr lang="en-US" altLang="en-US" b="1">
                <a:solidFill>
                  <a:schemeClr val="tx1"/>
                </a:solidFill>
                <a:cs typeface="Calibri Light"/>
              </a:rPr>
            </a:br>
            <a:r>
              <a:rPr lang="en-US" altLang="en-US" b="1">
                <a:solidFill>
                  <a:schemeClr val="tx1"/>
                </a:solidFill>
              </a:rPr>
              <a:t>Creating High-Quality Code</a:t>
            </a:r>
            <a:endParaRPr lang="en-US" altLang="en-US" dirty="0">
              <a:solidFill>
                <a:schemeClr val="tx1"/>
              </a:solidFill>
            </a:endParaRP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pPr marL="12700">
              <a:spcBef>
                <a:spcPts val="100"/>
              </a:spcBef>
              <a:defRPr/>
            </a:pPr>
            <a:r>
              <a:rPr lang="en-US" sz="4400" b="1" dirty="0">
                <a:solidFill>
                  <a:schemeClr val="tx1"/>
                </a:solidFill>
                <a:latin typeface="+mn-lt"/>
              </a:rPr>
              <a:t>Outline</a:t>
            </a:r>
            <a:endParaRPr lang="en-US" sz="4400" b="1" dirty="0">
              <a:solidFill>
                <a:schemeClr val="tx1"/>
              </a:solidFill>
              <a:latin typeface="+mn-lt"/>
              <a:ea typeface="+mj-ea"/>
              <a:cs typeface="+mj-cs"/>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endParaRPr lang="en-US" sz="2400" dirty="0">
              <a:solidFill>
                <a:srgbClr val="84CDEA"/>
              </a:solidFill>
              <a:cs typeface="Calibri"/>
            </a:endParaRPr>
          </a:p>
          <a:p>
            <a:pPr lvl="1">
              <a:buClr>
                <a:srgbClr val="99CB38"/>
              </a:buClr>
            </a:pPr>
            <a:endParaRPr lang="en-US" sz="2000" dirty="0">
              <a:solidFill>
                <a:srgbClr val="404040"/>
              </a:solidFill>
              <a:cs typeface="Calibri"/>
            </a:endParaRPr>
          </a:p>
          <a:p>
            <a:pPr lvl="1">
              <a:buClr>
                <a:srgbClr val="99CB38"/>
              </a:buClr>
            </a:pPr>
            <a:endParaRPr lang="en-US" sz="2000" dirty="0">
              <a:solidFill>
                <a:srgbClr val="404040"/>
              </a:solidFill>
              <a:cs typeface="Calibri"/>
            </a:endParaRPr>
          </a:p>
          <a:p>
            <a:pPr marL="91440" indent="0">
              <a:buNone/>
            </a:pPr>
            <a:endParaRPr lang="en-US" sz="2400" dirty="0">
              <a:solidFill>
                <a:srgbClr val="84CDEA"/>
              </a:solidFill>
              <a:cs typeface="Calibri"/>
            </a:endParaRPr>
          </a:p>
          <a:p>
            <a:pPr marL="91440" indent="0">
              <a:buNone/>
            </a:pPr>
            <a:endParaRPr lang="en-US" sz="2400" dirty="0">
              <a:cs typeface="Calibri"/>
            </a:endParaRPr>
          </a:p>
          <a:p>
            <a:endParaRPr lang="en-US" sz="2400" dirty="0">
              <a:cs typeface="Calibri"/>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2" name="Content Placeholder 3">
            <a:extLst>
              <a:ext uri="{FF2B5EF4-FFF2-40B4-BE49-F238E27FC236}">
                <a16:creationId xmlns:a16="http://schemas.microsoft.com/office/drawing/2014/main" id="{882C841F-83CC-6554-A418-8F76BA16BB81}"/>
              </a:ext>
            </a:extLst>
          </p:cNvPr>
          <p:cNvSpPr txBox="1">
            <a:spLocks/>
          </p:cNvSpPr>
          <p:nvPr/>
        </p:nvSpPr>
        <p:spPr>
          <a:xfrm>
            <a:off x="400547" y="1234281"/>
            <a:ext cx="9615487"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High Quality Routines (Part 2 of 3)</a:t>
            </a:r>
          </a:p>
          <a:p>
            <a:pPr lvl="1">
              <a:buClr>
                <a:srgbClr val="0070C0"/>
              </a:buClr>
            </a:pPr>
            <a:r>
              <a:rPr lang="en-US" dirty="0"/>
              <a:t>Good Routine Names</a:t>
            </a:r>
          </a:p>
          <a:p>
            <a:pPr lvl="1">
              <a:buClr>
                <a:srgbClr val="0070C0"/>
              </a:buClr>
            </a:pPr>
            <a:r>
              <a:rPr lang="en-US" dirty="0"/>
              <a:t>How Long Can a Routine Be?</a:t>
            </a:r>
          </a:p>
          <a:p>
            <a:pPr lvl="1">
              <a:buClr>
                <a:srgbClr val="0070C0"/>
              </a:buClr>
            </a:pPr>
            <a:r>
              <a:rPr lang="en-US" dirty="0"/>
              <a:t>How to Use Routine Parameters?</a:t>
            </a:r>
          </a:p>
        </p:txBody>
      </p:sp>
    </p:spTree>
    <p:extLst>
      <p:ext uri="{BB962C8B-B14F-4D97-AF65-F5344CB8AC3E}">
        <p14:creationId xmlns:p14="http://schemas.microsoft.com/office/powerpoint/2010/main" val="378510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pPr marL="12700">
              <a:spcBef>
                <a:spcPts val="100"/>
              </a:spcBef>
              <a:defRPr/>
            </a:pPr>
            <a:r>
              <a:rPr lang="en-US" b="1" dirty="0">
                <a:solidFill>
                  <a:schemeClr val="tx1"/>
                </a:solidFill>
                <a:latin typeface="+mn-lt"/>
              </a:rPr>
              <a:t>Good Routine Names</a:t>
            </a:r>
            <a:endParaRPr lang="en-US" sz="4400" b="1" dirty="0">
              <a:solidFill>
                <a:schemeClr val="tx1"/>
              </a:solidFill>
              <a:latin typeface="+mn-lt"/>
              <a:ea typeface="+mj-ea"/>
              <a:cs typeface="+mj-cs"/>
            </a:endParaRPr>
          </a:p>
        </p:txBody>
      </p:sp>
      <p:sp>
        <p:nvSpPr>
          <p:cNvPr id="13" name="Slide Number Placeholder 4">
            <a:extLst>
              <a:ext uri="{FF2B5EF4-FFF2-40B4-BE49-F238E27FC236}">
                <a16:creationId xmlns:a16="http://schemas.microsoft.com/office/drawing/2014/main" id="{D82E0FC7-5721-BD56-4EB3-117337753300}"/>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sp>
        <p:nvSpPr>
          <p:cNvPr id="2" name="Rectangle 1">
            <a:extLst>
              <a:ext uri="{FF2B5EF4-FFF2-40B4-BE49-F238E27FC236}">
                <a16:creationId xmlns:a16="http://schemas.microsoft.com/office/drawing/2014/main" id="{E4F6A4B0-D506-08B1-2DE9-C1FD70463D93}"/>
              </a:ext>
            </a:extLst>
          </p:cNvPr>
          <p:cNvSpPr/>
          <p:nvPr/>
        </p:nvSpPr>
        <p:spPr>
          <a:xfrm>
            <a:off x="319088" y="1417638"/>
            <a:ext cx="8305800" cy="369887"/>
          </a:xfrm>
          <a:prstGeom prst="rect">
            <a:avLst/>
          </a:prstGeom>
        </p:spPr>
        <p:txBody>
          <a:bodyPr>
            <a:spAutoFit/>
          </a:bodyPr>
          <a:lstStyle/>
          <a:p>
            <a:pPr algn="ctr">
              <a:defRPr/>
            </a:pPr>
            <a:r>
              <a:rPr lang="en-US" dirty="0">
                <a:latin typeface="+mj-lt"/>
                <a:ea typeface="+mj-ea"/>
                <a:cs typeface="+mj-cs"/>
              </a:rPr>
              <a:t>A good name for a routine clearly describes everything the routine does</a:t>
            </a:r>
          </a:p>
        </p:txBody>
      </p:sp>
      <p:pic>
        <p:nvPicPr>
          <p:cNvPr id="3" name="Picture 7">
            <a:extLst>
              <a:ext uri="{FF2B5EF4-FFF2-40B4-BE49-F238E27FC236}">
                <a16:creationId xmlns:a16="http://schemas.microsoft.com/office/drawing/2014/main" id="{CC520B89-F560-9B9A-7986-46184549C0F1}"/>
              </a:ext>
            </a:extLst>
          </p:cNvPr>
          <p:cNvPicPr>
            <a:picLocks noChangeAspect="1" noChangeArrowheads="1"/>
          </p:cNvPicPr>
          <p:nvPr/>
        </p:nvPicPr>
        <p:blipFill>
          <a:blip r:embed="rId2" cstate="print"/>
          <a:srcRect/>
          <a:stretch>
            <a:fillRect/>
          </a:stretch>
        </p:blipFill>
        <p:spPr bwMode="auto">
          <a:xfrm>
            <a:off x="14288" y="2000250"/>
            <a:ext cx="9129711" cy="44767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83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ea typeface="+mj-ea"/>
                <a:cs typeface="+mj-cs"/>
              </a:rPr>
              <a:t>How Long Can a Routine Be?</a:t>
            </a:r>
            <a:endParaRPr lang="en-US" b="1" dirty="0">
              <a:solidFill>
                <a:schemeClr val="tx1"/>
              </a:solidFill>
              <a:latin typeface="+mn-lt"/>
            </a:endParaRPr>
          </a:p>
        </p:txBody>
      </p:sp>
      <p:sp>
        <p:nvSpPr>
          <p:cNvPr id="3" name="Slide Number Placeholder 4">
            <a:extLst>
              <a:ext uri="{FF2B5EF4-FFF2-40B4-BE49-F238E27FC236}">
                <a16:creationId xmlns:a16="http://schemas.microsoft.com/office/drawing/2014/main" id="{70A3CE7C-0372-9AA0-AABB-84D29E5B1C1B}"/>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sp>
        <p:nvSpPr>
          <p:cNvPr id="4" name="object 3">
            <a:extLst>
              <a:ext uri="{FF2B5EF4-FFF2-40B4-BE49-F238E27FC236}">
                <a16:creationId xmlns:a16="http://schemas.microsoft.com/office/drawing/2014/main" id="{9AE45345-1F08-9F10-E204-095DADEC01CC}"/>
              </a:ext>
            </a:extLst>
          </p:cNvPr>
          <p:cNvSpPr txBox="1">
            <a:spLocks noChangeArrowheads="1"/>
          </p:cNvSpPr>
          <p:nvPr/>
        </p:nvSpPr>
        <p:spPr bwMode="auto">
          <a:xfrm>
            <a:off x="279250" y="1622784"/>
            <a:ext cx="8752607" cy="2474913"/>
          </a:xfrm>
          <a:prstGeom prst="rect">
            <a:avLst/>
          </a:prstGeom>
          <a:noFill/>
          <a:ln w="9525">
            <a:noFill/>
            <a:miter lim="800000"/>
            <a:headEnd/>
            <a:tailEnd/>
          </a:ln>
        </p:spPr>
        <p:txBody>
          <a:bodyPr wrap="square" lIns="0" tIns="13335" rIns="0" bIns="0">
            <a:spAutoFit/>
          </a:bodyPr>
          <a:lstStyle/>
          <a:p>
            <a:pPr marL="12700">
              <a:spcBef>
                <a:spcPts val="100"/>
              </a:spcBef>
            </a:pPr>
            <a:r>
              <a:rPr lang="en-US" sz="3200" dirty="0">
                <a:latin typeface="Carlito"/>
                <a:ea typeface="Carlito"/>
                <a:cs typeface="Carlito"/>
              </a:rPr>
              <a:t>The theoretical best maximum length is often described as one screen or one or two pages of program listing, approximately </a:t>
            </a:r>
            <a:r>
              <a:rPr lang="en-US" sz="3200" b="1" dirty="0">
                <a:latin typeface="Carlito"/>
                <a:ea typeface="Carlito"/>
                <a:cs typeface="Carlito"/>
              </a:rPr>
              <a:t>50 to 150 lines</a:t>
            </a:r>
            <a:r>
              <a:rPr lang="en-US" sz="3200" dirty="0">
                <a:latin typeface="Carlito"/>
                <a:ea typeface="Carlito"/>
                <a:cs typeface="Carlito"/>
              </a:rPr>
              <a:t>. In this spirit, IBM once limited routines to 50 lines, and TRW limited them to two pages </a:t>
            </a:r>
            <a:r>
              <a:rPr lang="en-US" sz="2000" dirty="0">
                <a:latin typeface="Carlito"/>
                <a:ea typeface="Carlito"/>
                <a:cs typeface="Carlito"/>
              </a:rPr>
              <a:t>(McCabe 1976)</a:t>
            </a:r>
          </a:p>
        </p:txBody>
      </p:sp>
      <p:sp>
        <p:nvSpPr>
          <p:cNvPr id="5" name="object 4">
            <a:extLst>
              <a:ext uri="{FF2B5EF4-FFF2-40B4-BE49-F238E27FC236}">
                <a16:creationId xmlns:a16="http://schemas.microsoft.com/office/drawing/2014/main" id="{BDC76981-5FEB-5C8A-A3F9-161780269D5F}"/>
              </a:ext>
            </a:extLst>
          </p:cNvPr>
          <p:cNvSpPr txBox="1">
            <a:spLocks noChangeArrowheads="1"/>
          </p:cNvSpPr>
          <p:nvPr/>
        </p:nvSpPr>
        <p:spPr bwMode="auto">
          <a:xfrm>
            <a:off x="214162" y="4564422"/>
            <a:ext cx="8817695" cy="1131887"/>
          </a:xfrm>
          <a:prstGeom prst="rect">
            <a:avLst/>
          </a:prstGeom>
          <a:solidFill>
            <a:srgbClr val="FBE5D6"/>
          </a:solidFill>
          <a:ln w="9525">
            <a:noFill/>
            <a:miter lim="800000"/>
            <a:headEnd/>
            <a:tailEnd/>
          </a:ln>
        </p:spPr>
        <p:txBody>
          <a:bodyPr wrap="square" lIns="0" tIns="34290" rIns="0" bIns="0">
            <a:spAutoFit/>
          </a:bodyPr>
          <a:lstStyle/>
          <a:p>
            <a:pPr marL="139700" algn="ctr">
              <a:lnSpc>
                <a:spcPct val="99000"/>
              </a:lnSpc>
              <a:spcBef>
                <a:spcPts val="275"/>
              </a:spcBef>
            </a:pPr>
            <a:r>
              <a:rPr lang="en-US" i="1" dirty="0">
                <a:latin typeface="Carlito"/>
                <a:ea typeface="Carlito"/>
                <a:cs typeface="Carlito"/>
              </a:rPr>
              <a:t>A large percentage of routines in object-oriented programs will be accessor routines, which will be very short. From  time to time, </a:t>
            </a:r>
            <a:r>
              <a:rPr lang="en-US" b="1" i="1" dirty="0">
                <a:latin typeface="Carlito"/>
                <a:ea typeface="Carlito"/>
                <a:cs typeface="Carlito"/>
              </a:rPr>
              <a:t>a complex algorithm </a:t>
            </a:r>
            <a:r>
              <a:rPr lang="en-US" i="1" dirty="0">
                <a:latin typeface="Carlito"/>
                <a:ea typeface="Carlito"/>
                <a:cs typeface="Carlito"/>
              </a:rPr>
              <a:t>will lead to a longer routine, and in those circumstances, the routine should be allowed to grow organically up to 100–200 lines (A line is a non comment, nonblank line of source code).</a:t>
            </a:r>
            <a:endParaRPr lang="en-US" dirty="0">
              <a:latin typeface="Carlito"/>
              <a:ea typeface="Carlito"/>
              <a:cs typeface="Carlito"/>
            </a:endParaRPr>
          </a:p>
        </p:txBody>
      </p:sp>
    </p:spTree>
    <p:extLst>
      <p:ext uri="{BB962C8B-B14F-4D97-AF65-F5344CB8AC3E}">
        <p14:creationId xmlns:p14="http://schemas.microsoft.com/office/powerpoint/2010/main" val="1076553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ea typeface="+mj-ea"/>
                <a:cs typeface="+mj-cs"/>
              </a:rPr>
              <a:t>How to Use Routine Parameters?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sp>
        <p:nvSpPr>
          <p:cNvPr id="7" name="object 3">
            <a:extLst>
              <a:ext uri="{FF2B5EF4-FFF2-40B4-BE49-F238E27FC236}">
                <a16:creationId xmlns:a16="http://schemas.microsoft.com/office/drawing/2014/main" id="{C867260A-FA8E-89EA-7B11-8FF8D05F96BF}"/>
              </a:ext>
            </a:extLst>
          </p:cNvPr>
          <p:cNvSpPr txBox="1">
            <a:spLocks noChangeArrowheads="1"/>
          </p:cNvSpPr>
          <p:nvPr/>
        </p:nvSpPr>
        <p:spPr bwMode="auto">
          <a:xfrm>
            <a:off x="266700" y="2602661"/>
            <a:ext cx="8534400" cy="1487488"/>
          </a:xfrm>
          <a:prstGeom prst="rect">
            <a:avLst/>
          </a:prstGeom>
          <a:solidFill>
            <a:schemeClr val="accent6">
              <a:lumMod val="20000"/>
              <a:lumOff val="80000"/>
            </a:schemeClr>
          </a:solidFill>
          <a:ln w="9525">
            <a:noFill/>
            <a:miter lim="800000"/>
            <a:headEnd/>
            <a:tailEnd/>
          </a:ln>
        </p:spPr>
        <p:txBody>
          <a:bodyPr lIns="0" tIns="10795" rIns="0" bIns="0">
            <a:spAutoFit/>
          </a:bodyPr>
          <a:lstStyle/>
          <a:p>
            <a:pPr marL="12700" algn="ctr">
              <a:spcBef>
                <a:spcPts val="88"/>
              </a:spcBef>
            </a:pPr>
            <a:r>
              <a:rPr lang="en-US" sz="3200" b="1" dirty="0">
                <a:latin typeface="Carlito"/>
                <a:ea typeface="Carlito"/>
                <a:cs typeface="Carlito"/>
              </a:rPr>
              <a:t>39 percent </a:t>
            </a:r>
            <a:r>
              <a:rPr lang="en-US" sz="3200" dirty="0">
                <a:latin typeface="Carlito"/>
                <a:ea typeface="Carlito"/>
                <a:cs typeface="Carlito"/>
              </a:rPr>
              <a:t>of all errors were internal interface errors—errors in communication between routines.</a:t>
            </a:r>
          </a:p>
        </p:txBody>
      </p:sp>
      <p:sp>
        <p:nvSpPr>
          <p:cNvPr id="11" name="Rectangle 10">
            <a:extLst>
              <a:ext uri="{FF2B5EF4-FFF2-40B4-BE49-F238E27FC236}">
                <a16:creationId xmlns:a16="http://schemas.microsoft.com/office/drawing/2014/main" id="{DB39A251-16A9-26EE-4D2C-A17C1FA6A965}"/>
              </a:ext>
            </a:extLst>
          </p:cNvPr>
          <p:cNvSpPr/>
          <p:nvPr/>
        </p:nvSpPr>
        <p:spPr>
          <a:xfrm>
            <a:off x="266700" y="1447800"/>
            <a:ext cx="8610600" cy="361950"/>
          </a:xfrm>
          <a:prstGeom prst="rect">
            <a:avLst/>
          </a:prstGeom>
        </p:spPr>
        <p:txBody>
          <a:bodyPr>
            <a:spAutoFit/>
          </a:bodyPr>
          <a:lstStyle/>
          <a:p>
            <a:pPr marL="142240" algn="ctr">
              <a:lnSpc>
                <a:spcPts val="2140"/>
              </a:lnSpc>
              <a:defRPr/>
            </a:pPr>
            <a:r>
              <a:rPr lang="en-US" dirty="0">
                <a:latin typeface="+mj-lt"/>
                <a:ea typeface="+mj-ea"/>
                <a:cs typeface="+mj-cs"/>
              </a:rPr>
              <a:t>Interfaces between routines are some of the most error-prone areas of a program</a:t>
            </a:r>
          </a:p>
        </p:txBody>
      </p:sp>
    </p:spTree>
    <p:extLst>
      <p:ext uri="{BB962C8B-B14F-4D97-AF65-F5344CB8AC3E}">
        <p14:creationId xmlns:p14="http://schemas.microsoft.com/office/powerpoint/2010/main" val="4021999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How to use Routine Parameters?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2" name="object 3">
            <a:extLst>
              <a:ext uri="{FF2B5EF4-FFF2-40B4-BE49-F238E27FC236}">
                <a16:creationId xmlns:a16="http://schemas.microsoft.com/office/drawing/2014/main" id="{E57163CA-7074-7B68-1E44-A9A5E4FA845A}"/>
              </a:ext>
            </a:extLst>
          </p:cNvPr>
          <p:cNvSpPr txBox="1"/>
          <p:nvPr/>
        </p:nvSpPr>
        <p:spPr>
          <a:xfrm>
            <a:off x="1116012" y="1051543"/>
            <a:ext cx="6553200" cy="392113"/>
          </a:xfrm>
          <a:prstGeom prst="rect">
            <a:avLst/>
          </a:prstGeom>
          <a:ln w="12700">
            <a:solidFill>
              <a:srgbClr val="000000"/>
            </a:solidFill>
          </a:ln>
        </p:spPr>
        <p:txBody>
          <a:bodyPr lIns="0" tIns="21590" rIns="0" bIns="0">
            <a:spAutoFit/>
          </a:bodyPr>
          <a:lstStyle/>
          <a:p>
            <a:pPr marL="159385">
              <a:spcBef>
                <a:spcPts val="170"/>
              </a:spcBef>
              <a:defRPr/>
            </a:pPr>
            <a:r>
              <a:rPr sz="2400" b="1" spc="-5" dirty="0">
                <a:solidFill>
                  <a:srgbClr val="C00000"/>
                </a:solidFill>
                <a:latin typeface="Carlito"/>
                <a:cs typeface="Carlito"/>
              </a:rPr>
              <a:t>Put </a:t>
            </a:r>
            <a:r>
              <a:rPr sz="2400" b="1" spc="-15" dirty="0">
                <a:solidFill>
                  <a:srgbClr val="C00000"/>
                </a:solidFill>
                <a:latin typeface="Carlito"/>
                <a:cs typeface="Carlito"/>
              </a:rPr>
              <a:t>parameters </a:t>
            </a:r>
            <a:r>
              <a:rPr sz="2400" b="1" dirty="0">
                <a:solidFill>
                  <a:srgbClr val="C00000"/>
                </a:solidFill>
                <a:latin typeface="Carlito"/>
                <a:cs typeface="Carlito"/>
              </a:rPr>
              <a:t>in </a:t>
            </a:r>
            <a:r>
              <a:rPr sz="2400" b="1" spc="-10" dirty="0">
                <a:solidFill>
                  <a:srgbClr val="C00000"/>
                </a:solidFill>
                <a:latin typeface="Carlito"/>
                <a:cs typeface="Carlito"/>
              </a:rPr>
              <a:t>input-modify-output order</a:t>
            </a:r>
            <a:endParaRPr sz="2400" dirty="0">
              <a:latin typeface="Carlito"/>
              <a:cs typeface="Carlito"/>
            </a:endParaRPr>
          </a:p>
        </p:txBody>
      </p:sp>
      <p:sp>
        <p:nvSpPr>
          <p:cNvPr id="7" name="object 4">
            <a:extLst>
              <a:ext uri="{FF2B5EF4-FFF2-40B4-BE49-F238E27FC236}">
                <a16:creationId xmlns:a16="http://schemas.microsoft.com/office/drawing/2014/main" id="{3CF99C20-5FDE-B849-23A8-EA9412A3C5B1}"/>
              </a:ext>
            </a:extLst>
          </p:cNvPr>
          <p:cNvSpPr txBox="1">
            <a:spLocks noChangeArrowheads="1"/>
          </p:cNvSpPr>
          <p:nvPr/>
        </p:nvSpPr>
        <p:spPr bwMode="auto">
          <a:xfrm>
            <a:off x="0" y="1532556"/>
            <a:ext cx="9220200" cy="566737"/>
          </a:xfrm>
          <a:prstGeom prst="rect">
            <a:avLst/>
          </a:prstGeom>
          <a:noFill/>
          <a:ln w="9525">
            <a:noFill/>
            <a:miter lim="800000"/>
            <a:headEnd/>
            <a:tailEnd/>
          </a:ln>
        </p:spPr>
        <p:txBody>
          <a:bodyPr lIns="0" tIns="26670" rIns="0" bIns="0">
            <a:spAutoFit/>
          </a:bodyPr>
          <a:lstStyle/>
          <a:p>
            <a:pPr marL="1123950" indent="-1111250">
              <a:lnSpc>
                <a:spcPts val="2113"/>
              </a:lnSpc>
              <a:spcBef>
                <a:spcPts val="213"/>
              </a:spcBef>
            </a:pPr>
            <a:r>
              <a:rPr lang="en-US" i="1">
                <a:latin typeface="Carlito"/>
                <a:ea typeface="Carlito"/>
                <a:cs typeface="Carlito"/>
              </a:rPr>
              <a:t>Instead of ordering parameters randomly or alphabetically, list the parameters that are  input-only first, input-and-output second, and output-only third</a:t>
            </a:r>
            <a:endParaRPr lang="en-US">
              <a:latin typeface="Carlito"/>
              <a:ea typeface="Carlito"/>
              <a:cs typeface="Carlito"/>
            </a:endParaRPr>
          </a:p>
        </p:txBody>
      </p:sp>
      <p:sp>
        <p:nvSpPr>
          <p:cNvPr id="8" name="object 5">
            <a:extLst>
              <a:ext uri="{FF2B5EF4-FFF2-40B4-BE49-F238E27FC236}">
                <a16:creationId xmlns:a16="http://schemas.microsoft.com/office/drawing/2014/main" id="{27B5811C-7002-7562-B6BF-CFFF1EA1606C}"/>
              </a:ext>
            </a:extLst>
          </p:cNvPr>
          <p:cNvSpPr>
            <a:spLocks noChangeArrowheads="1"/>
          </p:cNvSpPr>
          <p:nvPr/>
        </p:nvSpPr>
        <p:spPr bwMode="auto">
          <a:xfrm>
            <a:off x="895350" y="2286618"/>
            <a:ext cx="6451600" cy="411480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1660404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How to Use Routine Parameters?</a:t>
            </a:r>
            <a:endParaRPr lang="en-US" b="1" dirty="0">
              <a:solidFill>
                <a:schemeClr val="tx1"/>
              </a:solidFill>
              <a:latin typeface="+mn-lt"/>
            </a:endParaRPr>
          </a:p>
        </p:txBody>
      </p:sp>
      <p:sp>
        <p:nvSpPr>
          <p:cNvPr id="12" name="Slide Number Placeholder 4">
            <a:extLst>
              <a:ext uri="{FF2B5EF4-FFF2-40B4-BE49-F238E27FC236}">
                <a16:creationId xmlns:a16="http://schemas.microsoft.com/office/drawing/2014/main" id="{4BBA3121-67D5-1836-B76D-301F92A862F0}"/>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sp>
        <p:nvSpPr>
          <p:cNvPr id="8" name="object 3">
            <a:extLst>
              <a:ext uri="{FF2B5EF4-FFF2-40B4-BE49-F238E27FC236}">
                <a16:creationId xmlns:a16="http://schemas.microsoft.com/office/drawing/2014/main" id="{B43AE499-4D86-9AB6-A793-263E6A5FCE71}"/>
              </a:ext>
            </a:extLst>
          </p:cNvPr>
          <p:cNvSpPr txBox="1"/>
          <p:nvPr/>
        </p:nvSpPr>
        <p:spPr>
          <a:xfrm>
            <a:off x="2565160" y="1345231"/>
            <a:ext cx="3962400" cy="390525"/>
          </a:xfrm>
          <a:prstGeom prst="rect">
            <a:avLst/>
          </a:prstGeom>
          <a:ln w="12700">
            <a:solidFill>
              <a:srgbClr val="000000"/>
            </a:solidFill>
          </a:ln>
        </p:spPr>
        <p:txBody>
          <a:bodyPr lIns="0" tIns="21590" rIns="0" bIns="0">
            <a:spAutoFit/>
          </a:bodyPr>
          <a:lstStyle/>
          <a:p>
            <a:pPr marL="159385" algn="ctr">
              <a:spcBef>
                <a:spcPts val="170"/>
              </a:spcBef>
              <a:defRPr/>
            </a:pPr>
            <a:r>
              <a:rPr sz="2400" b="1" dirty="0">
                <a:solidFill>
                  <a:srgbClr val="C00000"/>
                </a:solidFill>
                <a:latin typeface="Carlito"/>
                <a:cs typeface="Carlito"/>
              </a:rPr>
              <a:t>Use </a:t>
            </a:r>
            <a:r>
              <a:rPr sz="2400" b="1" spc="-5" dirty="0">
                <a:solidFill>
                  <a:srgbClr val="C00000"/>
                </a:solidFill>
                <a:latin typeface="Carlito"/>
                <a:cs typeface="Carlito"/>
              </a:rPr>
              <a:t>all </a:t>
            </a:r>
            <a:r>
              <a:rPr sz="2400" b="1" dirty="0">
                <a:solidFill>
                  <a:srgbClr val="C00000"/>
                </a:solidFill>
                <a:latin typeface="Carlito"/>
                <a:cs typeface="Carlito"/>
              </a:rPr>
              <a:t>the</a:t>
            </a:r>
            <a:r>
              <a:rPr sz="2400" b="1" spc="-65" dirty="0">
                <a:solidFill>
                  <a:srgbClr val="C00000"/>
                </a:solidFill>
                <a:latin typeface="Carlito"/>
                <a:cs typeface="Carlito"/>
              </a:rPr>
              <a:t> </a:t>
            </a:r>
            <a:r>
              <a:rPr sz="2400" b="1" spc="-15" dirty="0">
                <a:solidFill>
                  <a:srgbClr val="C00000"/>
                </a:solidFill>
                <a:latin typeface="Carlito"/>
                <a:cs typeface="Carlito"/>
              </a:rPr>
              <a:t>parameters</a:t>
            </a:r>
            <a:endParaRPr sz="2400" dirty="0">
              <a:latin typeface="Carlito"/>
              <a:cs typeface="Carlito"/>
            </a:endParaRPr>
          </a:p>
        </p:txBody>
      </p:sp>
      <p:sp>
        <p:nvSpPr>
          <p:cNvPr id="13" name="object 4">
            <a:extLst>
              <a:ext uri="{FF2B5EF4-FFF2-40B4-BE49-F238E27FC236}">
                <a16:creationId xmlns:a16="http://schemas.microsoft.com/office/drawing/2014/main" id="{17E9E601-D317-60E2-BED0-A3CD829F8972}"/>
              </a:ext>
            </a:extLst>
          </p:cNvPr>
          <p:cNvSpPr txBox="1">
            <a:spLocks noChangeArrowheads="1"/>
          </p:cNvSpPr>
          <p:nvPr/>
        </p:nvSpPr>
        <p:spPr bwMode="auto">
          <a:xfrm>
            <a:off x="279160" y="2008806"/>
            <a:ext cx="8915400" cy="565150"/>
          </a:xfrm>
          <a:prstGeom prst="rect">
            <a:avLst/>
          </a:prstGeom>
          <a:noFill/>
          <a:ln w="9525">
            <a:noFill/>
            <a:miter lim="800000"/>
            <a:headEnd/>
            <a:tailEnd/>
          </a:ln>
        </p:spPr>
        <p:txBody>
          <a:bodyPr lIns="0" tIns="26670" rIns="0" bIns="0">
            <a:spAutoFit/>
          </a:bodyPr>
          <a:lstStyle/>
          <a:p>
            <a:pPr marL="2827338" indent="-2814638">
              <a:lnSpc>
                <a:spcPts val="2113"/>
              </a:lnSpc>
              <a:spcBef>
                <a:spcPts val="213"/>
              </a:spcBef>
            </a:pPr>
            <a:r>
              <a:rPr lang="en-US" i="1">
                <a:latin typeface="Carlito"/>
                <a:ea typeface="Carlito"/>
                <a:cs typeface="Carlito"/>
              </a:rPr>
              <a:t>If you pass a parameter to a routine, use it. If you aren’t using it, remove the parameter  from the routine interface.</a:t>
            </a:r>
            <a:endParaRPr lang="en-US">
              <a:latin typeface="Carlito"/>
              <a:ea typeface="Carlito"/>
              <a:cs typeface="Carlito"/>
            </a:endParaRPr>
          </a:p>
        </p:txBody>
      </p:sp>
      <p:sp>
        <p:nvSpPr>
          <p:cNvPr id="14" name="object 5">
            <a:extLst>
              <a:ext uri="{FF2B5EF4-FFF2-40B4-BE49-F238E27FC236}">
                <a16:creationId xmlns:a16="http://schemas.microsoft.com/office/drawing/2014/main" id="{260BF9A9-7E51-6C32-014C-DD425246D4B0}"/>
              </a:ext>
            </a:extLst>
          </p:cNvPr>
          <p:cNvSpPr txBox="1">
            <a:spLocks noChangeArrowheads="1"/>
          </p:cNvSpPr>
          <p:nvPr/>
        </p:nvSpPr>
        <p:spPr bwMode="auto">
          <a:xfrm>
            <a:off x="24920" y="2847006"/>
            <a:ext cx="9169640" cy="2474912"/>
          </a:xfrm>
          <a:prstGeom prst="rect">
            <a:avLst/>
          </a:prstGeom>
          <a:noFill/>
          <a:ln w="9525">
            <a:noFill/>
            <a:miter lim="800000"/>
            <a:headEnd/>
            <a:tailEnd/>
          </a:ln>
        </p:spPr>
        <p:txBody>
          <a:bodyPr wrap="square" lIns="0" tIns="13335" rIns="0" bIns="0">
            <a:spAutoFit/>
          </a:bodyPr>
          <a:lstStyle/>
          <a:p>
            <a:pPr marL="12700">
              <a:spcBef>
                <a:spcPts val="100"/>
              </a:spcBef>
            </a:pPr>
            <a:r>
              <a:rPr lang="en-US" sz="3200" dirty="0">
                <a:latin typeface="Carlito"/>
                <a:ea typeface="Carlito"/>
                <a:cs typeface="Carlito"/>
              </a:rPr>
              <a:t>Unused parameters are correlated with an increased error rate. In one study, 46 percent of routines with no unused variables had no errors, and only 17 to 29 percent of routines with more than one unreferenced variable had no errors </a:t>
            </a:r>
            <a:r>
              <a:rPr lang="en-US" sz="2400" dirty="0">
                <a:latin typeface="Carlito"/>
                <a:ea typeface="Carlito"/>
                <a:cs typeface="Carlito"/>
              </a:rPr>
              <a:t>(Card, Church, and Agresti1986).</a:t>
            </a:r>
          </a:p>
        </p:txBody>
      </p:sp>
    </p:spTree>
    <p:extLst>
      <p:ext uri="{BB962C8B-B14F-4D97-AF65-F5344CB8AC3E}">
        <p14:creationId xmlns:p14="http://schemas.microsoft.com/office/powerpoint/2010/main" val="2997704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How to Use Routine Parameters?</a:t>
            </a:r>
            <a:endParaRPr lang="en-US" b="1" dirty="0">
              <a:solidFill>
                <a:schemeClr val="tx1"/>
              </a:solidFill>
              <a:latin typeface="+mn-lt"/>
            </a:endParaRPr>
          </a:p>
        </p:txBody>
      </p:sp>
      <p:sp>
        <p:nvSpPr>
          <p:cNvPr id="3" name="Slide Number Placeholder 4">
            <a:extLst>
              <a:ext uri="{FF2B5EF4-FFF2-40B4-BE49-F238E27FC236}">
                <a16:creationId xmlns:a16="http://schemas.microsoft.com/office/drawing/2014/main" id="{84EA118D-79B3-5B4C-A27C-92968333C6F0}"/>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2" name="object 3">
            <a:extLst>
              <a:ext uri="{FF2B5EF4-FFF2-40B4-BE49-F238E27FC236}">
                <a16:creationId xmlns:a16="http://schemas.microsoft.com/office/drawing/2014/main" id="{CB4E120B-FA6C-E8EF-A34D-1382A558BF86}"/>
              </a:ext>
            </a:extLst>
          </p:cNvPr>
          <p:cNvSpPr txBox="1"/>
          <p:nvPr/>
        </p:nvSpPr>
        <p:spPr>
          <a:xfrm>
            <a:off x="2057400" y="1680193"/>
            <a:ext cx="4876800" cy="390525"/>
          </a:xfrm>
          <a:prstGeom prst="rect">
            <a:avLst/>
          </a:prstGeom>
          <a:ln w="12700">
            <a:solidFill>
              <a:srgbClr val="000000"/>
            </a:solidFill>
          </a:ln>
        </p:spPr>
        <p:txBody>
          <a:bodyPr lIns="0" tIns="21590" rIns="0" bIns="0">
            <a:spAutoFit/>
          </a:bodyPr>
          <a:lstStyle/>
          <a:p>
            <a:pPr marL="159385">
              <a:spcBef>
                <a:spcPts val="170"/>
              </a:spcBef>
              <a:defRPr/>
            </a:pPr>
            <a:r>
              <a:rPr sz="2400" b="1" spc="-5" dirty="0">
                <a:solidFill>
                  <a:srgbClr val="C00000"/>
                </a:solidFill>
                <a:latin typeface="Carlito"/>
                <a:cs typeface="Carlito"/>
              </a:rPr>
              <a:t>Put </a:t>
            </a:r>
            <a:r>
              <a:rPr sz="2400" b="1" spc="-15" dirty="0">
                <a:solidFill>
                  <a:srgbClr val="C00000"/>
                </a:solidFill>
                <a:latin typeface="Carlito"/>
                <a:cs typeface="Carlito"/>
              </a:rPr>
              <a:t>status </a:t>
            </a:r>
            <a:r>
              <a:rPr sz="2400" b="1" spc="-5" dirty="0">
                <a:solidFill>
                  <a:srgbClr val="C00000"/>
                </a:solidFill>
                <a:latin typeface="Carlito"/>
                <a:cs typeface="Carlito"/>
              </a:rPr>
              <a:t>or </a:t>
            </a:r>
            <a:r>
              <a:rPr sz="2400" b="1" spc="-10" dirty="0">
                <a:solidFill>
                  <a:srgbClr val="C00000"/>
                </a:solidFill>
                <a:latin typeface="Carlito"/>
                <a:cs typeface="Carlito"/>
              </a:rPr>
              <a:t>error variables</a:t>
            </a:r>
            <a:r>
              <a:rPr sz="2400" b="1" dirty="0">
                <a:solidFill>
                  <a:srgbClr val="C00000"/>
                </a:solidFill>
                <a:latin typeface="Carlito"/>
                <a:cs typeface="Carlito"/>
              </a:rPr>
              <a:t> </a:t>
            </a:r>
            <a:r>
              <a:rPr sz="2400" b="1" spc="-10" dirty="0">
                <a:solidFill>
                  <a:srgbClr val="C00000"/>
                </a:solidFill>
                <a:latin typeface="Carlito"/>
                <a:cs typeface="Carlito"/>
              </a:rPr>
              <a:t>last</a:t>
            </a:r>
            <a:endParaRPr sz="2400" dirty="0">
              <a:latin typeface="Carlito"/>
              <a:cs typeface="Carlito"/>
            </a:endParaRPr>
          </a:p>
        </p:txBody>
      </p:sp>
      <p:sp>
        <p:nvSpPr>
          <p:cNvPr id="4" name="object 4">
            <a:extLst>
              <a:ext uri="{FF2B5EF4-FFF2-40B4-BE49-F238E27FC236}">
                <a16:creationId xmlns:a16="http://schemas.microsoft.com/office/drawing/2014/main" id="{D5F25960-AE11-2039-1A09-3E84009C87C2}"/>
              </a:ext>
            </a:extLst>
          </p:cNvPr>
          <p:cNvSpPr txBox="1">
            <a:spLocks noChangeArrowheads="1"/>
          </p:cNvSpPr>
          <p:nvPr/>
        </p:nvSpPr>
        <p:spPr bwMode="auto">
          <a:xfrm>
            <a:off x="152400" y="2826368"/>
            <a:ext cx="8991600" cy="2165350"/>
          </a:xfrm>
          <a:prstGeom prst="rect">
            <a:avLst/>
          </a:prstGeom>
          <a:noFill/>
          <a:ln w="9525">
            <a:noFill/>
            <a:miter lim="800000"/>
            <a:headEnd/>
            <a:tailEnd/>
          </a:ln>
        </p:spPr>
        <p:txBody>
          <a:bodyPr lIns="0" tIns="11430" rIns="0" bIns="0">
            <a:spAutoFit/>
          </a:bodyPr>
          <a:lstStyle/>
          <a:p>
            <a:pPr marL="12700" algn="ctr">
              <a:spcBef>
                <a:spcPts val="88"/>
              </a:spcBef>
            </a:pPr>
            <a:r>
              <a:rPr lang="en-US" sz="2800">
                <a:latin typeface="Carlito"/>
                <a:ea typeface="Carlito"/>
                <a:cs typeface="Carlito"/>
              </a:rPr>
              <a:t>By convention, status variables and variables that indicate an  error has occurred go last in the parameter list. They are  incidental to the main purpose of the routine, and they are  output-only parameters, so it’s a sensible convention.</a:t>
            </a:r>
          </a:p>
        </p:txBody>
      </p:sp>
    </p:spTree>
    <p:extLst>
      <p:ext uri="{BB962C8B-B14F-4D97-AF65-F5344CB8AC3E}">
        <p14:creationId xmlns:p14="http://schemas.microsoft.com/office/powerpoint/2010/main" val="3810758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How to Use Routine Parameters?</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6" name="object 3">
            <a:extLst>
              <a:ext uri="{FF2B5EF4-FFF2-40B4-BE49-F238E27FC236}">
                <a16:creationId xmlns:a16="http://schemas.microsoft.com/office/drawing/2014/main" id="{D92ACCF8-488F-62FC-4B2B-3A54DD84DDFA}"/>
              </a:ext>
            </a:extLst>
          </p:cNvPr>
          <p:cNvSpPr txBox="1"/>
          <p:nvPr/>
        </p:nvSpPr>
        <p:spPr>
          <a:xfrm>
            <a:off x="838200" y="1125568"/>
            <a:ext cx="7467600" cy="392113"/>
          </a:xfrm>
          <a:prstGeom prst="rect">
            <a:avLst/>
          </a:prstGeom>
          <a:ln w="12700">
            <a:solidFill>
              <a:srgbClr val="000000"/>
            </a:solidFill>
          </a:ln>
        </p:spPr>
        <p:txBody>
          <a:bodyPr lIns="0" tIns="21590" rIns="0" bIns="0">
            <a:spAutoFit/>
          </a:bodyPr>
          <a:lstStyle/>
          <a:p>
            <a:pPr marL="159385">
              <a:spcBef>
                <a:spcPts val="170"/>
              </a:spcBef>
              <a:defRPr/>
            </a:pPr>
            <a:r>
              <a:rPr sz="2400" b="1" spc="-5" dirty="0">
                <a:solidFill>
                  <a:srgbClr val="C00000"/>
                </a:solidFill>
                <a:latin typeface="Carlito"/>
                <a:cs typeface="Carlito"/>
              </a:rPr>
              <a:t>Don’t </a:t>
            </a:r>
            <a:r>
              <a:rPr sz="2400" b="1" dirty="0">
                <a:solidFill>
                  <a:srgbClr val="C00000"/>
                </a:solidFill>
                <a:latin typeface="Carlito"/>
                <a:cs typeface="Carlito"/>
              </a:rPr>
              <a:t>use </a:t>
            </a:r>
            <a:r>
              <a:rPr sz="2400" b="1" spc="-10" dirty="0">
                <a:solidFill>
                  <a:srgbClr val="C00000"/>
                </a:solidFill>
                <a:latin typeface="Carlito"/>
                <a:cs typeface="Carlito"/>
              </a:rPr>
              <a:t>routine </a:t>
            </a:r>
            <a:r>
              <a:rPr sz="2400" b="1" spc="-15" dirty="0">
                <a:solidFill>
                  <a:srgbClr val="C00000"/>
                </a:solidFill>
                <a:latin typeface="Carlito"/>
                <a:cs typeface="Carlito"/>
              </a:rPr>
              <a:t>parameters </a:t>
            </a:r>
            <a:r>
              <a:rPr sz="2400" b="1" dirty="0">
                <a:solidFill>
                  <a:srgbClr val="C00000"/>
                </a:solidFill>
                <a:latin typeface="Carlito"/>
                <a:cs typeface="Carlito"/>
              </a:rPr>
              <a:t>as </a:t>
            </a:r>
            <a:r>
              <a:rPr sz="2400" b="1" spc="-10" dirty="0">
                <a:solidFill>
                  <a:srgbClr val="C00000"/>
                </a:solidFill>
                <a:latin typeface="Carlito"/>
                <a:cs typeface="Carlito"/>
              </a:rPr>
              <a:t>working</a:t>
            </a:r>
            <a:r>
              <a:rPr sz="2400" b="1" spc="5" dirty="0">
                <a:solidFill>
                  <a:srgbClr val="C00000"/>
                </a:solidFill>
                <a:latin typeface="Carlito"/>
                <a:cs typeface="Carlito"/>
              </a:rPr>
              <a:t> </a:t>
            </a:r>
            <a:r>
              <a:rPr sz="2400" b="1" spc="-10" dirty="0">
                <a:solidFill>
                  <a:srgbClr val="C00000"/>
                </a:solidFill>
                <a:latin typeface="Carlito"/>
                <a:cs typeface="Carlito"/>
              </a:rPr>
              <a:t>variables</a:t>
            </a:r>
            <a:endParaRPr sz="2400" dirty="0">
              <a:latin typeface="Carlito"/>
              <a:cs typeface="Carlito"/>
            </a:endParaRPr>
          </a:p>
        </p:txBody>
      </p:sp>
      <p:sp>
        <p:nvSpPr>
          <p:cNvPr id="7" name="object 4">
            <a:extLst>
              <a:ext uri="{FF2B5EF4-FFF2-40B4-BE49-F238E27FC236}">
                <a16:creationId xmlns:a16="http://schemas.microsoft.com/office/drawing/2014/main" id="{FFE81238-6891-4AEA-23CA-4B0F6A0BBFF1}"/>
              </a:ext>
            </a:extLst>
          </p:cNvPr>
          <p:cNvSpPr txBox="1">
            <a:spLocks noChangeArrowheads="1"/>
          </p:cNvSpPr>
          <p:nvPr/>
        </p:nvSpPr>
        <p:spPr bwMode="auto">
          <a:xfrm>
            <a:off x="381000" y="1606581"/>
            <a:ext cx="8610600" cy="565150"/>
          </a:xfrm>
          <a:prstGeom prst="rect">
            <a:avLst/>
          </a:prstGeom>
          <a:noFill/>
          <a:ln w="9525">
            <a:noFill/>
            <a:miter lim="800000"/>
            <a:headEnd/>
            <a:tailEnd/>
          </a:ln>
        </p:spPr>
        <p:txBody>
          <a:bodyPr lIns="0" tIns="26670" rIns="0" bIns="0">
            <a:spAutoFit/>
          </a:bodyPr>
          <a:lstStyle/>
          <a:p>
            <a:pPr marL="3232150" indent="-3219450">
              <a:lnSpc>
                <a:spcPts val="2113"/>
              </a:lnSpc>
              <a:spcBef>
                <a:spcPts val="213"/>
              </a:spcBef>
            </a:pPr>
            <a:r>
              <a:rPr lang="en-US" i="1">
                <a:latin typeface="Carlito"/>
                <a:ea typeface="Carlito"/>
                <a:cs typeface="Carlito"/>
              </a:rPr>
              <a:t>It’s dangerous to use the parameters passed to a routine as working variables. Use local  variables instead.</a:t>
            </a:r>
            <a:endParaRPr lang="en-US">
              <a:latin typeface="Carlito"/>
              <a:ea typeface="Carlito"/>
              <a:cs typeface="Carlito"/>
            </a:endParaRPr>
          </a:p>
        </p:txBody>
      </p:sp>
      <p:sp>
        <p:nvSpPr>
          <p:cNvPr id="8" name="object 5">
            <a:extLst>
              <a:ext uri="{FF2B5EF4-FFF2-40B4-BE49-F238E27FC236}">
                <a16:creationId xmlns:a16="http://schemas.microsoft.com/office/drawing/2014/main" id="{8393447C-7E98-2D13-CE50-F57E96E32043}"/>
              </a:ext>
            </a:extLst>
          </p:cNvPr>
          <p:cNvSpPr>
            <a:spLocks noChangeArrowheads="1"/>
          </p:cNvSpPr>
          <p:nvPr/>
        </p:nvSpPr>
        <p:spPr bwMode="auto">
          <a:xfrm>
            <a:off x="1116012" y="2344768"/>
            <a:ext cx="6192838" cy="195897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9" name="object 6">
            <a:extLst>
              <a:ext uri="{FF2B5EF4-FFF2-40B4-BE49-F238E27FC236}">
                <a16:creationId xmlns:a16="http://schemas.microsoft.com/office/drawing/2014/main" id="{73C22CFA-943A-BA40-7635-D63A7140F5D2}"/>
              </a:ext>
            </a:extLst>
          </p:cNvPr>
          <p:cNvSpPr>
            <a:spLocks noChangeArrowheads="1"/>
          </p:cNvSpPr>
          <p:nvPr/>
        </p:nvSpPr>
        <p:spPr bwMode="auto">
          <a:xfrm>
            <a:off x="1282700" y="4335493"/>
            <a:ext cx="5978525" cy="2178050"/>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251095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How to Use Routine Parameters?</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sp>
        <p:nvSpPr>
          <p:cNvPr id="3" name="object 3">
            <a:extLst>
              <a:ext uri="{FF2B5EF4-FFF2-40B4-BE49-F238E27FC236}">
                <a16:creationId xmlns:a16="http://schemas.microsoft.com/office/drawing/2014/main" id="{A01F5190-D6B2-4ED1-9479-45FEC671602E}"/>
              </a:ext>
            </a:extLst>
          </p:cNvPr>
          <p:cNvSpPr txBox="1"/>
          <p:nvPr/>
        </p:nvSpPr>
        <p:spPr>
          <a:xfrm>
            <a:off x="342900" y="1488596"/>
            <a:ext cx="8458200" cy="390525"/>
          </a:xfrm>
          <a:prstGeom prst="rect">
            <a:avLst/>
          </a:prstGeom>
          <a:ln w="12700">
            <a:solidFill>
              <a:srgbClr val="000000"/>
            </a:solidFill>
          </a:ln>
        </p:spPr>
        <p:txBody>
          <a:bodyPr lIns="0" tIns="21590" rIns="0" bIns="0">
            <a:spAutoFit/>
          </a:bodyPr>
          <a:lstStyle/>
          <a:p>
            <a:pPr marL="159385" algn="ctr">
              <a:spcBef>
                <a:spcPts val="170"/>
              </a:spcBef>
              <a:defRPr/>
            </a:pPr>
            <a:r>
              <a:rPr sz="2400" b="1" spc="-20" dirty="0">
                <a:solidFill>
                  <a:srgbClr val="C00000"/>
                </a:solidFill>
                <a:latin typeface="Carlito"/>
                <a:cs typeface="Carlito"/>
              </a:rPr>
              <a:t>Make </a:t>
            </a:r>
            <a:r>
              <a:rPr sz="2400" b="1" spc="-10" dirty="0">
                <a:solidFill>
                  <a:srgbClr val="C00000"/>
                </a:solidFill>
                <a:latin typeface="Carlito"/>
                <a:cs typeface="Carlito"/>
              </a:rPr>
              <a:t>sure </a:t>
            </a:r>
            <a:r>
              <a:rPr sz="2400" b="1" spc="-5" dirty="0">
                <a:solidFill>
                  <a:srgbClr val="C00000"/>
                </a:solidFill>
                <a:latin typeface="Carlito"/>
                <a:cs typeface="Carlito"/>
              </a:rPr>
              <a:t>actual </a:t>
            </a:r>
            <a:r>
              <a:rPr sz="2400" b="1" spc="-15" dirty="0">
                <a:solidFill>
                  <a:srgbClr val="C00000"/>
                </a:solidFill>
                <a:latin typeface="Carlito"/>
                <a:cs typeface="Carlito"/>
              </a:rPr>
              <a:t>parameters match </a:t>
            </a:r>
            <a:r>
              <a:rPr sz="2400" b="1" spc="-10" dirty="0">
                <a:solidFill>
                  <a:srgbClr val="C00000"/>
                </a:solidFill>
                <a:latin typeface="Carlito"/>
                <a:cs typeface="Carlito"/>
              </a:rPr>
              <a:t>formal</a:t>
            </a:r>
            <a:r>
              <a:rPr sz="2400" b="1" spc="10" dirty="0">
                <a:solidFill>
                  <a:srgbClr val="C00000"/>
                </a:solidFill>
                <a:latin typeface="Carlito"/>
                <a:cs typeface="Carlito"/>
              </a:rPr>
              <a:t> </a:t>
            </a:r>
            <a:r>
              <a:rPr sz="2400" b="1" spc="-15" dirty="0">
                <a:solidFill>
                  <a:srgbClr val="C00000"/>
                </a:solidFill>
                <a:latin typeface="Carlito"/>
                <a:cs typeface="Carlito"/>
              </a:rPr>
              <a:t>parameters</a:t>
            </a:r>
            <a:endParaRPr sz="2400" dirty="0">
              <a:latin typeface="Carlito"/>
              <a:cs typeface="Carlito"/>
            </a:endParaRPr>
          </a:p>
        </p:txBody>
      </p:sp>
      <p:sp>
        <p:nvSpPr>
          <p:cNvPr id="4" name="object 4">
            <a:extLst>
              <a:ext uri="{FF2B5EF4-FFF2-40B4-BE49-F238E27FC236}">
                <a16:creationId xmlns:a16="http://schemas.microsoft.com/office/drawing/2014/main" id="{15DC8FD6-330F-5E4B-8F48-CFA1C0C13224}"/>
              </a:ext>
            </a:extLst>
          </p:cNvPr>
          <p:cNvSpPr txBox="1">
            <a:spLocks noChangeArrowheads="1"/>
          </p:cNvSpPr>
          <p:nvPr/>
        </p:nvSpPr>
        <p:spPr bwMode="auto">
          <a:xfrm>
            <a:off x="0" y="2208471"/>
            <a:ext cx="9074989" cy="835025"/>
          </a:xfrm>
          <a:prstGeom prst="rect">
            <a:avLst/>
          </a:prstGeom>
          <a:noFill/>
          <a:ln w="9525">
            <a:noFill/>
            <a:miter lim="800000"/>
            <a:headEnd/>
            <a:tailEnd/>
          </a:ln>
        </p:spPr>
        <p:txBody>
          <a:bodyPr wrap="square" lIns="0" tIns="26670" rIns="0" bIns="0">
            <a:spAutoFit/>
          </a:bodyPr>
          <a:lstStyle/>
          <a:p>
            <a:pPr marL="12700" indent="428625" algn="ctr">
              <a:lnSpc>
                <a:spcPts val="2113"/>
              </a:lnSpc>
              <a:spcBef>
                <a:spcPts val="213"/>
              </a:spcBef>
            </a:pPr>
            <a:r>
              <a:rPr lang="en-US" i="1" dirty="0">
                <a:latin typeface="Carlito"/>
                <a:ea typeface="Carlito"/>
                <a:cs typeface="Carlito"/>
              </a:rPr>
              <a:t>Formal parameters, also known as “dummy parameters,” are the variables declared in a routine  definition. Actual parameters are the variables, constants, or expressions used in the actual routine calls.</a:t>
            </a:r>
            <a:endParaRPr lang="en-US" dirty="0">
              <a:latin typeface="Carlito"/>
              <a:ea typeface="Carlito"/>
              <a:cs typeface="Carlito"/>
            </a:endParaRPr>
          </a:p>
        </p:txBody>
      </p:sp>
      <p:sp>
        <p:nvSpPr>
          <p:cNvPr id="5" name="object 5">
            <a:extLst>
              <a:ext uri="{FF2B5EF4-FFF2-40B4-BE49-F238E27FC236}">
                <a16:creationId xmlns:a16="http://schemas.microsoft.com/office/drawing/2014/main" id="{E7A58E42-515E-6A2D-BF02-D3BFB9B4A891}"/>
              </a:ext>
            </a:extLst>
          </p:cNvPr>
          <p:cNvSpPr txBox="1">
            <a:spLocks noChangeArrowheads="1"/>
          </p:cNvSpPr>
          <p:nvPr/>
        </p:nvSpPr>
        <p:spPr bwMode="auto">
          <a:xfrm>
            <a:off x="1333500" y="3530434"/>
            <a:ext cx="6858000" cy="876300"/>
          </a:xfrm>
          <a:prstGeom prst="rect">
            <a:avLst/>
          </a:prstGeom>
          <a:noFill/>
          <a:ln w="9525">
            <a:noFill/>
            <a:miter lim="800000"/>
            <a:headEnd/>
            <a:tailEnd/>
          </a:ln>
        </p:spPr>
        <p:txBody>
          <a:bodyPr lIns="0" tIns="6350" rIns="0" bIns="0">
            <a:spAutoFit/>
          </a:bodyPr>
          <a:lstStyle/>
          <a:p>
            <a:pPr marL="528638" indent="-517525">
              <a:lnSpc>
                <a:spcPct val="101000"/>
              </a:lnSpc>
              <a:spcBef>
                <a:spcPts val="50"/>
              </a:spcBef>
            </a:pPr>
            <a:r>
              <a:rPr lang="en-US" sz="2800" dirty="0">
                <a:latin typeface="Carlito"/>
                <a:ea typeface="Carlito"/>
                <a:cs typeface="Carlito"/>
              </a:rPr>
              <a:t>A common mistake is to put the wrong  type of variable in a routine call</a:t>
            </a:r>
          </a:p>
        </p:txBody>
      </p:sp>
    </p:spTree>
    <p:extLst>
      <p:ext uri="{BB962C8B-B14F-4D97-AF65-F5344CB8AC3E}">
        <p14:creationId xmlns:p14="http://schemas.microsoft.com/office/powerpoint/2010/main" val="2041252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How to Use Routine Parameters?</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3" name="object 3">
            <a:extLst>
              <a:ext uri="{FF2B5EF4-FFF2-40B4-BE49-F238E27FC236}">
                <a16:creationId xmlns:a16="http://schemas.microsoft.com/office/drawing/2014/main" id="{51558C1C-041F-BBC7-1E56-CC723ADD72B7}"/>
              </a:ext>
            </a:extLst>
          </p:cNvPr>
          <p:cNvSpPr txBox="1"/>
          <p:nvPr/>
        </p:nvSpPr>
        <p:spPr>
          <a:xfrm>
            <a:off x="685800" y="1590675"/>
            <a:ext cx="7811219" cy="390525"/>
          </a:xfrm>
          <a:prstGeom prst="rect">
            <a:avLst/>
          </a:prstGeom>
          <a:ln w="12700">
            <a:solidFill>
              <a:srgbClr val="000000"/>
            </a:solidFill>
          </a:ln>
        </p:spPr>
        <p:txBody>
          <a:bodyPr wrap="square" lIns="0" tIns="21590" rIns="0" bIns="0">
            <a:spAutoFit/>
          </a:bodyPr>
          <a:lstStyle/>
          <a:p>
            <a:pPr marL="159385">
              <a:spcBef>
                <a:spcPts val="170"/>
              </a:spcBef>
              <a:defRPr/>
            </a:pPr>
            <a:r>
              <a:rPr sz="2400" b="1" spc="-5" dirty="0">
                <a:solidFill>
                  <a:srgbClr val="C00000"/>
                </a:solidFill>
                <a:latin typeface="Carlito"/>
                <a:cs typeface="Carlito"/>
              </a:rPr>
              <a:t>Limit </a:t>
            </a:r>
            <a:r>
              <a:rPr sz="2400" b="1" dirty="0">
                <a:solidFill>
                  <a:srgbClr val="C00000"/>
                </a:solidFill>
                <a:latin typeface="Carlito"/>
                <a:cs typeface="Carlito"/>
              </a:rPr>
              <a:t>the </a:t>
            </a:r>
            <a:r>
              <a:rPr sz="2400" b="1" spc="-5" dirty="0">
                <a:solidFill>
                  <a:srgbClr val="C00000"/>
                </a:solidFill>
                <a:latin typeface="Carlito"/>
                <a:cs typeface="Carlito"/>
              </a:rPr>
              <a:t>number of </a:t>
            </a:r>
            <a:r>
              <a:rPr sz="2400" b="1" dirty="0">
                <a:solidFill>
                  <a:srgbClr val="C00000"/>
                </a:solidFill>
                <a:latin typeface="Carlito"/>
                <a:cs typeface="Carlito"/>
              </a:rPr>
              <a:t>a </a:t>
            </a:r>
            <a:r>
              <a:rPr sz="2400" b="1" spc="-20" dirty="0">
                <a:solidFill>
                  <a:srgbClr val="C00000"/>
                </a:solidFill>
                <a:latin typeface="Carlito"/>
                <a:cs typeface="Carlito"/>
              </a:rPr>
              <a:t>routine’s </a:t>
            </a:r>
            <a:r>
              <a:rPr sz="2400" b="1" spc="-15" dirty="0">
                <a:solidFill>
                  <a:srgbClr val="C00000"/>
                </a:solidFill>
                <a:latin typeface="Carlito"/>
                <a:cs typeface="Carlito"/>
              </a:rPr>
              <a:t>parameters </a:t>
            </a:r>
            <a:r>
              <a:rPr sz="2400" b="1" spc="-10" dirty="0">
                <a:solidFill>
                  <a:srgbClr val="C00000"/>
                </a:solidFill>
                <a:latin typeface="Carlito"/>
                <a:cs typeface="Carlito"/>
              </a:rPr>
              <a:t>to </a:t>
            </a:r>
            <a:r>
              <a:rPr sz="2400" b="1" spc="-5" dirty="0">
                <a:solidFill>
                  <a:srgbClr val="C00000"/>
                </a:solidFill>
                <a:latin typeface="Carlito"/>
                <a:cs typeface="Carlito"/>
              </a:rPr>
              <a:t>about</a:t>
            </a:r>
            <a:r>
              <a:rPr sz="2400" b="1" spc="15" dirty="0">
                <a:solidFill>
                  <a:srgbClr val="C00000"/>
                </a:solidFill>
                <a:latin typeface="Carlito"/>
                <a:cs typeface="Carlito"/>
              </a:rPr>
              <a:t> </a:t>
            </a:r>
            <a:r>
              <a:rPr sz="2400" b="1" spc="-10" dirty="0">
                <a:solidFill>
                  <a:srgbClr val="C00000"/>
                </a:solidFill>
                <a:latin typeface="Carlito"/>
                <a:cs typeface="Carlito"/>
              </a:rPr>
              <a:t>seven</a:t>
            </a:r>
            <a:endParaRPr sz="2400" dirty="0">
              <a:latin typeface="Carlito"/>
              <a:cs typeface="Carlito"/>
            </a:endParaRPr>
          </a:p>
        </p:txBody>
      </p:sp>
      <p:sp>
        <p:nvSpPr>
          <p:cNvPr id="4" name="object 4">
            <a:extLst>
              <a:ext uri="{FF2B5EF4-FFF2-40B4-BE49-F238E27FC236}">
                <a16:creationId xmlns:a16="http://schemas.microsoft.com/office/drawing/2014/main" id="{A02498B2-D25B-51D9-6A66-766EB479ED46}"/>
              </a:ext>
            </a:extLst>
          </p:cNvPr>
          <p:cNvSpPr txBox="1">
            <a:spLocks noChangeArrowheads="1"/>
          </p:cNvSpPr>
          <p:nvPr/>
        </p:nvSpPr>
        <p:spPr bwMode="auto">
          <a:xfrm>
            <a:off x="-310552" y="2356588"/>
            <a:ext cx="7591245" cy="782638"/>
          </a:xfrm>
          <a:prstGeom prst="rect">
            <a:avLst/>
          </a:prstGeom>
          <a:noFill/>
          <a:ln w="9525">
            <a:noFill/>
            <a:miter lim="800000"/>
            <a:headEnd/>
            <a:tailEnd/>
          </a:ln>
        </p:spPr>
        <p:txBody>
          <a:bodyPr wrap="square" lIns="0" tIns="12700" rIns="0" bIns="0">
            <a:spAutoFit/>
          </a:bodyPr>
          <a:lstStyle/>
          <a:p>
            <a:pPr marL="2541588">
              <a:spcBef>
                <a:spcPts val="100"/>
              </a:spcBef>
            </a:pPr>
            <a:r>
              <a:rPr lang="en-US" i="1" dirty="0">
                <a:latin typeface="Carlito"/>
                <a:ea typeface="Carlito"/>
                <a:cs typeface="Carlito"/>
              </a:rPr>
              <a:t>Seven is a magic number for people’s comprehension</a:t>
            </a:r>
            <a:endParaRPr lang="en-US" dirty="0">
              <a:latin typeface="Carlito"/>
              <a:ea typeface="Carlito"/>
              <a:cs typeface="Carlito"/>
            </a:endParaRPr>
          </a:p>
          <a:p>
            <a:pPr marL="2541588" algn="ctr">
              <a:spcBef>
                <a:spcPts val="25"/>
              </a:spcBef>
            </a:pPr>
            <a:endParaRPr lang="en-US" sz="3200" dirty="0">
              <a:latin typeface="Carlito"/>
              <a:ea typeface="Carlito"/>
              <a:cs typeface="Carlito"/>
            </a:endParaRPr>
          </a:p>
        </p:txBody>
      </p:sp>
      <p:pic>
        <p:nvPicPr>
          <p:cNvPr id="5" name="Picture 7">
            <a:extLst>
              <a:ext uri="{FF2B5EF4-FFF2-40B4-BE49-F238E27FC236}">
                <a16:creationId xmlns:a16="http://schemas.microsoft.com/office/drawing/2014/main" id="{B1FE5D4A-3EBA-3AAC-D1DD-7D29F1B5FA1A}"/>
              </a:ext>
            </a:extLst>
          </p:cNvPr>
          <p:cNvPicPr>
            <a:picLocks noChangeAspect="1" noChangeArrowheads="1"/>
          </p:cNvPicPr>
          <p:nvPr/>
        </p:nvPicPr>
        <p:blipFill>
          <a:blip r:embed="rId2" cstate="print"/>
          <a:srcRect/>
          <a:stretch>
            <a:fillRect/>
          </a:stretch>
        </p:blipFill>
        <p:spPr bwMode="auto">
          <a:xfrm>
            <a:off x="3307511" y="3168299"/>
            <a:ext cx="2895600" cy="3041650"/>
          </a:xfrm>
          <a:prstGeom prst="rect">
            <a:avLst/>
          </a:prstGeom>
          <a:noFill/>
          <a:ln w="9525">
            <a:noFill/>
            <a:miter lim="800000"/>
            <a:headEnd/>
            <a:tailEnd/>
          </a:ln>
        </p:spPr>
      </p:pic>
    </p:spTree>
    <p:extLst>
      <p:ext uri="{BB962C8B-B14F-4D97-AF65-F5344CB8AC3E}">
        <p14:creationId xmlns:p14="http://schemas.microsoft.com/office/powerpoint/2010/main" val="3895419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Reading </a:t>
            </a:r>
            <a:endParaRPr lang="en-US" b="1" dirty="0">
              <a:solidFill>
                <a:schemeClr val="tx1"/>
              </a:solidFill>
              <a:latin typeface="+mn-lt"/>
            </a:endParaRPr>
          </a:p>
        </p:txBody>
      </p:sp>
      <p:pic>
        <p:nvPicPr>
          <p:cNvPr id="12" name="Picture 2">
            <a:extLst>
              <a:ext uri="{FF2B5EF4-FFF2-40B4-BE49-F238E27FC236}">
                <a16:creationId xmlns:a16="http://schemas.microsoft.com/office/drawing/2014/main" id="{B97EC265-EF3F-919F-4777-8BF9578ABA95}"/>
              </a:ext>
            </a:extLst>
          </p:cNvPr>
          <p:cNvPicPr>
            <a:picLocks noChangeAspect="1" noChangeArrowheads="1"/>
          </p:cNvPicPr>
          <p:nvPr/>
        </p:nvPicPr>
        <p:blipFill>
          <a:blip r:embed="rId2" cstate="print"/>
          <a:srcRect/>
          <a:stretch>
            <a:fillRect/>
          </a:stretch>
        </p:blipFill>
        <p:spPr bwMode="auto">
          <a:xfrm>
            <a:off x="2895840" y="2226344"/>
            <a:ext cx="4039370" cy="4343400"/>
          </a:xfrm>
          <a:prstGeom prst="rect">
            <a:avLst/>
          </a:prstGeom>
          <a:noFill/>
          <a:ln w="9525">
            <a:noFill/>
            <a:miter lim="800000"/>
            <a:headEnd/>
            <a:tailEnd/>
          </a:ln>
        </p:spPr>
      </p:pic>
      <p:sp>
        <p:nvSpPr>
          <p:cNvPr id="4" name="Rectangle 6">
            <a:extLst>
              <a:ext uri="{FF2B5EF4-FFF2-40B4-BE49-F238E27FC236}">
                <a16:creationId xmlns:a16="http://schemas.microsoft.com/office/drawing/2014/main" id="{8C2C5299-C07B-1DA2-18DC-3CB4D0DF474E}"/>
              </a:ext>
            </a:extLst>
          </p:cNvPr>
          <p:cNvSpPr txBox="1">
            <a:spLocks noChangeArrowheads="1"/>
          </p:cNvSpPr>
          <p:nvPr/>
        </p:nvSpPr>
        <p:spPr>
          <a:xfrm>
            <a:off x="152400" y="1447800"/>
            <a:ext cx="8732808" cy="3429000"/>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spcAft>
                <a:spcPts val="0"/>
              </a:spcAft>
              <a:buClr>
                <a:srgbClr val="0070C0"/>
              </a:buClr>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a:spcAft>
                <a:spcPts val="0"/>
              </a:spcAft>
              <a:buClr>
                <a:srgbClr val="0070C0"/>
              </a:buClr>
              <a:buFont typeface="Wingdings 3"/>
              <a:buChar char=""/>
              <a:defRPr/>
            </a:pPr>
            <a:r>
              <a:rPr lang="en-US" sz="1700" dirty="0">
                <a:solidFill>
                  <a:srgbClr val="46424D"/>
                </a:solidFill>
                <a:latin typeface="Arial"/>
                <a:ea typeface="ＭＳ Ｐゴシック" charset="-128"/>
                <a:cs typeface="Arial"/>
              </a:rPr>
              <a:t>Chapter 7</a:t>
            </a:r>
          </a:p>
          <a:p>
            <a:pPr marL="533400" lvl="1" indent="-533400">
              <a:lnSpc>
                <a:spcPct val="115000"/>
              </a:lnSpc>
              <a:spcBef>
                <a:spcPct val="40000"/>
              </a:spcBef>
              <a:buClr>
                <a:srgbClr val="0BD0D9"/>
              </a:buClr>
              <a:buSzPct val="95000"/>
              <a:buFont typeface="Wingdings 2" pitchFamily="18" charset="2"/>
              <a:buNone/>
              <a:defRPr/>
            </a:pPr>
            <a:endParaRPr lang="en-NZ" altLang="en-US" dirty="0"/>
          </a:p>
        </p:txBody>
      </p:sp>
    </p:spTree>
    <p:extLst>
      <p:ext uri="{BB962C8B-B14F-4D97-AF65-F5344CB8AC3E}">
        <p14:creationId xmlns:p14="http://schemas.microsoft.com/office/powerpoint/2010/main" val="2360403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2615860504"/>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7d1a000-c374-4d35-b30d-1e8e9eadf82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38470530D50274EAFC96C307341D87E" ma:contentTypeVersion="7" ma:contentTypeDescription="Create a new document." ma:contentTypeScope="" ma:versionID="b8910448027bc4ed34846ea5a9c8ae5b">
  <xsd:schema xmlns:xsd="http://www.w3.org/2001/XMLSchema" xmlns:xs="http://www.w3.org/2001/XMLSchema" xmlns:p="http://schemas.microsoft.com/office/2006/metadata/properties" xmlns:ns3="a7d1a000-c374-4d35-b30d-1e8e9eadf823" xmlns:ns4="1ec989cd-5ee7-4e6d-938f-778fe4b0c792" targetNamespace="http://schemas.microsoft.com/office/2006/metadata/properties" ma:root="true" ma:fieldsID="4f803134678dcdcb51c3dda8fbd31a82" ns3:_="" ns4:_="">
    <xsd:import namespace="a7d1a000-c374-4d35-b30d-1e8e9eadf823"/>
    <xsd:import namespace="1ec989cd-5ee7-4e6d-938f-778fe4b0c792"/>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d1a000-c374-4d35-b30d-1e8e9eadf82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ec989cd-5ee7-4e6d-938f-778fe4b0c79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2E0C92-AC64-42CA-94F8-4CA15E127DA0}">
  <ds:schemaRefs>
    <ds:schemaRef ds:uri="http://purl.org/dc/dcmitype/"/>
    <ds:schemaRef ds:uri="http://purl.org/dc/terms/"/>
    <ds:schemaRef ds:uri="http://schemas.microsoft.com/office/2006/documentManagement/types"/>
    <ds:schemaRef ds:uri="1ec989cd-5ee7-4e6d-938f-778fe4b0c792"/>
    <ds:schemaRef ds:uri="http://purl.org/dc/elements/1.1/"/>
    <ds:schemaRef ds:uri="http://www.w3.org/XML/1998/namespace"/>
    <ds:schemaRef ds:uri="http://schemas.microsoft.com/office/infopath/2007/PartnerControls"/>
    <ds:schemaRef ds:uri="http://schemas.openxmlformats.org/package/2006/metadata/core-properties"/>
    <ds:schemaRef ds:uri="a7d1a000-c374-4d35-b30d-1e8e9eadf823"/>
    <ds:schemaRef ds:uri="http://schemas.microsoft.com/office/2006/metadata/properties"/>
  </ds:schemaRefs>
</ds:datastoreItem>
</file>

<file path=customXml/itemProps2.xml><?xml version="1.0" encoding="utf-8"?>
<ds:datastoreItem xmlns:ds="http://schemas.openxmlformats.org/officeDocument/2006/customXml" ds:itemID="{DD0BDFD9-B336-410C-8C70-E8CCE7AD7CBC}">
  <ds:schemaRefs>
    <ds:schemaRef ds:uri="http://schemas.microsoft.com/sharepoint/v3/contenttype/forms"/>
  </ds:schemaRefs>
</ds:datastoreItem>
</file>

<file path=customXml/itemProps3.xml><?xml version="1.0" encoding="utf-8"?>
<ds:datastoreItem xmlns:ds="http://schemas.openxmlformats.org/officeDocument/2006/customXml" ds:itemID="{07067C3D-3075-485C-B52B-5E822900D7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d1a000-c374-4d35-b30d-1e8e9eadf823"/>
    <ds:schemaRef ds:uri="1ec989cd-5ee7-4e6d-938f-778fe4b0c7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Theme CPIT 110</Template>
  <TotalTime>187</TotalTime>
  <Words>555</Words>
  <Application>Microsoft Office PowerPoint</Application>
  <PresentationFormat>On-screen Show (4:3)</PresentationFormat>
  <Paragraphs>58</Paragraphs>
  <Slides>13</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Arial</vt:lpstr>
      <vt:lpstr>Calibri</vt:lpstr>
      <vt:lpstr>Calibri Light</vt:lpstr>
      <vt:lpstr>Carlito</vt:lpstr>
      <vt:lpstr>Eurostile</vt:lpstr>
      <vt:lpstr>Wingdings</vt:lpstr>
      <vt:lpstr>Wingdings 2</vt:lpstr>
      <vt:lpstr>Wingdings 3</vt:lpstr>
      <vt:lpstr>Theme CPIT 110</vt:lpstr>
      <vt:lpstr>Custom Design</vt:lpstr>
      <vt:lpstr>Chapter  2.8 Creating High-Quality Code</vt:lpstr>
      <vt:lpstr>Outline</vt:lpstr>
      <vt:lpstr>Good Routine Names</vt:lpstr>
      <vt:lpstr>How Long Can a Routine Be?</vt:lpstr>
      <vt:lpstr>How to Use Routine Parameters?</vt:lpstr>
      <vt:lpstr>How to use Routine Parameters?</vt:lpstr>
      <vt:lpstr>How to Use Routine Parameters?</vt:lpstr>
      <vt:lpstr>How to Use Routine Parameters?</vt:lpstr>
      <vt:lpstr>How to Use Routine Parameters?</vt:lpstr>
      <vt:lpstr>How to Use Routine Parameters?</vt:lpstr>
      <vt:lpstr>How to Use Routine Parameters?</vt:lpstr>
      <vt:lpstr>Reading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26</cp:revision>
  <dcterms:created xsi:type="dcterms:W3CDTF">2019-06-07T16:06:41Z</dcterms:created>
  <dcterms:modified xsi:type="dcterms:W3CDTF">2025-02-16T08:33:17Z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0x010100038470530D50274EAFC96C307341D87E</vt:lpwstr>
  </property>
</Properties>
</file>