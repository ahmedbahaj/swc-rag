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0"/>
  </p:notesMasterIdLst>
  <p:sldIdLst>
    <p:sldId id="330" r:id="rId6"/>
    <p:sldId id="419" r:id="rId7"/>
    <p:sldId id="420" r:id="rId8"/>
    <p:sldId id="421" r:id="rId9"/>
    <p:sldId id="415" r:id="rId10"/>
    <p:sldId id="465" r:id="rId11"/>
    <p:sldId id="466" r:id="rId12"/>
    <p:sldId id="467" r:id="rId13"/>
    <p:sldId id="468" r:id="rId14"/>
    <p:sldId id="469" r:id="rId15"/>
    <p:sldId id="477" r:id="rId16"/>
    <p:sldId id="478" r:id="rId17"/>
    <p:sldId id="476" r:id="rId18"/>
    <p:sldId id="41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9"/>
            <p14:sldId id="420"/>
            <p14:sldId id="421"/>
            <p14:sldId id="415"/>
            <p14:sldId id="465"/>
            <p14:sldId id="466"/>
            <p14:sldId id="467"/>
            <p14:sldId id="468"/>
            <p14:sldId id="469"/>
            <p14:sldId id="477"/>
            <p14:sldId id="478"/>
            <p14:sldId id="47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94" autoAdjust="0"/>
    <p:restoredTop sz="94719"/>
  </p:normalViewPr>
  <p:slideViewPr>
    <p:cSldViewPr snapToGrid="0">
      <p:cViewPr varScale="1">
        <p:scale>
          <a:sx n="104" d="100"/>
          <a:sy n="104" d="100"/>
        </p:scale>
        <p:origin x="13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B4416E2D-5F7C-448F-AC80-4BB52A5FE79E}"/>
    <pc:docChg chg="undo redo custSel delSld modSld modSection">
      <pc:chgData name="Mohammad Dakhilallah Mohammad Alahmadi" userId="9b436a58-7297-423f-8410-66c59c69358a" providerId="ADAL" clId="{B4416E2D-5F7C-448F-AC80-4BB52A5FE79E}" dt="2023-10-09T10:43:53.959" v="35" actId="47"/>
      <pc:docMkLst>
        <pc:docMk/>
      </pc:docMkLst>
      <pc:sldChg chg="del">
        <pc:chgData name="Mohammad Dakhilallah Mohammad Alahmadi" userId="9b436a58-7297-423f-8410-66c59c69358a" providerId="ADAL" clId="{B4416E2D-5F7C-448F-AC80-4BB52A5FE79E}" dt="2023-10-09T10:43:53.959" v="35" actId="47"/>
        <pc:sldMkLst>
          <pc:docMk/>
          <pc:sldMk cId="2586610191" sldId="423"/>
        </pc:sldMkLst>
      </pc:sldChg>
      <pc:sldChg chg="modSp mod">
        <pc:chgData name="Mohammad Dakhilallah Mohammad Alahmadi" userId="9b436a58-7297-423f-8410-66c59c69358a" providerId="ADAL" clId="{B4416E2D-5F7C-448F-AC80-4BB52A5FE79E}" dt="2023-10-08T00:08:06.713" v="1" actId="20577"/>
        <pc:sldMkLst>
          <pc:docMk/>
          <pc:sldMk cId="268952856" sldId="465"/>
        </pc:sldMkLst>
        <pc:spChg chg="mod">
          <ac:chgData name="Mohammad Dakhilallah Mohammad Alahmadi" userId="9b436a58-7297-423f-8410-66c59c69358a" providerId="ADAL" clId="{B4416E2D-5F7C-448F-AC80-4BB52A5FE79E}" dt="2023-10-08T00:08:06.713" v="1" actId="20577"/>
          <ac:spMkLst>
            <pc:docMk/>
            <pc:sldMk cId="268952856" sldId="465"/>
            <ac:spMk id="8" creationId="{B32E85FE-2A58-4F19-7319-B91497CE9AE2}"/>
          </ac:spMkLst>
        </pc:spChg>
      </pc:sldChg>
      <pc:sldChg chg="modSp mod">
        <pc:chgData name="Mohammad Dakhilallah Mohammad Alahmadi" userId="9b436a58-7297-423f-8410-66c59c69358a" providerId="ADAL" clId="{B4416E2D-5F7C-448F-AC80-4BB52A5FE79E}" dt="2023-10-08T00:09:41.452" v="34" actId="1035"/>
        <pc:sldMkLst>
          <pc:docMk/>
          <pc:sldMk cId="381756412" sldId="467"/>
        </pc:sldMkLst>
        <pc:spChg chg="mod">
          <ac:chgData name="Mohammad Dakhilallah Mohammad Alahmadi" userId="9b436a58-7297-423f-8410-66c59c69358a" providerId="ADAL" clId="{B4416E2D-5F7C-448F-AC80-4BB52A5FE79E}" dt="2023-10-08T00:09:41.452" v="34" actId="1035"/>
          <ac:spMkLst>
            <pc:docMk/>
            <pc:sldMk cId="381756412" sldId="467"/>
            <ac:spMk id="2" creationId="{6F61F8AA-FE06-6008-D5C3-CF4E0D909B9F}"/>
          </ac:spMkLst>
        </pc:spChg>
        <pc:spChg chg="mod">
          <ac:chgData name="Mohammad Dakhilallah Mohammad Alahmadi" userId="9b436a58-7297-423f-8410-66c59c69358a" providerId="ADAL" clId="{B4416E2D-5F7C-448F-AC80-4BB52A5FE79E}" dt="2023-10-08T00:09:36.891" v="32" actId="120"/>
          <ac:spMkLst>
            <pc:docMk/>
            <pc:sldMk cId="381756412" sldId="467"/>
            <ac:spMk id="11" creationId="{E3ABED12-1000-CE63-51F9-61B370FE8D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4.3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Defensive Programming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Defensive Programming (Part 3 of 3)</a:t>
            </a:r>
          </a:p>
          <a:p>
            <a:pPr lvl="1">
              <a:buClr>
                <a:srgbClr val="0070C0"/>
              </a:buClr>
            </a:pPr>
            <a:r>
              <a:rPr lang="en-US" dirty="0">
                <a:solidFill>
                  <a:schemeClr val="tx1"/>
                </a:solidFill>
              </a:rPr>
              <a:t>Exceptions</a:t>
            </a:r>
          </a:p>
          <a:p>
            <a:pPr lvl="1">
              <a:buClr>
                <a:srgbClr val="0070C0"/>
              </a:buClr>
            </a:pPr>
            <a:r>
              <a:rPr lang="en-US" dirty="0">
                <a:solidFill>
                  <a:schemeClr val="tx1"/>
                </a:solidFill>
              </a:rPr>
              <a:t>Determining How Much Defensive Programming to Leave in Production Code</a:t>
            </a: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Exceptions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DFC1EE1-9E0F-E661-5CCC-84D759274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4015" y="1442224"/>
            <a:ext cx="6383338" cy="478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Exceptions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9B50A3DE-E5F1-3BF6-BF86-53AAACDD4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068" y="1729406"/>
            <a:ext cx="77724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1082675" indent="-1069975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An exception is an event, which occurs during the execution of a program, that disrupts the normal flow of the program's instructions.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F62D8FE2-0DDE-48D6-16C7-E5A613C73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268" y="2696194"/>
            <a:ext cx="8153400" cy="1884362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19050" rIns="0" bIns="0">
            <a:spAutoFit/>
          </a:bodyPr>
          <a:lstStyle/>
          <a:p>
            <a:pPr marL="92075" algn="ctr">
              <a:lnSpc>
                <a:spcPct val="101000"/>
              </a:lnSpc>
              <a:spcBef>
                <a:spcPts val="150"/>
              </a:spcBef>
              <a:tabLst>
                <a:tab pos="2457450" algn="l"/>
              </a:tabLst>
            </a:pPr>
            <a:r>
              <a:rPr lang="en-US" sz="2400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If code in one routine encounters an unexpected condition that it doesn’t  know how to handle, it throws an exception, essentially throwing up its  hands and yelling, “</a:t>
            </a:r>
            <a:r>
              <a:rPr lang="en-US" sz="2400" b="1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I don’t know what to do about this—I sure hope somebody else knows how to handle it!</a:t>
            </a:r>
            <a:r>
              <a:rPr lang="en-US" sz="2400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”</a:t>
            </a:r>
            <a:endParaRPr lang="en-US" sz="2400" dirty="0">
              <a:latin typeface="Carlito"/>
              <a:ea typeface="Carlito"/>
              <a:cs typeface="Carlito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CB77BA67-F441-C347-12F3-66F9E0899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068" y="4886944"/>
            <a:ext cx="7385050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8575" rIns="0" bIns="0">
            <a:spAutoFit/>
          </a:bodyPr>
          <a:lstStyle/>
          <a:p>
            <a:pPr marL="12700" algn="ctr">
              <a:lnSpc>
                <a:spcPts val="2088"/>
              </a:lnSpc>
              <a:spcBef>
                <a:spcPts val="225"/>
              </a:spcBef>
            </a:pPr>
            <a:r>
              <a:rPr lang="en-US">
                <a:latin typeface="Carlito"/>
                <a:ea typeface="Carlito"/>
                <a:cs typeface="Carlito"/>
              </a:rPr>
              <a:t>Code that has no sense of the context of an error can return control to other parts of the system that might have a better ability to interpret the error and do something useful about it.</a:t>
            </a:r>
          </a:p>
        </p:txBody>
      </p: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Exceptions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D862078-9ED5-EDA2-F4EE-DFFC72256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16050"/>
            <a:ext cx="8229600" cy="29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1082675" indent="-1069975">
              <a:lnSpc>
                <a:spcPts val="2113"/>
              </a:lnSpc>
              <a:spcBef>
                <a:spcPts val="213"/>
              </a:spcBef>
            </a:pPr>
            <a:r>
              <a:rPr lang="en-US" b="1"/>
              <a:t>Popular-Language Support for Exceptions</a:t>
            </a:r>
            <a:endParaRPr lang="en-US">
              <a:latin typeface="Carlito"/>
              <a:ea typeface="Carlito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B95680B-021E-5AD2-762A-39E757A15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362" y="2446337"/>
            <a:ext cx="4041580" cy="3438525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4FEB9DD-51F7-5844-9079-0AA2226B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854200"/>
            <a:ext cx="4589463" cy="462280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Exceptions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96EA2CA-CFBF-6FA0-A314-1FEF2B29B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278" y="2752493"/>
            <a:ext cx="8172450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8575" rIns="0" bIns="0">
            <a:spAutoFit/>
          </a:bodyPr>
          <a:lstStyle/>
          <a:p>
            <a:pPr marL="2530475" indent="-2517775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The benefit of exceptions is their ability to signal error conditions in such a way that they cannot be ignored (Meyers 1996)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B32E85FE-2A58-4F19-7319-B91497CE9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878" y="1709506"/>
            <a:ext cx="8489795" cy="7488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4604" rIns="0" bIns="0">
            <a:spAutoFit/>
          </a:bodyPr>
          <a:lstStyle/>
          <a:p>
            <a:pPr marL="2046288" indent="-1782763">
              <a:lnSpc>
                <a:spcPct val="101000"/>
              </a:lnSpc>
              <a:spcBef>
                <a:spcPts val="113"/>
              </a:spcBef>
            </a:pPr>
            <a:r>
              <a:rPr lang="en-US" sz="2400" b="1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Use exceptions to notify other parts of the program about errors that should not be ignored</a:t>
            </a:r>
            <a:endParaRPr lang="en-US" sz="2400" dirty="0">
              <a:latin typeface="Carlito"/>
              <a:ea typeface="Carlito"/>
              <a:cs typeface="Carlito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040B405-7B53-52BA-2BA0-08A6591C9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141" y="3751031"/>
            <a:ext cx="7875587" cy="174625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21590" rIns="0" bIns="0">
            <a:spAutoFit/>
          </a:bodyPr>
          <a:lstStyle/>
          <a:p>
            <a:pPr marL="273050" algn="ctr">
              <a:spcBef>
                <a:spcPts val="175"/>
              </a:spcBef>
            </a:pPr>
            <a:r>
              <a:rPr lang="en-US" sz="2800">
                <a:latin typeface="Carlito"/>
                <a:ea typeface="Carlito"/>
                <a:cs typeface="Carlito"/>
              </a:rPr>
              <a:t>Other approaches to handling errors create the possibility that an error condition can propagate through a code base undetected. Exceptions eliminate that possibility.</a:t>
            </a:r>
          </a:p>
        </p:txBody>
      </p:sp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Exceptions</a:t>
            </a:r>
            <a:endParaRPr lang="en-US" sz="4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0EA41468-DFF4-AC25-E21F-2221ABC39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830743"/>
            <a:ext cx="8839200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8575" rIns="0" bIns="0">
            <a:spAutoFit/>
          </a:bodyPr>
          <a:lstStyle/>
          <a:p>
            <a:pPr marL="1309688" indent="-1298575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Exceptions should be reserved for conditions that are truly exceptional—in other words, for conditions that cannot be addressed by other coding practices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6FED5D0-77D8-D11F-CBE1-1F3EF8D20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97255"/>
            <a:ext cx="8610600" cy="885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4604" rIns="0" bIns="0">
            <a:spAutoFit/>
          </a:bodyPr>
          <a:lstStyle/>
          <a:p>
            <a:pPr marL="3641725" indent="-3000375">
              <a:lnSpc>
                <a:spcPct val="101000"/>
              </a:lnSpc>
              <a:spcBef>
                <a:spcPts val="113"/>
              </a:spcBef>
            </a:pPr>
            <a:r>
              <a:rPr lang="en-US" sz="2800" b="1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Throw an exception only for conditions that are truly exceptional</a:t>
            </a:r>
            <a:endParaRPr lang="en-US" sz="2800" dirty="0">
              <a:latin typeface="Carlito"/>
              <a:ea typeface="Carlito"/>
              <a:cs typeface="Carlito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53F40437-0ED0-E797-B6B8-6D12984E6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786418"/>
            <a:ext cx="8686800" cy="131445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21590" rIns="0" bIns="0">
            <a:spAutoFit/>
          </a:bodyPr>
          <a:lstStyle/>
          <a:p>
            <a:pPr marL="319088" indent="79375" algn="ctr">
              <a:spcBef>
                <a:spcPts val="175"/>
              </a:spcBef>
            </a:pPr>
            <a:r>
              <a:rPr lang="en-US" sz="2800" dirty="0">
                <a:latin typeface="Carlito"/>
                <a:ea typeface="Carlito"/>
                <a:cs typeface="Carlito"/>
              </a:rPr>
              <a:t>Exceptions represent a tradeoff between a powerful way to handle unexpected conditions on the one hand and increased complexity on the other.</a:t>
            </a:r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Exceptions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F61F8AA-FE06-6008-D5C3-CF4E0D909B9F}"/>
              </a:ext>
            </a:extLst>
          </p:cNvPr>
          <p:cNvSpPr txBox="1"/>
          <p:nvPr/>
        </p:nvSpPr>
        <p:spPr>
          <a:xfrm>
            <a:off x="853616" y="1563614"/>
            <a:ext cx="7416800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78105" algn="ctr">
              <a:spcBef>
                <a:spcPts val="160"/>
              </a:spcBef>
              <a:defRPr/>
            </a:pP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Don’t use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an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exception to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pass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the</a:t>
            </a:r>
            <a:r>
              <a:rPr sz="2800" b="1" spc="4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buck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6FBBE08-A1B6-95F0-1BAE-1BF804CF0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74" y="2414817"/>
            <a:ext cx="8686800" cy="131445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22225" rIns="0" bIns="0">
            <a:spAutoFit/>
          </a:bodyPr>
          <a:lstStyle/>
          <a:p>
            <a:pPr marL="342900" algn="ctr">
              <a:spcBef>
                <a:spcPts val="175"/>
              </a:spcBef>
            </a:pPr>
            <a:r>
              <a:rPr lang="en-US" sz="2800" dirty="0">
                <a:latin typeface="Carlito"/>
                <a:ea typeface="Carlito"/>
                <a:cs typeface="Carlito"/>
              </a:rPr>
              <a:t>If an error condition can be handled locally, handle it locally. Don’t throw an uncaught exception in a section of code if you can handle the error locally.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5DFF4D0B-D1E0-3BA9-E990-5B36229E4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874" y="5635855"/>
            <a:ext cx="8686800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8575" rIns="0" bIns="0">
            <a:spAutoFit/>
          </a:bodyPr>
          <a:lstStyle/>
          <a:p>
            <a:pPr marL="1504950" indent="-1493838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The rules for how exceptions are processed become very complicated very quickly when  exceptions are thrown in constructors and destructors.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E3ABED12-1000-CE63-51F9-61B370FE8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80" y="4096390"/>
            <a:ext cx="8229600" cy="1317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2700" rIns="0" bIns="0">
            <a:spAutoFit/>
          </a:bodyPr>
          <a:lstStyle/>
          <a:p>
            <a:pPr marL="1522413" indent="-1279525" algn="ctr">
              <a:lnSpc>
                <a:spcPct val="101000"/>
              </a:lnSpc>
              <a:spcBef>
                <a:spcPts val="100"/>
              </a:spcBef>
            </a:pPr>
            <a:r>
              <a:rPr lang="en-US" sz="2800" b="1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Avoid throwing exceptions in constructors and destructors unless you catch them in the same place</a:t>
            </a:r>
            <a:endParaRPr lang="en-US" sz="2800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17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Exceptions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F2E5E8C-DF92-E019-66F1-997CF68BA7D5}"/>
              </a:ext>
            </a:extLst>
          </p:cNvPr>
          <p:cNvSpPr txBox="1"/>
          <p:nvPr/>
        </p:nvSpPr>
        <p:spPr>
          <a:xfrm>
            <a:off x="768726" y="2833448"/>
            <a:ext cx="7640637" cy="566737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Be sure the message </a:t>
            </a:r>
            <a:r>
              <a:rPr i="1" spc="-10" dirty="0">
                <a:latin typeface="Carlito"/>
                <a:cs typeface="Carlito"/>
              </a:rPr>
              <a:t>contains </a:t>
            </a:r>
            <a:r>
              <a:rPr i="1" spc="-5" dirty="0">
                <a:latin typeface="Carlito"/>
                <a:cs typeface="Carlito"/>
              </a:rPr>
              <a:t>the information needed </a:t>
            </a:r>
            <a:r>
              <a:rPr i="1" spc="-15" dirty="0">
                <a:latin typeface="Carlito"/>
                <a:cs typeface="Carlito"/>
              </a:rPr>
              <a:t>to </a:t>
            </a:r>
            <a:r>
              <a:rPr i="1" spc="-10" dirty="0">
                <a:latin typeface="Carlito"/>
                <a:cs typeface="Carlito"/>
              </a:rPr>
              <a:t>understand </a:t>
            </a:r>
            <a:r>
              <a:rPr i="1" spc="-15" dirty="0">
                <a:latin typeface="Carlito"/>
                <a:cs typeface="Carlito"/>
              </a:rPr>
              <a:t>why </a:t>
            </a:r>
            <a:r>
              <a:rPr i="1" spc="-5" dirty="0">
                <a:latin typeface="Carlito"/>
                <a:cs typeface="Carlito"/>
              </a:rPr>
              <a:t>the </a:t>
            </a:r>
            <a:r>
              <a:rPr i="1" spc="-15" dirty="0">
                <a:latin typeface="Carlito"/>
                <a:cs typeface="Carlito"/>
              </a:rPr>
              <a:t>exception </a:t>
            </a:r>
            <a:r>
              <a:rPr i="1" spc="-5" dirty="0">
                <a:latin typeface="Carlito"/>
                <a:cs typeface="Carlito"/>
              </a:rPr>
              <a:t>was</a:t>
            </a:r>
            <a:r>
              <a:rPr i="1" spc="235" dirty="0">
                <a:latin typeface="Carlito"/>
                <a:cs typeface="Carlito"/>
              </a:rPr>
              <a:t> </a:t>
            </a:r>
            <a:r>
              <a:rPr i="1" spc="-5" dirty="0">
                <a:latin typeface="Carlito"/>
                <a:cs typeface="Carlito"/>
              </a:rPr>
              <a:t>thrown.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3BBC8AE-F491-56A3-F4E6-17E50732B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60525"/>
            <a:ext cx="8636000" cy="885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4604" rIns="0" bIns="0">
            <a:spAutoFit/>
          </a:bodyPr>
          <a:lstStyle/>
          <a:p>
            <a:pPr marL="3290888" indent="-2949575">
              <a:lnSpc>
                <a:spcPct val="101000"/>
              </a:lnSpc>
              <a:spcBef>
                <a:spcPts val="113"/>
              </a:spcBef>
            </a:pPr>
            <a:r>
              <a:rPr lang="en-US" sz="2800" b="1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Include in the exception message all information that led to the exception</a:t>
            </a:r>
            <a:endParaRPr lang="en-US" sz="2800" dirty="0">
              <a:latin typeface="Carlito"/>
              <a:ea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89056CFC-E50C-CC43-6EA1-E63712817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76" y="3824282"/>
            <a:ext cx="7875587" cy="174625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21590" rIns="0" bIns="0">
            <a:spAutoFit/>
          </a:bodyPr>
          <a:lstStyle/>
          <a:p>
            <a:pPr marL="212725" algn="ctr">
              <a:spcBef>
                <a:spcPts val="175"/>
              </a:spcBef>
            </a:pPr>
            <a:r>
              <a:rPr lang="en-US" sz="2800">
                <a:latin typeface="Carlito"/>
                <a:ea typeface="Carlito"/>
                <a:cs typeface="Carlito"/>
              </a:rPr>
              <a:t>If the exception was thrown because of an array index error, be sure the exception message includes the upper and lower array limits and the value of the illegal index.</a:t>
            </a:r>
          </a:p>
        </p:txBody>
      </p:sp>
    </p:spTree>
    <p:extLst>
      <p:ext uri="{BB962C8B-B14F-4D97-AF65-F5344CB8AC3E}">
        <p14:creationId xmlns:p14="http://schemas.microsoft.com/office/powerpoint/2010/main" val="428843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Exceptions</a:t>
            </a:r>
            <a:endParaRPr lang="en-US" sz="27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2C49D108-ECD7-C356-39AF-3E1167304B1E}"/>
              </a:ext>
            </a:extLst>
          </p:cNvPr>
          <p:cNvSpPr txBox="1"/>
          <p:nvPr/>
        </p:nvSpPr>
        <p:spPr>
          <a:xfrm>
            <a:off x="863600" y="1346994"/>
            <a:ext cx="7416800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81280" algn="ctr">
              <a:spcBef>
                <a:spcPts val="160"/>
              </a:spcBef>
              <a:tabLst>
                <a:tab pos="2973705" algn="l"/>
              </a:tabLst>
              <a:defRPr/>
            </a:pPr>
            <a:r>
              <a:rPr sz="2800" b="1" spc="-25" dirty="0">
                <a:solidFill>
                  <a:srgbClr val="C00000"/>
                </a:solidFill>
                <a:latin typeface="Carlito"/>
                <a:cs typeface="Carlito"/>
              </a:rPr>
              <a:t>Avoid</a:t>
            </a:r>
            <a:r>
              <a:rPr sz="2800" b="1" spc="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empty</a:t>
            </a:r>
            <a:r>
              <a:rPr sz="2800" b="1" spc="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catch</a:t>
            </a:r>
            <a:r>
              <a:rPr lang="en-US" sz="2800" b="1" spc="-1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blocks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C6AEAC-DE25-4B49-02F6-CD9514940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34" y="3593133"/>
            <a:ext cx="4065587" cy="176688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EDDFE51B-873D-D81F-771E-73E2058CA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500" y="3558207"/>
            <a:ext cx="3090863" cy="1836737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AC5439B5-5BBE-0325-37AA-E32C51E31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52638"/>
            <a:ext cx="8428463" cy="83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6670" rIns="0" bIns="0">
            <a:spAutoFit/>
          </a:bodyPr>
          <a:lstStyle/>
          <a:p>
            <a:pPr marL="679450" indent="-666750" algn="ctr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Either the code within the try block is wrong because it raises an exception for no reason, or the code within the catch block is wrong because it doesn’t handle a valid exception.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10775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Exceptions</a:t>
            </a:r>
            <a:endParaRPr lang="en-US" sz="27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2B31F3C-5F59-84C0-73ED-0FBAC039D0AC}"/>
              </a:ext>
            </a:extLst>
          </p:cNvPr>
          <p:cNvSpPr txBox="1"/>
          <p:nvPr/>
        </p:nvSpPr>
        <p:spPr>
          <a:xfrm>
            <a:off x="438804" y="1252264"/>
            <a:ext cx="8240751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0320" rIns="0" bIns="0">
            <a:spAutoFit/>
          </a:bodyPr>
          <a:lstStyle/>
          <a:p>
            <a:pPr marL="855980">
              <a:spcBef>
                <a:spcPts val="160"/>
              </a:spcBef>
              <a:defRPr/>
            </a:pP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Consider building 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a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centralized exception</a:t>
            </a:r>
            <a:r>
              <a:rPr sz="2800" b="1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reporter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5004B5-D2A7-7EF0-1B10-AD51F5904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37" y="1765359"/>
            <a:ext cx="8759283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6670" rIns="0" bIns="0">
            <a:spAutoFit/>
          </a:bodyPr>
          <a:lstStyle/>
          <a:p>
            <a:pPr marL="244475" indent="-231775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Exceptions provide the means to separate the details of what to do when something out of the  ordinary. Error detection, reporting, and handling often lead to confusing spaghetti code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FC511897-8D3D-680E-81C8-23BCEBBDBE2A}"/>
              </a:ext>
            </a:extLst>
          </p:cNvPr>
          <p:cNvGrpSpPr>
            <a:grpSpLocks/>
          </p:cNvGrpSpPr>
          <p:nvPr/>
        </p:nvGrpSpPr>
        <p:grpSpPr bwMode="auto">
          <a:xfrm>
            <a:off x="107447" y="3455988"/>
            <a:ext cx="3159125" cy="2165350"/>
            <a:chOff x="305499" y="3264687"/>
            <a:chExt cx="3829050" cy="216535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71CA42A-AB8B-8E69-3114-8DB6BCB45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024" y="3274212"/>
              <a:ext cx="3765548" cy="2032337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960C0575-300B-5899-F755-9B51B8860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62" y="3269450"/>
              <a:ext cx="3819525" cy="2155825"/>
            </a:xfrm>
            <a:custGeom>
              <a:avLst/>
              <a:gdLst>
                <a:gd name="T0" fmla="*/ 0 w 3819525"/>
                <a:gd name="T1" fmla="*/ 0 h 2155825"/>
                <a:gd name="T2" fmla="*/ 3819525 w 3819525"/>
                <a:gd name="T3" fmla="*/ 0 h 2155825"/>
                <a:gd name="T4" fmla="*/ 3819525 w 3819525"/>
                <a:gd name="T5" fmla="*/ 2155823 h 2155825"/>
                <a:gd name="T6" fmla="*/ 0 w 3819525"/>
                <a:gd name="T7" fmla="*/ 2155823 h 2155825"/>
                <a:gd name="T8" fmla="*/ 0 w 3819525"/>
                <a:gd name="T9" fmla="*/ 0 h 21558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19525"/>
                <a:gd name="T16" fmla="*/ 0 h 2155825"/>
                <a:gd name="T17" fmla="*/ 3819525 w 3819525"/>
                <a:gd name="T18" fmla="*/ 2155825 h 21558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19525" h="2155825">
                  <a:moveTo>
                    <a:pt x="0" y="0"/>
                  </a:moveTo>
                  <a:lnTo>
                    <a:pt x="3819524" y="0"/>
                  </a:lnTo>
                  <a:lnTo>
                    <a:pt x="3819524" y="2155823"/>
                  </a:lnTo>
                  <a:lnTo>
                    <a:pt x="0" y="215582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12" name="object 8">
            <a:extLst>
              <a:ext uri="{FF2B5EF4-FFF2-40B4-BE49-F238E27FC236}">
                <a16:creationId xmlns:a16="http://schemas.microsoft.com/office/drawing/2014/main" id="{59971BBA-4A5C-C44A-0E4A-304C552FAE0E}"/>
              </a:ext>
            </a:extLst>
          </p:cNvPr>
          <p:cNvGrpSpPr>
            <a:grpSpLocks/>
          </p:cNvGrpSpPr>
          <p:nvPr/>
        </p:nvGrpSpPr>
        <p:grpSpPr bwMode="auto">
          <a:xfrm>
            <a:off x="3408884" y="2388692"/>
            <a:ext cx="2398713" cy="4068985"/>
            <a:chOff x="4579302" y="2326944"/>
            <a:chExt cx="2907030" cy="4351020"/>
          </a:xfrm>
        </p:grpSpPr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8ECBBA1D-5012-C200-6775-58251781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8827" y="2336469"/>
              <a:ext cx="2887675" cy="4264990"/>
            </a:xfrm>
            <a:prstGeom prst="rect">
              <a:avLst/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8AD49C2E-6ADB-0CFA-90C8-2E78FDD62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065" y="2331707"/>
              <a:ext cx="2897505" cy="4341495"/>
            </a:xfrm>
            <a:custGeom>
              <a:avLst/>
              <a:gdLst>
                <a:gd name="T0" fmla="*/ 0 w 2897504"/>
                <a:gd name="T1" fmla="*/ 0 h 4341495"/>
                <a:gd name="T2" fmla="*/ 2897215 w 2897504"/>
                <a:gd name="T3" fmla="*/ 0 h 4341495"/>
                <a:gd name="T4" fmla="*/ 2897215 w 2897504"/>
                <a:gd name="T5" fmla="*/ 4341055 h 4341495"/>
                <a:gd name="T6" fmla="*/ 0 w 2897504"/>
                <a:gd name="T7" fmla="*/ 4341055 h 4341495"/>
                <a:gd name="T8" fmla="*/ 0 w 2897504"/>
                <a:gd name="T9" fmla="*/ 0 h 43414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97504"/>
                <a:gd name="T16" fmla="*/ 0 h 4341495"/>
                <a:gd name="T17" fmla="*/ 2897504 w 2897504"/>
                <a:gd name="T18" fmla="*/ 4341495 h 434149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97504" h="4341495">
                  <a:moveTo>
                    <a:pt x="0" y="0"/>
                  </a:moveTo>
                  <a:lnTo>
                    <a:pt x="2897214" y="0"/>
                  </a:lnTo>
                  <a:lnTo>
                    <a:pt x="2897214" y="4341054"/>
                  </a:lnTo>
                  <a:lnTo>
                    <a:pt x="0" y="434105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grpSp>
        <p:nvGrpSpPr>
          <p:cNvPr id="15" name="object 11">
            <a:extLst>
              <a:ext uri="{FF2B5EF4-FFF2-40B4-BE49-F238E27FC236}">
                <a16:creationId xmlns:a16="http://schemas.microsoft.com/office/drawing/2014/main" id="{3F444AE4-B701-1D6B-84A0-CBD98E7DFE1B}"/>
              </a:ext>
            </a:extLst>
          </p:cNvPr>
          <p:cNvGrpSpPr>
            <a:grpSpLocks/>
          </p:cNvGrpSpPr>
          <p:nvPr/>
        </p:nvGrpSpPr>
        <p:grpSpPr bwMode="auto">
          <a:xfrm>
            <a:off x="6044219" y="2513048"/>
            <a:ext cx="2762250" cy="3940175"/>
            <a:chOff x="8184451" y="2532037"/>
            <a:chExt cx="3348354" cy="3940810"/>
          </a:xfrm>
        </p:grpSpPr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004DE949-5FE0-E371-2B44-BB07490A3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3976" y="2541568"/>
              <a:ext cx="3272886" cy="3875434"/>
            </a:xfrm>
            <a:prstGeom prst="rect">
              <a:avLst/>
            </a:prstGeom>
            <a:blipFill dpi="0" rotWithShape="1">
              <a:blip r:embed="rId4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F7CE81C8-F918-F6B4-9367-B555921CC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9214" y="2536799"/>
              <a:ext cx="3338829" cy="3931285"/>
            </a:xfrm>
            <a:custGeom>
              <a:avLst/>
              <a:gdLst>
                <a:gd name="T0" fmla="*/ 0 w 3338829"/>
                <a:gd name="T1" fmla="*/ 0 h 3931285"/>
                <a:gd name="T2" fmla="*/ 3338575 w 3338829"/>
                <a:gd name="T3" fmla="*/ 0 h 3931285"/>
                <a:gd name="T4" fmla="*/ 3338575 w 3338829"/>
                <a:gd name="T5" fmla="*/ 3930865 h 3931285"/>
                <a:gd name="T6" fmla="*/ 0 w 3338829"/>
                <a:gd name="T7" fmla="*/ 3930865 h 3931285"/>
                <a:gd name="T8" fmla="*/ 0 w 3338829"/>
                <a:gd name="T9" fmla="*/ 0 h 39312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38829"/>
                <a:gd name="T16" fmla="*/ 0 h 3931285"/>
                <a:gd name="T17" fmla="*/ 3338829 w 3338829"/>
                <a:gd name="T18" fmla="*/ 3931285 h 39312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38829" h="3931285">
                  <a:moveTo>
                    <a:pt x="0" y="0"/>
                  </a:moveTo>
                  <a:lnTo>
                    <a:pt x="3338574" y="0"/>
                  </a:lnTo>
                  <a:lnTo>
                    <a:pt x="3338574" y="3930864"/>
                  </a:lnTo>
                  <a:lnTo>
                    <a:pt x="0" y="39308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6773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3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Determining How Much Defensive Programming to Leave in Production Code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43D931A4-0C0E-E0F9-D8C6-7E7D34505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4280" y="1144707"/>
            <a:ext cx="2232000" cy="8640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50165" rIns="0" bIns="0">
            <a:spAutoFit/>
          </a:bodyPr>
          <a:lstStyle/>
          <a:p>
            <a:pPr marL="420688" indent="-227013" algn="ctr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Leave in code that checks for important errors</a:t>
            </a: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9C865B31-2DA7-B187-884D-A40470F0B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1893" y="2543129"/>
            <a:ext cx="2232000" cy="8640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50165" rIns="0" bIns="0">
            <a:spAutoFit/>
          </a:bodyPr>
          <a:lstStyle/>
          <a:p>
            <a:pPr marL="292100" indent="-133350" algn="ctr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Leave in code that helps the program crash gracefully</a:t>
            </a: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BF0ECA5C-6D95-CC24-DCBA-A514993D2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4280" y="3941551"/>
            <a:ext cx="2232000" cy="8640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50165" rIns="0" bIns="0">
            <a:spAutoFit/>
          </a:bodyPr>
          <a:lstStyle/>
          <a:p>
            <a:pPr marL="104775" indent="460375" algn="ctr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Log errors for your technical support personnel</a:t>
            </a: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461F6038-00F4-2AA6-00CD-AF15823894EE}"/>
              </a:ext>
            </a:extLst>
          </p:cNvPr>
          <p:cNvSpPr>
            <a:spLocks/>
          </p:cNvSpPr>
          <p:nvPr/>
        </p:nvSpPr>
        <p:spPr bwMode="auto">
          <a:xfrm>
            <a:off x="3454280" y="5398816"/>
            <a:ext cx="2232000" cy="864000"/>
          </a:xfrm>
          <a:custGeom>
            <a:avLst/>
            <a:gdLst>
              <a:gd name="T0" fmla="*/ 1148009 w 3152775"/>
              <a:gd name="T1" fmla="*/ 0 h 646429"/>
              <a:gd name="T2" fmla="*/ 0 w 3152775"/>
              <a:gd name="T3" fmla="*/ 0 h 646429"/>
              <a:gd name="T4" fmla="*/ 0 w 3152775"/>
              <a:gd name="T5" fmla="*/ 2539189 h 646429"/>
              <a:gd name="T6" fmla="*/ 1148009 w 3152775"/>
              <a:gd name="T7" fmla="*/ 2539189 h 646429"/>
              <a:gd name="T8" fmla="*/ 1148009 w 3152775"/>
              <a:gd name="T9" fmla="*/ 0 h 6464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52775"/>
              <a:gd name="T16" fmla="*/ 0 h 646429"/>
              <a:gd name="T17" fmla="*/ 3152775 w 3152775"/>
              <a:gd name="T18" fmla="*/ 646429 h 6464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52775" h="646429">
                <a:moveTo>
                  <a:pt x="3152292" y="0"/>
                </a:moveTo>
                <a:lnTo>
                  <a:pt x="0" y="0"/>
                </a:lnTo>
                <a:lnTo>
                  <a:pt x="0" y="646328"/>
                </a:lnTo>
                <a:lnTo>
                  <a:pt x="3152292" y="646328"/>
                </a:lnTo>
                <a:lnTo>
                  <a:pt x="3152292" y="0"/>
                </a:lnTo>
                <a:close/>
              </a:path>
            </a:pathLst>
          </a:custGeom>
          <a:solidFill>
            <a:srgbClr val="FFF2CC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dirty="0">
                <a:latin typeface="Carlito"/>
                <a:ea typeface="Carlito"/>
                <a:cs typeface="Carlito"/>
              </a:rPr>
              <a:t>Make sure that error messages you leave in are friendly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70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Chapter 8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4C1AEE-513E-5F44-2B1B-675D0D4D3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167" y="2186758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1272</TotalTime>
  <Words>589</Words>
  <Application>Microsoft Office PowerPoint</Application>
  <PresentationFormat>On-screen Show (4:3)</PresentationFormat>
  <Paragraphs>69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Calibri Light</vt:lpstr>
      <vt:lpstr>Carlito</vt:lpstr>
      <vt:lpstr>Eurostile</vt:lpstr>
      <vt:lpstr>Times New Roman</vt:lpstr>
      <vt:lpstr>Wingdings</vt:lpstr>
      <vt:lpstr>Wingdings 2</vt:lpstr>
      <vt:lpstr>Wingdings 3</vt:lpstr>
      <vt:lpstr>Theme CPIT 110</vt:lpstr>
      <vt:lpstr>Custom Design</vt:lpstr>
      <vt:lpstr>Chapter  4.3 Defensive Programming</vt:lpstr>
      <vt:lpstr>Outline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Exceptions</vt:lpstr>
      <vt:lpstr>Determining How Much Defensive Programming to Leave in Production Code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32</cp:revision>
  <dcterms:created xsi:type="dcterms:W3CDTF">2019-06-07T16:06:41Z</dcterms:created>
  <dcterms:modified xsi:type="dcterms:W3CDTF">2023-10-09T10:44:04Z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