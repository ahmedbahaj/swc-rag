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17"/>
  </p:notesMasterIdLst>
  <p:sldIdLst>
    <p:sldId id="330" r:id="rId6"/>
    <p:sldId id="432" r:id="rId7"/>
    <p:sldId id="333" r:id="rId8"/>
    <p:sldId id="416" r:id="rId9"/>
    <p:sldId id="417" r:id="rId10"/>
    <p:sldId id="419" r:id="rId11"/>
    <p:sldId id="420" r:id="rId12"/>
    <p:sldId id="421" r:id="rId13"/>
    <p:sldId id="415" r:id="rId14"/>
    <p:sldId id="424" r:id="rId15"/>
    <p:sldId id="41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32"/>
            <p14:sldId id="333"/>
            <p14:sldId id="416"/>
            <p14:sldId id="417"/>
            <p14:sldId id="419"/>
            <p14:sldId id="420"/>
            <p14:sldId id="421"/>
            <p14:sldId id="415"/>
            <p14:sldId id="424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57" autoAdjust="0"/>
    <p:restoredTop sz="80933" autoAdjust="0"/>
  </p:normalViewPr>
  <p:slideViewPr>
    <p:cSldViewPr snapToGrid="0">
      <p:cViewPr varScale="1">
        <p:scale>
          <a:sx n="89" d="100"/>
          <a:sy n="89" d="100"/>
        </p:scale>
        <p:origin x="18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B7E41D7-B705-9E12-F870-4AA364A73961}"/>
    <pc:docChg chg="delSld modSection">
      <pc:chgData name="" userId="" providerId="" clId="Web-{BB7E41D7-B705-9E12-F870-4AA364A73961}" dt="2023-08-25T12:12:24.310" v="2"/>
      <pc:docMkLst>
        <pc:docMk/>
      </pc:docMkLst>
      <pc:sldChg chg="del">
        <pc:chgData name="" userId="" providerId="" clId="Web-{BB7E41D7-B705-9E12-F870-4AA364A73961}" dt="2023-08-25T12:12:24.310" v="2"/>
        <pc:sldMkLst>
          <pc:docMk/>
          <pc:sldMk cId="2586610191" sldId="423"/>
        </pc:sldMkLst>
      </pc:sldChg>
      <pc:sldChg chg="del">
        <pc:chgData name="" userId="" providerId="" clId="Web-{BB7E41D7-B705-9E12-F870-4AA364A73961}" dt="2023-08-25T12:12:15.560" v="1"/>
        <pc:sldMkLst>
          <pc:docMk/>
          <pc:sldMk cId="1251082562" sldId="431"/>
        </pc:sldMkLst>
      </pc:sldChg>
      <pc:sldChg chg="del">
        <pc:chgData name="" userId="" providerId="" clId="Web-{BB7E41D7-B705-9E12-F870-4AA364A73961}" dt="2023-08-25T12:11:58.059" v="0"/>
        <pc:sldMkLst>
          <pc:docMk/>
          <pc:sldMk cId="202596297" sldId="433"/>
        </pc:sldMkLst>
      </pc:sldChg>
    </pc:docChg>
  </pc:docChgLst>
  <pc:docChgLst>
    <pc:chgData name="Mohammad Dakhilallah Mohammad Alahmadi" userId="9b436a58-7297-423f-8410-66c59c69358a" providerId="ADAL" clId="{2809A026-3FA9-4899-833F-085C319B2D71}"/>
    <pc:docChg chg="modSld">
      <pc:chgData name="Mohammad Dakhilallah Mohammad Alahmadi" userId="9b436a58-7297-423f-8410-66c59c69358a" providerId="ADAL" clId="{2809A026-3FA9-4899-833F-085C319B2D71}" dt="2023-09-25T07:58:03.700" v="2" actId="20577"/>
      <pc:docMkLst>
        <pc:docMk/>
      </pc:docMkLst>
      <pc:sldChg chg="modNotesTx">
        <pc:chgData name="Mohammad Dakhilallah Mohammad Alahmadi" userId="9b436a58-7297-423f-8410-66c59c69358a" providerId="ADAL" clId="{2809A026-3FA9-4899-833F-085C319B2D71}" dt="2023-09-25T07:58:03.700" v="2" actId="20577"/>
        <pc:sldMkLst>
          <pc:docMk/>
          <pc:sldMk cId="3810758988" sldId="4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It should be noted that a gotcha is not an error or an exception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. </a:t>
            </a:r>
            <a:r>
              <a:rPr lang="en-US" b="0" i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It is a perfectly valid code that results in an incorrect output.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43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9/25/2023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9/25/2023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9/25/2023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9/25/2023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2.6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</a:rPr>
              <a:t>Creating High-Quality Code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sz="4400" b="1" dirty="0">
              <a:solidFill>
                <a:schemeClr val="tx1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82C841F-83CC-6554-A418-8F76BA16BB81}"/>
              </a:ext>
            </a:extLst>
          </p:cNvPr>
          <p:cNvSpPr txBox="1">
            <a:spLocks/>
          </p:cNvSpPr>
          <p:nvPr/>
        </p:nvSpPr>
        <p:spPr>
          <a:xfrm>
            <a:off x="400547" y="1234281"/>
            <a:ext cx="9615487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Working Classes (Part 3 of 3)</a:t>
            </a:r>
          </a:p>
          <a:p>
            <a:pPr lvl="1">
              <a:buClr>
                <a:srgbClr val="0070C0"/>
              </a:buClr>
            </a:pPr>
            <a:r>
              <a:rPr lang="en-US" dirty="0"/>
              <a:t>Reasons to Create Class</a:t>
            </a:r>
          </a:p>
          <a:p>
            <a:pPr lvl="1">
              <a:buClr>
                <a:srgbClr val="0070C0"/>
              </a:buClr>
            </a:pPr>
            <a:r>
              <a:rPr lang="en-US" dirty="0"/>
              <a:t>Classes to Avoid</a:t>
            </a:r>
          </a:p>
        </p:txBody>
      </p:sp>
    </p:spTree>
    <p:extLst>
      <p:ext uri="{BB962C8B-B14F-4D97-AF65-F5344CB8AC3E}">
        <p14:creationId xmlns:p14="http://schemas.microsoft.com/office/powerpoint/2010/main" val="378510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4400" b="1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Reasons to Create Class</a:t>
            </a: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7014CB3D-3087-1D81-7044-F2B1BBF87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2961" y="2241312"/>
            <a:ext cx="2297112" cy="4176713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A37F02B3-D703-47EA-2E3C-34049197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873" y="2231787"/>
            <a:ext cx="3657600" cy="9239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Modeling real-world objects might not be the only reason to create a class, but it’s still a good reason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3EA767EB-C095-2C09-17C5-39BE159F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873" y="3689112"/>
            <a:ext cx="3657600" cy="1200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Put the data needed for the object into the class, and then build service routines that model the behavior of the object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4F67AA0-0413-42DC-7E29-E94336E72BE2}"/>
              </a:ext>
            </a:extLst>
          </p:cNvPr>
          <p:cNvSpPr txBox="1"/>
          <p:nvPr/>
        </p:nvSpPr>
        <p:spPr>
          <a:xfrm>
            <a:off x="2786062" y="1232015"/>
            <a:ext cx="3571875" cy="3905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159385">
              <a:spcBef>
                <a:spcPts val="170"/>
              </a:spcBef>
              <a:defRPr/>
            </a:pP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Model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real-world</a:t>
            </a:r>
            <a:r>
              <a:rPr sz="2400" spc="-2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objects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2C34722A-9C9B-DB31-F683-167DDAB4077F}"/>
              </a:ext>
            </a:extLst>
          </p:cNvPr>
          <p:cNvSpPr txBox="1"/>
          <p:nvPr/>
        </p:nvSpPr>
        <p:spPr>
          <a:xfrm>
            <a:off x="1023937" y="1713027"/>
            <a:ext cx="7543800" cy="290513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i="1" spc="-10" dirty="0">
                <a:latin typeface="Carlito"/>
                <a:cs typeface="Carlito"/>
              </a:rPr>
              <a:t>Create </a:t>
            </a:r>
            <a:r>
              <a:rPr i="1" dirty="0">
                <a:latin typeface="Carlito"/>
                <a:cs typeface="Carlito"/>
              </a:rPr>
              <a:t>a </a:t>
            </a:r>
            <a:r>
              <a:rPr i="1" spc="-5" dirty="0">
                <a:latin typeface="Carlito"/>
                <a:cs typeface="Carlito"/>
              </a:rPr>
              <a:t>class </a:t>
            </a:r>
            <a:r>
              <a:rPr i="1" spc="-10" dirty="0">
                <a:latin typeface="Carlito"/>
                <a:cs typeface="Carlito"/>
              </a:rPr>
              <a:t>for </a:t>
            </a:r>
            <a:r>
              <a:rPr i="1" spc="-5" dirty="0">
                <a:latin typeface="Carlito"/>
                <a:cs typeface="Carlito"/>
              </a:rPr>
              <a:t>each real-world object type that your program</a:t>
            </a:r>
            <a:r>
              <a:rPr i="1" spc="120" dirty="0">
                <a:latin typeface="Carlito"/>
                <a:cs typeface="Carlito"/>
              </a:rPr>
              <a:t> </a:t>
            </a:r>
            <a:r>
              <a:rPr i="1" spc="-5" dirty="0">
                <a:latin typeface="Carlito"/>
                <a:cs typeface="Carlito"/>
              </a:rPr>
              <a:t>models</a:t>
            </a:r>
            <a:endParaRPr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83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Reasons to Create Class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4995572-EF84-6A06-F22E-A8AFF5D3C330}"/>
              </a:ext>
            </a:extLst>
          </p:cNvPr>
          <p:cNvSpPr txBox="1"/>
          <p:nvPr/>
        </p:nvSpPr>
        <p:spPr>
          <a:xfrm>
            <a:off x="2957422" y="1411786"/>
            <a:ext cx="3457575" cy="3905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159385">
              <a:spcBef>
                <a:spcPts val="170"/>
              </a:spcBef>
              <a:defRPr/>
            </a:pP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Model </a:t>
            </a:r>
            <a:r>
              <a:rPr sz="2400" spc="-15" dirty="0">
                <a:solidFill>
                  <a:srgbClr val="C00000"/>
                </a:solidFill>
                <a:latin typeface="Carlito"/>
                <a:cs typeface="Carlito"/>
              </a:rPr>
              <a:t>abstract</a:t>
            </a:r>
            <a:r>
              <a:rPr sz="2400" spc="-4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objects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F8566AB7-7EDB-E07E-A826-ABA0E8CD5071}"/>
              </a:ext>
            </a:extLst>
          </p:cNvPr>
          <p:cNvSpPr txBox="1"/>
          <p:nvPr/>
        </p:nvSpPr>
        <p:spPr>
          <a:xfrm>
            <a:off x="406310" y="1968999"/>
            <a:ext cx="8181975" cy="566737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algn="ctr">
              <a:spcBef>
                <a:spcPts val="100"/>
              </a:spcBef>
              <a:defRPr/>
            </a:pPr>
            <a:r>
              <a:rPr i="1" spc="-5" dirty="0">
                <a:latin typeface="Carlito"/>
                <a:cs typeface="Carlito"/>
              </a:rPr>
              <a:t>An object that isn’t </a:t>
            </a:r>
            <a:r>
              <a:rPr i="1" dirty="0">
                <a:latin typeface="Carlito"/>
                <a:cs typeface="Carlito"/>
              </a:rPr>
              <a:t>a </a:t>
            </a:r>
            <a:r>
              <a:rPr i="1" spc="-10" dirty="0">
                <a:latin typeface="Carlito"/>
                <a:cs typeface="Carlito"/>
              </a:rPr>
              <a:t>concrete, </a:t>
            </a:r>
            <a:r>
              <a:rPr i="1" spc="-5" dirty="0">
                <a:latin typeface="Carlito"/>
                <a:cs typeface="Carlito"/>
              </a:rPr>
              <a:t>real-world object </a:t>
            </a:r>
            <a:r>
              <a:rPr i="1" dirty="0">
                <a:latin typeface="Carlito"/>
                <a:cs typeface="Carlito"/>
              </a:rPr>
              <a:t>but </a:t>
            </a:r>
            <a:r>
              <a:rPr i="1" spc="-5" dirty="0">
                <a:latin typeface="Carlito"/>
                <a:cs typeface="Carlito"/>
              </a:rPr>
              <a:t>that provides </a:t>
            </a:r>
            <a:r>
              <a:rPr i="1" dirty="0">
                <a:latin typeface="Carlito"/>
                <a:cs typeface="Carlito"/>
              </a:rPr>
              <a:t>an </a:t>
            </a:r>
            <a:r>
              <a:rPr i="1" spc="-5" dirty="0">
                <a:latin typeface="Carlito"/>
                <a:cs typeface="Carlito"/>
              </a:rPr>
              <a:t>abstraction </a:t>
            </a:r>
            <a:r>
              <a:rPr i="1" dirty="0">
                <a:latin typeface="Carlito"/>
                <a:cs typeface="Carlito"/>
              </a:rPr>
              <a:t>of </a:t>
            </a:r>
            <a:r>
              <a:rPr i="1" spc="-5" dirty="0">
                <a:latin typeface="Carlito"/>
                <a:cs typeface="Carlito"/>
              </a:rPr>
              <a:t>other </a:t>
            </a:r>
            <a:r>
              <a:rPr i="1" spc="-10" dirty="0">
                <a:latin typeface="Carlito"/>
                <a:cs typeface="Carlito"/>
              </a:rPr>
              <a:t>concrete</a:t>
            </a:r>
            <a:r>
              <a:rPr i="1" spc="185" dirty="0">
                <a:latin typeface="Carlito"/>
                <a:cs typeface="Carlito"/>
              </a:rPr>
              <a:t> </a:t>
            </a:r>
            <a:r>
              <a:rPr i="1" spc="-5" dirty="0">
                <a:latin typeface="Carlito"/>
                <a:cs typeface="Carlito"/>
              </a:rPr>
              <a:t>objects.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0410A4D4-A572-81E6-FE31-06BB33144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022" y="3340599"/>
            <a:ext cx="5334000" cy="150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9525" rIns="0" bIns="0">
            <a:spAutoFit/>
          </a:bodyPr>
          <a:lstStyle/>
          <a:p>
            <a:pPr marL="12700">
              <a:lnSpc>
                <a:spcPct val="101000"/>
              </a:lnSpc>
              <a:spcBef>
                <a:spcPts val="75"/>
              </a:spcBef>
            </a:pPr>
            <a:r>
              <a:rPr lang="en-US" sz="2400">
                <a:latin typeface="Carlito"/>
                <a:ea typeface="Carlito"/>
                <a:cs typeface="Carlito"/>
              </a:rPr>
              <a:t>For example, the classic </a:t>
            </a:r>
            <a:r>
              <a:rPr lang="en-US" sz="2400" i="1">
                <a:latin typeface="Carlito"/>
                <a:ea typeface="Carlito"/>
                <a:cs typeface="Carlito"/>
              </a:rPr>
              <a:t>Shape </a:t>
            </a:r>
            <a:r>
              <a:rPr lang="en-US" sz="2400">
                <a:latin typeface="Carlito"/>
                <a:ea typeface="Carlito"/>
                <a:cs typeface="Carlito"/>
              </a:rPr>
              <a:t>object.  </a:t>
            </a:r>
            <a:r>
              <a:rPr lang="en-US" sz="2400" i="1">
                <a:latin typeface="Carlito"/>
                <a:ea typeface="Carlito"/>
                <a:cs typeface="Carlito"/>
              </a:rPr>
              <a:t>Rectangle </a:t>
            </a:r>
            <a:r>
              <a:rPr lang="en-US" sz="2400">
                <a:latin typeface="Carlito"/>
                <a:ea typeface="Carlito"/>
                <a:cs typeface="Carlito"/>
              </a:rPr>
              <a:t>and </a:t>
            </a:r>
            <a:r>
              <a:rPr lang="en-US" sz="2400" i="1">
                <a:latin typeface="Carlito"/>
                <a:ea typeface="Carlito"/>
                <a:cs typeface="Carlito"/>
              </a:rPr>
              <a:t>Triangle </a:t>
            </a:r>
            <a:r>
              <a:rPr lang="en-US" sz="2400">
                <a:latin typeface="Carlito"/>
                <a:ea typeface="Carlito"/>
                <a:cs typeface="Carlito"/>
              </a:rPr>
              <a:t>really exist, but  </a:t>
            </a:r>
            <a:r>
              <a:rPr lang="en-US" sz="2400" i="1">
                <a:latin typeface="Carlito"/>
                <a:ea typeface="Carlito"/>
                <a:cs typeface="Carlito"/>
              </a:rPr>
              <a:t>Shape </a:t>
            </a:r>
            <a:r>
              <a:rPr lang="en-US" sz="2400">
                <a:latin typeface="Carlito"/>
                <a:ea typeface="Carlito"/>
                <a:cs typeface="Carlito"/>
              </a:rPr>
              <a:t>is an abstraction of other  specific shapes.</a:t>
            </a: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F300ED00-E611-B8A2-EFB7-557BC6803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160" y="2675436"/>
            <a:ext cx="3116262" cy="33655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5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Reasons to Create Class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40B1FF0-B8F6-2BBA-8618-DA3266745935}"/>
              </a:ext>
            </a:extLst>
          </p:cNvPr>
          <p:cNvSpPr txBox="1"/>
          <p:nvPr/>
        </p:nvSpPr>
        <p:spPr>
          <a:xfrm>
            <a:off x="2925613" y="1217762"/>
            <a:ext cx="3019425" cy="3905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159385" algn="ctr">
              <a:spcBef>
                <a:spcPts val="170"/>
              </a:spcBef>
              <a:defRPr/>
            </a:pP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Reduce</a:t>
            </a:r>
            <a:r>
              <a:rPr sz="2400" spc="-3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complexity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5B078B91-634D-4715-5A18-EABA000CD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54337"/>
            <a:ext cx="8993038" cy="83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6670" rIns="0" bIns="0">
            <a:spAutoFit/>
          </a:bodyPr>
          <a:lstStyle/>
          <a:p>
            <a:pPr marL="1998663" indent="-1985963" algn="ctr">
              <a:lnSpc>
                <a:spcPts val="2113"/>
              </a:lnSpc>
              <a:spcBef>
                <a:spcPts val="21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Create a class to hide information so that you won’t need to think about it, no need to know about its internal  workings. Also, </a:t>
            </a:r>
            <a:r>
              <a:rPr lang="en-US" dirty="0">
                <a:latin typeface="Carlito"/>
                <a:ea typeface="Carlito"/>
                <a:cs typeface="Carlito"/>
              </a:rPr>
              <a:t>to minimize code size and improve maintainability</a:t>
            </a: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97CF0687-6AC4-B264-61C3-7C5EFC7D8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0843" y="2657145"/>
            <a:ext cx="3128963" cy="379253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9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Reasons to Create Class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42FB1B8-F010-C952-56A1-FA2B31FE6B2C}"/>
              </a:ext>
            </a:extLst>
          </p:cNvPr>
          <p:cNvSpPr txBox="1"/>
          <p:nvPr/>
        </p:nvSpPr>
        <p:spPr>
          <a:xfrm>
            <a:off x="3107410" y="1268323"/>
            <a:ext cx="2903537" cy="39211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159385" algn="ctr">
              <a:spcBef>
                <a:spcPts val="170"/>
              </a:spcBef>
              <a:defRPr/>
            </a:pPr>
            <a:r>
              <a:rPr sz="2400" spc="-15" dirty="0">
                <a:solidFill>
                  <a:srgbClr val="C00000"/>
                </a:solidFill>
                <a:latin typeface="Carlito"/>
                <a:cs typeface="Carlito"/>
              </a:rPr>
              <a:t>Isolate</a:t>
            </a:r>
            <a:r>
              <a:rPr sz="2400" spc="-2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complexity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48FB5182-69C0-AEF5-B60E-0097993FA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5640" y="1818601"/>
            <a:ext cx="9100629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6670" rIns="0" bIns="0">
            <a:spAutoFit/>
          </a:bodyPr>
          <a:lstStyle/>
          <a:p>
            <a:pPr marL="3998913" indent="-3986213" algn="ctr">
              <a:lnSpc>
                <a:spcPts val="2113"/>
              </a:lnSpc>
              <a:spcBef>
                <a:spcPts val="21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Complexity in all forms—complicated algorithms, large data sets, intricate communications protocols, and so on—is prone to errors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D0D8C0AF-F910-9622-A964-D9F8C6FB2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434481"/>
            <a:ext cx="5105400" cy="112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9525" rIns="0" bIns="0">
            <a:spAutoFit/>
          </a:bodyPr>
          <a:lstStyle/>
          <a:p>
            <a:pPr marL="12700">
              <a:lnSpc>
                <a:spcPct val="101000"/>
              </a:lnSpc>
              <a:spcBef>
                <a:spcPts val="75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If an error does occur, it will be easier  to find if it isn’t spread through the  code but is localized within a class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E8072FC4-0E32-4AED-8E31-F9F6BDD91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2181" y="2656605"/>
            <a:ext cx="2346325" cy="3813175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Reasons to Create Class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D69E32B9-8C89-9D3C-3DD2-515C9F97F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9350" y="2196592"/>
            <a:ext cx="6845300" cy="300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Class to Avoid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B7FF1EC6-A7DA-2FB2-9076-796305703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3907" y="2468233"/>
            <a:ext cx="6742113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7">
            <a:extLst>
              <a:ext uri="{FF2B5EF4-FFF2-40B4-BE49-F238E27FC236}">
                <a16:creationId xmlns:a16="http://schemas.microsoft.com/office/drawing/2014/main" id="{CD60D181-EB79-5209-99B0-4DB8BAEE7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082" y="1504621"/>
            <a:ext cx="716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dirty="0">
                <a:latin typeface="Carlito"/>
                <a:ea typeface="Carlito"/>
                <a:cs typeface="Carlito"/>
              </a:rPr>
              <a:t>While classes in general are good, you can run into a few </a:t>
            </a:r>
            <a:r>
              <a:rPr lang="en-US" sz="2400" dirty="0" err="1">
                <a:latin typeface="Carlito"/>
                <a:ea typeface="Carlito"/>
                <a:cs typeface="Carlito"/>
              </a:rPr>
              <a:t>gotchas</a:t>
            </a:r>
            <a:r>
              <a:rPr lang="en-US" sz="2400" dirty="0">
                <a:latin typeface="Carlito"/>
                <a:ea typeface="Carlito"/>
                <a:cs typeface="Carli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Classes to Avoid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9FE14744-C4D4-5F61-907F-843A11325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962" y="1741278"/>
            <a:ext cx="7770812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277C982F-3B00-0AFB-1407-11EB1F73F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04462" y="4189203"/>
            <a:ext cx="3516312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Reading 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4AE7767-3E60-DD62-F78B-5FA147964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0" y="1249392"/>
            <a:ext cx="9074749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17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Chapter 6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97EC265-EF3F-919F-4777-8BF9578AB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840" y="2226344"/>
            <a:ext cx="403937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040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7d1a000-c374-4d35-b30d-1e8e9eadf82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470530D50274EAFC96C307341D87E" ma:contentTypeVersion="7" ma:contentTypeDescription="Create a new document." ma:contentTypeScope="" ma:versionID="b8910448027bc4ed34846ea5a9c8ae5b">
  <xsd:schema xmlns:xsd="http://www.w3.org/2001/XMLSchema" xmlns:xs="http://www.w3.org/2001/XMLSchema" xmlns:p="http://schemas.microsoft.com/office/2006/metadata/properties" xmlns:ns3="a7d1a000-c374-4d35-b30d-1e8e9eadf823" xmlns:ns4="1ec989cd-5ee7-4e6d-938f-778fe4b0c792" targetNamespace="http://schemas.microsoft.com/office/2006/metadata/properties" ma:root="true" ma:fieldsID="4f803134678dcdcb51c3dda8fbd31a82" ns3:_="" ns4:_="">
    <xsd:import namespace="a7d1a000-c374-4d35-b30d-1e8e9eadf823"/>
    <xsd:import namespace="1ec989cd-5ee7-4e6d-938f-778fe4b0c792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d1a000-c374-4d35-b30d-1e8e9eadf82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c989cd-5ee7-4e6d-938f-778fe4b0c792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2E0C92-AC64-42CA-94F8-4CA15E127DA0}">
  <ds:schemaRefs>
    <ds:schemaRef ds:uri="http://purl.org/dc/dcmitype/"/>
    <ds:schemaRef ds:uri="http://purl.org/dc/terms/"/>
    <ds:schemaRef ds:uri="http://schemas.microsoft.com/office/2006/documentManagement/types"/>
    <ds:schemaRef ds:uri="1ec989cd-5ee7-4e6d-938f-778fe4b0c792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7d1a000-c374-4d35-b30d-1e8e9eadf82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7067C3D-3075-485C-B52B-5E822900D7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d1a000-c374-4d35-b30d-1e8e9eadf823"/>
    <ds:schemaRef ds:uri="1ec989cd-5ee7-4e6d-938f-778fe4b0c7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130</TotalTime>
  <Words>336</Words>
  <Application>Microsoft Office PowerPoint</Application>
  <PresentationFormat>On-screen Show (4:3)</PresentationFormat>
  <Paragraphs>50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Calibri</vt:lpstr>
      <vt:lpstr>Calibri Light</vt:lpstr>
      <vt:lpstr>Carlito</vt:lpstr>
      <vt:lpstr>Eurostile</vt:lpstr>
      <vt:lpstr>Nunito</vt:lpstr>
      <vt:lpstr>Times New Roman</vt:lpstr>
      <vt:lpstr>Wingdings</vt:lpstr>
      <vt:lpstr>Wingdings 2</vt:lpstr>
      <vt:lpstr>Wingdings 3</vt:lpstr>
      <vt:lpstr>Theme CPIT 110</vt:lpstr>
      <vt:lpstr>Custom Design</vt:lpstr>
      <vt:lpstr>Chapter  2.6 Creating High-Quality Code</vt:lpstr>
      <vt:lpstr>Outline</vt:lpstr>
      <vt:lpstr>Reasons to Create Class</vt:lpstr>
      <vt:lpstr>Reasons to Create Class</vt:lpstr>
      <vt:lpstr>Reasons to Create Class</vt:lpstr>
      <vt:lpstr>Reasons to Create Class</vt:lpstr>
      <vt:lpstr>Reasons to Create Class</vt:lpstr>
      <vt:lpstr>Class to Avoid</vt:lpstr>
      <vt:lpstr>Classes to Avoid</vt:lpstr>
      <vt:lpstr>Reading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20</cp:revision>
  <dcterms:created xsi:type="dcterms:W3CDTF">2019-06-07T16:06:41Z</dcterms:created>
  <dcterms:modified xsi:type="dcterms:W3CDTF">2023-09-25T07:58:04Z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0x010100038470530D50274EAFC96C307341D87E</vt:lpwstr>
  </property>
</Properties>
</file>