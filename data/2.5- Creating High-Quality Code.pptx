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57" r:id="rId5"/>
  </p:sldMasterIdLst>
  <p:notesMasterIdLst>
    <p:notesMasterId r:id="rId19"/>
  </p:notesMasterIdLst>
  <p:sldIdLst>
    <p:sldId id="330" r:id="rId6"/>
    <p:sldId id="432" r:id="rId7"/>
    <p:sldId id="333" r:id="rId8"/>
    <p:sldId id="416" r:id="rId9"/>
    <p:sldId id="417" r:id="rId10"/>
    <p:sldId id="419" r:id="rId11"/>
    <p:sldId id="420" r:id="rId12"/>
    <p:sldId id="421" r:id="rId13"/>
    <p:sldId id="415" r:id="rId14"/>
    <p:sldId id="424" r:id="rId15"/>
    <p:sldId id="425" r:id="rId16"/>
    <p:sldId id="430" r:id="rId17"/>
    <p:sldId id="41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" id="{EB54229A-E673-4F50-937B-310B31E2AF04}">
          <p14:sldIdLst>
            <p14:sldId id="330"/>
            <p14:sldId id="432"/>
            <p14:sldId id="333"/>
            <p14:sldId id="416"/>
            <p14:sldId id="417"/>
            <p14:sldId id="419"/>
            <p14:sldId id="420"/>
            <p14:sldId id="421"/>
            <p14:sldId id="415"/>
            <p14:sldId id="424"/>
            <p14:sldId id="425"/>
            <p14:sldId id="430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CDEA"/>
    <a:srgbClr val="0A4B67"/>
    <a:srgbClr val="88A6B1"/>
    <a:srgbClr val="565351"/>
    <a:srgbClr val="767270"/>
    <a:srgbClr val="FFFFD1"/>
    <a:srgbClr val="6E96A2"/>
    <a:srgbClr val="6B9F25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75" autoAdjust="0"/>
    <p:restoredTop sz="94698"/>
  </p:normalViewPr>
  <p:slideViewPr>
    <p:cSldViewPr snapToGrid="0">
      <p:cViewPr varScale="1">
        <p:scale>
          <a:sx n="85" d="100"/>
          <a:sy n="85" d="100"/>
        </p:scale>
        <p:origin x="1094" y="75"/>
      </p:cViewPr>
      <p:guideLst/>
    </p:cSldViewPr>
  </p:slideViewPr>
  <p:notesTextViewPr>
    <p:cViewPr>
      <p:scale>
        <a:sx n="1" d="1"/>
        <a:sy n="1" d="1"/>
      </p:scale>
      <p:origin x="0" y="-237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Dakhilallah Mohammad Alahmadi" userId="9b436a58-7297-423f-8410-66c59c69358a" providerId="ADAL" clId="{226720AC-FDE7-4F33-A588-EEC028A057CF}"/>
    <pc:docChg chg="custSel modSld">
      <pc:chgData name="Mohammad Dakhilallah Mohammad Alahmadi" userId="9b436a58-7297-423f-8410-66c59c69358a" providerId="ADAL" clId="{226720AC-FDE7-4F33-A588-EEC028A057CF}" dt="2023-09-20T07:21:38.069" v="59" actId="1076"/>
      <pc:docMkLst>
        <pc:docMk/>
      </pc:docMkLst>
      <pc:sldChg chg="delSp mod">
        <pc:chgData name="Mohammad Dakhilallah Mohammad Alahmadi" userId="9b436a58-7297-423f-8410-66c59c69358a" providerId="ADAL" clId="{226720AC-FDE7-4F33-A588-EEC028A057CF}" dt="2023-09-20T07:09:58.577" v="3" actId="478"/>
        <pc:sldMkLst>
          <pc:docMk/>
          <pc:sldMk cId="251095777" sldId="415"/>
        </pc:sldMkLst>
        <pc:spChg chg="del">
          <ac:chgData name="Mohammad Dakhilallah Mohammad Alahmadi" userId="9b436a58-7297-423f-8410-66c59c69358a" providerId="ADAL" clId="{226720AC-FDE7-4F33-A588-EEC028A057CF}" dt="2023-09-20T07:09:58.577" v="3" actId="478"/>
          <ac:spMkLst>
            <pc:docMk/>
            <pc:sldMk cId="251095777" sldId="415"/>
            <ac:spMk id="4" creationId="{8F45E123-B786-B055-8B74-7D9928A0C948}"/>
          </ac:spMkLst>
        </pc:spChg>
      </pc:sldChg>
      <pc:sldChg chg="delSp mod">
        <pc:chgData name="Mohammad Dakhilallah Mohammad Alahmadi" userId="9b436a58-7297-423f-8410-66c59c69358a" providerId="ADAL" clId="{226720AC-FDE7-4F33-A588-EEC028A057CF}" dt="2023-09-20T06:56:00.492" v="0" actId="478"/>
        <pc:sldMkLst>
          <pc:docMk/>
          <pc:sldMk cId="1076553011" sldId="416"/>
        </pc:sldMkLst>
        <pc:spChg chg="del">
          <ac:chgData name="Mohammad Dakhilallah Mohammad Alahmadi" userId="9b436a58-7297-423f-8410-66c59c69358a" providerId="ADAL" clId="{226720AC-FDE7-4F33-A588-EEC028A057CF}" dt="2023-09-20T06:56:00.492" v="0" actId="478"/>
          <ac:spMkLst>
            <pc:docMk/>
            <pc:sldMk cId="1076553011" sldId="416"/>
            <ac:spMk id="7" creationId="{15C13BBD-1183-DA65-21AA-901A6772B6FA}"/>
          </ac:spMkLst>
        </pc:spChg>
      </pc:sldChg>
      <pc:sldChg chg="delSp mod">
        <pc:chgData name="Mohammad Dakhilallah Mohammad Alahmadi" userId="9b436a58-7297-423f-8410-66c59c69358a" providerId="ADAL" clId="{226720AC-FDE7-4F33-A588-EEC028A057CF}" dt="2023-09-20T07:04:38.073" v="1" actId="478"/>
        <pc:sldMkLst>
          <pc:docMk/>
          <pc:sldMk cId="1660404219" sldId="419"/>
        </pc:sldMkLst>
        <pc:spChg chg="del">
          <ac:chgData name="Mohammad Dakhilallah Mohammad Alahmadi" userId="9b436a58-7297-423f-8410-66c59c69358a" providerId="ADAL" clId="{226720AC-FDE7-4F33-A588-EEC028A057CF}" dt="2023-09-20T07:04:38.073" v="1" actId="478"/>
          <ac:spMkLst>
            <pc:docMk/>
            <pc:sldMk cId="1660404219" sldId="419"/>
            <ac:spMk id="4" creationId="{55E66172-F8E4-ECC5-22BC-369CCC53BA44}"/>
          </ac:spMkLst>
        </pc:spChg>
      </pc:sldChg>
      <pc:sldChg chg="delSp mod">
        <pc:chgData name="Mohammad Dakhilallah Mohammad Alahmadi" userId="9b436a58-7297-423f-8410-66c59c69358a" providerId="ADAL" clId="{226720AC-FDE7-4F33-A588-EEC028A057CF}" dt="2023-09-20T07:07:27.564" v="2" actId="478"/>
        <pc:sldMkLst>
          <pc:docMk/>
          <pc:sldMk cId="2997704716" sldId="420"/>
        </pc:sldMkLst>
        <pc:spChg chg="del">
          <ac:chgData name="Mohammad Dakhilallah Mohammad Alahmadi" userId="9b436a58-7297-423f-8410-66c59c69358a" providerId="ADAL" clId="{226720AC-FDE7-4F33-A588-EEC028A057CF}" dt="2023-09-20T07:07:27.564" v="2" actId="478"/>
          <ac:spMkLst>
            <pc:docMk/>
            <pc:sldMk cId="2997704716" sldId="420"/>
            <ac:spMk id="6" creationId="{7D0190C4-38E0-6143-D60F-627FC78306EF}"/>
          </ac:spMkLst>
        </pc:spChg>
      </pc:sldChg>
      <pc:sldChg chg="modNotesTx">
        <pc:chgData name="Mohammad Dakhilallah Mohammad Alahmadi" userId="9b436a58-7297-423f-8410-66c59c69358a" providerId="ADAL" clId="{226720AC-FDE7-4F33-A588-EEC028A057CF}" dt="2023-09-20T07:17:00.004" v="18" actId="20577"/>
        <pc:sldMkLst>
          <pc:docMk/>
          <pc:sldMk cId="2360403356" sldId="424"/>
        </pc:sldMkLst>
      </pc:sldChg>
      <pc:sldChg chg="addSp delSp modSp mod modNotesTx">
        <pc:chgData name="Mohammad Dakhilallah Mohammad Alahmadi" userId="9b436a58-7297-423f-8410-66c59c69358a" providerId="ADAL" clId="{226720AC-FDE7-4F33-A588-EEC028A057CF}" dt="2023-09-20T07:21:38.069" v="59" actId="1076"/>
        <pc:sldMkLst>
          <pc:docMk/>
          <pc:sldMk cId="2970389951" sldId="425"/>
        </pc:sldMkLst>
        <pc:spChg chg="add del mod">
          <ac:chgData name="Mohammad Dakhilallah Mohammad Alahmadi" userId="9b436a58-7297-423f-8410-66c59c69358a" providerId="ADAL" clId="{226720AC-FDE7-4F33-A588-EEC028A057CF}" dt="2023-09-20T07:17:26.609" v="20" actId="478"/>
          <ac:spMkLst>
            <pc:docMk/>
            <pc:sldMk cId="2970389951" sldId="425"/>
            <ac:spMk id="4" creationId="{2E250807-797B-AC36-CB95-2A6CA7A771DB}"/>
          </ac:spMkLst>
        </pc:spChg>
        <pc:spChg chg="mod">
          <ac:chgData name="Mohammad Dakhilallah Mohammad Alahmadi" userId="9b436a58-7297-423f-8410-66c59c69358a" providerId="ADAL" clId="{226720AC-FDE7-4F33-A588-EEC028A057CF}" dt="2023-09-20T07:21:24.462" v="45" actId="14100"/>
          <ac:spMkLst>
            <pc:docMk/>
            <pc:sldMk cId="2970389951" sldId="425"/>
            <ac:spMk id="11" creationId="{304FC38E-DA7D-5ECA-1235-4923C6169CA0}"/>
          </ac:spMkLst>
        </pc:spChg>
        <pc:spChg chg="mod">
          <ac:chgData name="Mohammad Dakhilallah Mohammad Alahmadi" userId="9b436a58-7297-423f-8410-66c59c69358a" providerId="ADAL" clId="{226720AC-FDE7-4F33-A588-EEC028A057CF}" dt="2023-09-20T07:21:32.139" v="57" actId="14100"/>
          <ac:spMkLst>
            <pc:docMk/>
            <pc:sldMk cId="2970389951" sldId="425"/>
            <ac:spMk id="12" creationId="{E5AD1BF2-4D2F-19C3-44C8-DF5A6CDD3C3B}"/>
          </ac:spMkLst>
        </pc:spChg>
        <pc:spChg chg="mod">
          <ac:chgData name="Mohammad Dakhilallah Mohammad Alahmadi" userId="9b436a58-7297-423f-8410-66c59c69358a" providerId="ADAL" clId="{226720AC-FDE7-4F33-A588-EEC028A057CF}" dt="2023-09-20T07:21:35.582" v="58" actId="1076"/>
          <ac:spMkLst>
            <pc:docMk/>
            <pc:sldMk cId="2970389951" sldId="425"/>
            <ac:spMk id="14" creationId="{BFEDDC29-8465-6B26-268D-8AB76CBABE8D}"/>
          </ac:spMkLst>
        </pc:spChg>
        <pc:spChg chg="mod">
          <ac:chgData name="Mohammad Dakhilallah Mohammad Alahmadi" userId="9b436a58-7297-423f-8410-66c59c69358a" providerId="ADAL" clId="{226720AC-FDE7-4F33-A588-EEC028A057CF}" dt="2023-09-20T07:21:38.069" v="59" actId="1076"/>
          <ac:spMkLst>
            <pc:docMk/>
            <pc:sldMk cId="2970389951" sldId="425"/>
            <ac:spMk id="15" creationId="{221F6608-9C50-B98E-1BA3-983D6630420E}"/>
          </ac:spMkLst>
        </pc:spChg>
        <pc:spChg chg="del">
          <ac:chgData name="Mohammad Dakhilallah Mohammad Alahmadi" userId="9b436a58-7297-423f-8410-66c59c69358a" providerId="ADAL" clId="{226720AC-FDE7-4F33-A588-EEC028A057CF}" dt="2023-09-20T07:17:17.483" v="19" actId="478"/>
          <ac:spMkLst>
            <pc:docMk/>
            <pc:sldMk cId="2970389951" sldId="425"/>
            <ac:spMk id="9219" creationId="{00000000-0000-0000-0000-000000000000}"/>
          </ac:spMkLst>
        </pc:spChg>
      </pc:sldChg>
    </pc:docChg>
  </pc:docChgLst>
  <pc:docChgLst>
    <pc:chgData clId="Web-{85B894C9-1B75-8B58-DA4E-A2734E03C864}"/>
    <pc:docChg chg="delSld modSection">
      <pc:chgData name="" userId="" providerId="" clId="Web-{85B894C9-1B75-8B58-DA4E-A2734E03C864}" dt="2023-08-25T12:09:43.227" v="1"/>
      <pc:docMkLst>
        <pc:docMk/>
      </pc:docMkLst>
      <pc:sldChg chg="del">
        <pc:chgData name="" userId="" providerId="" clId="Web-{85B894C9-1B75-8B58-DA4E-A2734E03C864}" dt="2023-08-25T12:09:43.227" v="1"/>
        <pc:sldMkLst>
          <pc:docMk/>
          <pc:sldMk cId="1251082562" sldId="431"/>
        </pc:sldMkLst>
      </pc:sldChg>
      <pc:sldChg chg="del">
        <pc:chgData name="" userId="" providerId="" clId="Web-{85B894C9-1B75-8B58-DA4E-A2734E03C864}" dt="2023-08-25T12:09:37.649" v="0"/>
        <pc:sldMkLst>
          <pc:docMk/>
          <pc:sldMk cId="2999131148" sldId="433"/>
        </pc:sldMkLst>
      </pc:sldChg>
    </pc:docChg>
  </pc:docChgLst>
  <pc:docChgLst>
    <pc:chgData name="Mohammad Dakhilallah Mohammad Alahmadi" userId="S::04100753@uj.edu.sa::9b436a58-7297-423f-8410-66c59c69358a" providerId="AD" clId="Web-{85B894C9-1B75-8B58-DA4E-A2734E03C864}"/>
    <pc:docChg chg="delSld modSld modSection">
      <pc:chgData name="Mohammad Dakhilallah Mohammad Alahmadi" userId="S::04100753@uj.edu.sa::9b436a58-7297-423f-8410-66c59c69358a" providerId="AD" clId="Web-{85B894C9-1B75-8B58-DA4E-A2734E03C864}" dt="2023-08-25T12:11:29.058" v="1"/>
      <pc:docMkLst>
        <pc:docMk/>
      </pc:docMkLst>
      <pc:sldChg chg="addSp delSp modSp">
        <pc:chgData name="Mohammad Dakhilallah Mohammad Alahmadi" userId="S::04100753@uj.edu.sa::9b436a58-7297-423f-8410-66c59c69358a" providerId="AD" clId="Web-{85B894C9-1B75-8B58-DA4E-A2734E03C864}" dt="2023-08-25T12:11:17.995" v="0"/>
        <pc:sldMkLst>
          <pc:docMk/>
          <pc:sldMk cId="1076553011" sldId="416"/>
        </pc:sldMkLst>
        <pc:spChg chg="del">
          <ac:chgData name="Mohammad Dakhilallah Mohammad Alahmadi" userId="S::04100753@uj.edu.sa::9b436a58-7297-423f-8410-66c59c69358a" providerId="AD" clId="Web-{85B894C9-1B75-8B58-DA4E-A2734E03C864}" dt="2023-08-25T12:11:17.995" v="0"/>
          <ac:spMkLst>
            <pc:docMk/>
            <pc:sldMk cId="1076553011" sldId="416"/>
            <ac:spMk id="3" creationId="{1846F605-CDDF-C3AE-6A94-70E3378FB036}"/>
          </ac:spMkLst>
        </pc:spChg>
        <pc:spChg chg="add mod">
          <ac:chgData name="Mohammad Dakhilallah Mohammad Alahmadi" userId="S::04100753@uj.edu.sa::9b436a58-7297-423f-8410-66c59c69358a" providerId="AD" clId="Web-{85B894C9-1B75-8B58-DA4E-A2734E03C864}" dt="2023-08-25T12:11:17.995" v="0"/>
          <ac:spMkLst>
            <pc:docMk/>
            <pc:sldMk cId="1076553011" sldId="416"/>
            <ac:spMk id="7" creationId="{15C13BBD-1183-DA65-21AA-901A6772B6FA}"/>
          </ac:spMkLst>
        </pc:spChg>
      </pc:sldChg>
      <pc:sldChg chg="del">
        <pc:chgData name="Mohammad Dakhilallah Mohammad Alahmadi" userId="S::04100753@uj.edu.sa::9b436a58-7297-423f-8410-66c59c69358a" providerId="AD" clId="Web-{85B894C9-1B75-8B58-DA4E-A2734E03C864}" dt="2023-08-25T12:11:29.058" v="1"/>
        <pc:sldMkLst>
          <pc:docMk/>
          <pc:sldMk cId="2586610191" sldId="4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8B844-FEB7-40E9-8905-10D1181F788D}" type="datetimeFigureOut">
              <a:rPr lang="en-US" smtClean="0"/>
              <a:t>9/20/2023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8F4A1-044F-45DC-A6AA-9EC3247C3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C9B6E0E-3217-4A19-A07B-3D01EE038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FDB8EE8-7C53-490C-9686-35338E0B0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Last Update: 22/8/2019</a:t>
            </a:r>
          </a:p>
          <a:p>
            <a:r>
              <a:rPr lang="en-US" altLang="en-US"/>
              <a:t>Version 1.0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Carlito"/>
                <a:ea typeface="Carlito"/>
                <a:cs typeface="Carlito"/>
              </a:rPr>
              <a:t>Inherit when you want the base class to control your interface; contain when you want to control your interface.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Composition/Containment involves creating a class that contains instances of other classes (objects) as members, rather than inheriting from them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8F4A1-044F-45DC-A6AA-9EC3247C362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38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Carlito"/>
                <a:ea typeface="Carlito"/>
                <a:cs typeface="Carlito"/>
              </a:rPr>
              <a:t>In general, minimize the extent to which a class collaborates with  other classes = Coupling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Carlito"/>
              <a:ea typeface="Carlito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Enforcing the singleton property by using a private constructor is a common technique in object-oriented programming. A singleton is a design pattern that ensures a class has only one instance and provides a global point of access to that instance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8F4A1-044F-45DC-A6AA-9EC3247C362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8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740" y="3183624"/>
            <a:ext cx="8380520" cy="1922733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740" y="5236867"/>
            <a:ext cx="838052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646272"/>
            <a:ext cx="1854203" cy="187517"/>
          </a:xfrm>
        </p:spPr>
        <p:txBody>
          <a:bodyPr/>
          <a:lstStyle/>
          <a:p>
            <a:fld id="{03C5C922-B9DD-9745-A816-802923AFBE71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646272"/>
            <a:ext cx="3617103" cy="187517"/>
          </a:xfrm>
        </p:spPr>
        <p:txBody>
          <a:bodyPr/>
          <a:lstStyle>
            <a:lvl1pPr>
              <a:defRPr cap="none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381740" y="5106357"/>
            <a:ext cx="8380520" cy="18289"/>
          </a:xfrm>
          <a:prstGeom prst="line">
            <a:avLst/>
          </a:prstGeom>
          <a:ln w="38100">
            <a:solidFill>
              <a:srgbClr val="84CDE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AE1EE2-4846-41F9-AC6B-D9834B0B3586}"/>
              </a:ext>
            </a:extLst>
          </p:cNvPr>
          <p:cNvCxnSpPr>
            <a:cxnSpLocks/>
          </p:cNvCxnSpPr>
          <p:nvPr/>
        </p:nvCxnSpPr>
        <p:spPr>
          <a:xfrm flipV="1">
            <a:off x="9129643" y="1"/>
            <a:ext cx="12147" cy="687476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E4F96-0037-4F43-91BD-25588C022845}"/>
              </a:ext>
            </a:extLst>
          </p:cNvPr>
          <p:cNvSpPr/>
          <p:nvPr userDrawn="1"/>
        </p:nvSpPr>
        <p:spPr>
          <a:xfrm>
            <a:off x="-14359" y="6646273"/>
            <a:ext cx="9144000" cy="237744"/>
          </a:xfrm>
          <a:prstGeom prst="rect">
            <a:avLst/>
          </a:prstGeom>
          <a:solidFill>
            <a:srgbClr val="0A4B67"/>
          </a:solidFill>
          <a:ln>
            <a:solidFill>
              <a:srgbClr val="0A4B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BF5B4F-FC83-4FAA-82F0-2510D3F32F49}"/>
              </a:ext>
            </a:extLst>
          </p:cNvPr>
          <p:cNvSpPr/>
          <p:nvPr userDrawn="1"/>
        </p:nvSpPr>
        <p:spPr>
          <a:xfrm>
            <a:off x="-26504" y="6546958"/>
            <a:ext cx="9144001" cy="103220"/>
          </a:xfrm>
          <a:prstGeom prst="rect">
            <a:avLst/>
          </a:prstGeom>
          <a:solidFill>
            <a:srgbClr val="84CDEA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0B8816-EFF8-4E7C-AEC1-987D4EE648F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5932" y="0"/>
            <a:ext cx="3809" cy="685799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5B64A5-A6D5-4050-BAC4-E246829DF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-32436" y="8261"/>
            <a:ext cx="9235440" cy="1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370668AB-6B94-4243-A6A5-4EDC87C8B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04824" y="46971"/>
            <a:ext cx="3278818" cy="23197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723C23A-9829-0C47-85AC-FD590BD245D5}"/>
              </a:ext>
            </a:extLst>
          </p:cNvPr>
          <p:cNvSpPr txBox="1"/>
          <p:nvPr userDrawn="1"/>
        </p:nvSpPr>
        <p:spPr>
          <a:xfrm>
            <a:off x="185737" y="852895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COLLAGE OF COMPUTER</a:t>
            </a:r>
          </a:p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 SCIENCE &amp; ENGINEERING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2341BA-F8B4-5440-8DF5-89AF9CF24FED}"/>
              </a:ext>
            </a:extLst>
          </p:cNvPr>
          <p:cNvCxnSpPr>
            <a:cxnSpLocks/>
          </p:cNvCxnSpPr>
          <p:nvPr userDrawn="1"/>
        </p:nvCxnSpPr>
        <p:spPr>
          <a:xfrm flipV="1">
            <a:off x="375762" y="1574983"/>
            <a:ext cx="2926080" cy="46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69ACA3-551E-D542-BD71-4881E6644B70}"/>
              </a:ext>
            </a:extLst>
          </p:cNvPr>
          <p:cNvSpPr txBox="1"/>
          <p:nvPr userDrawn="1"/>
        </p:nvSpPr>
        <p:spPr>
          <a:xfrm>
            <a:off x="-785970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UNIVERSITY OF JEDDAH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639E4-89B5-1D49-B470-747E56896B62}"/>
              </a:ext>
            </a:extLst>
          </p:cNvPr>
          <p:cNvSpPr txBox="1"/>
          <p:nvPr userDrawn="1"/>
        </p:nvSpPr>
        <p:spPr>
          <a:xfrm>
            <a:off x="5679447" y="865829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كــلـــية عــلــــــــــوم </a:t>
            </a:r>
          </a:p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و هـنــدســـة الحـــــــاســــب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F4847C-B76C-6846-8360-9D2AD3FA67B2}"/>
              </a:ext>
            </a:extLst>
          </p:cNvPr>
          <p:cNvSpPr txBox="1"/>
          <p:nvPr userDrawn="1"/>
        </p:nvSpPr>
        <p:spPr>
          <a:xfrm>
            <a:off x="4782824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جــــامعـــة جــــــــــــــدة </a:t>
            </a:r>
            <a:endParaRPr lang="en-US" sz="1300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D420C2-74C6-E448-ABF8-408E3C156421}"/>
              </a:ext>
            </a:extLst>
          </p:cNvPr>
          <p:cNvCxnSpPr>
            <a:cxnSpLocks/>
          </p:cNvCxnSpPr>
          <p:nvPr userDrawn="1"/>
        </p:nvCxnSpPr>
        <p:spPr>
          <a:xfrm>
            <a:off x="5770786" y="1573715"/>
            <a:ext cx="301752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8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66AD-B9AD-6E48-A7F8-A3C7D94EDF8F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4CDEA"/>
              </a:buClr>
              <a:defRPr sz="2600">
                <a:solidFill>
                  <a:srgbClr val="565351"/>
                </a:solidFill>
              </a:defRPr>
            </a:lvl1pPr>
            <a:lvl2pPr>
              <a:buClr>
                <a:srgbClr val="565351"/>
              </a:buClr>
              <a:defRPr>
                <a:solidFill>
                  <a:srgbClr val="565351"/>
                </a:solidFill>
              </a:defRPr>
            </a:lvl2pPr>
            <a:lvl3pPr marL="73152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3pPr>
            <a:lvl4pPr marL="91440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4pPr>
            <a:lvl5pPr marL="109728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55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C06-C7D4-1747-9BAC-5ADF6973C413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8A6B1"/>
              </a:buClr>
              <a:defRPr sz="2600">
                <a:solidFill>
                  <a:srgbClr val="88A6B1"/>
                </a:solidFill>
              </a:defRPr>
            </a:lvl1pPr>
            <a:lvl2pPr>
              <a:buClr>
                <a:srgbClr val="88A6B1"/>
              </a:buClr>
              <a:defRPr>
                <a:solidFill>
                  <a:srgbClr val="88A6B1"/>
                </a:solidFill>
              </a:defRPr>
            </a:lvl2pPr>
            <a:lvl3pPr marL="73152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3pPr>
            <a:lvl4pPr marL="91440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4pPr>
            <a:lvl5pPr marL="109728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18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C63C-7E12-D040-9BFC-CED05FF7D470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87DC-EF00-9844-8C8C-DB85411C810C}" type="datetime1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8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C23F-C598-3F49-9FE3-6071741BE353}" type="datetime1">
              <a:rPr lang="en-US" smtClean="0"/>
              <a:t>9/20/2023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6BD12-5D01-AB4B-A157-4C071A505070}" type="datetime1">
              <a:rPr lang="en-US" smtClean="0"/>
              <a:t>9/20/2023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1259-9E66-E241-B0DB-D3144AF5C20E}" type="datetime1">
              <a:rPr lang="en-US" smtClean="0"/>
              <a:t>9/20/2023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F509-0EC8-5246-80F7-C95CE727AFCC}" type="datetime1">
              <a:rPr lang="en-US" smtClean="0"/>
              <a:t>9/20/2023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0A4B67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CBA62D3-B106-3146-B5B5-E66A18E804C2}" type="datetime1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3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8B15B-E63B-A741-9DEA-9AA37D2B7DBF}" type="datetime1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1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9117-AA99-A343-9D72-6FCA37B5BE17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44E2-60F2-DF46-A244-D7B3522DD83D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73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C5D66-23E7-0C4F-8B0A-A1C9C050780A}" type="datetime1">
              <a:rPr lang="en-US" smtClean="0"/>
              <a:t>9/20/2023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91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CB30-1A6D-2E42-BCC5-3E80F21AA084}" type="datetime1">
              <a:rPr lang="en-US" smtClean="0"/>
              <a:t>9/20/2023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87854B-FEC4-4BF8-A3DE-39B0F501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j-lt"/>
              </a:defRPr>
            </a:lvl1pPr>
            <a:lvl2pPr marL="54864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73152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3pPr>
            <a:lvl4pPr marL="91440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4pPr>
            <a:lvl5pPr marL="109728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0302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9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CBF6-F73E-B844-90B5-BA38F3F93D1B}" type="datetime1">
              <a:rPr lang="en-US" smtClean="0"/>
              <a:t>9/20/2023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D2542-5A33-4E2C-863D-145C35640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9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E842-8249-8A43-8E1B-D93301EA5234}" type="datetime1">
              <a:rPr lang="en-US" smtClean="0"/>
              <a:t>9/20/2023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EAA3A6-8930-4E04-BD7A-70348C3D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983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5E8-E6D9-3E42-B3C2-280D09D847BE}" type="datetime1">
              <a:rPr lang="en-US" smtClean="0"/>
              <a:t>9/20/2023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E125C-DA19-42DA-8C07-FA8039F5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3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F6D-1FE4-8A49-840F-5919ACFA3FD0}" type="datetime1">
              <a:rPr lang="en-US" smtClean="0"/>
              <a:t>9/20/2023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729288-CC54-4647-B966-CF553EF13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8342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A0CE7-1A78-B749-A181-0CB124262D26}" type="datetime1">
              <a:rPr lang="en-US" smtClean="0"/>
              <a:t>9/20/2023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F6332-602A-4C2A-BD1E-7565ECDF5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36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EB7BC-403A-8A44-A663-FD167E87AE44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6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E94D-AB62-E84E-A49C-DD6A8F51C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48DE-348F-0D44-8485-97F299E58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26162-1B8D-B748-8A10-BD7FD12F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7B2BE-DDF3-6D43-A226-4CE36737DFF8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9D1D-9864-8648-83E4-1D8B62B2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07A0-C8CD-5445-9AEE-B23C377C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0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B906-B07C-7D41-AC4D-750B959C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D5779-8D81-7849-8E67-83ECBF6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A4F1-7B19-0240-B7F8-1BDF7D63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A88B-F2DD-3743-8F57-25E5E92043B0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4F5D-4D50-5A4A-91C9-B5B4F145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2065B-EF6D-5B4A-8E62-EAFF67B7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2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E47D-172F-034A-8698-73581C85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576A-13DD-034D-9029-CC506C79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F2D7-B746-2842-8F52-519E07CF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15C4-E8CB-C04F-BC65-CB0837703214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E68B1-5017-E64D-9D8C-C1341A22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62E6-3D1E-2D4B-B7BC-0A7197BA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9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806B-ED8B-CC4E-A51A-6CDCADC9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9E7B-D87E-CA4D-A578-EBDC0C47E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F5550-A328-154E-8FA0-3793746FB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D10-64BB-9144-9B71-07151AB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9F18-38DA-0947-9593-25D4010703FB}" type="datetime1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7A753-FB3D-094E-A536-0484A8BE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A6079-FE42-C140-9B28-ED67471A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84D0-75F5-CD41-9AEF-CB198A0D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D959F-E739-F542-8EBA-7BBF7E5A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5DF34-2D6B-454C-BFDA-F81C29E78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58768-2FB0-D847-83EE-654C76812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27B69-16F8-C048-9335-D0E599CA2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98362-01EA-604E-BA80-BC012B7F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A19EE-DABD-FF45-9B3D-868C2008B2F5}" type="datetime1">
              <a:rPr lang="en-US" smtClean="0"/>
              <a:t>9/20/2023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8B9EA-23BB-BD43-AE55-BD94F3A7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FEF2B-07B5-9C42-B58D-B5FF51C4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9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CC87-431B-E24A-86AB-554B550F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090D8-3391-5741-87F5-2BCDB89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8DD7-86D3-9543-A3F5-DCAC5C3EC996}" type="datetime1">
              <a:rPr lang="en-US" smtClean="0"/>
              <a:t>9/20/2023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9D265-B6E2-2540-8068-45F6C7B8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30A8C-D91D-2A49-8733-39D5374D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68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9DEDE-71EE-4448-AE52-7A3240E2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8251-72EC-7341-947D-39CD70D3F6EE}" type="datetime1">
              <a:rPr lang="en-US" smtClean="0"/>
              <a:t>9/20/2023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F8A0A-B7DA-2E41-ADC9-3BA00052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DFF72-3DFA-5443-B19A-D882B4A1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09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B2A5-8463-0E45-B968-09BB46EE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2249-8B24-044B-B428-FDF532694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850F-41D2-C244-BE67-588A22885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A0BA6-7607-1841-ADE7-A7EE8626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51BF-94DA-6647-804B-F9A617163AF7}" type="datetime1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0F34D-E7B8-8F4E-B279-A9B4F799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03CD8-B992-1746-AD26-32A76C36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86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8A51-10EF-1E4E-B3AE-97D9690F5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A29CC-C524-664A-B04C-24A0F0002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77383-80F2-974A-95B0-54EE043F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4A7CE-0B2C-F846-AE0D-E9A65F19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5CF65-8B95-E947-B306-AD8B9AFCD0C6}" type="datetime1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00DF7-CAE7-4544-99A8-D2AFF7BC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F912A-35AA-5340-A6DD-8CF8567A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03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558E-261E-0D48-AAEC-0159545C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54A8B-8EB9-5C42-9CFC-A1CD5690D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D7EA-1D89-9B45-8E3B-F3D971FC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26F1-4A6C-904D-BBF5-55A97190C62E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F157-B4BF-0D4E-B227-367844B9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4DCA-8C92-2F4C-A77F-2E1AE3C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3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38E10-25D9-0841-B84C-B3D5BD26B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76578-CBA7-4146-881E-E79B3411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126B-1DBB-F445-849E-8DB3041D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2DA29-4527-5B4B-81DE-1DA58A1FF0D8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BA6C-D326-CC45-B516-B35C216B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96C6D-88A9-424F-B97B-5F788E3B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646272"/>
            <a:ext cx="9144001" cy="220605"/>
          </a:xfrm>
          <a:prstGeom prst="rect">
            <a:avLst/>
          </a:prstGeom>
          <a:solidFill>
            <a:srgbClr val="0A4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04458"/>
            <a:ext cx="9144001" cy="45719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1292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646272"/>
            <a:ext cx="18542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46D974-CBC7-EE4D-B60D-B7706E54EFC8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646272"/>
            <a:ext cx="36171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cap="none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646272"/>
            <a:ext cx="984019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9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689" r:id="rId21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b="0" kern="1200" spc="-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74320" algn="justLow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3152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40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2B942-B92A-2E45-8EC0-57867F6F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A5CF6-438F-FE41-AE0D-B759171B0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D81B-544C-D244-83E4-4E486AE7E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89413-073D-8B47-B309-030A36FC1175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8B353-9F5D-7C4C-9D19-B7C6D6F6A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5F08-BBA1-684A-BFC9-EF43E5A8A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7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F092033-53A0-4557-BC8C-EDF7C4004F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Chapter  2.5</a:t>
            </a:r>
            <a:br>
              <a:rPr lang="en-US" altLang="en-US" b="1" dirty="0">
                <a:solidFill>
                  <a:schemeClr val="tx1"/>
                </a:solidFill>
                <a:cs typeface="Calibri Light"/>
              </a:rPr>
            </a:br>
            <a:r>
              <a:rPr lang="en-US" altLang="en-US" b="1" dirty="0">
                <a:solidFill>
                  <a:schemeClr val="tx1"/>
                </a:solidFill>
              </a:rPr>
              <a:t>Creating High-Quality Code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099" name="Subtitle 3">
            <a:extLst>
              <a:ext uri="{FF2B5EF4-FFF2-40B4-BE49-F238E27FC236}">
                <a16:creationId xmlns:a16="http://schemas.microsoft.com/office/drawing/2014/main" id="{B6B8808F-B611-4A7E-94DA-CDF020C779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E96A2"/>
                </a:solidFill>
              </a:rPr>
              <a:t>CCSW 325 (Software Construction)</a:t>
            </a:r>
          </a:p>
        </p:txBody>
      </p:sp>
      <p:sp>
        <p:nvSpPr>
          <p:cNvPr id="4101" name="Rectangle 6">
            <a:extLst>
              <a:ext uri="{FF2B5EF4-FFF2-40B4-BE49-F238E27FC236}">
                <a16:creationId xmlns:a16="http://schemas.microsoft.com/office/drawing/2014/main" id="{AEE57C53-6C77-4FD6-9666-64A46DD2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2" name="Rectangle 1029">
            <a:extLst>
              <a:ext uri="{FF2B5EF4-FFF2-40B4-BE49-F238E27FC236}">
                <a16:creationId xmlns:a16="http://schemas.microsoft.com/office/drawing/2014/main" id="{94F01EDA-3993-4F5B-8338-A155D716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3" name="Rectangle 1031">
            <a:extLst>
              <a:ext uri="{FF2B5EF4-FFF2-40B4-BE49-F238E27FC236}">
                <a16:creationId xmlns:a16="http://schemas.microsoft.com/office/drawing/2014/main" id="{D4B57B18-3F97-4D1E-AA13-041A7DDA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F2176-6175-6A4D-84ED-59A2EE05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sz="4400" b="1" dirty="0">
                <a:solidFill>
                  <a:schemeClr val="tx1"/>
                </a:solidFill>
                <a:latin typeface="+mn-lt"/>
              </a:rPr>
              <a:t>Outline</a:t>
            </a:r>
            <a:endParaRPr lang="en-US" sz="4400" b="1" dirty="0">
              <a:solidFill>
                <a:schemeClr val="tx1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endParaRPr lang="en-US" sz="2400" dirty="0">
              <a:solidFill>
                <a:srgbClr val="84CDEA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 dirty="0">
              <a:solidFill>
                <a:srgbClr val="404040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 dirty="0">
              <a:solidFill>
                <a:srgbClr val="404040"/>
              </a:solidFill>
              <a:cs typeface="Calibri"/>
            </a:endParaRPr>
          </a:p>
          <a:p>
            <a:pPr marL="91440" indent="0">
              <a:buNone/>
            </a:pPr>
            <a:endParaRPr lang="en-US" sz="2400" dirty="0">
              <a:solidFill>
                <a:srgbClr val="84CDEA"/>
              </a:solidFill>
              <a:cs typeface="Calibri"/>
            </a:endParaRPr>
          </a:p>
          <a:p>
            <a:pPr marL="91440" indent="0">
              <a:buNone/>
            </a:pPr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sz="70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82C841F-83CC-6554-A418-8F76BA16BB81}"/>
              </a:ext>
            </a:extLst>
          </p:cNvPr>
          <p:cNvSpPr txBox="1">
            <a:spLocks/>
          </p:cNvSpPr>
          <p:nvPr/>
        </p:nvSpPr>
        <p:spPr>
          <a:xfrm>
            <a:off x="400547" y="1234281"/>
            <a:ext cx="9615487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Working Classes (Part 2 of 3)</a:t>
            </a:r>
          </a:p>
          <a:p>
            <a:pPr lvl="1"/>
            <a:r>
              <a:rPr lang="en-US"/>
              <a:t>Design and Implementation Issues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103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sz="4400" b="1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Design and Implementation Issues</a:t>
            </a: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endParaRPr lang="en-US" sz="2400" dirty="0">
              <a:solidFill>
                <a:srgbClr val="84CDEA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 dirty="0">
              <a:solidFill>
                <a:srgbClr val="404040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 dirty="0">
              <a:solidFill>
                <a:srgbClr val="404040"/>
              </a:solidFill>
              <a:cs typeface="Calibri"/>
            </a:endParaRPr>
          </a:p>
          <a:p>
            <a:pPr marL="91440" indent="0">
              <a:buNone/>
            </a:pPr>
            <a:endParaRPr lang="en-US" sz="2400" dirty="0">
              <a:solidFill>
                <a:srgbClr val="84CDEA"/>
              </a:solidFill>
              <a:cs typeface="Calibri"/>
            </a:endParaRPr>
          </a:p>
          <a:p>
            <a:pPr marL="91440" indent="0">
              <a:buNone/>
            </a:pPr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70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E096426F-4D65-2700-6A3F-1C27720F3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3557" y="1040308"/>
            <a:ext cx="5411244" cy="556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6350" rIns="0" bIns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463550" indent="-450850">
              <a:lnSpc>
                <a:spcPct val="101000"/>
              </a:lnSpc>
              <a:spcBef>
                <a:spcPts val="50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Defining good class interfaces goes a long way  toward creating a high-quality program.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83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Design and Implementation Issues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97FB38C9-CD12-FDDD-577C-3461571112F6}"/>
              </a:ext>
            </a:extLst>
          </p:cNvPr>
          <p:cNvSpPr txBox="1"/>
          <p:nvPr/>
        </p:nvSpPr>
        <p:spPr>
          <a:xfrm>
            <a:off x="2162781" y="1206500"/>
            <a:ext cx="5262563" cy="3905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21590" rIns="0" bIns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90805" algn="ctr">
              <a:spcBef>
                <a:spcPts val="170"/>
              </a:spcBef>
              <a:defRPr/>
            </a:pPr>
            <a:r>
              <a:rPr sz="2400" spc="-10" dirty="0">
                <a:solidFill>
                  <a:srgbClr val="C00000"/>
                </a:solidFill>
                <a:latin typeface="Carlito"/>
                <a:cs typeface="Carlito"/>
              </a:rPr>
              <a:t>Containment </a:t>
            </a:r>
            <a:r>
              <a:rPr sz="2400" spc="-5" dirty="0">
                <a:solidFill>
                  <a:srgbClr val="C00000"/>
                </a:solidFill>
                <a:latin typeface="Carlito"/>
                <a:cs typeface="Carlito"/>
              </a:rPr>
              <a:t>(“has </a:t>
            </a:r>
            <a:r>
              <a:rPr sz="2400" dirty="0">
                <a:solidFill>
                  <a:srgbClr val="C00000"/>
                </a:solidFill>
                <a:latin typeface="Carlito"/>
                <a:cs typeface="Carlito"/>
              </a:rPr>
              <a:t>a”</a:t>
            </a:r>
            <a:r>
              <a:rPr sz="2400" spc="-4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rlito"/>
                <a:cs typeface="Carlito"/>
              </a:rPr>
              <a:t>Relationships)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7806187-EA99-2D59-D84E-C02A8246C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0500" y="1987550"/>
            <a:ext cx="952500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6670" rIns="0" bIns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2051050" indent="-2038350" algn="ctr">
              <a:lnSpc>
                <a:spcPts val="2113"/>
              </a:lnSpc>
              <a:spcBef>
                <a:spcPts val="213"/>
              </a:spcBef>
            </a:pPr>
            <a:r>
              <a:rPr lang="en-US" i="1">
                <a:latin typeface="Carlito"/>
                <a:ea typeface="Carlito"/>
                <a:cs typeface="Carlito"/>
              </a:rPr>
              <a:t>Containment is the simple idea that a class contains a primitive data element or object. </a:t>
            </a:r>
          </a:p>
          <a:p>
            <a:pPr marL="2051050" indent="-2038350" algn="ctr">
              <a:lnSpc>
                <a:spcPts val="2113"/>
              </a:lnSpc>
              <a:spcBef>
                <a:spcPts val="213"/>
              </a:spcBef>
            </a:pPr>
            <a:r>
              <a:rPr lang="en-US">
                <a:latin typeface="Carlito"/>
                <a:ea typeface="Carlito"/>
                <a:cs typeface="Carlito"/>
              </a:rPr>
              <a:t>Inheritance is more popular than containment, not because it's better.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237ABE8-8511-D1C0-989F-43C310EEC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050" y="3322382"/>
            <a:ext cx="8343900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7655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Design and Implementation Issues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AD64870F-58E1-7E73-0417-AAD711820397}"/>
              </a:ext>
            </a:extLst>
          </p:cNvPr>
          <p:cNvSpPr txBox="1"/>
          <p:nvPr/>
        </p:nvSpPr>
        <p:spPr>
          <a:xfrm>
            <a:off x="2743200" y="1430338"/>
            <a:ext cx="4648200" cy="392112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21590" rIns="0" bIns="0">
            <a:spAutoFit/>
          </a:bodyPr>
          <a:lstStyle/>
          <a:p>
            <a:pPr marL="90805" algn="ctr">
              <a:spcBef>
                <a:spcPts val="170"/>
              </a:spcBef>
              <a:defRPr/>
            </a:pPr>
            <a:r>
              <a:rPr sz="2400" spc="-5" dirty="0">
                <a:solidFill>
                  <a:srgbClr val="C00000"/>
                </a:solidFill>
                <a:latin typeface="Carlito"/>
                <a:cs typeface="Carlito"/>
              </a:rPr>
              <a:t>Inheritance (“is </a:t>
            </a:r>
            <a:r>
              <a:rPr sz="2400" dirty="0">
                <a:solidFill>
                  <a:srgbClr val="C00000"/>
                </a:solidFill>
                <a:latin typeface="Carlito"/>
                <a:cs typeface="Carlito"/>
              </a:rPr>
              <a:t>a”</a:t>
            </a:r>
            <a:r>
              <a:rPr sz="2400" spc="-4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rlito"/>
                <a:cs typeface="Carlito"/>
              </a:rPr>
              <a:t>Relationships)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B0119D49-0D41-CE3A-5D84-973444848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12938"/>
            <a:ext cx="8485340" cy="833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26670" rIns="0" bIns="0">
            <a:spAutoFit/>
          </a:bodyPr>
          <a:lstStyle/>
          <a:p>
            <a:pPr marL="12700" indent="204788" algn="ctr">
              <a:lnSpc>
                <a:spcPts val="2113"/>
              </a:lnSpc>
              <a:spcBef>
                <a:spcPts val="213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Inheritance is the idea that one class is a specialization of another class. The purpose of inheritance is to create simpler code by defining a base class that specifies common elements of two or more derived classes.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5693A212-1426-FB35-7DF9-3FE5ED4EA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5140" y="3076554"/>
            <a:ext cx="4673600" cy="11398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0" tIns="31750" rIns="0" bIns="0">
            <a:spAutoFit/>
          </a:bodyPr>
          <a:lstStyle/>
          <a:p>
            <a:pPr marL="90488">
              <a:spcBef>
                <a:spcPts val="250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For each data member (including variables,  named constants, enumerations, and so  on), will the data member be visible to  derived classes?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DA03E43-2453-F369-F0C7-7D6AC1A0E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259" y="3076554"/>
            <a:ext cx="4072351" cy="11398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square" lIns="0" tIns="31750" rIns="0" bIns="0">
            <a:spAutoFit/>
          </a:bodyPr>
          <a:lstStyle/>
          <a:p>
            <a:pPr marL="90488">
              <a:spcBef>
                <a:spcPts val="250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For each member routine, will the routine  be visible to derived classes? Will it have a  default implementation? Will the default  implementation be overridable?</a:t>
            </a: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21D3F78-0072-DB7B-D176-04777F395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10" y="4583600"/>
            <a:ext cx="4114800" cy="760413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lIns="0" tIns="21590" rIns="0" bIns="0">
            <a:spAutoFit/>
          </a:bodyPr>
          <a:lstStyle/>
          <a:p>
            <a:pPr marL="846138" indent="-457200">
              <a:spcBef>
                <a:spcPts val="175"/>
              </a:spcBef>
            </a:pPr>
            <a:r>
              <a:rPr lang="en-US" sz="2400" dirty="0">
                <a:latin typeface="Carlito"/>
                <a:ea typeface="Carlito"/>
                <a:cs typeface="Carlito"/>
              </a:rPr>
              <a:t>Implement “is a” through  public inheritance</a:t>
            </a: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518A313B-C077-C478-4929-16FC4658C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259" y="5549482"/>
            <a:ext cx="3660775" cy="881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160" rIns="0" bIns="0">
            <a:spAutoFit/>
          </a:bodyPr>
          <a:lstStyle/>
          <a:p>
            <a:pPr marL="12700">
              <a:lnSpc>
                <a:spcPct val="101000"/>
              </a:lnSpc>
              <a:spcBef>
                <a:spcPts val="75"/>
              </a:spcBef>
            </a:pPr>
            <a:r>
              <a:rPr lang="en-US" sz="1400" i="1" dirty="0">
                <a:latin typeface="Carlito"/>
                <a:ea typeface="Carlito"/>
                <a:cs typeface="Carlito"/>
              </a:rPr>
              <a:t>When a programmer decides to create a new class  by inheriting from an existing class, that  programmer is saying that the new class “is a”  more specialized version of the older class.</a:t>
            </a:r>
            <a:endParaRPr lang="en-US" sz="1400" dirty="0">
              <a:latin typeface="Carlito"/>
              <a:ea typeface="Carlito"/>
              <a:cs typeface="Carlito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B19DA5ED-AD5E-A110-7258-00497ABF8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241" y="4583600"/>
            <a:ext cx="4773612" cy="1695450"/>
          </a:xfrm>
          <a:prstGeom prst="rect">
            <a:avLst/>
          </a:prstGeom>
          <a:solidFill>
            <a:srgbClr val="E2F0D9"/>
          </a:solidFill>
          <a:ln w="9525">
            <a:noFill/>
            <a:miter lim="800000"/>
            <a:headEnd/>
            <a:tailEnd/>
          </a:ln>
        </p:spPr>
        <p:txBody>
          <a:bodyPr lIns="0" tIns="33655" rIns="0" bIns="0">
            <a:spAutoFit/>
          </a:bodyPr>
          <a:lstStyle/>
          <a:p>
            <a:pPr marL="90488">
              <a:spcBef>
                <a:spcPts val="263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If the derived class isn’t going to adhere  completely to the same interface contract  defined by the base class, inheritance is not the  right implementation technique. Consider  containment or making a change further up the  inheritance hierarchy.</a:t>
            </a:r>
          </a:p>
        </p:txBody>
      </p:sp>
    </p:spTree>
    <p:extLst>
      <p:ext uri="{BB962C8B-B14F-4D97-AF65-F5344CB8AC3E}">
        <p14:creationId xmlns:p14="http://schemas.microsoft.com/office/powerpoint/2010/main" val="4021999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Design and Implementation Issues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6</a:t>
            </a:fld>
            <a:endParaRPr lang="en-US" sz="7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DF5F196-5B59-344D-35B9-6BDA3EF900F1}"/>
              </a:ext>
            </a:extLst>
          </p:cNvPr>
          <p:cNvSpPr txBox="1"/>
          <p:nvPr/>
        </p:nvSpPr>
        <p:spPr>
          <a:xfrm>
            <a:off x="2743200" y="1430338"/>
            <a:ext cx="4648200" cy="392112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21590" rIns="0" bIns="0">
            <a:spAutoFit/>
          </a:bodyPr>
          <a:lstStyle/>
          <a:p>
            <a:pPr marL="90805" algn="ctr">
              <a:spcBef>
                <a:spcPts val="170"/>
              </a:spcBef>
              <a:defRPr/>
            </a:pPr>
            <a:r>
              <a:rPr sz="2400" spc="-5" dirty="0">
                <a:solidFill>
                  <a:srgbClr val="C00000"/>
                </a:solidFill>
                <a:latin typeface="Carlito"/>
                <a:cs typeface="Carlito"/>
              </a:rPr>
              <a:t>Inheritance (“is </a:t>
            </a:r>
            <a:r>
              <a:rPr sz="2400" dirty="0">
                <a:solidFill>
                  <a:srgbClr val="C00000"/>
                </a:solidFill>
                <a:latin typeface="Carlito"/>
                <a:cs typeface="Carlito"/>
              </a:rPr>
              <a:t>a”</a:t>
            </a:r>
            <a:r>
              <a:rPr sz="2400" spc="-4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rlito"/>
                <a:cs typeface="Carlito"/>
              </a:rPr>
              <a:t>Relationships)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9B21A6E-2104-9070-39CE-4B9B454C7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451225"/>
            <a:ext cx="3581400" cy="1135063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lIns="0" tIns="15875" rIns="0" bIns="0">
            <a:spAutoFit/>
          </a:bodyPr>
          <a:lstStyle/>
          <a:p>
            <a:pPr marL="323850" algn="ctr">
              <a:lnSpc>
                <a:spcPct val="101000"/>
              </a:lnSpc>
              <a:spcBef>
                <a:spcPts val="125"/>
              </a:spcBef>
            </a:pPr>
            <a:r>
              <a:rPr lang="en-US" sz="2400" dirty="0">
                <a:latin typeface="Carlito"/>
                <a:ea typeface="Carlito"/>
                <a:cs typeface="Carlito"/>
              </a:rPr>
              <a:t>Design and document  for inheritance or  prohibit it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7C97061-0D59-0BE8-3E14-B884CBC63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667" y="3429000"/>
            <a:ext cx="4810495" cy="1133475"/>
          </a:xfrm>
          <a:prstGeom prst="rect">
            <a:avLst/>
          </a:prstGeom>
          <a:solidFill>
            <a:srgbClr val="E2F0D9"/>
          </a:solidFill>
          <a:ln w="9525">
            <a:noFill/>
            <a:miter lim="800000"/>
            <a:headEnd/>
            <a:tailEnd/>
          </a:ln>
        </p:spPr>
        <p:txBody>
          <a:bodyPr wrap="square" lIns="0" tIns="35560" rIns="0" bIns="0">
            <a:spAutoFit/>
          </a:bodyPr>
          <a:lstStyle/>
          <a:p>
            <a:pPr marL="90488">
              <a:lnSpc>
                <a:spcPct val="99000"/>
              </a:lnSpc>
              <a:spcBef>
                <a:spcPts val="275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If a class isn’t designed to be inherited from, make its members  non-virtual in C++, final in Java, or non-overridable in  Microsoft Visual Basic so that you can’t inherit from it.</a:t>
            </a: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A57D37F3-5EA9-6FA7-149D-F22BB865E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672013"/>
            <a:ext cx="35814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9525" rIns="0" bIns="0">
            <a:spAutoFit/>
          </a:bodyPr>
          <a:lstStyle/>
          <a:p>
            <a:pPr marL="12700" indent="38100" algn="ctr">
              <a:lnSpc>
                <a:spcPct val="101000"/>
              </a:lnSpc>
              <a:spcBef>
                <a:spcPts val="75"/>
              </a:spcBef>
            </a:pPr>
            <a:r>
              <a:rPr lang="en-US" sz="1400" i="1" dirty="0">
                <a:latin typeface="Carlito"/>
                <a:ea typeface="Carlito"/>
                <a:cs typeface="Carlito"/>
              </a:rPr>
              <a:t>Inheritance adds complexity to a program,  and, as such, it’s a dangerous technique</a:t>
            </a:r>
            <a:endParaRPr lang="en-US" sz="1400" dirty="0">
              <a:latin typeface="Carlito"/>
              <a:ea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660404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Design and Implementation Issues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7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40660DC1-6824-7402-CE99-5E1856D6975D}"/>
              </a:ext>
            </a:extLst>
          </p:cNvPr>
          <p:cNvSpPr txBox="1"/>
          <p:nvPr/>
        </p:nvSpPr>
        <p:spPr>
          <a:xfrm>
            <a:off x="2743200" y="1430338"/>
            <a:ext cx="4648200" cy="392112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21590" rIns="0" bIns="0">
            <a:spAutoFit/>
          </a:bodyPr>
          <a:lstStyle/>
          <a:p>
            <a:pPr marL="90805" algn="ctr">
              <a:spcBef>
                <a:spcPts val="170"/>
              </a:spcBef>
              <a:defRPr/>
            </a:pPr>
            <a:r>
              <a:rPr sz="2400" spc="-5" dirty="0">
                <a:solidFill>
                  <a:srgbClr val="C00000"/>
                </a:solidFill>
                <a:latin typeface="Carlito"/>
                <a:cs typeface="Carlito"/>
              </a:rPr>
              <a:t>Inheritance (“is </a:t>
            </a:r>
            <a:r>
              <a:rPr sz="2400" dirty="0">
                <a:solidFill>
                  <a:srgbClr val="C00000"/>
                </a:solidFill>
                <a:latin typeface="Carlito"/>
                <a:cs typeface="Carlito"/>
              </a:rPr>
              <a:t>a”</a:t>
            </a:r>
            <a:r>
              <a:rPr sz="2400" spc="-4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rlito"/>
                <a:cs typeface="Carlito"/>
              </a:rPr>
              <a:t>Relationships)</a:t>
            </a:r>
            <a:endParaRPr sz="2400" dirty="0">
              <a:latin typeface="Carlito"/>
              <a:cs typeface="Carlito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4767C3A-928A-CE78-C020-C1924CBE4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" y="3311177"/>
            <a:ext cx="8458200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97704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Design and Implementation Issues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8</a:t>
            </a:fld>
            <a:endParaRPr lang="en-US" sz="7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4CF5F76-AA99-50CC-5073-3C8092530B69}"/>
              </a:ext>
            </a:extLst>
          </p:cNvPr>
          <p:cNvSpPr txBox="1"/>
          <p:nvPr/>
        </p:nvSpPr>
        <p:spPr>
          <a:xfrm>
            <a:off x="2743200" y="1430338"/>
            <a:ext cx="4648200" cy="392112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21590" rIns="0" bIns="0">
            <a:spAutoFit/>
          </a:bodyPr>
          <a:lstStyle/>
          <a:p>
            <a:pPr marL="90805" algn="ctr">
              <a:spcBef>
                <a:spcPts val="170"/>
              </a:spcBef>
              <a:defRPr/>
            </a:pPr>
            <a:r>
              <a:rPr sz="2400" spc="-5" dirty="0">
                <a:solidFill>
                  <a:srgbClr val="C00000"/>
                </a:solidFill>
                <a:latin typeface="Carlito"/>
                <a:cs typeface="Carlito"/>
              </a:rPr>
              <a:t>Inheritance (“is </a:t>
            </a:r>
            <a:r>
              <a:rPr sz="2400" dirty="0">
                <a:solidFill>
                  <a:srgbClr val="C00000"/>
                </a:solidFill>
                <a:latin typeface="Carlito"/>
                <a:cs typeface="Carlito"/>
              </a:rPr>
              <a:t>a”</a:t>
            </a:r>
            <a:r>
              <a:rPr sz="2400" spc="-4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rlito"/>
                <a:cs typeface="Carlito"/>
              </a:rPr>
              <a:t>Relationships)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43789360-744B-3FEA-0D04-5530DD0CA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597237"/>
            <a:ext cx="3095625" cy="1135063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lIns="0" tIns="15875" rIns="0" bIns="0">
            <a:spAutoFit/>
          </a:bodyPr>
          <a:lstStyle/>
          <a:p>
            <a:pPr marL="114300" indent="192088" algn="ctr">
              <a:lnSpc>
                <a:spcPct val="101000"/>
              </a:lnSpc>
              <a:spcBef>
                <a:spcPts val="125"/>
              </a:spcBef>
            </a:pPr>
            <a:r>
              <a:rPr lang="en-US" sz="2400" dirty="0">
                <a:latin typeface="Carlito"/>
                <a:ea typeface="Carlito"/>
                <a:cs typeface="Carlito"/>
              </a:rPr>
              <a:t>Be sure to inherit only what you want to inherit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DD56BB9E-1AD5-5F8C-5165-FA3BCD2D0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760788"/>
            <a:ext cx="2860675" cy="658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2700" rIns="0" bIns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1400" i="1" dirty="0">
                <a:latin typeface="Carlito"/>
                <a:ea typeface="Carlito"/>
                <a:cs typeface="Carlito"/>
              </a:rPr>
              <a:t>A derived class can inherit member routine interfaces, implementations, or both.</a:t>
            </a:r>
            <a:endParaRPr lang="en-US" sz="1400" dirty="0">
              <a:latin typeface="Carlito"/>
              <a:ea typeface="Carlito"/>
              <a:cs typeface="Carlito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C0F3D18D-738D-BE81-00A5-89FF22BD9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166460"/>
            <a:ext cx="5791197" cy="1628775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4DFCEB74-167B-B725-F45A-8E8AA8B64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818492"/>
            <a:ext cx="5791200" cy="588963"/>
          </a:xfrm>
          <a:prstGeom prst="rect">
            <a:avLst/>
          </a:prstGeom>
          <a:solidFill>
            <a:srgbClr val="E2F0D9"/>
          </a:solidFill>
          <a:ln w="9525">
            <a:noFill/>
            <a:miter lim="800000"/>
            <a:headEnd/>
            <a:tailEnd/>
          </a:ln>
        </p:spPr>
        <p:txBody>
          <a:bodyPr wrap="square" lIns="0" tIns="50165" rIns="0" bIns="0">
            <a:spAutoFit/>
          </a:bodyPr>
          <a:lstStyle/>
          <a:p>
            <a:pPr marL="90488">
              <a:lnSpc>
                <a:spcPts val="2088"/>
              </a:lnSpc>
              <a:spcBef>
                <a:spcPts val="400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An abstract overridable routine means that the derived class inherits the routine’s interface but not its implementation.</a:t>
            </a: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9ADEF81E-7C9A-6CCB-218D-123ADC708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514342"/>
            <a:ext cx="5791198" cy="858837"/>
          </a:xfrm>
          <a:prstGeom prst="rect">
            <a:avLst/>
          </a:prstGeom>
          <a:solidFill>
            <a:srgbClr val="E2F0D9"/>
          </a:solidFill>
          <a:ln w="9525">
            <a:noFill/>
            <a:miter lim="800000"/>
            <a:headEnd/>
            <a:tailEnd/>
          </a:ln>
        </p:spPr>
        <p:txBody>
          <a:bodyPr wrap="square" lIns="0" tIns="35560" rIns="0" bIns="0">
            <a:spAutoFit/>
          </a:bodyPr>
          <a:lstStyle/>
          <a:p>
            <a:pPr marL="90488">
              <a:lnSpc>
                <a:spcPct val="99000"/>
              </a:lnSpc>
              <a:spcBef>
                <a:spcPts val="275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An overridable routine means that the derived class inherits the routine’s  interface and a default implementation and it is allowed to override the default implementation</a:t>
            </a: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E08C495-6FBF-A462-84AB-BC33A790C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398" y="5427662"/>
            <a:ext cx="5791199" cy="1132874"/>
          </a:xfrm>
          <a:prstGeom prst="rect">
            <a:avLst/>
          </a:prstGeom>
          <a:solidFill>
            <a:srgbClr val="E2F0D9"/>
          </a:solidFill>
          <a:ln w="9525">
            <a:noFill/>
            <a:miter lim="800000"/>
            <a:headEnd/>
            <a:tailEnd/>
          </a:ln>
        </p:spPr>
        <p:txBody>
          <a:bodyPr wrap="square" lIns="0" tIns="35560" rIns="0" bIns="0">
            <a:spAutoFit/>
          </a:bodyPr>
          <a:lstStyle/>
          <a:p>
            <a:pPr marL="90488">
              <a:lnSpc>
                <a:spcPct val="99000"/>
              </a:lnSpc>
              <a:spcBef>
                <a:spcPts val="275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A non-overridable routine means that the derived class inherits the  routine’s interface and its default implementation and it is not allowed to override the routine’s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810758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Design and Implementation Issues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lvl="1"/>
            <a:endParaRPr lang="en-US" sz="2000" b="1" dirty="0"/>
          </a:p>
          <a:p>
            <a:pPr algn="just"/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9</a:t>
            </a:fld>
            <a:endParaRPr lang="en-US" sz="7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749003E-E966-02FE-5715-D03BFCB949A6}"/>
              </a:ext>
            </a:extLst>
          </p:cNvPr>
          <p:cNvSpPr txBox="1"/>
          <p:nvPr/>
        </p:nvSpPr>
        <p:spPr>
          <a:xfrm>
            <a:off x="2743200" y="1430338"/>
            <a:ext cx="4648200" cy="392112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21590" rIns="0" bIns="0">
            <a:spAutoFit/>
          </a:bodyPr>
          <a:lstStyle/>
          <a:p>
            <a:pPr marL="90805" algn="ctr">
              <a:spcBef>
                <a:spcPts val="170"/>
              </a:spcBef>
              <a:defRPr/>
            </a:pPr>
            <a:r>
              <a:rPr sz="2400" spc="-5" dirty="0">
                <a:solidFill>
                  <a:srgbClr val="C00000"/>
                </a:solidFill>
                <a:latin typeface="Carlito"/>
                <a:cs typeface="Carlito"/>
              </a:rPr>
              <a:t>Inheritance (“is </a:t>
            </a:r>
            <a:r>
              <a:rPr sz="2400" dirty="0">
                <a:solidFill>
                  <a:srgbClr val="C00000"/>
                </a:solidFill>
                <a:latin typeface="Carlito"/>
                <a:cs typeface="Carlito"/>
              </a:rPr>
              <a:t>a”</a:t>
            </a:r>
            <a:r>
              <a:rPr sz="2400" spc="-4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rlito"/>
                <a:cs typeface="Carlito"/>
              </a:rPr>
              <a:t>Relationships)</a:t>
            </a:r>
            <a:endParaRPr sz="2400" dirty="0">
              <a:latin typeface="Carlito"/>
              <a:cs typeface="Carlito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642FEE9-056A-A996-53E2-3D595C1A7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8" y="3314700"/>
            <a:ext cx="8740109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095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Design and Implementation Issues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lvl="1"/>
            <a:endParaRPr lang="en-US" sz="2000" b="1" dirty="0"/>
          </a:p>
          <a:p>
            <a:pPr algn="just"/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10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E3448A57-0CD9-5BF6-E2AB-3B612C8451C5}"/>
              </a:ext>
            </a:extLst>
          </p:cNvPr>
          <p:cNvSpPr txBox="1"/>
          <p:nvPr/>
        </p:nvSpPr>
        <p:spPr>
          <a:xfrm>
            <a:off x="2743200" y="1430338"/>
            <a:ext cx="4648200" cy="392112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21590" rIns="0" bIns="0">
            <a:spAutoFit/>
          </a:bodyPr>
          <a:lstStyle/>
          <a:p>
            <a:pPr marL="90805" algn="ctr">
              <a:spcBef>
                <a:spcPts val="170"/>
              </a:spcBef>
              <a:defRPr/>
            </a:pPr>
            <a:r>
              <a:rPr sz="2400" spc="-5" dirty="0">
                <a:solidFill>
                  <a:srgbClr val="C00000"/>
                </a:solidFill>
                <a:latin typeface="Carlito"/>
                <a:cs typeface="Carlito"/>
              </a:rPr>
              <a:t>Inheritance (“is </a:t>
            </a:r>
            <a:r>
              <a:rPr sz="2400" dirty="0">
                <a:solidFill>
                  <a:srgbClr val="C00000"/>
                </a:solidFill>
                <a:latin typeface="Carlito"/>
                <a:cs typeface="Carlito"/>
              </a:rPr>
              <a:t>a”</a:t>
            </a:r>
            <a:r>
              <a:rPr sz="2400" spc="-4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rlito"/>
                <a:cs typeface="Carlito"/>
              </a:rPr>
              <a:t>Relationships)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1E07EF46-D47C-411E-6EE2-5A8BF05BF99E}"/>
              </a:ext>
            </a:extLst>
          </p:cNvPr>
          <p:cNvSpPr txBox="1"/>
          <p:nvPr/>
        </p:nvSpPr>
        <p:spPr>
          <a:xfrm>
            <a:off x="1425575" y="2225675"/>
            <a:ext cx="7772400" cy="442913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800" spc="-20" dirty="0">
                <a:latin typeface="Carlito"/>
                <a:cs typeface="Carlito"/>
              </a:rPr>
              <a:t>Why </a:t>
            </a:r>
            <a:r>
              <a:rPr sz="2800" spc="-15" dirty="0">
                <a:latin typeface="Carlito"/>
                <a:cs typeface="Carlito"/>
              </a:rPr>
              <a:t>Are There </a:t>
            </a:r>
            <a:r>
              <a:rPr sz="2800" spc="-5" dirty="0">
                <a:latin typeface="Carlito"/>
                <a:cs typeface="Carlito"/>
              </a:rPr>
              <a:t>So </a:t>
            </a:r>
            <a:r>
              <a:rPr sz="2800" spc="-15" dirty="0">
                <a:latin typeface="Carlito"/>
                <a:cs typeface="Carlito"/>
              </a:rPr>
              <a:t>Many </a:t>
            </a:r>
            <a:r>
              <a:rPr sz="2800" spc="-5" dirty="0">
                <a:latin typeface="Carlito"/>
                <a:cs typeface="Carlito"/>
              </a:rPr>
              <a:t>Rules </a:t>
            </a:r>
            <a:r>
              <a:rPr sz="2800" spc="-25" dirty="0">
                <a:latin typeface="Carlito"/>
                <a:cs typeface="Carlito"/>
              </a:rPr>
              <a:t>for</a:t>
            </a:r>
            <a:r>
              <a:rPr sz="2800" spc="6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Inheritance?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C47C49B-4715-2AE0-FCAA-CE0F5156E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819400"/>
            <a:ext cx="6248400" cy="588963"/>
          </a:xfrm>
          <a:prstGeom prst="rect">
            <a:avLst/>
          </a:prstGeom>
          <a:solidFill>
            <a:srgbClr val="E2F0D9"/>
          </a:solidFill>
          <a:ln w="9525">
            <a:noFill/>
            <a:miter lim="800000"/>
            <a:headEnd/>
            <a:tailEnd/>
          </a:ln>
        </p:spPr>
        <p:txBody>
          <a:bodyPr lIns="0" tIns="50165" rIns="0" bIns="0">
            <a:spAutoFit/>
          </a:bodyPr>
          <a:lstStyle/>
          <a:p>
            <a:pPr marL="90488">
              <a:lnSpc>
                <a:spcPts val="2088"/>
              </a:lnSpc>
              <a:spcBef>
                <a:spcPts val="400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If multiple classes share common data but not behavior, create  a common object that those classes can contain.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C52EADF-5654-4D3D-C2DE-713A6C176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592513"/>
            <a:ext cx="6248400" cy="858837"/>
          </a:xfrm>
          <a:prstGeom prst="rect">
            <a:avLst/>
          </a:prstGeom>
          <a:solidFill>
            <a:srgbClr val="E2F0D9"/>
          </a:solidFill>
          <a:ln w="9525">
            <a:noFill/>
            <a:miter lim="800000"/>
            <a:headEnd/>
            <a:tailEnd/>
          </a:ln>
        </p:spPr>
        <p:txBody>
          <a:bodyPr lIns="0" tIns="35560" rIns="0" bIns="0">
            <a:spAutoFit/>
          </a:bodyPr>
          <a:lstStyle/>
          <a:p>
            <a:pPr marL="90488">
              <a:lnSpc>
                <a:spcPct val="99000"/>
              </a:lnSpc>
              <a:spcBef>
                <a:spcPts val="275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If multiple classes share common behavior but not data, derive  them from a common base class that defines the common routines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0F826DB-4875-564C-1753-B29C27095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640263"/>
            <a:ext cx="6248400" cy="857250"/>
          </a:xfrm>
          <a:prstGeom prst="rect">
            <a:avLst/>
          </a:prstGeom>
          <a:solidFill>
            <a:srgbClr val="E2F0D9"/>
          </a:solidFill>
          <a:ln w="9525">
            <a:noFill/>
            <a:miter lim="800000"/>
            <a:headEnd/>
            <a:tailEnd/>
          </a:ln>
        </p:spPr>
        <p:txBody>
          <a:bodyPr lIns="0" tIns="33655" rIns="0" bIns="0">
            <a:spAutoFit/>
          </a:bodyPr>
          <a:lstStyle/>
          <a:p>
            <a:pPr marL="90488">
              <a:lnSpc>
                <a:spcPct val="99000"/>
              </a:lnSpc>
              <a:spcBef>
                <a:spcPts val="263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If multiple classes share common data and behavior, inherit  from a common base class that defines the common data and routines.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DD19F29-9959-AD2B-2BBB-3F3003D1E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686425"/>
            <a:ext cx="6248400" cy="588963"/>
          </a:xfrm>
          <a:prstGeom prst="rect">
            <a:avLst/>
          </a:prstGeom>
          <a:solidFill>
            <a:srgbClr val="E2F0D9"/>
          </a:solidFill>
          <a:ln w="9525">
            <a:noFill/>
            <a:miter lim="800000"/>
            <a:headEnd/>
            <a:tailEnd/>
          </a:ln>
        </p:spPr>
        <p:txBody>
          <a:bodyPr lIns="0" tIns="50165" rIns="0" bIns="0">
            <a:spAutoFit/>
          </a:bodyPr>
          <a:lstStyle/>
          <a:p>
            <a:pPr marL="90488">
              <a:lnSpc>
                <a:spcPts val="2088"/>
              </a:lnSpc>
              <a:spcBef>
                <a:spcPts val="400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Inherit when you want the base class to control your interface; contain when you want to control your interface.</a:t>
            </a:r>
          </a:p>
        </p:txBody>
      </p:sp>
    </p:spTree>
    <p:extLst>
      <p:ext uri="{BB962C8B-B14F-4D97-AF65-F5344CB8AC3E}">
        <p14:creationId xmlns:p14="http://schemas.microsoft.com/office/powerpoint/2010/main" val="236040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Design and Implementation Issues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337A84D7-DA94-30FC-6FBD-639BEC5AD749}"/>
              </a:ext>
            </a:extLst>
          </p:cNvPr>
          <p:cNvSpPr txBox="1"/>
          <p:nvPr/>
        </p:nvSpPr>
        <p:spPr>
          <a:xfrm>
            <a:off x="2590800" y="1325563"/>
            <a:ext cx="4008438" cy="392112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21590" rIns="0" bIns="0">
            <a:spAutoFit/>
          </a:bodyPr>
          <a:lstStyle/>
          <a:p>
            <a:pPr marL="91440">
              <a:spcBef>
                <a:spcPts val="170"/>
              </a:spcBef>
              <a:defRPr/>
            </a:pPr>
            <a:r>
              <a:rPr sz="2400" dirty="0">
                <a:solidFill>
                  <a:srgbClr val="C00000"/>
                </a:solidFill>
                <a:latin typeface="Carlito"/>
                <a:cs typeface="Carlito"/>
              </a:rPr>
              <a:t>Member </a:t>
            </a:r>
            <a:r>
              <a:rPr sz="2400" spc="-5" dirty="0">
                <a:solidFill>
                  <a:srgbClr val="C00000"/>
                </a:solidFill>
                <a:latin typeface="Carlito"/>
                <a:cs typeface="Carlito"/>
              </a:rPr>
              <a:t>Functions</a:t>
            </a:r>
            <a:r>
              <a:rPr lang="en-US" sz="2400" spc="-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C00000"/>
                </a:solidFill>
                <a:latin typeface="Carlito"/>
                <a:cs typeface="Carlito"/>
              </a:rPr>
              <a:t>and</a:t>
            </a:r>
            <a:r>
              <a:rPr sz="2400" spc="-5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400" spc="-20" dirty="0">
                <a:solidFill>
                  <a:srgbClr val="C00000"/>
                </a:solidFill>
                <a:latin typeface="Carlito"/>
                <a:cs typeface="Carlito"/>
              </a:rPr>
              <a:t>Data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57F96CE9-9B9B-6277-9E4B-753B73CEB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943100"/>
            <a:ext cx="3276600" cy="858838"/>
          </a:xfrm>
          <a:prstGeom prst="rect">
            <a:avLst/>
          </a:prstGeom>
          <a:solidFill>
            <a:srgbClr val="E2F0D9"/>
          </a:solidFill>
          <a:ln w="9525">
            <a:noFill/>
            <a:miter lim="800000"/>
            <a:headEnd/>
            <a:tailEnd/>
          </a:ln>
        </p:spPr>
        <p:txBody>
          <a:bodyPr lIns="0" tIns="50165" rIns="0" bIns="0">
            <a:spAutoFit/>
          </a:bodyPr>
          <a:lstStyle/>
          <a:p>
            <a:pPr marL="523875" indent="-365125">
              <a:lnSpc>
                <a:spcPts val="2088"/>
              </a:lnSpc>
              <a:spcBef>
                <a:spcPts val="400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Keep the number of routines in a  class as small as possible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E6483A1-A798-5F6E-90C8-D6C2BC1D9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163" y="1943100"/>
            <a:ext cx="2754312" cy="1133475"/>
          </a:xfrm>
          <a:prstGeom prst="rect">
            <a:avLst/>
          </a:prstGeom>
          <a:solidFill>
            <a:srgbClr val="E2F0D9"/>
          </a:solidFill>
          <a:ln w="9525">
            <a:noFill/>
            <a:miter lim="800000"/>
            <a:headEnd/>
            <a:tailEnd/>
          </a:ln>
        </p:spPr>
        <p:txBody>
          <a:bodyPr lIns="0" tIns="35560" rIns="0" bIns="0">
            <a:spAutoFit/>
          </a:bodyPr>
          <a:lstStyle/>
          <a:p>
            <a:pPr marL="136525" algn="ctr">
              <a:lnSpc>
                <a:spcPct val="99000"/>
              </a:lnSpc>
              <a:spcBef>
                <a:spcPts val="275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Disallow implicitly generated  member functions and operators  you don’t want</a:t>
            </a: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789A8BC7-555B-C7C0-D05C-CAE06615B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9520" y="1852042"/>
            <a:ext cx="2754312" cy="858568"/>
          </a:xfrm>
          <a:prstGeom prst="rect">
            <a:avLst/>
          </a:prstGeom>
          <a:solidFill>
            <a:srgbClr val="E2F0D9"/>
          </a:solidFill>
          <a:ln w="9525">
            <a:noFill/>
            <a:miter lim="800000"/>
            <a:headEnd/>
            <a:tailEnd/>
          </a:ln>
        </p:spPr>
        <p:txBody>
          <a:bodyPr wrap="square" lIns="0" tIns="50165" rIns="0" bIns="0">
            <a:spAutoFit/>
          </a:bodyPr>
          <a:lstStyle/>
          <a:p>
            <a:pPr marL="93663" indent="473075">
              <a:lnSpc>
                <a:spcPts val="2088"/>
              </a:lnSpc>
              <a:spcBef>
                <a:spcPts val="400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Minimize the number of  different routines called by a class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090D9D11-3D23-049E-73EF-69FCB8FD5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2895600"/>
            <a:ext cx="3276600" cy="585788"/>
          </a:xfrm>
          <a:prstGeom prst="rect">
            <a:avLst/>
          </a:prstGeom>
          <a:solidFill>
            <a:srgbClr val="E2F0D9"/>
          </a:solidFill>
          <a:ln w="9525">
            <a:noFill/>
            <a:miter lim="800000"/>
            <a:headEnd/>
            <a:tailEnd/>
          </a:ln>
        </p:spPr>
        <p:txBody>
          <a:bodyPr lIns="0" tIns="46355" rIns="0" bIns="0">
            <a:spAutoFit/>
          </a:bodyPr>
          <a:lstStyle/>
          <a:p>
            <a:pPr marL="1066800" indent="-922338">
              <a:lnSpc>
                <a:spcPts val="2113"/>
              </a:lnSpc>
              <a:spcBef>
                <a:spcPts val="363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Minimize indirect routine calls to other classes</a:t>
            </a: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09F5517F-2578-99DA-A352-3CF1E52AC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988" y="3149600"/>
            <a:ext cx="2754312" cy="1131888"/>
          </a:xfrm>
          <a:prstGeom prst="rect">
            <a:avLst/>
          </a:prstGeom>
          <a:solidFill>
            <a:srgbClr val="E2F0D9"/>
          </a:solidFill>
          <a:ln w="9525">
            <a:noFill/>
            <a:miter lim="800000"/>
            <a:headEnd/>
            <a:tailEnd/>
          </a:ln>
        </p:spPr>
        <p:txBody>
          <a:bodyPr lIns="0" tIns="34290" rIns="0" bIns="0">
            <a:spAutoFit/>
          </a:bodyPr>
          <a:lstStyle/>
          <a:p>
            <a:pPr marL="103188" algn="ctr">
              <a:lnSpc>
                <a:spcPct val="99000"/>
              </a:lnSpc>
              <a:spcBef>
                <a:spcPts val="275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In general, minimize the extent to which a class collaborates with  other classes</a:t>
            </a: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304FC38E-DA7D-5ECA-1235-4923C6169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3488" y="2687948"/>
            <a:ext cx="2790344" cy="1091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10160" rIns="0" bIns="0">
            <a:spAutoFit/>
          </a:bodyPr>
          <a:lstStyle/>
          <a:p>
            <a:pPr marL="12700">
              <a:lnSpc>
                <a:spcPct val="101000"/>
              </a:lnSpc>
              <a:spcBef>
                <a:spcPts val="75"/>
              </a:spcBef>
            </a:pPr>
            <a:r>
              <a:rPr lang="en-US" sz="1400" i="1" dirty="0">
                <a:latin typeface="Carlito"/>
                <a:ea typeface="Carlito"/>
                <a:cs typeface="Carlito"/>
              </a:rPr>
              <a:t>One study found that the number of faults in a class was statistically correlated with  the total number of routines that were  called from within a class</a:t>
            </a:r>
            <a:endParaRPr lang="en-US" sz="1400" dirty="0">
              <a:latin typeface="Carlito"/>
              <a:ea typeface="Carlito"/>
              <a:cs typeface="Carlito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E5AD1BF2-4D2F-19C3-44C8-DF5A6CDD3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3488" y="3796522"/>
            <a:ext cx="2830512" cy="855362"/>
          </a:xfrm>
          <a:prstGeom prst="rect">
            <a:avLst/>
          </a:prstGeom>
          <a:solidFill>
            <a:srgbClr val="E2F0D9"/>
          </a:solidFill>
          <a:ln w="9525">
            <a:noFill/>
            <a:miter lim="800000"/>
            <a:headEnd/>
            <a:tailEnd/>
          </a:ln>
        </p:spPr>
        <p:txBody>
          <a:bodyPr wrap="square" lIns="0" tIns="46990" rIns="0" bIns="0">
            <a:spAutoFit/>
          </a:bodyPr>
          <a:lstStyle/>
          <a:p>
            <a:pPr marL="293688" indent="-15875">
              <a:lnSpc>
                <a:spcPts val="2113"/>
              </a:lnSpc>
              <a:spcBef>
                <a:spcPts val="375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Enforce the singleton property  by using a private constructor</a:t>
            </a: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5D929B78-D8B8-3696-909C-F8B3459F4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581400"/>
            <a:ext cx="3276600" cy="854075"/>
          </a:xfrm>
          <a:prstGeom prst="rect">
            <a:avLst/>
          </a:prstGeom>
          <a:solidFill>
            <a:srgbClr val="E2F0D9"/>
          </a:solidFill>
          <a:ln w="9525">
            <a:noFill/>
            <a:miter lim="800000"/>
            <a:headEnd/>
            <a:tailEnd/>
          </a:ln>
        </p:spPr>
        <p:txBody>
          <a:bodyPr lIns="0" rIns="0" bIns="0">
            <a:spAutoFit/>
          </a:bodyPr>
          <a:lstStyle/>
          <a:p>
            <a:pPr marL="569913" indent="-295275">
              <a:lnSpc>
                <a:spcPts val="2113"/>
              </a:lnSpc>
              <a:spcBef>
                <a:spcPts val="363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Initialize all member data in all  constructors, if possible</a:t>
            </a: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BFEDDC29-8465-6B26-268D-8AB76CBAB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0880" y="4717511"/>
            <a:ext cx="3276600" cy="855662"/>
          </a:xfrm>
          <a:prstGeom prst="rect">
            <a:avLst/>
          </a:prstGeom>
          <a:solidFill>
            <a:srgbClr val="E2F0D9"/>
          </a:solidFill>
          <a:ln w="9525">
            <a:noFill/>
            <a:miter lim="800000"/>
            <a:headEnd/>
            <a:tailEnd/>
          </a:ln>
        </p:spPr>
        <p:txBody>
          <a:bodyPr lIns="0" tIns="46990" rIns="0" bIns="0">
            <a:spAutoFit/>
          </a:bodyPr>
          <a:lstStyle/>
          <a:p>
            <a:pPr marL="292100" indent="6350">
              <a:lnSpc>
                <a:spcPts val="2113"/>
              </a:lnSpc>
              <a:spcBef>
                <a:spcPts val="375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Prefer deep copies to shallow  copies until proven otherwise</a:t>
            </a: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221F6608-9C50-B98E-1BA3-983D66304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658" y="5671598"/>
            <a:ext cx="3217862" cy="87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9525" rIns="0" bIns="0">
            <a:spAutoFit/>
          </a:bodyPr>
          <a:lstStyle/>
          <a:p>
            <a:pPr marL="12700">
              <a:lnSpc>
                <a:spcPct val="101000"/>
              </a:lnSpc>
              <a:spcBef>
                <a:spcPts val="75"/>
              </a:spcBef>
            </a:pPr>
            <a:r>
              <a:rPr lang="en-US" sz="1400" i="1" dirty="0">
                <a:latin typeface="Carlito"/>
                <a:ea typeface="Carlito"/>
                <a:cs typeface="Carlito"/>
              </a:rPr>
              <a:t>A deep copy of an object is a member-wise  copy of the object’s member data; a  shallow copy typically just points to or  refers to a single reference copy</a:t>
            </a:r>
            <a:endParaRPr lang="en-US" sz="1400" dirty="0">
              <a:latin typeface="Carlito"/>
              <a:ea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970389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Reading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12</a:t>
            </a:fld>
            <a:endParaRPr lang="en-US" sz="70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A96082F3-E9A4-1548-700E-21403AFCAE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447800"/>
            <a:ext cx="9372600" cy="3429000"/>
          </a:xfrm>
        </p:spPr>
        <p:txBody>
          <a:bodyPr/>
          <a:lstStyle/>
          <a:p>
            <a:pPr marL="548640" lvl="1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Code Complete: A Practical Handbook of Software Construction, 2</a:t>
            </a:r>
            <a:r>
              <a:rPr lang="en-US" sz="2000" baseline="30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nd</a:t>
            </a:r>
            <a:r>
              <a:rPr lang="en-US" sz="2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 Edition, Steve McConnell. </a:t>
            </a:r>
          </a:p>
          <a:p>
            <a:pPr marL="823277" lvl="2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17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Chapter 6</a:t>
            </a:r>
          </a:p>
          <a:p>
            <a:pPr marL="533400" lvl="1" indent="-533400" eaLnBrk="1" hangingPunct="1">
              <a:lnSpc>
                <a:spcPct val="115000"/>
              </a:lnSpc>
              <a:spcBef>
                <a:spcPct val="40000"/>
              </a:spcBef>
              <a:buClr>
                <a:srgbClr val="0BD0D9"/>
              </a:buClr>
              <a:buSzPct val="95000"/>
              <a:buFont typeface="Wingdings 2" pitchFamily="18" charset="2"/>
              <a:buNone/>
              <a:defRPr/>
            </a:pPr>
            <a:endParaRPr lang="en-NZ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52A5A0-F4F2-0067-8B0B-FCFB4FE8D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52725" y="2099075"/>
            <a:ext cx="417195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86570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13</a:t>
            </a:fld>
            <a:endParaRPr lang="en-US" sz="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360D8-06EC-45E1-9F03-07203CCB8D4E}"/>
              </a:ext>
            </a:extLst>
          </p:cNvPr>
          <p:cNvSpPr txBox="1"/>
          <p:nvPr/>
        </p:nvSpPr>
        <p:spPr>
          <a:xfrm>
            <a:off x="1721224" y="2286000"/>
            <a:ext cx="57015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Any questions? ​</a:t>
            </a:r>
          </a:p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Please feel free to raise your hands and ask.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711CCF-C1F4-43F6-B9FC-0A5338AB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508" y="675881"/>
            <a:ext cx="1299457" cy="12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05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CPIT 110">
  <a:themeElements>
    <a:clrScheme name="Custom 1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A2B7C0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CPIT 110" id="{8B30B5B8-1EAF-4AD4-A47C-55C6155E0564}" vid="{0F986C0D-D438-41BC-BADF-01C576FE679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7d1a000-c374-4d35-b30d-1e8e9eadf82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8470530D50274EAFC96C307341D87E" ma:contentTypeVersion="7" ma:contentTypeDescription="Create a new document." ma:contentTypeScope="" ma:versionID="b8910448027bc4ed34846ea5a9c8ae5b">
  <xsd:schema xmlns:xsd="http://www.w3.org/2001/XMLSchema" xmlns:xs="http://www.w3.org/2001/XMLSchema" xmlns:p="http://schemas.microsoft.com/office/2006/metadata/properties" xmlns:ns3="a7d1a000-c374-4d35-b30d-1e8e9eadf823" xmlns:ns4="1ec989cd-5ee7-4e6d-938f-778fe4b0c792" targetNamespace="http://schemas.microsoft.com/office/2006/metadata/properties" ma:root="true" ma:fieldsID="4f803134678dcdcb51c3dda8fbd31a82" ns3:_="" ns4:_="">
    <xsd:import namespace="a7d1a000-c374-4d35-b30d-1e8e9eadf823"/>
    <xsd:import namespace="1ec989cd-5ee7-4e6d-938f-778fe4b0c792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d1a000-c374-4d35-b30d-1e8e9eadf823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c989cd-5ee7-4e6d-938f-778fe4b0c792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2E0C92-AC64-42CA-94F8-4CA15E127DA0}">
  <ds:schemaRefs>
    <ds:schemaRef ds:uri="http://purl.org/dc/dcmitype/"/>
    <ds:schemaRef ds:uri="http://purl.org/dc/terms/"/>
    <ds:schemaRef ds:uri="http://schemas.microsoft.com/office/2006/documentManagement/types"/>
    <ds:schemaRef ds:uri="1ec989cd-5ee7-4e6d-938f-778fe4b0c792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a7d1a000-c374-4d35-b30d-1e8e9eadf82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D0BDFD9-B336-410C-8C70-E8CCE7AD7C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067C3D-3075-485C-B52B-5E822900D7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d1a000-c374-4d35-b30d-1e8e9eadf823"/>
    <ds:schemaRef ds:uri="1ec989cd-5ee7-4e6d-938f-778fe4b0c7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CPIT 110</Template>
  <TotalTime>227</TotalTime>
  <Words>876</Words>
  <Application>Microsoft Office PowerPoint</Application>
  <PresentationFormat>On-screen Show (4:3)</PresentationFormat>
  <Paragraphs>90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Arial</vt:lpstr>
      <vt:lpstr>Calibri</vt:lpstr>
      <vt:lpstr>Calibri Light</vt:lpstr>
      <vt:lpstr>Carlito</vt:lpstr>
      <vt:lpstr>Eurostile</vt:lpstr>
      <vt:lpstr>Söhne</vt:lpstr>
      <vt:lpstr>Times New Roman</vt:lpstr>
      <vt:lpstr>Wingdings</vt:lpstr>
      <vt:lpstr>Wingdings 2</vt:lpstr>
      <vt:lpstr>Wingdings 3</vt:lpstr>
      <vt:lpstr>Theme CPIT 110</vt:lpstr>
      <vt:lpstr>Custom Design</vt:lpstr>
      <vt:lpstr>Chapter  2.5 Creating High-Quality Code</vt:lpstr>
      <vt:lpstr>Outline</vt:lpstr>
      <vt:lpstr>Design and Implementation Issues</vt:lpstr>
      <vt:lpstr>Design and Implementation Issues</vt:lpstr>
      <vt:lpstr>Design and Implementation Issues</vt:lpstr>
      <vt:lpstr>Design and Implementation Issues</vt:lpstr>
      <vt:lpstr>Design and Implementation Issues</vt:lpstr>
      <vt:lpstr>Design and Implementation Issues</vt:lpstr>
      <vt:lpstr>Design and Implementation Issues</vt:lpstr>
      <vt:lpstr>Design and Implementation Issues</vt:lpstr>
      <vt:lpstr>Design and Implementation Issues</vt:lpstr>
      <vt:lpstr>Reading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  Introduction to Problem-Solving</dc:title>
  <dc:creator>Ahmad Tayeb;ajtayeb@kau.edu.sa</dc:creator>
  <cp:lastModifiedBy>Mohammad Dakhilallah Mohammad Alahmadi</cp:lastModifiedBy>
  <cp:revision>21</cp:revision>
  <dcterms:created xsi:type="dcterms:W3CDTF">2019-06-07T16:06:41Z</dcterms:created>
  <dcterms:modified xsi:type="dcterms:W3CDTF">2023-09-20T07:21:47Z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0x010100038470530D50274EAFC96C307341D87E</vt:lpwstr>
  </property>
</Properties>
</file>