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4"/>
    <p:sldMasterId id="2147483757" r:id="rId5"/>
  </p:sldMasterIdLst>
  <p:notesMasterIdLst>
    <p:notesMasterId r:id="rId22"/>
  </p:notesMasterIdLst>
  <p:sldIdLst>
    <p:sldId id="330" r:id="rId6"/>
    <p:sldId id="432" r:id="rId7"/>
    <p:sldId id="333" r:id="rId8"/>
    <p:sldId id="416" r:id="rId9"/>
    <p:sldId id="417" r:id="rId10"/>
    <p:sldId id="419" r:id="rId11"/>
    <p:sldId id="420" r:id="rId12"/>
    <p:sldId id="421" r:id="rId13"/>
    <p:sldId id="415" r:id="rId14"/>
    <p:sldId id="434" r:id="rId15"/>
    <p:sldId id="436" r:id="rId16"/>
    <p:sldId id="437" r:id="rId17"/>
    <p:sldId id="438" r:id="rId18"/>
    <p:sldId id="439" r:id="rId19"/>
    <p:sldId id="424" r:id="rId20"/>
    <p:sldId id="413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" id="{EB54229A-E673-4F50-937B-310B31E2AF04}">
          <p14:sldIdLst>
            <p14:sldId id="330"/>
            <p14:sldId id="432"/>
            <p14:sldId id="333"/>
            <p14:sldId id="416"/>
            <p14:sldId id="417"/>
            <p14:sldId id="419"/>
            <p14:sldId id="420"/>
            <p14:sldId id="421"/>
            <p14:sldId id="415"/>
            <p14:sldId id="434"/>
            <p14:sldId id="436"/>
            <p14:sldId id="437"/>
            <p14:sldId id="438"/>
            <p14:sldId id="439"/>
            <p14:sldId id="424"/>
            <p14:sldId id="4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CDEA"/>
    <a:srgbClr val="0A4B67"/>
    <a:srgbClr val="88A6B1"/>
    <a:srgbClr val="565351"/>
    <a:srgbClr val="767270"/>
    <a:srgbClr val="FFFFD1"/>
    <a:srgbClr val="6E96A2"/>
    <a:srgbClr val="6B9F25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88DBF8-DF36-4530-BAA3-36AB052B4673}" v="1" dt="2025-02-16T10:44:53.6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88" autoAdjust="0"/>
    <p:restoredTop sz="94607"/>
  </p:normalViewPr>
  <p:slideViewPr>
    <p:cSldViewPr snapToGrid="0">
      <p:cViewPr varScale="1">
        <p:scale>
          <a:sx n="104" d="100"/>
          <a:sy n="104" d="100"/>
        </p:scale>
        <p:origin x="234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Dakhilallah Mohammad Alahmadi" userId="9b436a58-7297-423f-8410-66c59c69358a" providerId="ADAL" clId="{8021268E-0580-4301-9E4E-EC1BD1DF0D74}"/>
    <pc:docChg chg="undo custSel delSld modSld modSection">
      <pc:chgData name="Mohammad Dakhilallah Mohammad Alahmadi" userId="9b436a58-7297-423f-8410-66c59c69358a" providerId="ADAL" clId="{8021268E-0580-4301-9E4E-EC1BD1DF0D74}" dt="2023-11-07T23:35:18.162" v="77" actId="1076"/>
      <pc:docMkLst>
        <pc:docMk/>
      </pc:docMkLst>
      <pc:sldChg chg="modSp mod">
        <pc:chgData name="Mohammad Dakhilallah Mohammad Alahmadi" userId="9b436a58-7297-423f-8410-66c59c69358a" providerId="ADAL" clId="{8021268E-0580-4301-9E4E-EC1BD1DF0D74}" dt="2023-09-27T07:46:14.872" v="52" actId="1036"/>
        <pc:sldMkLst>
          <pc:docMk/>
          <pc:sldMk cId="1660404219" sldId="419"/>
        </pc:sldMkLst>
      </pc:sldChg>
      <pc:sldChg chg="modSp mod">
        <pc:chgData name="Mohammad Dakhilallah Mohammad Alahmadi" userId="9b436a58-7297-423f-8410-66c59c69358a" providerId="ADAL" clId="{8021268E-0580-4301-9E4E-EC1BD1DF0D74}" dt="2023-11-07T23:35:18.162" v="77" actId="1076"/>
        <pc:sldMkLst>
          <pc:docMk/>
          <pc:sldMk cId="3810758988" sldId="421"/>
        </pc:sldMkLst>
      </pc:sldChg>
      <pc:sldChg chg="del">
        <pc:chgData name="Mohammad Dakhilallah Mohammad Alahmadi" userId="9b436a58-7297-423f-8410-66c59c69358a" providerId="ADAL" clId="{8021268E-0580-4301-9E4E-EC1BD1DF0D74}" dt="2023-09-27T07:52:17.440" v="53" actId="47"/>
        <pc:sldMkLst>
          <pc:docMk/>
          <pc:sldMk cId="3895419657" sldId="435"/>
        </pc:sldMkLst>
      </pc:sldChg>
      <pc:sldChg chg="modSp mod modNotesTx">
        <pc:chgData name="Mohammad Dakhilallah Mohammad Alahmadi" userId="9b436a58-7297-423f-8410-66c59c69358a" providerId="ADAL" clId="{8021268E-0580-4301-9E4E-EC1BD1DF0D74}" dt="2023-10-01T13:58:16.949" v="64"/>
        <pc:sldMkLst>
          <pc:docMk/>
          <pc:sldMk cId="4051892647" sldId="437"/>
        </pc:sldMkLst>
      </pc:sldChg>
      <pc:sldChg chg="modNotesTx">
        <pc:chgData name="Mohammad Dakhilallah Mohammad Alahmadi" userId="9b436a58-7297-423f-8410-66c59c69358a" providerId="ADAL" clId="{8021268E-0580-4301-9E4E-EC1BD1DF0D74}" dt="2023-10-01T13:59:30.611" v="65"/>
        <pc:sldMkLst>
          <pc:docMk/>
          <pc:sldMk cId="1253171910" sldId="438"/>
        </pc:sldMkLst>
      </pc:sldChg>
      <pc:sldChg chg="modSp mod">
        <pc:chgData name="Mohammad Dakhilallah Mohammad Alahmadi" userId="9b436a58-7297-423f-8410-66c59c69358a" providerId="ADAL" clId="{8021268E-0580-4301-9E4E-EC1BD1DF0D74}" dt="2023-10-01T14:00:14.498" v="67" actId="20577"/>
        <pc:sldMkLst>
          <pc:docMk/>
          <pc:sldMk cId="2570380035" sldId="439"/>
        </pc:sldMkLst>
      </pc:sldChg>
    </pc:docChg>
  </pc:docChgLst>
  <pc:docChgLst>
    <pc:chgData name="Mohammad Dakhilallah Mohammad Alahmadi" userId="9b436a58-7297-423f-8410-66c59c69358a" providerId="ADAL" clId="{1188DBF8-DF36-4530-BAA3-36AB052B4673}"/>
    <pc:docChg chg="undo custSel addSld delSld modSld modSection">
      <pc:chgData name="Mohammad Dakhilallah Mohammad Alahmadi" userId="9b436a58-7297-423f-8410-66c59c69358a" providerId="ADAL" clId="{1188DBF8-DF36-4530-BAA3-36AB052B4673}" dt="2025-03-24T08:24:55.288" v="94" actId="2696"/>
      <pc:docMkLst>
        <pc:docMk/>
      </pc:docMkLst>
      <pc:sldChg chg="addSp modSp mod">
        <pc:chgData name="Mohammad Dakhilallah Mohammad Alahmadi" userId="9b436a58-7297-423f-8410-66c59c69358a" providerId="ADAL" clId="{1188DBF8-DF36-4530-BAA3-36AB052B4673}" dt="2025-02-16T10:45:24.918" v="92" actId="20577"/>
        <pc:sldMkLst>
          <pc:docMk/>
          <pc:sldMk cId="785093695" sldId="436"/>
        </pc:sldMkLst>
        <pc:spChg chg="mod">
          <ac:chgData name="Mohammad Dakhilallah Mohammad Alahmadi" userId="9b436a58-7297-423f-8410-66c59c69358a" providerId="ADAL" clId="{1188DBF8-DF36-4530-BAA3-36AB052B4673}" dt="2025-02-16T10:45:04.752" v="51" actId="1035"/>
          <ac:spMkLst>
            <pc:docMk/>
            <pc:sldMk cId="785093695" sldId="436"/>
            <ac:spMk id="3" creationId="{1F96CA07-2430-9C17-C39C-D04575D4771C}"/>
          </ac:spMkLst>
        </pc:spChg>
        <pc:spChg chg="mod">
          <ac:chgData name="Mohammad Dakhilallah Mohammad Alahmadi" userId="9b436a58-7297-423f-8410-66c59c69358a" providerId="ADAL" clId="{1188DBF8-DF36-4530-BAA3-36AB052B4673}" dt="2025-02-16T10:45:04.752" v="51" actId="1035"/>
          <ac:spMkLst>
            <pc:docMk/>
            <pc:sldMk cId="785093695" sldId="436"/>
            <ac:spMk id="4" creationId="{161E19EE-853A-08BA-28AD-879AAD32106B}"/>
          </ac:spMkLst>
        </pc:spChg>
        <pc:spChg chg="mod">
          <ac:chgData name="Mohammad Dakhilallah Mohammad Alahmadi" userId="9b436a58-7297-423f-8410-66c59c69358a" providerId="ADAL" clId="{1188DBF8-DF36-4530-BAA3-36AB052B4673}" dt="2025-02-16T10:45:04.752" v="51" actId="1035"/>
          <ac:spMkLst>
            <pc:docMk/>
            <pc:sldMk cId="785093695" sldId="436"/>
            <ac:spMk id="5" creationId="{6C647E0B-35E0-7059-E541-99DA87EE678E}"/>
          </ac:spMkLst>
        </pc:spChg>
        <pc:spChg chg="add mod">
          <ac:chgData name="Mohammad Dakhilallah Mohammad Alahmadi" userId="9b436a58-7297-423f-8410-66c59c69358a" providerId="ADAL" clId="{1188DBF8-DF36-4530-BAA3-36AB052B4673}" dt="2025-02-16T10:45:22.433" v="91" actId="20577"/>
          <ac:spMkLst>
            <pc:docMk/>
            <pc:sldMk cId="785093695" sldId="436"/>
            <ac:spMk id="6" creationId="{9E3C3F31-1D01-97CB-E011-379E255C1953}"/>
          </ac:spMkLst>
        </pc:spChg>
        <pc:spChg chg="mod">
          <ac:chgData name="Mohammad Dakhilallah Mohammad Alahmadi" userId="9b436a58-7297-423f-8410-66c59c69358a" providerId="ADAL" clId="{1188DBF8-DF36-4530-BAA3-36AB052B4673}" dt="2025-02-16T10:45:04.752" v="51" actId="1035"/>
          <ac:spMkLst>
            <pc:docMk/>
            <pc:sldMk cId="785093695" sldId="436"/>
            <ac:spMk id="11" creationId="{126AFB6F-62FD-955D-DA60-49480E9E3C32}"/>
          </ac:spMkLst>
        </pc:spChg>
        <pc:spChg chg="mod">
          <ac:chgData name="Mohammad Dakhilallah Mohammad Alahmadi" userId="9b436a58-7297-423f-8410-66c59c69358a" providerId="ADAL" clId="{1188DBF8-DF36-4530-BAA3-36AB052B4673}" dt="2025-02-16T10:45:04.752" v="51" actId="1035"/>
          <ac:spMkLst>
            <pc:docMk/>
            <pc:sldMk cId="785093695" sldId="436"/>
            <ac:spMk id="12" creationId="{13C6A0B5-6D48-1363-6B43-E3F68064B75F}"/>
          </ac:spMkLst>
        </pc:spChg>
        <pc:spChg chg="mod">
          <ac:chgData name="Mohammad Dakhilallah Mohammad Alahmadi" userId="9b436a58-7297-423f-8410-66c59c69358a" providerId="ADAL" clId="{1188DBF8-DF36-4530-BAA3-36AB052B4673}" dt="2025-02-16T10:45:04.752" v="51" actId="1035"/>
          <ac:spMkLst>
            <pc:docMk/>
            <pc:sldMk cId="785093695" sldId="436"/>
            <ac:spMk id="13" creationId="{6EB2919E-0F8F-002C-E9EF-D7587023ABEB}"/>
          </ac:spMkLst>
        </pc:spChg>
        <pc:spChg chg="mod">
          <ac:chgData name="Mohammad Dakhilallah Mohammad Alahmadi" userId="9b436a58-7297-423f-8410-66c59c69358a" providerId="ADAL" clId="{1188DBF8-DF36-4530-BAA3-36AB052B4673}" dt="2025-02-16T10:45:04.752" v="51" actId="1035"/>
          <ac:spMkLst>
            <pc:docMk/>
            <pc:sldMk cId="785093695" sldId="436"/>
            <ac:spMk id="14" creationId="{5AB82292-57F8-4A77-ECBC-3C358B9BDCCC}"/>
          </ac:spMkLst>
        </pc:spChg>
        <pc:spChg chg="mod">
          <ac:chgData name="Mohammad Dakhilallah Mohammad Alahmadi" userId="9b436a58-7297-423f-8410-66c59c69358a" providerId="ADAL" clId="{1188DBF8-DF36-4530-BAA3-36AB052B4673}" dt="2025-02-16T10:45:04.752" v="51" actId="1035"/>
          <ac:spMkLst>
            <pc:docMk/>
            <pc:sldMk cId="785093695" sldId="436"/>
            <ac:spMk id="15" creationId="{1F331399-A391-C45A-0CAB-B76B2A5ADDDA}"/>
          </ac:spMkLst>
        </pc:spChg>
        <pc:spChg chg="mod">
          <ac:chgData name="Mohammad Dakhilallah Mohammad Alahmadi" userId="9b436a58-7297-423f-8410-66c59c69358a" providerId="ADAL" clId="{1188DBF8-DF36-4530-BAA3-36AB052B4673}" dt="2025-02-16T10:45:24.918" v="92" actId="20577"/>
          <ac:spMkLst>
            <pc:docMk/>
            <pc:sldMk cId="785093695" sldId="436"/>
            <ac:spMk id="9218" creationId="{00000000-0000-0000-0000-000000000000}"/>
          </ac:spMkLst>
        </pc:spChg>
      </pc:sldChg>
      <pc:sldChg chg="new del">
        <pc:chgData name="Mohammad Dakhilallah Mohammad Alahmadi" userId="9b436a58-7297-423f-8410-66c59c69358a" providerId="ADAL" clId="{1188DBF8-DF36-4530-BAA3-36AB052B4673}" dt="2025-03-24T08:24:55.288" v="94" actId="2696"/>
        <pc:sldMkLst>
          <pc:docMk/>
          <pc:sldMk cId="1816042878" sldId="440"/>
        </pc:sldMkLst>
      </pc:sldChg>
    </pc:docChg>
  </pc:docChgLst>
  <pc:docChgLst>
    <pc:chgData name="Mohammad Dakhilallah Mohammad Alahmadi" userId="S::04100753@uj.edu.sa::9b436a58-7297-423f-8410-66c59c69358a" providerId="AD" clId="Web-{317FD7ED-411A-4AC0-98E3-5909D68B8D50}"/>
    <pc:docChg chg="delSld modSection">
      <pc:chgData name="Mohammad Dakhilallah Mohammad Alahmadi" userId="S::04100753@uj.edu.sa::9b436a58-7297-423f-8410-66c59c69358a" providerId="AD" clId="Web-{317FD7ED-411A-4AC0-98E3-5909D68B8D50}" dt="2023-08-25T12:15:10.791" v="2"/>
      <pc:docMkLst>
        <pc:docMk/>
      </pc:docMkLst>
      <pc:sldChg chg="del">
        <pc:chgData name="Mohammad Dakhilallah Mohammad Alahmadi" userId="S::04100753@uj.edu.sa::9b436a58-7297-423f-8410-66c59c69358a" providerId="AD" clId="Web-{317FD7ED-411A-4AC0-98E3-5909D68B8D50}" dt="2023-08-25T12:15:10.791" v="2"/>
        <pc:sldMkLst>
          <pc:docMk/>
          <pc:sldMk cId="2586610191" sldId="423"/>
        </pc:sldMkLst>
      </pc:sldChg>
      <pc:sldChg chg="del">
        <pc:chgData name="Mohammad Dakhilallah Mohammad Alahmadi" userId="S::04100753@uj.edu.sa::9b436a58-7297-423f-8410-66c59c69358a" providerId="AD" clId="Web-{317FD7ED-411A-4AC0-98E3-5909D68B8D50}" dt="2023-08-25T12:14:31.242" v="1"/>
        <pc:sldMkLst>
          <pc:docMk/>
          <pc:sldMk cId="1251082562" sldId="431"/>
        </pc:sldMkLst>
      </pc:sldChg>
      <pc:sldChg chg="del">
        <pc:chgData name="Mohammad Dakhilallah Mohammad Alahmadi" userId="S::04100753@uj.edu.sa::9b436a58-7297-423f-8410-66c59c69358a" providerId="AD" clId="Web-{317FD7ED-411A-4AC0-98E3-5909D68B8D50}" dt="2023-08-25T12:14:25.352" v="0"/>
        <pc:sldMkLst>
          <pc:docMk/>
          <pc:sldMk cId="202596297" sldId="43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C8B844-FEB7-40E9-8905-10D1181F788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8F4A1-044F-45DC-A6AA-9EC3247C3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148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C9B6E0E-3217-4A19-A07B-3D01EE0387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FDB8EE8-7C53-490C-9686-35338E0B09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/>
              <a:t>Last Update: 22/8/2019</a:t>
            </a:r>
          </a:p>
          <a:p>
            <a:r>
              <a:rPr lang="en-US" altLang="en-US"/>
              <a:t>Version 1.0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Computer Module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Generates a document to be printed.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Formats the document according to a specific printer protocol (e.g., PostScript).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Sends the formatted document to the printer via a specific communication interface (e.g., USB).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Printer Module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Waits for data from the computer.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Recognizes and understands the specific printer protocol used by the computer.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Prints the document based on the received formatted data.</a:t>
            </a:r>
          </a:p>
          <a:p>
            <a:pPr algn="l">
              <a:buFont typeface="+mj-lt"/>
              <a:buNone/>
            </a:pPr>
            <a:endParaRPr lang="en-US" b="1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None/>
            </a:pPr>
            <a:endParaRPr lang="en-US" b="1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None/>
            </a:pPr>
            <a:endParaRPr lang="en-US" b="1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None/>
            </a:pPr>
            <a:endParaRPr lang="en-US" b="1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Thermostat Module (Module A)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Measures the current room temperature.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Determines if the room is too cold or too warm.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Sends a control signal to the Heater module based on the temperature reading.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Heater Module (Module B)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Receives the control signal from the Thermostat.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If the signal is TURN_ON, it activates the heater to warm the room.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If the signal is TURN_OFF, it deactivates the heater.</a:t>
            </a:r>
          </a:p>
          <a:p>
            <a:pPr algn="l"/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In this example, the Thermostat module (Module A) is control-coupled with the Heater module (Module B) because it sends a control signal that dictates the internal behavior of the Heater module. The Heater doesn't decide on its own whether to turn on or off; it relies on the control signal from the Thermostat.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48F4A1-044F-45DC-A6AA-9EC3247C362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073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In this example, both the </a:t>
            </a:r>
            <a:r>
              <a:rPr lang="en-US" dirty="0"/>
              <a:t>Payroll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and </a:t>
            </a:r>
            <a:r>
              <a:rPr lang="en-US" dirty="0" err="1"/>
              <a:t>ContactDetails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modules are stamp-coupled because they share the </a:t>
            </a:r>
            <a:r>
              <a:rPr lang="en-US" dirty="0"/>
              <a:t>Employee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data structure but use only specific parts of it.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48F4A1-044F-45DC-A6AA-9EC3247C362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706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740" y="3183624"/>
            <a:ext cx="8380520" cy="1922733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48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1740" y="5236867"/>
            <a:ext cx="838052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none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22961" y="6646272"/>
            <a:ext cx="1854203" cy="187517"/>
          </a:xfrm>
        </p:spPr>
        <p:txBody>
          <a:bodyPr/>
          <a:lstStyle/>
          <a:p>
            <a:fld id="{03C5C922-B9DD-9745-A816-802923AFBE71}" type="datetime1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764639" y="6646272"/>
            <a:ext cx="3617103" cy="187517"/>
          </a:xfrm>
        </p:spPr>
        <p:txBody>
          <a:bodyPr/>
          <a:lstStyle>
            <a:lvl1pPr>
              <a:defRPr cap="none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381740" y="5106357"/>
            <a:ext cx="8380520" cy="18289"/>
          </a:xfrm>
          <a:prstGeom prst="line">
            <a:avLst/>
          </a:prstGeom>
          <a:ln w="38100">
            <a:solidFill>
              <a:srgbClr val="84CDE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AE1EE2-4846-41F9-AC6B-D9834B0B3586}"/>
              </a:ext>
            </a:extLst>
          </p:cNvPr>
          <p:cNvCxnSpPr>
            <a:cxnSpLocks/>
          </p:cNvCxnSpPr>
          <p:nvPr/>
        </p:nvCxnSpPr>
        <p:spPr>
          <a:xfrm flipV="1">
            <a:off x="9129643" y="1"/>
            <a:ext cx="12147" cy="687476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1AE4F96-0037-4F43-91BD-25588C022845}"/>
              </a:ext>
            </a:extLst>
          </p:cNvPr>
          <p:cNvSpPr/>
          <p:nvPr userDrawn="1"/>
        </p:nvSpPr>
        <p:spPr>
          <a:xfrm>
            <a:off x="-14359" y="6646273"/>
            <a:ext cx="9144000" cy="237744"/>
          </a:xfrm>
          <a:prstGeom prst="rect">
            <a:avLst/>
          </a:prstGeom>
          <a:solidFill>
            <a:srgbClr val="0A4B67"/>
          </a:solidFill>
          <a:ln>
            <a:solidFill>
              <a:srgbClr val="0A4B6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BF5B4F-FC83-4FAA-82F0-2510D3F32F49}"/>
              </a:ext>
            </a:extLst>
          </p:cNvPr>
          <p:cNvSpPr/>
          <p:nvPr userDrawn="1"/>
        </p:nvSpPr>
        <p:spPr>
          <a:xfrm>
            <a:off x="-26504" y="6546958"/>
            <a:ext cx="9144001" cy="103220"/>
          </a:xfrm>
          <a:prstGeom prst="rect">
            <a:avLst/>
          </a:prstGeom>
          <a:solidFill>
            <a:srgbClr val="84CDEA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0B8816-EFF8-4E7C-AEC1-987D4EE648F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5932" y="0"/>
            <a:ext cx="3809" cy="6857997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5B64A5-A6D5-4050-BAC4-E246829DF430}"/>
              </a:ext>
            </a:extLst>
          </p:cNvPr>
          <p:cNvCxnSpPr>
            <a:cxnSpLocks/>
          </p:cNvCxnSpPr>
          <p:nvPr userDrawn="1"/>
        </p:nvCxnSpPr>
        <p:spPr>
          <a:xfrm flipV="1">
            <a:off x="-32436" y="8261"/>
            <a:ext cx="9235440" cy="1"/>
          </a:xfrm>
          <a:prstGeom prst="line">
            <a:avLst/>
          </a:prstGeom>
          <a:ln w="76200">
            <a:solidFill>
              <a:srgbClr val="0A4B67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1" name="Picture 30" descr="Logo&#10;&#10;Description automatically generated">
            <a:extLst>
              <a:ext uri="{FF2B5EF4-FFF2-40B4-BE49-F238E27FC236}">
                <a16:creationId xmlns:a16="http://schemas.microsoft.com/office/drawing/2014/main" id="{370668AB-6B94-4243-A6A5-4EDC87C8B5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04824" y="46971"/>
            <a:ext cx="3278818" cy="231973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723C23A-9829-0C47-85AC-FD590BD245D5}"/>
              </a:ext>
            </a:extLst>
          </p:cNvPr>
          <p:cNvSpPr txBox="1"/>
          <p:nvPr userDrawn="1"/>
        </p:nvSpPr>
        <p:spPr>
          <a:xfrm>
            <a:off x="185737" y="852895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COLLAGE OF COMPUTER</a:t>
            </a:r>
          </a:p>
          <a:p>
            <a:pPr marL="0" algn="ctr" defTabSz="914400" rtl="1" eaLnBrk="1" latinLnBrk="0" hangingPunct="1"/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 SCIENCE &amp; ENGINEERING 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22341BA-F8B4-5440-8DF5-89AF9CF24FED}"/>
              </a:ext>
            </a:extLst>
          </p:cNvPr>
          <p:cNvCxnSpPr>
            <a:cxnSpLocks/>
          </p:cNvCxnSpPr>
          <p:nvPr userDrawn="1"/>
        </p:nvCxnSpPr>
        <p:spPr>
          <a:xfrm flipV="1">
            <a:off x="375762" y="1574983"/>
            <a:ext cx="2926080" cy="468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369ACA3-551E-D542-BD71-4881E6644B70}"/>
              </a:ext>
            </a:extLst>
          </p:cNvPr>
          <p:cNvSpPr txBox="1"/>
          <p:nvPr userDrawn="1"/>
        </p:nvSpPr>
        <p:spPr>
          <a:xfrm>
            <a:off x="-785970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en-US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UNIVERSITY OF JEDDAH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2639E4-89B5-1D49-B470-747E56896B62}"/>
              </a:ext>
            </a:extLst>
          </p:cNvPr>
          <p:cNvSpPr txBox="1"/>
          <p:nvPr userDrawn="1"/>
        </p:nvSpPr>
        <p:spPr>
          <a:xfrm>
            <a:off x="5679447" y="865829"/>
            <a:ext cx="32788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كــلـــية عــلــــــــــوم </a:t>
            </a:r>
          </a:p>
          <a:p>
            <a:pPr marL="0" algn="ctr" defTabSz="914400" rtl="1" eaLnBrk="1" latinLnBrk="0" hangingPunct="1"/>
            <a:r>
              <a:rPr lang="ar-SA" sz="2000" b="1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و هـنــدســـة الحـــــــاســــب</a:t>
            </a:r>
            <a:endParaRPr lang="en-US" sz="2000" b="1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6F4847C-B76C-6846-8360-9D2AD3FA67B2}"/>
              </a:ext>
            </a:extLst>
          </p:cNvPr>
          <p:cNvSpPr txBox="1"/>
          <p:nvPr userDrawn="1"/>
        </p:nvSpPr>
        <p:spPr>
          <a:xfrm>
            <a:off x="4782824" y="1579097"/>
            <a:ext cx="5072063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1" eaLnBrk="1" latinLnBrk="0" hangingPunct="1"/>
            <a:r>
              <a:rPr lang="ar-SA" sz="1300">
                <a:solidFill>
                  <a:schemeClr val="tx1">
                    <a:lumMod val="65000"/>
                    <a:lumOff val="35000"/>
                  </a:schemeClr>
                </a:solidFill>
                <a:latin typeface="Eurostile" panose="020B0504020202050204" pitchFamily="34" charset="77"/>
                <a:ea typeface="Malgun Gothic" panose="020B0503020000020004" pitchFamily="34" charset="-127"/>
                <a:cs typeface="Bangla Sangam MN" panose="02000000000000000000" pitchFamily="2" charset="0"/>
              </a:rPr>
              <a:t>جــــامعـــة جــــــــــــــدة </a:t>
            </a:r>
            <a:endParaRPr lang="en-US" sz="1300">
              <a:solidFill>
                <a:schemeClr val="tx1">
                  <a:lumMod val="65000"/>
                  <a:lumOff val="35000"/>
                </a:schemeClr>
              </a:solidFill>
              <a:latin typeface="Eurostile" panose="020B0504020202050204" pitchFamily="34" charset="77"/>
              <a:ea typeface="Malgun Gothic" panose="020B0503020000020004" pitchFamily="34" charset="-127"/>
              <a:cs typeface="Bangla Sangam MN" panose="02000000000000000000" pitchFamily="2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3D420C2-74C6-E448-ABF8-408E3C156421}"/>
              </a:ext>
            </a:extLst>
          </p:cNvPr>
          <p:cNvCxnSpPr>
            <a:cxnSpLocks/>
          </p:cNvCxnSpPr>
          <p:nvPr userDrawn="1"/>
        </p:nvCxnSpPr>
        <p:spPr>
          <a:xfrm>
            <a:off x="5770786" y="1573715"/>
            <a:ext cx="301752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83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B66AD-B9AD-6E48-A7F8-A3C7D94EDF8F}" type="datetime1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4CDEA"/>
              </a:buClr>
              <a:defRPr sz="2600">
                <a:solidFill>
                  <a:srgbClr val="565351"/>
                </a:solidFill>
              </a:defRPr>
            </a:lvl1pPr>
            <a:lvl2pPr>
              <a:buClr>
                <a:srgbClr val="565351"/>
              </a:buClr>
              <a:defRPr>
                <a:solidFill>
                  <a:srgbClr val="565351"/>
                </a:solidFill>
              </a:defRPr>
            </a:lvl2pPr>
            <a:lvl3pPr marL="73152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3pPr>
            <a:lvl4pPr marL="91440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4pPr>
            <a:lvl5pPr marL="1097280" indent="-274320">
              <a:buClr>
                <a:srgbClr val="565351"/>
              </a:buClr>
              <a:buFont typeface="Wingdings" panose="05000000000000000000" pitchFamily="2" charset="2"/>
              <a:buChar char="§"/>
              <a:defRPr sz="2000">
                <a:solidFill>
                  <a:srgbClr val="56535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4559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56535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AECC06-C7D4-1747-9BAC-5ADF6973C413}" type="datetime1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88A6B1"/>
              </a:buClr>
              <a:defRPr sz="2600">
                <a:solidFill>
                  <a:srgbClr val="88A6B1"/>
                </a:solidFill>
              </a:defRPr>
            </a:lvl1pPr>
            <a:lvl2pPr>
              <a:buClr>
                <a:srgbClr val="88A6B1"/>
              </a:buClr>
              <a:defRPr>
                <a:solidFill>
                  <a:srgbClr val="88A6B1"/>
                </a:solidFill>
              </a:defRPr>
            </a:lvl2pPr>
            <a:lvl3pPr marL="73152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3pPr>
            <a:lvl4pPr marL="91440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4pPr>
            <a:lvl5pPr marL="1097280" indent="-274320">
              <a:buClr>
                <a:srgbClr val="88A6B1"/>
              </a:buClr>
              <a:buFont typeface="Wingdings" panose="05000000000000000000" pitchFamily="2" charset="2"/>
              <a:buChar char="§"/>
              <a:defRPr sz="2000">
                <a:solidFill>
                  <a:srgbClr val="88A6B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9183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16C63C-7E12-D040-9BFC-CED05FF7D470}" type="datetime1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4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>
            <a:lvl1pPr>
              <a:buClr>
                <a:srgbClr val="84CDEA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987DC-EF00-9844-8C8C-DB85411C810C}" type="datetime1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88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5C23F-C598-3F49-9FE3-6071741BE353}" type="datetime1">
              <a:rPr lang="en-US" smtClean="0"/>
              <a:t>3/24/2025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3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6BD12-5D01-AB4B-A157-4C071A505070}" type="datetime1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58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D1259-9E66-E241-B0DB-D3144AF5C20E}" type="datetime1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24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F509-0EC8-5246-80F7-C95CE727AFCC}" type="datetime1">
              <a:rPr lang="en-US" smtClean="0"/>
              <a:t>3/24/2025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15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rgbClr val="0A4B67"/>
          </a:solidFill>
          <a:ln>
            <a:solidFill>
              <a:srgbClr val="84CD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6CBA62D3-B106-3146-B5B5-E66A18E804C2}" type="datetime1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31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8B15B-E63B-A741-9DEA-9AA37D2B7DBF}" type="datetime1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510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89117-AA99-A343-9D72-6FCA37B5BE17}" type="datetime1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78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144E2-60F2-DF46-A244-D7B3522DD83D}" type="datetime1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736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5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C5D66-23E7-0C4F-8B0A-A1C9C050780A}" type="datetime1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591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CCB30-1A6D-2E42-BCC5-3E80F21AA084}" type="datetime1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187854B-FEC4-4BF8-A3DE-39B0F5014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3200">
                <a:solidFill>
                  <a:schemeClr val="tx2"/>
                </a:solidFill>
                <a:latin typeface="+mj-lt"/>
              </a:defRPr>
            </a:lvl1pPr>
            <a:lvl2pPr marL="54864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chemeClr val="tx2"/>
                </a:solidFill>
                <a:latin typeface="+mj-lt"/>
              </a:defRPr>
            </a:lvl2pPr>
            <a:lvl3pPr marL="73152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3pPr>
            <a:lvl4pPr marL="91440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4pPr>
            <a:lvl5pPr marL="1097280" indent="-274320"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303021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9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DCBF6-F73E-B844-90B5-BA38F3F93D1B}" type="datetime1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3D2542-5A33-4E2C-863D-145C356406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4647" y="-15240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2995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CE842-8249-8A43-8E1B-D93301EA5234}" type="datetime1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9EAA3A6-8930-4E04-BD7A-70348C3D3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98352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6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D75E8-E6D9-3E42-B3C2-280D09D847BE}" type="datetime1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FE125C-DA19-42DA-8C07-FA8039F51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238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685800"/>
            <a:ext cx="8851392" cy="1752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07F6D-1FE4-8A49-840F-5919ACFA3FD0}" type="datetime1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EDCBC7-11CC-42C8-9373-3147D8486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8729288-CC54-4647-B966-CF553EF13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2438400"/>
            <a:ext cx="8851392" cy="413297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1pPr>
            <a:lvl2pPr marL="54864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2pPr>
            <a:lvl3pPr marL="73152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3pPr>
            <a:lvl4pPr marL="91440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4pPr>
            <a:lvl5pPr marL="1097280" indent="-27432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v"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83427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7_Title Only">
    <p:bg>
      <p:bgPr>
        <a:blipFill dpi="0" rotWithShape="1">
          <a:blip r:embed="rId2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638262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A0CE7-1A78-B749-A181-0CB124262D26}" type="datetime1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FF6332-602A-4C2A-BD1E-7565ECDF5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75030" y="0"/>
            <a:ext cx="1059353" cy="105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436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EB7BC-403A-8A44-A663-FD167E87AE44}" type="datetime1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B906D8A-B7C9-46FF-BD54-732332428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0665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5E94D-AB62-E84E-A49C-DD6A8F51C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548DE-348F-0D44-8485-97F299E58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26162-1B8D-B748-8A10-BD7FD12FE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7B2BE-DDF3-6D43-A226-4CE36737DFF8}" type="datetime1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D9D1D-9864-8648-83E4-1D8B62B21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6507A0-C8CD-5445-9AEE-B23C377C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908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B906-B07C-7D41-AC4D-750B959C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D5779-8D81-7849-8E67-83ECBF60F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AA4F1-7B19-0240-B7F8-1BDF7D63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7A88B-F2DD-3743-8F57-25E5E92043B0}" type="datetime1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14F5D-4D50-5A4A-91C9-B5B4F1451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2065B-EF6D-5B4A-8E62-EAFF67B71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0125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BE47D-172F-034A-8698-73581C856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A576A-13DD-034D-9029-CC506C79F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4F2D7-B746-2842-8F52-519E07CF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A15C4-E8CB-C04F-BC65-CB0837703214}" type="datetime1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E68B1-5017-E64D-9D8C-C1341A22E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262E6-3D1E-2D4B-B7BC-0A7197BAA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4992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4806B-ED8B-CC4E-A51A-6CDCADC9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99E7B-D87E-CA4D-A578-EBDC0C47E8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F5550-A328-154E-8FA0-3793746FBC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4ED10-64BB-9144-9B71-07151AB5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89F18-38DA-0947-9593-25D4010703FB}" type="datetime1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A7A753-FB3D-094E-A536-0484A8BE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AA6079-FE42-C140-9B28-ED67471AE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708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784D0-75F5-CD41-9AEF-CB198A0D9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D959F-E739-F542-8EBA-7BBF7E5A3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65DF34-2D6B-454C-BFDA-F81C29E782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58768-2FB0-D847-83EE-654C76812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27B69-16F8-C048-9335-D0E599CA2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E98362-01EA-604E-BA80-BC012B7FA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A19EE-DABD-FF45-9B3D-868C2008B2F5}" type="datetime1">
              <a:rPr lang="en-US" smtClean="0"/>
              <a:t>3/24/2025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58B9EA-23BB-BD43-AE55-BD94F3A70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7FEF2B-07B5-9C42-B58D-B5FF51C4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097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CC87-431B-E24A-86AB-554B550FA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6090D8-3391-5741-87F5-2BCDB8997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58DD7-86D3-9543-A3F5-DCAC5C3EC996}" type="datetime1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09D265-B6E2-2540-8068-45F6C7B8A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A30A8C-D91D-2A49-8733-39D5374D6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768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29DEDE-71EE-4448-AE52-7A3240E24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8251-72EC-7341-947D-39CD70D3F6EE}" type="datetime1">
              <a:rPr lang="en-US" smtClean="0"/>
              <a:t>3/24/2025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1F8A0A-B7DA-2E41-ADC9-3BA00052C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CDFF72-3DFA-5443-B19A-D882B4A1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6097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B2A5-8463-0E45-B968-09BB46EEE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2249-8B24-044B-B428-FDF5326942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5850F-41D2-C244-BE67-588A22885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A0BA6-7607-1841-ADE7-A7EE86263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151BF-94DA-6647-804B-F9A617163AF7}" type="datetime1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E0F34D-E7B8-8F4E-B279-A9B4F799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03CD8-B992-1746-AD26-32A76C362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867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8A51-10EF-1E4E-B3AE-97D9690F5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7A29CC-C524-664A-B04C-24A0F0002B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77383-80F2-974A-95B0-54EE043F0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4A7CE-0B2C-F846-AE0D-E9A65F195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5CF65-8B95-E947-B306-AD8B9AFCD0C6}" type="datetime1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00DF7-CAE7-4544-99A8-D2AFF7BC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AF912A-35AA-5340-A6DD-8CF8567AE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0032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B558E-261E-0D48-AAEC-0159545C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54A8B-8EB9-5C42-9CFC-A1CD5690D0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FD7EA-1D89-9B45-8E3B-F3D971FCC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326F1-4A6C-904D-BBF5-55A97190C62E}" type="datetime1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02F157-B4BF-0D4E-B227-367844B9F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EC4DCA-8C92-2F4C-A77F-2E1AE3CFF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3632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138E10-25D9-0841-B84C-B3D5BD26B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76578-CBA7-4146-881E-E79B34110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4126B-1DBB-F445-849E-8DB3041D5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2DA29-4527-5B4B-81DE-1DA58A1FF0D8}" type="datetime1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0BA6C-D326-CC45-B516-B35C216BC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96C6D-88A9-424F-B97B-5F788E3BD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43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646272"/>
            <a:ext cx="9144001" cy="220605"/>
          </a:xfrm>
          <a:prstGeom prst="rect">
            <a:avLst/>
          </a:prstGeom>
          <a:solidFill>
            <a:srgbClr val="0A4B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604458"/>
            <a:ext cx="9144001" cy="45719"/>
          </a:xfrm>
          <a:prstGeom prst="rect">
            <a:avLst/>
          </a:prstGeom>
          <a:solidFill>
            <a:srgbClr val="84C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6304" y="115826"/>
            <a:ext cx="8851392" cy="1292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5" y="1441107"/>
            <a:ext cx="8851392" cy="513026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646272"/>
            <a:ext cx="18542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446D974-CBC7-EE4D-B60D-B7706E54EFC8}" type="datetime1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646272"/>
            <a:ext cx="3617103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cap="none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646272"/>
            <a:ext cx="984019" cy="187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1">
                <a:solidFill>
                  <a:schemeClr val="bg1"/>
                </a:solidFill>
              </a:defRPr>
            </a:lvl1pPr>
          </a:lstStyle>
          <a:p>
            <a:fld id="{9C8A9BBF-D171-497A-B4A2-0767A13C45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09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689" r:id="rId21"/>
  </p:sldLayoutIdLst>
  <p:hf hdr="0" ft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400" b="0" kern="1200" spc="-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74320" algn="justLow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731520" indent="-274320" algn="justLow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91440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97280" indent="-27432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F2B942-B92A-2E45-8EC0-57867F6F0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A5CF6-438F-FE41-AE0D-B759171B0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DD81B-544C-D244-83E4-4E486AE7E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89413-073D-8B47-B309-030A36FC1175}" type="datetime1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8B353-9F5D-7C4C-9D19-B7C6D6F6A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C5F08-BBA1-684A-BFC9-EF43E5A8A4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5DC26-60E4-8E43-A906-D21F6116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71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F092033-53A0-4557-BC8C-EDF7C4004F5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schemeClr val="tx1"/>
                </a:solidFill>
              </a:rPr>
              <a:t>Chapter  2.9</a:t>
            </a:r>
            <a:br>
              <a:rPr lang="en-US" altLang="en-US" b="1">
                <a:solidFill>
                  <a:schemeClr val="tx1"/>
                </a:solidFill>
                <a:cs typeface="Calibri Light"/>
              </a:rPr>
            </a:br>
            <a:r>
              <a:rPr lang="en-US" altLang="en-US" b="1">
                <a:solidFill>
                  <a:schemeClr val="tx1"/>
                </a:solidFill>
              </a:rPr>
              <a:t>Creating High-Quality Code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4099" name="Subtitle 3">
            <a:extLst>
              <a:ext uri="{FF2B5EF4-FFF2-40B4-BE49-F238E27FC236}">
                <a16:creationId xmlns:a16="http://schemas.microsoft.com/office/drawing/2014/main" id="{B6B8808F-B611-4A7E-94DA-CDF020C7794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E96A2"/>
                </a:solidFill>
              </a:rPr>
              <a:t>CCSW 325 (Software Construction)</a:t>
            </a:r>
          </a:p>
        </p:txBody>
      </p:sp>
      <p:sp>
        <p:nvSpPr>
          <p:cNvPr id="4101" name="Rectangle 6">
            <a:extLst>
              <a:ext uri="{FF2B5EF4-FFF2-40B4-BE49-F238E27FC236}">
                <a16:creationId xmlns:a16="http://schemas.microsoft.com/office/drawing/2014/main" id="{AEE57C53-6C77-4FD6-9666-64A46DD29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763" y="20574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2" name="Rectangle 1029">
            <a:extLst>
              <a:ext uri="{FF2B5EF4-FFF2-40B4-BE49-F238E27FC236}">
                <a16:creationId xmlns:a16="http://schemas.microsoft.com/office/drawing/2014/main" id="{94F01EDA-3993-4F5B-8338-A155D7163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050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103" name="Rectangle 1031">
            <a:extLst>
              <a:ext uri="{FF2B5EF4-FFF2-40B4-BE49-F238E27FC236}">
                <a16:creationId xmlns:a16="http://schemas.microsoft.com/office/drawing/2014/main" id="{D4B57B18-3F97-4D1E-AA13-041A7DDAE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637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F2176-6175-6A4D-84ED-59A2EE053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A9BBF-D171-497A-B4A2-0767A13C4597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US" sz="4400" b="1" dirty="0">
                <a:solidFill>
                  <a:schemeClr val="tx1"/>
                </a:solidFill>
                <a:latin typeface="+mn-lt"/>
              </a:rPr>
              <a:t>Outline</a:t>
            </a:r>
            <a:endParaRPr lang="en-US" sz="4400" b="1" dirty="0">
              <a:solidFill>
                <a:schemeClr val="tx1"/>
              </a:solidFill>
              <a:latin typeface="+mn-lt"/>
              <a:ea typeface="+mj-ea"/>
              <a:cs typeface="+mj-cs"/>
            </a:endParaRPr>
          </a:p>
        </p:txBody>
      </p:sp>
      <p:sp>
        <p:nvSpPr>
          <p:cNvPr id="9219" name="Content Placeholder 6"/>
          <p:cNvSpPr>
            <a:spLocks noGrp="1"/>
          </p:cNvSpPr>
          <p:nvPr>
            <p:ph sz="half" idx="1"/>
          </p:nvPr>
        </p:nvSpPr>
        <p:spPr>
          <a:xfrm>
            <a:off x="400547" y="1597255"/>
            <a:ext cx="7889837" cy="4454055"/>
          </a:xfrm>
        </p:spPr>
        <p:txBody>
          <a:bodyPr vert="horz" lIns="0" tIns="45720" rIns="0" bIns="45720" rtlCol="0" anchor="t">
            <a:normAutofit/>
          </a:bodyPr>
          <a:lstStyle/>
          <a:p>
            <a:endParaRPr lang="en-US" sz="2400" dirty="0">
              <a:solidFill>
                <a:srgbClr val="84CDEA"/>
              </a:solidFill>
              <a:cs typeface="Calibri"/>
            </a:endParaRPr>
          </a:p>
          <a:p>
            <a:pPr lvl="1">
              <a:buClr>
                <a:srgbClr val="99CB38"/>
              </a:buClr>
            </a:pPr>
            <a:endParaRPr lang="en-US" sz="2000" dirty="0">
              <a:solidFill>
                <a:srgbClr val="404040"/>
              </a:solidFill>
              <a:cs typeface="Calibri"/>
            </a:endParaRPr>
          </a:p>
          <a:p>
            <a:pPr lvl="1">
              <a:buClr>
                <a:srgbClr val="99CB38"/>
              </a:buClr>
            </a:pPr>
            <a:endParaRPr lang="en-US" sz="2000" dirty="0">
              <a:solidFill>
                <a:srgbClr val="404040"/>
              </a:solidFill>
              <a:cs typeface="Calibri"/>
            </a:endParaRPr>
          </a:p>
          <a:p>
            <a:pPr marL="91440" indent="0">
              <a:buNone/>
            </a:pPr>
            <a:endParaRPr lang="en-US" sz="2400" dirty="0">
              <a:solidFill>
                <a:srgbClr val="84CDEA"/>
              </a:solidFill>
              <a:cs typeface="Calibri"/>
            </a:endParaRPr>
          </a:p>
          <a:p>
            <a:pPr marL="91440" indent="0">
              <a:buNone/>
            </a:pPr>
            <a:endParaRPr lang="en-US" sz="2400" dirty="0">
              <a:cs typeface="Calibri"/>
            </a:endParaRPr>
          </a:p>
          <a:p>
            <a:endParaRPr lang="en-US" sz="2400" dirty="0">
              <a:cs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2</a:t>
            </a:fld>
            <a:endParaRPr lang="en-US" sz="700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882C841F-83CC-6554-A418-8F76BA16BB81}"/>
              </a:ext>
            </a:extLst>
          </p:cNvPr>
          <p:cNvSpPr txBox="1">
            <a:spLocks/>
          </p:cNvSpPr>
          <p:nvPr/>
        </p:nvSpPr>
        <p:spPr>
          <a:xfrm>
            <a:off x="400547" y="1234281"/>
            <a:ext cx="8622683" cy="438943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High Quality Routines (Part 3 of 3)</a:t>
            </a:r>
          </a:p>
          <a:p>
            <a:pPr lvl="1">
              <a:buClr>
                <a:srgbClr val="0070C0"/>
              </a:buClr>
            </a:pPr>
            <a:r>
              <a:rPr lang="en-US" dirty="0"/>
              <a:t>Design at the Routine Level</a:t>
            </a:r>
          </a:p>
        </p:txBody>
      </p:sp>
    </p:spTree>
    <p:extLst>
      <p:ext uri="{BB962C8B-B14F-4D97-AF65-F5344CB8AC3E}">
        <p14:creationId xmlns:p14="http://schemas.microsoft.com/office/powerpoint/2010/main" val="3785103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US" b="1" dirty="0">
                <a:solidFill>
                  <a:schemeClr val="tx1"/>
                </a:solidFill>
                <a:latin typeface="+mn-lt"/>
              </a:rPr>
              <a:t>Design at the Routine Level</a:t>
            </a:r>
            <a:endParaRPr lang="en-US" sz="4400" b="1" dirty="0">
              <a:solidFill>
                <a:schemeClr val="tx1"/>
              </a:solidFill>
              <a:latin typeface="+mn-lt"/>
              <a:ea typeface="+mj-ea"/>
              <a:cs typeface="+mj-cs"/>
            </a:endParaRP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D82E0FC7-5721-BD56-4EB3-117337753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3</a:t>
            </a:fld>
            <a:endParaRPr lang="en-US" sz="70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32582F9B-49DC-FCC3-7BAD-43AEF26CD024}"/>
              </a:ext>
            </a:extLst>
          </p:cNvPr>
          <p:cNvSpPr txBox="1"/>
          <p:nvPr/>
        </p:nvSpPr>
        <p:spPr>
          <a:xfrm>
            <a:off x="995603" y="2553318"/>
            <a:ext cx="3132137" cy="838200"/>
          </a:xfrm>
          <a:prstGeom prst="rect">
            <a:avLst/>
          </a:prstGeom>
          <a:solidFill>
            <a:srgbClr val="FFF2CC"/>
          </a:solidFill>
        </p:spPr>
        <p:txBody>
          <a:bodyPr lIns="0" tIns="6985" rIns="0" bIns="0">
            <a:spAutoFit/>
          </a:bodyPr>
          <a:lstStyle/>
          <a:p>
            <a:pPr marL="91440">
              <a:spcBef>
                <a:spcPts val="55"/>
              </a:spcBef>
              <a:defRPr/>
            </a:pPr>
            <a:r>
              <a:rPr sz="5400" spc="-5" dirty="0">
                <a:latin typeface="Carlito"/>
                <a:cs typeface="Carlito"/>
              </a:rPr>
              <a:t>Cohesion</a:t>
            </a:r>
            <a:endParaRPr sz="5400" dirty="0">
              <a:latin typeface="Carlito"/>
              <a:cs typeface="Carlito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5D4B1534-3602-CB7E-B42E-C15EC054E7C3}"/>
              </a:ext>
            </a:extLst>
          </p:cNvPr>
          <p:cNvSpPr txBox="1"/>
          <p:nvPr/>
        </p:nvSpPr>
        <p:spPr>
          <a:xfrm>
            <a:off x="5423140" y="2553318"/>
            <a:ext cx="2838450" cy="838200"/>
          </a:xfrm>
          <a:prstGeom prst="rect">
            <a:avLst/>
          </a:prstGeom>
          <a:solidFill>
            <a:srgbClr val="FFF2CC"/>
          </a:solidFill>
        </p:spPr>
        <p:txBody>
          <a:bodyPr lIns="0" tIns="6985" rIns="0" bIns="0">
            <a:spAutoFit/>
          </a:bodyPr>
          <a:lstStyle/>
          <a:p>
            <a:pPr marL="91440">
              <a:spcBef>
                <a:spcPts val="55"/>
              </a:spcBef>
              <a:defRPr/>
            </a:pPr>
            <a:r>
              <a:rPr sz="5400" spc="-5" dirty="0">
                <a:latin typeface="Carlito"/>
                <a:cs typeface="Carlito"/>
              </a:rPr>
              <a:t>Coupling</a:t>
            </a:r>
            <a:endParaRPr sz="5400" dirty="0">
              <a:latin typeface="Carlito"/>
              <a:cs typeface="Carlito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973C07EF-C9C0-7803-5979-D26C677ED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5140" y="3496293"/>
            <a:ext cx="2870200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26670" rIns="0" bIns="0">
            <a:spAutoFit/>
          </a:bodyPr>
          <a:lstStyle/>
          <a:p>
            <a:pPr marL="193675" indent="-182563">
              <a:lnSpc>
                <a:spcPts val="2113"/>
              </a:lnSpc>
              <a:spcBef>
                <a:spcPts val="213"/>
              </a:spcBef>
            </a:pPr>
            <a:r>
              <a:rPr lang="en-US">
                <a:latin typeface="Carlito"/>
                <a:ea typeface="Carlito"/>
                <a:cs typeface="Carlito"/>
              </a:rPr>
              <a:t>how closely the operations  in a routine are related</a:t>
            </a: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DEA74BD8-8F6B-2E7D-35E0-D6B2F7BF0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9340" y="3496293"/>
            <a:ext cx="2679700" cy="56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26670" rIns="0" bIns="0">
            <a:spAutoFit/>
          </a:bodyPr>
          <a:lstStyle/>
          <a:p>
            <a:pPr marL="765175" indent="-754063">
              <a:lnSpc>
                <a:spcPts val="2113"/>
              </a:lnSpc>
              <a:spcBef>
                <a:spcPts val="213"/>
              </a:spcBef>
            </a:pPr>
            <a:r>
              <a:rPr lang="en-US">
                <a:latin typeface="Carlito"/>
                <a:ea typeface="Carlito"/>
                <a:cs typeface="Carlito"/>
              </a:rPr>
              <a:t>the relationships between  functions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83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  <a:t>Design at the Routine Level: </a:t>
            </a:r>
            <a:r>
              <a:rPr lang="en-US" sz="4400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  <a:t>Cohesion</a:t>
            </a:r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70A3CE7C-0372-9AA0-AABB-84D29E5B1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4</a:t>
            </a:fld>
            <a:endParaRPr lang="en-US" sz="70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022B4A5F-3AA9-9711-ECCE-1102B2A16F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5639" y="1728098"/>
            <a:ext cx="3886200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254000" rIns="0" bIns="0">
            <a:spAutoFit/>
          </a:bodyPr>
          <a:lstStyle/>
          <a:p>
            <a:pPr algn="ctr">
              <a:spcBef>
                <a:spcPts val="2000"/>
              </a:spcBef>
            </a:pPr>
            <a:r>
              <a:rPr lang="en-US" sz="4000" dirty="0">
                <a:latin typeface="DejaVu Sans Mono"/>
                <a:ea typeface="DejaVu Sans Mono"/>
                <a:cs typeface="DejaVu Sans Mono"/>
              </a:rPr>
              <a:t>Cosine()</a:t>
            </a:r>
          </a:p>
          <a:p>
            <a:pPr algn="ctr">
              <a:spcBef>
                <a:spcPts val="850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A function like </a:t>
            </a:r>
            <a:r>
              <a:rPr lang="en-US" i="1" dirty="0">
                <a:latin typeface="Carlito"/>
                <a:ea typeface="Carlito"/>
                <a:cs typeface="Carlito"/>
              </a:rPr>
              <a:t>Cosine() </a:t>
            </a:r>
            <a:r>
              <a:rPr lang="en-US" dirty="0">
                <a:latin typeface="Carlito"/>
                <a:ea typeface="Carlito"/>
                <a:cs typeface="Carlito"/>
              </a:rPr>
              <a:t>is perfectly cohesive  because the whole routine is dedicated to performing one function.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14C40577-10FA-7DE6-EBD4-7F11D48C6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8574" y="1728098"/>
            <a:ext cx="4497387" cy="209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254000" rIns="0" bIns="0">
            <a:spAutoFit/>
          </a:bodyPr>
          <a:lstStyle/>
          <a:p>
            <a:pPr algn="ctr">
              <a:spcBef>
                <a:spcPts val="2000"/>
              </a:spcBef>
            </a:pPr>
            <a:r>
              <a:rPr lang="en-US" sz="4000" dirty="0" err="1">
                <a:latin typeface="DejaVu Sans Mono"/>
                <a:ea typeface="DejaVu Sans Mono"/>
                <a:cs typeface="DejaVu Sans Mono"/>
              </a:rPr>
              <a:t>CosineAndTan</a:t>
            </a:r>
            <a:r>
              <a:rPr lang="en-US" sz="4000" dirty="0">
                <a:latin typeface="DejaVu Sans Mono"/>
                <a:ea typeface="DejaVu Sans Mono"/>
                <a:cs typeface="DejaVu Sans Mono"/>
              </a:rPr>
              <a:t>()</a:t>
            </a:r>
          </a:p>
          <a:p>
            <a:pPr algn="ctr">
              <a:spcBef>
                <a:spcPts val="850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A function like </a:t>
            </a:r>
            <a:r>
              <a:rPr lang="en-US" dirty="0" err="1">
                <a:latin typeface="Carlito"/>
                <a:ea typeface="Carlito"/>
                <a:cs typeface="Carlito"/>
              </a:rPr>
              <a:t>CosineAndTan</a:t>
            </a:r>
            <a:r>
              <a:rPr lang="en-US" dirty="0">
                <a:latin typeface="Carlito"/>
                <a:ea typeface="Carlito"/>
                <a:cs typeface="Carlito"/>
              </a:rPr>
              <a:t>() has lower cohesion  because it tries to do more than one thing. The  goal is to have each routine do one thing well and not do anything else.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2E2C49C0-32AC-66BE-2620-BBA6C3A7F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724" y="4106173"/>
            <a:ext cx="3817937" cy="1878013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lIns="0" tIns="31750" rIns="0" bIns="0">
            <a:spAutoFit/>
          </a:bodyPr>
          <a:lstStyle/>
          <a:p>
            <a:pPr marL="90488">
              <a:spcBef>
                <a:spcPts val="250"/>
              </a:spcBef>
            </a:pPr>
            <a:r>
              <a:rPr lang="en-US" sz="2000">
                <a:latin typeface="Carlito"/>
                <a:ea typeface="Carlito"/>
                <a:cs typeface="Carlito"/>
              </a:rPr>
              <a:t>One study of 450 routines found that 50  percent of the highly cohesive routines  were fault free, whereas only 18 percent  of routines with low cohesion were fault  free </a:t>
            </a:r>
            <a:r>
              <a:rPr lang="en-US" sz="1400">
                <a:latin typeface="Carlito"/>
                <a:ea typeface="Carlito"/>
                <a:cs typeface="Carlito"/>
              </a:rPr>
              <a:t>(Card, Church, and Agresti1986)</a:t>
            </a: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85D225A2-F964-201E-CB6D-9CCA54854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2686" y="4106173"/>
            <a:ext cx="4613275" cy="1878719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wrap="square" lIns="0" tIns="31750" rIns="0" bIns="0">
            <a:spAutoFit/>
          </a:bodyPr>
          <a:lstStyle/>
          <a:p>
            <a:pPr marL="90488">
              <a:spcBef>
                <a:spcPts val="250"/>
              </a:spcBef>
            </a:pPr>
            <a:r>
              <a:rPr lang="en-US" sz="2000" dirty="0">
                <a:latin typeface="Carlito"/>
                <a:ea typeface="Carlito"/>
                <a:cs typeface="Carlito"/>
              </a:rPr>
              <a:t>Another study of a different 450 routines found that routines with the highest coupling-to-cohesion ratios had 7 times as  many errors as those with the lowest coupling-to- cohesion ratios and were 20 times as costly to fix </a:t>
            </a:r>
            <a:r>
              <a:rPr lang="en-US" sz="1400" dirty="0">
                <a:latin typeface="Carlito"/>
                <a:ea typeface="Carlito"/>
                <a:cs typeface="Carlito"/>
              </a:rPr>
              <a:t>(Selby and Basili1991)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44B64052-93EF-B501-7D55-86EE5FAED660}"/>
              </a:ext>
            </a:extLst>
          </p:cNvPr>
          <p:cNvSpPr txBox="1">
            <a:spLocks/>
          </p:cNvSpPr>
          <p:nvPr/>
        </p:nvSpPr>
        <p:spPr>
          <a:xfrm>
            <a:off x="-336430" y="557563"/>
            <a:ext cx="9102725" cy="839845"/>
          </a:xfrm>
          <a:prstGeom prst="rect">
            <a:avLst/>
          </a:prstGeom>
        </p:spPr>
        <p:txBody>
          <a:bodyPr vert="horz" wrap="square" lIns="91440" tIns="84455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b="0" kern="1200" spc="-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76910">
              <a:spcBef>
                <a:spcPts val="665"/>
              </a:spcBef>
              <a:defRPr/>
            </a:pPr>
            <a:br>
              <a:rPr lang="en-US" sz="1800" dirty="0">
                <a:solidFill>
                  <a:schemeClr val="tx1"/>
                </a:solidFill>
                <a:latin typeface="Carlito"/>
                <a:cs typeface="Carlito"/>
              </a:rPr>
            </a:br>
            <a:r>
              <a:rPr lang="en-US" sz="1800" i="1" spc="-5" dirty="0">
                <a:solidFill>
                  <a:schemeClr val="tx1"/>
                </a:solidFill>
                <a:latin typeface="Carlito"/>
                <a:cs typeface="Carlito"/>
              </a:rPr>
              <a:t>Some programmers </a:t>
            </a:r>
            <a:r>
              <a:rPr lang="en-US" sz="1800" i="1" spc="-10" dirty="0">
                <a:solidFill>
                  <a:schemeClr val="tx1"/>
                </a:solidFill>
                <a:latin typeface="Carlito"/>
                <a:cs typeface="Carlito"/>
              </a:rPr>
              <a:t>prefer </a:t>
            </a:r>
            <a:r>
              <a:rPr lang="en-US" sz="1800" i="1" spc="-5" dirty="0">
                <a:solidFill>
                  <a:schemeClr val="tx1"/>
                </a:solidFill>
                <a:latin typeface="Carlito"/>
                <a:cs typeface="Carlito"/>
              </a:rPr>
              <a:t>the </a:t>
            </a:r>
            <a:r>
              <a:rPr lang="en-US" sz="1800" i="1" spc="-10" dirty="0">
                <a:solidFill>
                  <a:schemeClr val="tx1"/>
                </a:solidFill>
                <a:latin typeface="Carlito"/>
                <a:cs typeface="Carlito"/>
              </a:rPr>
              <a:t>term “strength”; </a:t>
            </a:r>
            <a:r>
              <a:rPr lang="en-US" sz="1800" i="1" spc="-5" dirty="0">
                <a:solidFill>
                  <a:schemeClr val="tx1"/>
                </a:solidFill>
                <a:latin typeface="Carlito"/>
                <a:cs typeface="Carlito"/>
              </a:rPr>
              <a:t>how strongly related are the operations in </a:t>
            </a:r>
            <a:r>
              <a:rPr lang="en-US" sz="1800" i="1" dirty="0">
                <a:solidFill>
                  <a:schemeClr val="tx1"/>
                </a:solidFill>
                <a:latin typeface="Carlito"/>
                <a:cs typeface="Carlito"/>
              </a:rPr>
              <a:t>a</a:t>
            </a:r>
            <a:r>
              <a:rPr lang="en-US" sz="1800" i="1" spc="254" dirty="0">
                <a:solidFill>
                  <a:schemeClr val="tx1"/>
                </a:solidFill>
                <a:latin typeface="Carlito"/>
                <a:cs typeface="Carlito"/>
              </a:rPr>
              <a:t> </a:t>
            </a:r>
            <a:r>
              <a:rPr lang="en-US" sz="1800" i="1" spc="-5" dirty="0">
                <a:solidFill>
                  <a:schemeClr val="tx1"/>
                </a:solidFill>
                <a:latin typeface="Carlito"/>
                <a:cs typeface="Carlito"/>
              </a:rPr>
              <a:t>routine</a:t>
            </a:r>
            <a:endParaRPr lang="en-US" sz="1800" dirty="0">
              <a:solidFill>
                <a:schemeClr val="tx1"/>
              </a:solidFill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076553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 fontScale="90000"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  <a:t>Design at the Routine Level: </a:t>
            </a:r>
            <a:r>
              <a:rPr lang="en-US" sz="4000" dirty="0">
                <a:solidFill>
                  <a:schemeClr val="tx1"/>
                </a:solidFill>
                <a:latin typeface="+mn-lt"/>
                <a:ea typeface="+mj-ea"/>
                <a:cs typeface="+mj-cs"/>
              </a:rPr>
              <a:t>Desired Cohesion</a:t>
            </a:r>
            <a:endParaRPr lang="en-US" sz="4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5</a:t>
            </a:fld>
            <a:endParaRPr lang="en-US" sz="70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392A2301-DEDE-7035-0074-9A61531A200A}"/>
              </a:ext>
            </a:extLst>
          </p:cNvPr>
          <p:cNvSpPr txBox="1"/>
          <p:nvPr/>
        </p:nvSpPr>
        <p:spPr>
          <a:xfrm>
            <a:off x="2247900" y="1532297"/>
            <a:ext cx="4648200" cy="573087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0" tIns="19050" rIns="0" bIns="0">
            <a:spAutoFit/>
          </a:bodyPr>
          <a:lstStyle/>
          <a:p>
            <a:pPr marL="90805">
              <a:spcBef>
                <a:spcPts val="150"/>
              </a:spcBef>
              <a:defRPr/>
            </a:pPr>
            <a:r>
              <a:rPr sz="3600" b="1" dirty="0">
                <a:solidFill>
                  <a:srgbClr val="C00000"/>
                </a:solidFill>
                <a:latin typeface="Carlito"/>
                <a:cs typeface="Carlito"/>
              </a:rPr>
              <a:t>Functional</a:t>
            </a:r>
            <a:r>
              <a:rPr sz="3600" b="1" spc="-3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3600" b="1" spc="-5" dirty="0">
                <a:solidFill>
                  <a:srgbClr val="C00000"/>
                </a:solidFill>
                <a:latin typeface="Carlito"/>
                <a:cs typeface="Carlito"/>
              </a:rPr>
              <a:t>Cohesion</a:t>
            </a:r>
            <a:endParaRPr sz="3600" dirty="0">
              <a:latin typeface="Carlito"/>
              <a:cs typeface="Carlito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A798ABF0-59FE-3542-65D1-8594DC6F67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7300" y="2200634"/>
            <a:ext cx="6400800" cy="836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28575" rIns="0" bIns="0">
            <a:spAutoFit/>
          </a:bodyPr>
          <a:lstStyle/>
          <a:p>
            <a:pPr marL="12700" algn="ctr">
              <a:lnSpc>
                <a:spcPts val="2088"/>
              </a:lnSpc>
              <a:spcBef>
                <a:spcPts val="225"/>
              </a:spcBef>
            </a:pPr>
            <a:r>
              <a:rPr lang="en-US" i="1" dirty="0">
                <a:latin typeface="Carlito"/>
                <a:ea typeface="Carlito"/>
                <a:cs typeface="Carlito"/>
              </a:rPr>
              <a:t>Functional cohesion is the strongest and best kind of cohesion,  occurring when a routine </a:t>
            </a:r>
            <a:r>
              <a:rPr lang="en-US" b="1" i="1" dirty="0">
                <a:latin typeface="Carlito"/>
                <a:ea typeface="Carlito"/>
                <a:cs typeface="Carlito"/>
              </a:rPr>
              <a:t>performs one and only one operation</a:t>
            </a:r>
            <a:endParaRPr lang="en-US" b="1" dirty="0">
              <a:latin typeface="Carlito"/>
              <a:ea typeface="Carlito"/>
              <a:cs typeface="Carlito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4243C11C-D2D1-A416-1A1C-A8D6AAF28E75}"/>
              </a:ext>
            </a:extLst>
          </p:cNvPr>
          <p:cNvSpPr txBox="1"/>
          <p:nvPr/>
        </p:nvSpPr>
        <p:spPr>
          <a:xfrm>
            <a:off x="2171700" y="3257909"/>
            <a:ext cx="5102225" cy="1939925"/>
          </a:xfrm>
          <a:prstGeom prst="rect">
            <a:avLst/>
          </a:prstGeom>
          <a:solidFill>
            <a:srgbClr val="FFF2CC"/>
          </a:solidFill>
        </p:spPr>
        <p:txBody>
          <a:bodyPr lIns="0" tIns="33655" rIns="0" bIns="0">
            <a:spAutoFit/>
          </a:bodyPr>
          <a:lstStyle/>
          <a:p>
            <a:pPr marL="377190" indent="-286385">
              <a:lnSpc>
                <a:spcPts val="2125"/>
              </a:lnSpc>
              <a:spcBef>
                <a:spcPts val="265"/>
              </a:spcBef>
              <a:buFont typeface="Arial"/>
              <a:buChar char="•"/>
              <a:tabLst>
                <a:tab pos="376555" algn="l"/>
                <a:tab pos="377190" algn="l"/>
              </a:tabLst>
              <a:defRPr/>
            </a:pPr>
            <a:r>
              <a:rPr spc="-5" dirty="0">
                <a:latin typeface="Carlito"/>
                <a:cs typeface="Carlito"/>
              </a:rPr>
              <a:t>Compute Cosine </a:t>
            </a:r>
            <a:r>
              <a:rPr dirty="0">
                <a:latin typeface="Carlito"/>
                <a:cs typeface="Carlito"/>
              </a:rPr>
              <a:t>of</a:t>
            </a:r>
            <a:r>
              <a:rPr spc="30" dirty="0">
                <a:latin typeface="Carlito"/>
                <a:cs typeface="Carlito"/>
              </a:rPr>
              <a:t> </a:t>
            </a:r>
            <a:r>
              <a:rPr spc="-5" dirty="0">
                <a:latin typeface="Carlito"/>
                <a:cs typeface="Carlito"/>
              </a:rPr>
              <a:t>Angle</a:t>
            </a:r>
            <a:endParaRPr dirty="0">
              <a:latin typeface="Carlito"/>
              <a:cs typeface="Carlito"/>
            </a:endParaRPr>
          </a:p>
          <a:p>
            <a:pPr marL="377190" indent="-286385">
              <a:lnSpc>
                <a:spcPts val="2125"/>
              </a:lnSpc>
              <a:buFont typeface="Arial"/>
              <a:buChar char="•"/>
              <a:tabLst>
                <a:tab pos="376555" algn="l"/>
                <a:tab pos="377190" algn="l"/>
              </a:tabLst>
              <a:defRPr/>
            </a:pPr>
            <a:r>
              <a:rPr spc="-15" dirty="0">
                <a:latin typeface="Carlito"/>
                <a:cs typeface="Carlito"/>
              </a:rPr>
              <a:t>Verify </a:t>
            </a:r>
            <a:r>
              <a:rPr spc="-5" dirty="0">
                <a:latin typeface="Carlito"/>
                <a:cs typeface="Carlito"/>
              </a:rPr>
              <a:t>Alphabetic</a:t>
            </a:r>
            <a:r>
              <a:rPr spc="15" dirty="0">
                <a:latin typeface="Carlito"/>
                <a:cs typeface="Carlito"/>
              </a:rPr>
              <a:t> </a:t>
            </a:r>
            <a:r>
              <a:rPr spc="-20" dirty="0">
                <a:latin typeface="Carlito"/>
                <a:cs typeface="Carlito"/>
              </a:rPr>
              <a:t>Syntax</a:t>
            </a:r>
            <a:endParaRPr dirty="0">
              <a:latin typeface="Carlito"/>
              <a:cs typeface="Carlito"/>
            </a:endParaRPr>
          </a:p>
          <a:p>
            <a:pPr marL="377190" indent="-286385">
              <a:spcBef>
                <a:spcPts val="45"/>
              </a:spcBef>
              <a:buFont typeface="Arial"/>
              <a:buChar char="•"/>
              <a:tabLst>
                <a:tab pos="376555" algn="l"/>
                <a:tab pos="377190" algn="l"/>
              </a:tabLst>
              <a:defRPr/>
            </a:pPr>
            <a:r>
              <a:rPr spc="-10" dirty="0">
                <a:latin typeface="Carlito"/>
                <a:cs typeface="Carlito"/>
              </a:rPr>
              <a:t>Read </a:t>
            </a:r>
            <a:r>
              <a:rPr spc="-20" dirty="0">
                <a:latin typeface="Carlito"/>
                <a:cs typeface="Carlito"/>
              </a:rPr>
              <a:t>Transaction</a:t>
            </a:r>
            <a:r>
              <a:rPr spc="25" dirty="0">
                <a:latin typeface="Carlito"/>
                <a:cs typeface="Carlito"/>
              </a:rPr>
              <a:t> </a:t>
            </a:r>
            <a:r>
              <a:rPr spc="-15" dirty="0">
                <a:latin typeface="Carlito"/>
                <a:cs typeface="Carlito"/>
              </a:rPr>
              <a:t>Record</a:t>
            </a:r>
            <a:endParaRPr dirty="0">
              <a:latin typeface="Carlito"/>
              <a:cs typeface="Carlito"/>
            </a:endParaRPr>
          </a:p>
          <a:p>
            <a:pPr marL="377190" indent="-286385">
              <a:lnSpc>
                <a:spcPts val="2125"/>
              </a:lnSpc>
              <a:spcBef>
                <a:spcPts val="50"/>
              </a:spcBef>
              <a:buFont typeface="Arial"/>
              <a:buChar char="•"/>
              <a:tabLst>
                <a:tab pos="376555" algn="l"/>
                <a:tab pos="377190" algn="l"/>
              </a:tabLst>
              <a:defRPr/>
            </a:pPr>
            <a:r>
              <a:rPr spc="-5" dirty="0">
                <a:latin typeface="Carlito"/>
                <a:cs typeface="Carlito"/>
              </a:rPr>
              <a:t>Determine </a:t>
            </a:r>
            <a:r>
              <a:rPr spc="-10" dirty="0">
                <a:latin typeface="Carlito"/>
                <a:cs typeface="Carlito"/>
              </a:rPr>
              <a:t>Customer Mortgage</a:t>
            </a:r>
            <a:r>
              <a:rPr spc="20" dirty="0">
                <a:latin typeface="Carlito"/>
                <a:cs typeface="Carlito"/>
              </a:rPr>
              <a:t> </a:t>
            </a:r>
            <a:r>
              <a:rPr spc="-15" dirty="0">
                <a:latin typeface="Carlito"/>
                <a:cs typeface="Carlito"/>
              </a:rPr>
              <a:t>Repayment</a:t>
            </a:r>
            <a:endParaRPr dirty="0">
              <a:latin typeface="Carlito"/>
              <a:cs typeface="Carlito"/>
            </a:endParaRPr>
          </a:p>
          <a:p>
            <a:pPr marL="377190" indent="-286385">
              <a:lnSpc>
                <a:spcPts val="2125"/>
              </a:lnSpc>
              <a:buFont typeface="Arial"/>
              <a:buChar char="•"/>
              <a:tabLst>
                <a:tab pos="376555" algn="l"/>
                <a:tab pos="377190" algn="l"/>
              </a:tabLst>
              <a:defRPr/>
            </a:pPr>
            <a:r>
              <a:rPr spc="-5" dirty="0">
                <a:latin typeface="Carlito"/>
                <a:cs typeface="Carlito"/>
              </a:rPr>
              <a:t>Compute </a:t>
            </a:r>
            <a:r>
              <a:rPr spc="-15" dirty="0">
                <a:latin typeface="Carlito"/>
                <a:cs typeface="Carlito"/>
              </a:rPr>
              <a:t>Point </a:t>
            </a:r>
            <a:r>
              <a:rPr dirty="0">
                <a:latin typeface="Carlito"/>
                <a:cs typeface="Carlito"/>
              </a:rPr>
              <a:t>of </a:t>
            </a:r>
            <a:r>
              <a:rPr spc="-5" dirty="0">
                <a:latin typeface="Carlito"/>
                <a:cs typeface="Carlito"/>
              </a:rPr>
              <a:t>Impact </a:t>
            </a:r>
            <a:r>
              <a:rPr dirty="0">
                <a:latin typeface="Carlito"/>
                <a:cs typeface="Carlito"/>
              </a:rPr>
              <a:t>of</a:t>
            </a:r>
            <a:r>
              <a:rPr spc="30" dirty="0">
                <a:latin typeface="Carlito"/>
                <a:cs typeface="Carlito"/>
              </a:rPr>
              <a:t> </a:t>
            </a:r>
            <a:r>
              <a:rPr spc="-5" dirty="0">
                <a:latin typeface="Carlito"/>
                <a:cs typeface="Carlito"/>
              </a:rPr>
              <a:t>Missile</a:t>
            </a:r>
            <a:endParaRPr dirty="0">
              <a:latin typeface="Carlito"/>
              <a:cs typeface="Carlito"/>
            </a:endParaRPr>
          </a:p>
          <a:p>
            <a:pPr marL="377190" indent="-286385">
              <a:lnSpc>
                <a:spcPts val="2125"/>
              </a:lnSpc>
              <a:spcBef>
                <a:spcPts val="45"/>
              </a:spcBef>
              <a:buFont typeface="Arial"/>
              <a:buChar char="•"/>
              <a:tabLst>
                <a:tab pos="376555" algn="l"/>
                <a:tab pos="377190" algn="l"/>
              </a:tabLst>
              <a:defRPr/>
            </a:pPr>
            <a:r>
              <a:rPr spc="-10" dirty="0">
                <a:latin typeface="Carlito"/>
                <a:cs typeface="Carlito"/>
              </a:rPr>
              <a:t>Calculate </a:t>
            </a:r>
            <a:r>
              <a:rPr spc="-5" dirty="0">
                <a:latin typeface="Carlito"/>
                <a:cs typeface="Carlito"/>
              </a:rPr>
              <a:t>Net </a:t>
            </a:r>
            <a:r>
              <a:rPr spc="-10" dirty="0">
                <a:latin typeface="Carlito"/>
                <a:cs typeface="Carlito"/>
              </a:rPr>
              <a:t>Employee</a:t>
            </a:r>
            <a:r>
              <a:rPr spc="30" dirty="0">
                <a:latin typeface="Carlito"/>
                <a:cs typeface="Carlito"/>
              </a:rPr>
              <a:t> </a:t>
            </a:r>
            <a:r>
              <a:rPr spc="-5" dirty="0">
                <a:latin typeface="Carlito"/>
                <a:cs typeface="Carlito"/>
              </a:rPr>
              <a:t>Salary</a:t>
            </a:r>
            <a:endParaRPr dirty="0">
              <a:latin typeface="Carlito"/>
              <a:cs typeface="Carlito"/>
            </a:endParaRPr>
          </a:p>
          <a:p>
            <a:pPr marL="377190" indent="-286385">
              <a:lnSpc>
                <a:spcPts val="2125"/>
              </a:lnSpc>
              <a:buFont typeface="Arial"/>
              <a:buChar char="•"/>
              <a:tabLst>
                <a:tab pos="376555" algn="l"/>
                <a:tab pos="377190" algn="l"/>
              </a:tabLst>
              <a:defRPr/>
            </a:pPr>
            <a:r>
              <a:rPr spc="-5" dirty="0">
                <a:latin typeface="Carlito"/>
                <a:cs typeface="Carlito"/>
              </a:rPr>
              <a:t>Assign Seat </a:t>
            </a:r>
            <a:r>
              <a:rPr spc="-15" dirty="0">
                <a:latin typeface="Carlito"/>
                <a:cs typeface="Carlito"/>
              </a:rPr>
              <a:t>to </a:t>
            </a:r>
            <a:r>
              <a:rPr spc="-5" dirty="0">
                <a:latin typeface="Carlito"/>
                <a:cs typeface="Carlito"/>
              </a:rPr>
              <a:t>Airline</a:t>
            </a:r>
            <a:r>
              <a:rPr spc="40" dirty="0">
                <a:latin typeface="Carlito"/>
                <a:cs typeface="Carlito"/>
              </a:rPr>
              <a:t> </a:t>
            </a:r>
            <a:r>
              <a:rPr spc="-10" dirty="0">
                <a:latin typeface="Carlito"/>
                <a:cs typeface="Carlito"/>
              </a:rPr>
              <a:t>Customer</a:t>
            </a:r>
            <a:endParaRPr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4021999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Autofit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Design at the Routine Level: </a:t>
            </a:r>
            <a:r>
              <a:rPr lang="en-US" sz="3200" b="1" dirty="0">
                <a:solidFill>
                  <a:schemeClr val="tx1"/>
                </a:solidFill>
              </a:rPr>
              <a:t>Acceptable Cohesion</a:t>
            </a:r>
            <a:endParaRPr lang="en-US" sz="32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6</a:t>
            </a:fld>
            <a:endParaRPr lang="en-US" sz="7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DAE4BEC-C8C2-87B5-56BF-EE6F358F5271}"/>
              </a:ext>
            </a:extLst>
          </p:cNvPr>
          <p:cNvSpPr txBox="1"/>
          <p:nvPr/>
        </p:nvSpPr>
        <p:spPr>
          <a:xfrm>
            <a:off x="2270393" y="1502219"/>
            <a:ext cx="4724400" cy="573087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0" tIns="19050" rIns="0" bIns="0">
            <a:spAutoFit/>
          </a:bodyPr>
          <a:lstStyle/>
          <a:p>
            <a:pPr marL="90805">
              <a:spcBef>
                <a:spcPts val="150"/>
              </a:spcBef>
              <a:defRPr/>
            </a:pPr>
            <a:r>
              <a:rPr sz="3600" b="1" spc="-5" dirty="0">
                <a:solidFill>
                  <a:srgbClr val="C00000"/>
                </a:solidFill>
                <a:latin typeface="Carlito"/>
                <a:cs typeface="Carlito"/>
              </a:rPr>
              <a:t>Sequential</a:t>
            </a:r>
            <a:r>
              <a:rPr sz="3600" b="1" spc="-2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3600" b="1" spc="-5" dirty="0">
                <a:solidFill>
                  <a:srgbClr val="C00000"/>
                </a:solidFill>
                <a:latin typeface="Carlito"/>
                <a:cs typeface="Carlito"/>
              </a:rPr>
              <a:t>Cohesion</a:t>
            </a:r>
            <a:endParaRPr sz="3600" dirty="0">
              <a:latin typeface="Carlito"/>
              <a:cs typeface="Carli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0543064-BBB3-883C-F78F-F5051E405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474" y="2596871"/>
            <a:ext cx="8385175" cy="836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28575" rIns="0" bIns="0">
            <a:spAutoFit/>
          </a:bodyPr>
          <a:lstStyle/>
          <a:p>
            <a:pPr marL="706438" indent="-695325">
              <a:lnSpc>
                <a:spcPts val="2088"/>
              </a:lnSpc>
              <a:spcBef>
                <a:spcPts val="225"/>
              </a:spcBef>
            </a:pPr>
            <a:r>
              <a:rPr lang="en-US" i="1" dirty="0">
                <a:latin typeface="Carlito"/>
                <a:ea typeface="Carlito"/>
                <a:cs typeface="Carlito"/>
              </a:rPr>
              <a:t>Sequential cohesion exists when a routine contains operations </a:t>
            </a:r>
            <a:r>
              <a:rPr lang="en-US" b="1" i="1" dirty="0">
                <a:latin typeface="Carlito"/>
                <a:ea typeface="Carlito"/>
                <a:cs typeface="Carlito"/>
              </a:rPr>
              <a:t>that must be performed in a specific order</a:t>
            </a:r>
            <a:r>
              <a:rPr lang="en-US" i="1" dirty="0">
                <a:latin typeface="Carlito"/>
                <a:ea typeface="Carlito"/>
                <a:cs typeface="Carlito"/>
              </a:rPr>
              <a:t>, </a:t>
            </a:r>
            <a:r>
              <a:rPr lang="en-US" b="1" i="1" dirty="0">
                <a:latin typeface="Carlito"/>
                <a:ea typeface="Carlito"/>
                <a:cs typeface="Carlito"/>
              </a:rPr>
              <a:t>that</a:t>
            </a:r>
            <a:r>
              <a:rPr lang="en-US" i="1" dirty="0">
                <a:latin typeface="Carlito"/>
                <a:ea typeface="Carlito"/>
                <a:cs typeface="Carlito"/>
              </a:rPr>
              <a:t> </a:t>
            </a:r>
            <a:r>
              <a:rPr lang="en-US" b="1" i="1" dirty="0">
                <a:latin typeface="Carlito"/>
                <a:ea typeface="Carlito"/>
                <a:cs typeface="Carlito"/>
              </a:rPr>
              <a:t>share data from step to step</a:t>
            </a:r>
            <a:r>
              <a:rPr lang="en-US" i="1" dirty="0">
                <a:latin typeface="Carlito"/>
                <a:ea typeface="Carlito"/>
                <a:cs typeface="Carlito"/>
              </a:rPr>
              <a:t>, and that don’t make up a complete function when done together.</a:t>
            </a:r>
            <a:endParaRPr lang="en-US" dirty="0">
              <a:latin typeface="Carlito"/>
              <a:ea typeface="Carlito"/>
              <a:cs typeface="Carlito"/>
            </a:endParaRP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777007EC-F005-D19F-B9ED-4ACFDB709168}"/>
              </a:ext>
            </a:extLst>
          </p:cNvPr>
          <p:cNvSpPr txBox="1"/>
          <p:nvPr/>
        </p:nvSpPr>
        <p:spPr>
          <a:xfrm>
            <a:off x="80961" y="3793846"/>
            <a:ext cx="8990012" cy="757237"/>
          </a:xfrm>
          <a:prstGeom prst="rect">
            <a:avLst/>
          </a:prstGeom>
          <a:solidFill>
            <a:srgbClr val="FFF2CC"/>
          </a:solidFill>
        </p:spPr>
        <p:txBody>
          <a:bodyPr wrap="square" lIns="0" tIns="19050" rIns="0" bIns="0">
            <a:spAutoFit/>
          </a:bodyPr>
          <a:lstStyle/>
          <a:p>
            <a:pPr marL="91440">
              <a:spcBef>
                <a:spcPts val="150"/>
              </a:spcBef>
              <a:defRPr/>
            </a:pPr>
            <a:r>
              <a:rPr sz="2400" b="1" i="1" spc="-15" dirty="0">
                <a:latin typeface="Carlito"/>
                <a:cs typeface="Carlito"/>
              </a:rPr>
              <a:t>For </a:t>
            </a:r>
            <a:r>
              <a:rPr sz="2400" b="1" i="1" spc="-20" dirty="0">
                <a:latin typeface="Carlito"/>
                <a:cs typeface="Carlito"/>
              </a:rPr>
              <a:t>example</a:t>
            </a:r>
            <a:r>
              <a:rPr sz="2400" spc="-20" dirty="0">
                <a:latin typeface="Carlito"/>
                <a:cs typeface="Carlito"/>
              </a:rPr>
              <a:t>, </a:t>
            </a:r>
            <a:r>
              <a:rPr sz="2400" spc="-10" dirty="0">
                <a:latin typeface="Carlito"/>
                <a:cs typeface="Carlito"/>
              </a:rPr>
              <a:t>given </a:t>
            </a:r>
            <a:r>
              <a:rPr sz="2400" dirty="0">
                <a:latin typeface="Carlito"/>
                <a:cs typeface="Carlito"/>
              </a:rPr>
              <a:t>a </a:t>
            </a:r>
            <a:r>
              <a:rPr sz="2400" spc="-5" dirty="0">
                <a:latin typeface="Carlito"/>
                <a:cs typeface="Carlito"/>
              </a:rPr>
              <a:t>birth </a:t>
            </a:r>
            <a:r>
              <a:rPr sz="2400" spc="-10" dirty="0">
                <a:latin typeface="Carlito"/>
                <a:cs typeface="Carlito"/>
              </a:rPr>
              <a:t>date, calculates </a:t>
            </a:r>
            <a:r>
              <a:rPr sz="2400" dirty="0">
                <a:latin typeface="Carlito"/>
                <a:cs typeface="Carlito"/>
              </a:rPr>
              <a:t>an </a:t>
            </a:r>
            <a:r>
              <a:rPr sz="2400" spc="-20" dirty="0">
                <a:latin typeface="Carlito"/>
                <a:cs typeface="Carlito"/>
              </a:rPr>
              <a:t>employee’s </a:t>
            </a:r>
            <a:r>
              <a:rPr sz="2400" spc="-10" dirty="0">
                <a:latin typeface="Carlito"/>
                <a:cs typeface="Carlito"/>
              </a:rPr>
              <a:t>age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5" dirty="0">
                <a:latin typeface="Carlito"/>
                <a:cs typeface="Carlito"/>
              </a:rPr>
              <a:t>time </a:t>
            </a:r>
            <a:r>
              <a:rPr sz="2400" spc="-15" dirty="0">
                <a:latin typeface="Carlito"/>
                <a:cs typeface="Carlito"/>
              </a:rPr>
              <a:t>to</a:t>
            </a:r>
            <a:r>
              <a:rPr sz="2400" spc="5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retirement.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A402FA5E-26AB-649F-DFCA-D29E6F17F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049" y="4770158"/>
            <a:ext cx="8990012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26670" rIns="0" bIns="0">
            <a:spAutoFit/>
          </a:bodyPr>
          <a:lstStyle/>
          <a:p>
            <a:pPr marL="12700">
              <a:lnSpc>
                <a:spcPts val="2113"/>
              </a:lnSpc>
              <a:spcBef>
                <a:spcPts val="213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If the routine calculates the age and then uses that result to calculate the employee’s time to retirement, it has sequential cohesion.</a:t>
            </a:r>
          </a:p>
        </p:txBody>
      </p:sp>
    </p:spTree>
    <p:extLst>
      <p:ext uri="{BB962C8B-B14F-4D97-AF65-F5344CB8AC3E}">
        <p14:creationId xmlns:p14="http://schemas.microsoft.com/office/powerpoint/2010/main" val="1660404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 fontScale="90000"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Design at the Routine Level: </a:t>
            </a:r>
            <a:r>
              <a:rPr lang="en-US" sz="3600" b="1" dirty="0">
                <a:solidFill>
                  <a:schemeClr val="tx1"/>
                </a:solidFill>
              </a:rPr>
              <a:t>Acceptable Cohesion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4BBA3121-67D5-1836-B76D-301F92A86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7</a:t>
            </a:fld>
            <a:endParaRPr lang="en-US" sz="70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A30C0303-A98E-F74A-F073-2C77D5A29E20}"/>
              </a:ext>
            </a:extLst>
          </p:cNvPr>
          <p:cNvSpPr txBox="1"/>
          <p:nvPr/>
        </p:nvSpPr>
        <p:spPr>
          <a:xfrm>
            <a:off x="1373037" y="1269461"/>
            <a:ext cx="6172200" cy="573088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0" tIns="19050" rIns="0" bIns="0">
            <a:spAutoFit/>
          </a:bodyPr>
          <a:lstStyle/>
          <a:p>
            <a:pPr marL="90805">
              <a:spcBef>
                <a:spcPts val="150"/>
              </a:spcBef>
              <a:defRPr/>
            </a:pPr>
            <a:r>
              <a:rPr sz="3600" b="1" spc="-10" dirty="0">
                <a:solidFill>
                  <a:srgbClr val="C00000"/>
                </a:solidFill>
                <a:latin typeface="Carlito"/>
                <a:cs typeface="Carlito"/>
              </a:rPr>
              <a:t>Communicational </a:t>
            </a:r>
            <a:r>
              <a:rPr sz="3600" b="1" spc="-5" dirty="0">
                <a:solidFill>
                  <a:srgbClr val="C00000"/>
                </a:solidFill>
                <a:latin typeface="Carlito"/>
                <a:cs typeface="Carlito"/>
              </a:rPr>
              <a:t>Cohesion</a:t>
            </a:r>
            <a:endParaRPr sz="3600" dirty="0">
              <a:latin typeface="Carlito"/>
              <a:cs typeface="Carlito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90B1789F-F296-2A0F-CB9E-44983CEFE1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237" y="2016648"/>
            <a:ext cx="8763000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28575" rIns="0" bIns="0">
            <a:spAutoFit/>
          </a:bodyPr>
          <a:lstStyle/>
          <a:p>
            <a:pPr marL="3571875" indent="-3559175">
              <a:lnSpc>
                <a:spcPts val="2088"/>
              </a:lnSpc>
              <a:spcBef>
                <a:spcPts val="225"/>
              </a:spcBef>
            </a:pPr>
            <a:r>
              <a:rPr lang="en-US" i="1" dirty="0">
                <a:latin typeface="Carlito"/>
                <a:ea typeface="Carlito"/>
                <a:cs typeface="Carlito"/>
              </a:rPr>
              <a:t>Communicational cohesion occurs when operations in a routine </a:t>
            </a:r>
            <a:r>
              <a:rPr lang="en-US" b="1" i="1" dirty="0">
                <a:latin typeface="Carlito"/>
                <a:ea typeface="Carlito"/>
                <a:cs typeface="Carlito"/>
              </a:rPr>
              <a:t>make use of the same data</a:t>
            </a:r>
            <a:r>
              <a:rPr lang="en-US" i="1" dirty="0">
                <a:latin typeface="Carlito"/>
                <a:ea typeface="Carlito"/>
                <a:cs typeface="Carlito"/>
              </a:rPr>
              <a:t> and aren’t related in any other way.</a:t>
            </a:r>
            <a:endParaRPr lang="en-US" dirty="0">
              <a:latin typeface="Carlito"/>
              <a:ea typeface="Carlito"/>
              <a:cs typeface="Carlito"/>
            </a:endParaRPr>
          </a:p>
        </p:txBody>
      </p:sp>
      <p:sp>
        <p:nvSpPr>
          <p:cNvPr id="4" name="object 5">
            <a:extLst>
              <a:ext uri="{FF2B5EF4-FFF2-40B4-BE49-F238E27FC236}">
                <a16:creationId xmlns:a16="http://schemas.microsoft.com/office/drawing/2014/main" id="{0BE3CD9F-C6AA-4712-64BD-381B6BCC5A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37" y="2757484"/>
            <a:ext cx="8978900" cy="750142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wrap="square" lIns="0" tIns="15875" rIns="0" bIns="0">
            <a:spAutoFit/>
          </a:bodyPr>
          <a:lstStyle/>
          <a:p>
            <a:pPr marL="90488">
              <a:lnSpc>
                <a:spcPct val="101000"/>
              </a:lnSpc>
              <a:spcBef>
                <a:spcPts val="125"/>
              </a:spcBef>
            </a:pPr>
            <a:r>
              <a:rPr lang="en-US" sz="2400" b="1" i="1" dirty="0">
                <a:latin typeface="Carlito"/>
                <a:ea typeface="Carlito"/>
                <a:cs typeface="Carlito"/>
              </a:rPr>
              <a:t>For example</a:t>
            </a:r>
            <a:r>
              <a:rPr lang="en-US" sz="2400" dirty="0">
                <a:latin typeface="Carlito"/>
                <a:ea typeface="Carlito"/>
                <a:cs typeface="Carlito"/>
              </a:rPr>
              <a:t>, suppose you wrote a function to query a database to get the name and office number for an employee in your company.</a:t>
            </a: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DF6452F7-5CD6-8587-935A-11504BF61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631" y="3609351"/>
            <a:ext cx="9066212" cy="56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26670" rIns="0" bIns="0">
            <a:spAutoFit/>
          </a:bodyPr>
          <a:lstStyle/>
          <a:p>
            <a:pPr marL="12700">
              <a:lnSpc>
                <a:spcPts val="2113"/>
              </a:lnSpc>
              <a:spcBef>
                <a:spcPts val="213"/>
              </a:spcBef>
            </a:pPr>
            <a:r>
              <a:rPr lang="en-US" dirty="0">
                <a:latin typeface="Carlito"/>
                <a:ea typeface="Carlito"/>
                <a:cs typeface="Carlito"/>
              </a:rPr>
              <a:t>It may make sense for your application, but the only common point between the two operations is that the data comes from the same employee record.</a:t>
            </a: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79C21283-3AD6-9EBF-909B-5E91B1C7B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437" y="4660361"/>
            <a:ext cx="3452813" cy="1730375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704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40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 fontScale="90000"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Design at the Routine Level: </a:t>
            </a:r>
            <a:r>
              <a:rPr lang="en-US" sz="3600" b="1" dirty="0">
                <a:solidFill>
                  <a:schemeClr val="tx1"/>
                </a:solidFill>
              </a:rPr>
              <a:t>Unacceptable Cohesion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4EA118D-79B3-5B4C-A27C-92968333C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8</a:t>
            </a:fld>
            <a:endParaRPr lang="en-US" sz="70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4491AE59-322D-D9E0-597A-310A0CED58B0}"/>
              </a:ext>
            </a:extLst>
          </p:cNvPr>
          <p:cNvSpPr txBox="1"/>
          <p:nvPr/>
        </p:nvSpPr>
        <p:spPr>
          <a:xfrm>
            <a:off x="2533291" y="1049502"/>
            <a:ext cx="4343400" cy="573088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0" tIns="19050" rIns="0" bIns="0">
            <a:spAutoFit/>
          </a:bodyPr>
          <a:lstStyle/>
          <a:p>
            <a:pPr marL="90805">
              <a:spcBef>
                <a:spcPts val="150"/>
              </a:spcBef>
              <a:defRPr/>
            </a:pPr>
            <a:r>
              <a:rPr sz="3600" b="1" spc="-55" dirty="0">
                <a:solidFill>
                  <a:srgbClr val="C00000"/>
                </a:solidFill>
                <a:latin typeface="Carlito"/>
                <a:cs typeface="Carlito"/>
              </a:rPr>
              <a:t>Temporal</a:t>
            </a:r>
            <a:r>
              <a:rPr sz="3600" b="1" spc="-1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3600" b="1" spc="-5" dirty="0">
                <a:solidFill>
                  <a:srgbClr val="C00000"/>
                </a:solidFill>
                <a:latin typeface="Carlito"/>
                <a:cs typeface="Carlito"/>
              </a:rPr>
              <a:t>Cohesion</a:t>
            </a:r>
            <a:endParaRPr sz="3600" dirty="0">
              <a:latin typeface="Carlito"/>
              <a:cs typeface="Carlito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783ED399-D133-141E-DC0F-E68D3F475011}"/>
              </a:ext>
            </a:extLst>
          </p:cNvPr>
          <p:cNvSpPr txBox="1"/>
          <p:nvPr/>
        </p:nvSpPr>
        <p:spPr>
          <a:xfrm>
            <a:off x="0" y="1791862"/>
            <a:ext cx="9031857" cy="566737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12700" algn="ctr">
              <a:spcBef>
                <a:spcPts val="100"/>
              </a:spcBef>
              <a:defRPr/>
            </a:pPr>
            <a:r>
              <a:rPr i="1" spc="-25" dirty="0">
                <a:latin typeface="Carlito"/>
                <a:cs typeface="Carlito"/>
              </a:rPr>
              <a:t>Temporal </a:t>
            </a:r>
            <a:r>
              <a:rPr i="1" spc="-5" dirty="0">
                <a:latin typeface="Carlito"/>
                <a:cs typeface="Carlito"/>
              </a:rPr>
              <a:t>cohesion occurs when operations are combined </a:t>
            </a:r>
            <a:r>
              <a:rPr i="1" spc="-15" dirty="0">
                <a:latin typeface="Carlito"/>
                <a:cs typeface="Carlito"/>
              </a:rPr>
              <a:t>into </a:t>
            </a:r>
            <a:r>
              <a:rPr i="1" dirty="0">
                <a:latin typeface="Carlito"/>
                <a:cs typeface="Carlito"/>
              </a:rPr>
              <a:t>a </a:t>
            </a:r>
            <a:r>
              <a:rPr i="1" spc="-5" dirty="0">
                <a:latin typeface="Carlito"/>
                <a:cs typeface="Carlito"/>
              </a:rPr>
              <a:t>routine because</a:t>
            </a:r>
            <a:r>
              <a:rPr b="1" i="1" spc="-5" dirty="0">
                <a:latin typeface="Carlito"/>
                <a:cs typeface="Carlito"/>
              </a:rPr>
              <a:t> they are all done at the same</a:t>
            </a:r>
            <a:r>
              <a:rPr lang="en-US" b="1" i="1" spc="-5" dirty="0">
                <a:latin typeface="Carlito"/>
                <a:cs typeface="Carlito"/>
              </a:rPr>
              <a:t> </a:t>
            </a:r>
            <a:r>
              <a:rPr b="1" i="1" spc="-5" dirty="0">
                <a:latin typeface="Carlito"/>
                <a:cs typeface="Carlito"/>
              </a:rPr>
              <a:t>time</a:t>
            </a:r>
            <a:r>
              <a:rPr i="1" spc="-5" dirty="0">
                <a:latin typeface="Carlito"/>
                <a:cs typeface="Carlito"/>
              </a:rPr>
              <a:t>.</a:t>
            </a:r>
            <a:endParaRPr dirty="0">
              <a:latin typeface="Carlito"/>
              <a:cs typeface="Carlito"/>
            </a:endParaRPr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FDA09B8C-86EA-AFA2-F23B-E7051598A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3492" y="2509460"/>
            <a:ext cx="8918365" cy="385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10758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 fontScale="90000"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Design at the Routine Level: </a:t>
            </a:r>
            <a:r>
              <a:rPr lang="en-US" sz="3100" b="1" dirty="0">
                <a:solidFill>
                  <a:schemeClr val="tx1"/>
                </a:solidFill>
              </a:rPr>
              <a:t>Unacceptable Cohesion</a:t>
            </a:r>
            <a:endParaRPr lang="en-US" sz="3100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BB8D85C8-CE84-66D2-46DF-777E075DB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9</a:t>
            </a:fld>
            <a:endParaRPr lang="en-US" sz="7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B52A353-02B3-8AC1-B189-7F9C97677B69}"/>
              </a:ext>
            </a:extLst>
          </p:cNvPr>
          <p:cNvSpPr txBox="1"/>
          <p:nvPr/>
        </p:nvSpPr>
        <p:spPr>
          <a:xfrm>
            <a:off x="1971136" y="1162170"/>
            <a:ext cx="4953000" cy="573088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0" tIns="19050" rIns="0" bIns="0">
            <a:spAutoFit/>
          </a:bodyPr>
          <a:lstStyle/>
          <a:p>
            <a:pPr marL="90805">
              <a:spcBef>
                <a:spcPts val="150"/>
              </a:spcBef>
              <a:defRPr/>
            </a:pPr>
            <a:r>
              <a:rPr sz="3600" b="1" spc="-15" dirty="0">
                <a:solidFill>
                  <a:srgbClr val="C00000"/>
                </a:solidFill>
                <a:latin typeface="Carlito"/>
                <a:cs typeface="Carlito"/>
              </a:rPr>
              <a:t>Procedural</a:t>
            </a:r>
            <a:r>
              <a:rPr sz="3600" b="1" spc="-2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3600" b="1" spc="-5" dirty="0">
                <a:solidFill>
                  <a:srgbClr val="C00000"/>
                </a:solidFill>
                <a:latin typeface="Carlito"/>
                <a:cs typeface="Carlito"/>
              </a:rPr>
              <a:t>Cohesion</a:t>
            </a:r>
            <a:endParaRPr sz="3600" dirty="0">
              <a:latin typeface="Carlito"/>
              <a:cs typeface="Carli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7A120E6-7D1D-281E-CCFB-B0B5B64771C3}"/>
              </a:ext>
            </a:extLst>
          </p:cNvPr>
          <p:cNvSpPr txBox="1"/>
          <p:nvPr/>
        </p:nvSpPr>
        <p:spPr>
          <a:xfrm>
            <a:off x="190500" y="1928082"/>
            <a:ext cx="8763000" cy="566822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 algn="ctr">
              <a:spcBef>
                <a:spcPts val="100"/>
              </a:spcBef>
              <a:defRPr/>
            </a:pPr>
            <a:r>
              <a:rPr i="1" spc="-5" dirty="0">
                <a:latin typeface="Carlito"/>
                <a:cs typeface="Carlito"/>
              </a:rPr>
              <a:t>Procedural cohesion occurs when operations in </a:t>
            </a:r>
            <a:r>
              <a:rPr i="1" dirty="0">
                <a:latin typeface="Carlito"/>
                <a:cs typeface="Carlito"/>
              </a:rPr>
              <a:t>a </a:t>
            </a:r>
            <a:r>
              <a:rPr i="1" spc="-5" dirty="0">
                <a:latin typeface="Carlito"/>
                <a:cs typeface="Carlito"/>
              </a:rPr>
              <a:t>routine are </a:t>
            </a:r>
            <a:r>
              <a:rPr b="1" i="1" spc="-5" dirty="0">
                <a:latin typeface="Carlito"/>
                <a:cs typeface="Carlito"/>
              </a:rPr>
              <a:t>done in </a:t>
            </a:r>
            <a:r>
              <a:rPr b="1" i="1" dirty="0">
                <a:latin typeface="Carlito"/>
                <a:cs typeface="Carlito"/>
              </a:rPr>
              <a:t>a </a:t>
            </a:r>
            <a:r>
              <a:rPr b="1" i="1" spc="-5" dirty="0">
                <a:latin typeface="Carlito"/>
                <a:cs typeface="Carlito"/>
              </a:rPr>
              <a:t>specified</a:t>
            </a:r>
            <a:r>
              <a:rPr b="1" i="1" spc="80" dirty="0">
                <a:latin typeface="Carlito"/>
                <a:cs typeface="Carlito"/>
              </a:rPr>
              <a:t> </a:t>
            </a:r>
            <a:r>
              <a:rPr b="1" i="1" spc="-30" dirty="0">
                <a:latin typeface="Carlito"/>
                <a:cs typeface="Carlito"/>
              </a:rPr>
              <a:t>order</a:t>
            </a:r>
            <a:r>
              <a:rPr i="1" spc="-30" dirty="0">
                <a:latin typeface="Carlito"/>
                <a:cs typeface="Carlito"/>
              </a:rPr>
              <a:t>.</a:t>
            </a:r>
            <a:endParaRPr dirty="0">
              <a:latin typeface="Carlito"/>
              <a:cs typeface="Carli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80549BD-1A90-625D-F904-DD56651FB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1" y="2382837"/>
            <a:ext cx="9063038" cy="1135063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lIns="0" tIns="15875" rIns="0" bIns="0">
            <a:spAutoFit/>
          </a:bodyPr>
          <a:lstStyle/>
          <a:p>
            <a:pPr marL="90488">
              <a:lnSpc>
                <a:spcPct val="101000"/>
              </a:lnSpc>
              <a:spcBef>
                <a:spcPts val="125"/>
              </a:spcBef>
            </a:pPr>
            <a:r>
              <a:rPr lang="en-US" sz="2400" dirty="0">
                <a:latin typeface="Carlito"/>
                <a:ea typeface="Carlito"/>
                <a:cs typeface="Carlito"/>
              </a:rPr>
              <a:t>The routine has procedural cohesion because it puts a set of operations in a specified  order and the operations don’t need to be combined for any other reason.</a:t>
            </a:r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FA8F12AE-CBCE-AF5F-C2FE-6ED1B84136A8}"/>
              </a:ext>
            </a:extLst>
          </p:cNvPr>
          <p:cNvSpPr txBox="1"/>
          <p:nvPr/>
        </p:nvSpPr>
        <p:spPr>
          <a:xfrm>
            <a:off x="5164108" y="3697856"/>
            <a:ext cx="4254500" cy="2578100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298450" indent="-285750">
              <a:spcBef>
                <a:spcPts val="100"/>
              </a:spcBef>
              <a:buFont typeface="Arial"/>
              <a:buChar char="•"/>
              <a:tabLst>
                <a:tab pos="297815" algn="l"/>
                <a:tab pos="298450" algn="l"/>
              </a:tabLst>
              <a:defRPr/>
            </a:pPr>
            <a:r>
              <a:rPr sz="2400" dirty="0">
                <a:latin typeface="Carlito"/>
                <a:cs typeface="Carlito"/>
              </a:rPr>
              <a:t>Clean </a:t>
            </a:r>
            <a:r>
              <a:rPr sz="2400" spc="-10" dirty="0">
                <a:latin typeface="Carlito"/>
                <a:cs typeface="Carlito"/>
              </a:rPr>
              <a:t>Utensils </a:t>
            </a:r>
            <a:r>
              <a:rPr sz="2400" spc="-15" dirty="0">
                <a:latin typeface="Carlito"/>
                <a:cs typeface="Carlito"/>
              </a:rPr>
              <a:t>from </a:t>
            </a:r>
            <a:r>
              <a:rPr sz="2400" spc="-10" dirty="0">
                <a:latin typeface="Carlito"/>
                <a:cs typeface="Carlito"/>
              </a:rPr>
              <a:t>Previous</a:t>
            </a:r>
            <a:r>
              <a:rPr sz="2400" spc="-35" dirty="0">
                <a:latin typeface="Carlito"/>
                <a:cs typeface="Carlito"/>
              </a:rPr>
              <a:t> </a:t>
            </a:r>
            <a:r>
              <a:rPr sz="2400" dirty="0">
                <a:latin typeface="Carlito"/>
                <a:cs typeface="Carlito"/>
              </a:rPr>
              <a:t>Meal</a:t>
            </a:r>
          </a:p>
          <a:p>
            <a:pPr marL="298450" indent="-285750">
              <a:spcBef>
                <a:spcPts val="20"/>
              </a:spcBef>
              <a:buFont typeface="Arial"/>
              <a:buChar char="•"/>
              <a:tabLst>
                <a:tab pos="297815" algn="l"/>
                <a:tab pos="298450" algn="l"/>
              </a:tabLst>
              <a:defRPr/>
            </a:pPr>
            <a:r>
              <a:rPr sz="2400" spc="-10" dirty="0">
                <a:latin typeface="Carlito"/>
                <a:cs typeface="Carlito"/>
              </a:rPr>
              <a:t>Prepare </a:t>
            </a:r>
            <a:r>
              <a:rPr sz="2400" spc="-15" dirty="0">
                <a:latin typeface="Carlito"/>
                <a:cs typeface="Carlito"/>
              </a:rPr>
              <a:t>Chicken </a:t>
            </a:r>
            <a:r>
              <a:rPr sz="2400" spc="-20" dirty="0">
                <a:latin typeface="Carlito"/>
                <a:cs typeface="Carlito"/>
              </a:rPr>
              <a:t>for</a:t>
            </a:r>
            <a:r>
              <a:rPr sz="240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Roasting</a:t>
            </a:r>
            <a:endParaRPr sz="2400" dirty="0">
              <a:latin typeface="Carlito"/>
              <a:cs typeface="Carlito"/>
            </a:endParaRPr>
          </a:p>
          <a:p>
            <a:pPr marL="298450" indent="-285750">
              <a:spcBef>
                <a:spcPts val="25"/>
              </a:spcBef>
              <a:buFont typeface="Arial"/>
              <a:buChar char="•"/>
              <a:tabLst>
                <a:tab pos="297815" algn="l"/>
                <a:tab pos="298450" algn="l"/>
              </a:tabLst>
              <a:defRPr/>
            </a:pPr>
            <a:r>
              <a:rPr sz="2400" spc="-25" dirty="0">
                <a:latin typeface="Carlito"/>
                <a:cs typeface="Carlito"/>
              </a:rPr>
              <a:t>Make </a:t>
            </a:r>
            <a:r>
              <a:rPr sz="2400" spc="-5" dirty="0">
                <a:latin typeface="Carlito"/>
                <a:cs typeface="Carlito"/>
              </a:rPr>
              <a:t>Phone</a:t>
            </a:r>
            <a:r>
              <a:rPr sz="2400" spc="20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Call</a:t>
            </a:r>
            <a:endParaRPr sz="2400" dirty="0">
              <a:latin typeface="Carlito"/>
              <a:cs typeface="Carlito"/>
            </a:endParaRPr>
          </a:p>
          <a:p>
            <a:pPr marL="298450" indent="-285750">
              <a:spcBef>
                <a:spcPts val="25"/>
              </a:spcBef>
              <a:buFont typeface="Arial"/>
              <a:buChar char="•"/>
              <a:tabLst>
                <a:tab pos="297815" algn="l"/>
                <a:tab pos="298450" algn="l"/>
              </a:tabLst>
              <a:defRPr/>
            </a:pPr>
            <a:r>
              <a:rPr sz="2400" spc="-70" dirty="0">
                <a:latin typeface="Carlito"/>
                <a:cs typeface="Carlito"/>
              </a:rPr>
              <a:t>Take</a:t>
            </a:r>
            <a:r>
              <a:rPr sz="2400" spc="-5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Shower</a:t>
            </a:r>
            <a:endParaRPr sz="2400" dirty="0">
              <a:latin typeface="Carlito"/>
              <a:cs typeface="Carlito"/>
            </a:endParaRPr>
          </a:p>
          <a:p>
            <a:pPr marL="298450" indent="-285750">
              <a:lnSpc>
                <a:spcPts val="2830"/>
              </a:lnSpc>
              <a:spcBef>
                <a:spcPts val="25"/>
              </a:spcBef>
              <a:buFont typeface="Arial"/>
              <a:buChar char="•"/>
              <a:tabLst>
                <a:tab pos="297815" algn="l"/>
                <a:tab pos="298450" algn="l"/>
              </a:tabLst>
              <a:defRPr/>
            </a:pPr>
            <a:r>
              <a:rPr sz="2400" spc="-5" dirty="0">
                <a:latin typeface="Carlito"/>
                <a:cs typeface="Carlito"/>
              </a:rPr>
              <a:t>Chop</a:t>
            </a:r>
            <a:r>
              <a:rPr sz="2400" spc="-10" dirty="0">
                <a:latin typeface="Carlito"/>
                <a:cs typeface="Carlito"/>
              </a:rPr>
              <a:t> </a:t>
            </a:r>
            <a:r>
              <a:rPr sz="2400" spc="-20" dirty="0">
                <a:latin typeface="Carlito"/>
                <a:cs typeface="Carlito"/>
              </a:rPr>
              <a:t>Vegetables</a:t>
            </a:r>
            <a:endParaRPr sz="2400" dirty="0">
              <a:latin typeface="Carlito"/>
              <a:cs typeface="Carlito"/>
            </a:endParaRPr>
          </a:p>
          <a:p>
            <a:pPr marL="298450" indent="-285750">
              <a:lnSpc>
                <a:spcPts val="2830"/>
              </a:lnSpc>
              <a:buFont typeface="Arial"/>
              <a:buChar char="•"/>
              <a:tabLst>
                <a:tab pos="297815" algn="l"/>
                <a:tab pos="298450" algn="l"/>
              </a:tabLst>
              <a:defRPr/>
            </a:pPr>
            <a:r>
              <a:rPr sz="2400" spc="-5" dirty="0">
                <a:latin typeface="Carlito"/>
                <a:cs typeface="Carlito"/>
              </a:rPr>
              <a:t>Set</a:t>
            </a:r>
            <a:r>
              <a:rPr sz="2400" spc="-15" dirty="0">
                <a:latin typeface="Carlito"/>
                <a:cs typeface="Carlito"/>
              </a:rPr>
              <a:t> </a:t>
            </a:r>
            <a:r>
              <a:rPr sz="2400" spc="-40" dirty="0">
                <a:latin typeface="Carlito"/>
                <a:cs typeface="Carlito"/>
              </a:rPr>
              <a:t>Table</a:t>
            </a:r>
            <a:endParaRPr sz="2400" dirty="0">
              <a:latin typeface="Carlito"/>
              <a:cs typeface="Carlito"/>
            </a:endParaRPr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B2A586DA-0C9C-7C7D-D74C-2429FFA34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19" y="4071051"/>
            <a:ext cx="4953000" cy="1316037"/>
          </a:xfrm>
          <a:prstGeom prst="rect">
            <a:avLst/>
          </a:prstGeom>
          <a:solidFill>
            <a:srgbClr val="FBE5D6"/>
          </a:solidFill>
          <a:ln w="9525">
            <a:noFill/>
            <a:miter lim="800000"/>
            <a:headEnd/>
            <a:tailEnd/>
          </a:ln>
        </p:spPr>
        <p:txBody>
          <a:bodyPr lIns="0" tIns="22860" rIns="0" bIns="0">
            <a:spAutoFit/>
          </a:bodyPr>
          <a:lstStyle/>
          <a:p>
            <a:pPr marL="166688" indent="-1588" algn="ctr">
              <a:spcBef>
                <a:spcPts val="175"/>
              </a:spcBef>
            </a:pPr>
            <a:r>
              <a:rPr lang="en-US" sz="2800" dirty="0">
                <a:latin typeface="Carlito"/>
                <a:ea typeface="Carlito"/>
                <a:cs typeface="Carlito"/>
              </a:rPr>
              <a:t>To achieve better cohesion, put  the separate operations into their own routines.</a:t>
            </a:r>
          </a:p>
        </p:txBody>
      </p:sp>
    </p:spTree>
    <p:extLst>
      <p:ext uri="{BB962C8B-B14F-4D97-AF65-F5344CB8AC3E}">
        <p14:creationId xmlns:p14="http://schemas.microsoft.com/office/powerpoint/2010/main" val="251095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 fontScale="90000"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Design at the Routine Level: </a:t>
            </a:r>
            <a:r>
              <a:rPr lang="en-US" sz="3100" b="1" dirty="0">
                <a:solidFill>
                  <a:schemeClr val="tx1"/>
                </a:solidFill>
              </a:rPr>
              <a:t>Unacceptable Cohesion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BB8D85C8-CE84-66D2-46DF-777E075DB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10</a:t>
            </a:fld>
            <a:endParaRPr lang="en-US" sz="70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5B6948D-5289-18AF-051F-55C7562C2B96}"/>
              </a:ext>
            </a:extLst>
          </p:cNvPr>
          <p:cNvSpPr txBox="1"/>
          <p:nvPr/>
        </p:nvSpPr>
        <p:spPr>
          <a:xfrm>
            <a:off x="2187455" y="1049578"/>
            <a:ext cx="4267200" cy="573087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0" tIns="19050" rIns="0" bIns="0">
            <a:spAutoFit/>
          </a:bodyPr>
          <a:lstStyle/>
          <a:p>
            <a:pPr marL="90805" algn="ctr">
              <a:spcBef>
                <a:spcPts val="150"/>
              </a:spcBef>
              <a:defRPr/>
            </a:pPr>
            <a:r>
              <a:rPr sz="3600" b="1" spc="-5" dirty="0">
                <a:solidFill>
                  <a:srgbClr val="C00000"/>
                </a:solidFill>
                <a:latin typeface="Carlito"/>
                <a:cs typeface="Carlito"/>
              </a:rPr>
              <a:t>Logical</a:t>
            </a:r>
            <a:r>
              <a:rPr sz="3600" b="1" spc="-2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3600" b="1" spc="-5" dirty="0">
                <a:solidFill>
                  <a:srgbClr val="C00000"/>
                </a:solidFill>
                <a:latin typeface="Carlito"/>
                <a:cs typeface="Carlito"/>
              </a:rPr>
              <a:t>Cohesion</a:t>
            </a:r>
            <a:endParaRPr sz="3600" dirty="0">
              <a:latin typeface="Carlito"/>
              <a:cs typeface="Carlito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F19C0BB9-3EC0-D7BC-62AB-E6D9451F5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480" y="1789974"/>
            <a:ext cx="8915400" cy="567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28575" rIns="0" bIns="0">
            <a:spAutoFit/>
          </a:bodyPr>
          <a:lstStyle/>
          <a:p>
            <a:pPr marL="1939925" indent="-1928813">
              <a:lnSpc>
                <a:spcPts val="2088"/>
              </a:lnSpc>
              <a:spcBef>
                <a:spcPts val="225"/>
              </a:spcBef>
            </a:pPr>
            <a:r>
              <a:rPr lang="en-US" i="1" dirty="0">
                <a:latin typeface="Carlito"/>
                <a:ea typeface="Carlito"/>
                <a:cs typeface="Carlito"/>
              </a:rPr>
              <a:t>Logical cohesion occurs when several operations are stuffed into the same routine and </a:t>
            </a:r>
            <a:r>
              <a:rPr lang="en-US" b="1" i="1" dirty="0">
                <a:latin typeface="Carlito"/>
                <a:ea typeface="Carlito"/>
                <a:cs typeface="Carlito"/>
              </a:rPr>
              <a:t>one of the operations is selected by a control flag that’s passed in</a:t>
            </a:r>
            <a:r>
              <a:rPr lang="en-US" i="1" dirty="0">
                <a:latin typeface="Carlito"/>
                <a:ea typeface="Carlito"/>
                <a:cs typeface="Carlito"/>
              </a:rPr>
              <a:t>.</a:t>
            </a:r>
            <a:endParaRPr lang="en-US" dirty="0">
              <a:latin typeface="Carlito"/>
              <a:ea typeface="Carlito"/>
              <a:cs typeface="Carlito"/>
            </a:endParaRP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40D6EA31-23DC-7379-5DD9-B5DEE93B9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81" y="2452984"/>
            <a:ext cx="9063038" cy="1130300"/>
          </a:xfrm>
          <a:prstGeom prst="rect">
            <a:avLst/>
          </a:prstGeom>
          <a:solidFill>
            <a:srgbClr val="FFF2CC"/>
          </a:solidFill>
          <a:ln w="9525">
            <a:noFill/>
            <a:miter lim="800000"/>
            <a:headEnd/>
            <a:tailEnd/>
          </a:ln>
        </p:spPr>
        <p:txBody>
          <a:bodyPr lIns="0" tIns="21590" rIns="0" bIns="0">
            <a:spAutoFit/>
          </a:bodyPr>
          <a:lstStyle/>
          <a:p>
            <a:pPr marL="1176338" indent="-698500" algn="ctr">
              <a:spcBef>
                <a:spcPts val="175"/>
              </a:spcBef>
            </a:pPr>
            <a:r>
              <a:rPr lang="en-US" sz="2400" dirty="0">
                <a:latin typeface="Carlito"/>
                <a:ea typeface="Carlito"/>
                <a:cs typeface="Carlito"/>
              </a:rPr>
              <a:t>The control flow or “logic” of the routine is the only thing that ties the operations together—they’re all in a big if statement or case statement together.</a:t>
            </a:r>
          </a:p>
        </p:txBody>
      </p:sp>
      <p:sp>
        <p:nvSpPr>
          <p:cNvPr id="9" name="object 6">
            <a:extLst>
              <a:ext uri="{FF2B5EF4-FFF2-40B4-BE49-F238E27FC236}">
                <a16:creationId xmlns:a16="http://schemas.microsoft.com/office/drawing/2014/main" id="{1A38FB94-1B70-6245-B080-136B54EEE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3592" y="3914320"/>
            <a:ext cx="4713288" cy="2130425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0" name="object 7">
            <a:extLst>
              <a:ext uri="{FF2B5EF4-FFF2-40B4-BE49-F238E27FC236}">
                <a16:creationId xmlns:a16="http://schemas.microsoft.com/office/drawing/2014/main" id="{1676B486-C4FC-9549-4718-E240B2B23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4566" y="3645400"/>
            <a:ext cx="2341562" cy="2957512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252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Design at the Routine Level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BB8D85C8-CE84-66D2-46DF-777E075DB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11</a:t>
            </a:fld>
            <a:endParaRPr lang="en-US" sz="7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F96CA07-2430-9C17-C39C-D04575D4771C}"/>
              </a:ext>
            </a:extLst>
          </p:cNvPr>
          <p:cNvSpPr txBox="1"/>
          <p:nvPr/>
        </p:nvSpPr>
        <p:spPr>
          <a:xfrm>
            <a:off x="2863056" y="1651883"/>
            <a:ext cx="3417887" cy="57467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0" tIns="19050" rIns="0" bIns="0">
            <a:spAutoFit/>
          </a:bodyPr>
          <a:lstStyle/>
          <a:p>
            <a:pPr marL="91440">
              <a:spcBef>
                <a:spcPts val="150"/>
              </a:spcBef>
              <a:defRPr/>
            </a:pPr>
            <a:r>
              <a:rPr sz="3600" b="1" spc="-5" dirty="0">
                <a:solidFill>
                  <a:srgbClr val="C00000"/>
                </a:solidFill>
                <a:latin typeface="Carlito"/>
                <a:cs typeface="Carlito"/>
              </a:rPr>
              <a:t>Tight</a:t>
            </a:r>
            <a:r>
              <a:rPr sz="3600" b="1" spc="-3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3600" b="1" dirty="0">
                <a:solidFill>
                  <a:srgbClr val="C00000"/>
                </a:solidFill>
                <a:latin typeface="Carlito"/>
                <a:cs typeface="Carlito"/>
              </a:rPr>
              <a:t>Coupling</a:t>
            </a:r>
            <a:endParaRPr sz="3600" dirty="0">
              <a:latin typeface="Carlito"/>
              <a:cs typeface="Carli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161E19EE-853A-08BA-28AD-879AAD32106B}"/>
              </a:ext>
            </a:extLst>
          </p:cNvPr>
          <p:cNvSpPr txBox="1"/>
          <p:nvPr/>
        </p:nvSpPr>
        <p:spPr>
          <a:xfrm>
            <a:off x="1327943" y="2320221"/>
            <a:ext cx="6858000" cy="290512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 algn="ctr">
              <a:spcBef>
                <a:spcPts val="100"/>
              </a:spcBef>
              <a:defRPr/>
            </a:pPr>
            <a:r>
              <a:rPr i="1" spc="-5" dirty="0">
                <a:latin typeface="Carlito"/>
                <a:cs typeface="Carlito"/>
              </a:rPr>
              <a:t>Large dependence </a:t>
            </a:r>
            <a:r>
              <a:rPr i="1" dirty="0">
                <a:latin typeface="Carlito"/>
                <a:cs typeface="Carlito"/>
              </a:rPr>
              <a:t>on </a:t>
            </a:r>
            <a:r>
              <a:rPr i="1" spc="-5" dirty="0">
                <a:latin typeface="Carlito"/>
                <a:cs typeface="Carlito"/>
              </a:rPr>
              <a:t>the </a:t>
            </a:r>
            <a:r>
              <a:rPr i="1" spc="-10" dirty="0">
                <a:latin typeface="Carlito"/>
                <a:cs typeface="Carlito"/>
              </a:rPr>
              <a:t>structure </a:t>
            </a:r>
            <a:r>
              <a:rPr i="1" dirty="0">
                <a:latin typeface="Carlito"/>
                <a:cs typeface="Carlito"/>
              </a:rPr>
              <a:t>of </a:t>
            </a:r>
            <a:r>
              <a:rPr i="1" spc="-5" dirty="0">
                <a:latin typeface="Carlito"/>
                <a:cs typeface="Carlito"/>
              </a:rPr>
              <a:t>one module by</a:t>
            </a:r>
            <a:r>
              <a:rPr i="1" spc="125" dirty="0">
                <a:latin typeface="Carlito"/>
                <a:cs typeface="Carlito"/>
              </a:rPr>
              <a:t> </a:t>
            </a:r>
            <a:r>
              <a:rPr i="1" spc="-25" dirty="0">
                <a:latin typeface="Carlito"/>
                <a:cs typeface="Carlito"/>
              </a:rPr>
              <a:t>another.</a:t>
            </a:r>
            <a:endParaRPr dirty="0">
              <a:latin typeface="Carlito"/>
              <a:cs typeface="Carli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C647E0B-35E0-7059-E541-99DA87EE678E}"/>
              </a:ext>
            </a:extLst>
          </p:cNvPr>
          <p:cNvSpPr txBox="1"/>
          <p:nvPr/>
        </p:nvSpPr>
        <p:spPr>
          <a:xfrm>
            <a:off x="529431" y="2769483"/>
            <a:ext cx="7381875" cy="566738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US" sz="3600" b="1" dirty="0">
                <a:latin typeface="+mj-lt"/>
                <a:ea typeface="+mj-ea"/>
                <a:cs typeface="+mj-cs"/>
              </a:rPr>
              <a:t>Design at the Routine Level: </a:t>
            </a:r>
            <a:r>
              <a:rPr lang="en-US" sz="2400" dirty="0">
                <a:latin typeface="+mj-lt"/>
                <a:ea typeface="+mj-ea"/>
                <a:cs typeface="+mj-cs"/>
              </a:rPr>
              <a:t>Good Coupling</a:t>
            </a: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126AFB6F-62FD-955D-DA60-49480E9E3C32}"/>
              </a:ext>
            </a:extLst>
          </p:cNvPr>
          <p:cNvSpPr txBox="1"/>
          <p:nvPr/>
        </p:nvSpPr>
        <p:spPr>
          <a:xfrm>
            <a:off x="2928143" y="3483858"/>
            <a:ext cx="3584575" cy="573088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0" tIns="19685" rIns="0" bIns="0">
            <a:spAutoFit/>
          </a:bodyPr>
          <a:lstStyle/>
          <a:p>
            <a:pPr marL="90805">
              <a:spcBef>
                <a:spcPts val="155"/>
              </a:spcBef>
              <a:defRPr/>
            </a:pPr>
            <a:r>
              <a:rPr sz="3600" b="1" dirty="0">
                <a:solidFill>
                  <a:srgbClr val="C00000"/>
                </a:solidFill>
                <a:latin typeface="Carlito"/>
                <a:cs typeface="Carlito"/>
              </a:rPr>
              <a:t>Loose</a:t>
            </a:r>
            <a:r>
              <a:rPr sz="3600" b="1" spc="-3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3600" b="1" dirty="0">
                <a:solidFill>
                  <a:srgbClr val="C00000"/>
                </a:solidFill>
                <a:latin typeface="Carlito"/>
                <a:cs typeface="Carlito"/>
              </a:rPr>
              <a:t>Coupling</a:t>
            </a:r>
            <a:endParaRPr sz="3600" dirty="0">
              <a:latin typeface="Carlito"/>
              <a:cs typeface="Carlito"/>
            </a:endParaRPr>
          </a:p>
        </p:txBody>
      </p:sp>
      <p:sp>
        <p:nvSpPr>
          <p:cNvPr id="12" name="object 7">
            <a:extLst>
              <a:ext uri="{FF2B5EF4-FFF2-40B4-BE49-F238E27FC236}">
                <a16:creationId xmlns:a16="http://schemas.microsoft.com/office/drawing/2014/main" id="{13C6A0B5-6D48-1363-6B43-E3F68064B75F}"/>
              </a:ext>
            </a:extLst>
          </p:cNvPr>
          <p:cNvSpPr txBox="1"/>
          <p:nvPr/>
        </p:nvSpPr>
        <p:spPr>
          <a:xfrm>
            <a:off x="1556543" y="4058533"/>
            <a:ext cx="7924800" cy="658514"/>
          </a:xfrm>
          <a:prstGeom prst="rect">
            <a:avLst/>
          </a:prstGeom>
        </p:spPr>
        <p:txBody>
          <a:bodyPr wrap="square" lIns="0" tIns="103505" rIns="0" bIns="0">
            <a:spAutoFit/>
          </a:bodyPr>
          <a:lstStyle/>
          <a:p>
            <a:pPr marL="1578610" algn="ctr" rtl="1">
              <a:spcBef>
                <a:spcPts val="815"/>
              </a:spcBef>
              <a:defRPr/>
            </a:pPr>
            <a:r>
              <a:rPr i="1" spc="-5" dirty="0">
                <a:latin typeface="Carlito"/>
                <a:cs typeface="Carlito"/>
              </a:rPr>
              <a:t>Modules with loose coupling are more independent </a:t>
            </a:r>
            <a:r>
              <a:rPr i="1" dirty="0">
                <a:latin typeface="Carlito"/>
                <a:cs typeface="Carlito"/>
              </a:rPr>
              <a:t>and </a:t>
            </a:r>
            <a:r>
              <a:rPr i="1" spc="-5" dirty="0">
                <a:latin typeface="Carlito"/>
                <a:cs typeface="Carlito"/>
              </a:rPr>
              <a:t>easier </a:t>
            </a:r>
            <a:r>
              <a:rPr i="1" spc="-15" dirty="0">
                <a:latin typeface="Carlito"/>
                <a:cs typeface="Carlito"/>
              </a:rPr>
              <a:t>to</a:t>
            </a:r>
            <a:r>
              <a:rPr i="1" spc="110" dirty="0">
                <a:latin typeface="Carlito"/>
                <a:cs typeface="Carlito"/>
              </a:rPr>
              <a:t> </a:t>
            </a:r>
            <a:r>
              <a:rPr i="1" spc="-10" dirty="0">
                <a:latin typeface="Carlito"/>
                <a:cs typeface="Carlito"/>
              </a:rPr>
              <a:t>maintain</a:t>
            </a:r>
            <a:endParaRPr dirty="0">
              <a:latin typeface="Carlito"/>
              <a:cs typeface="Carlito"/>
            </a:endParaRPr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6EB2919E-0F8F-002C-E9EF-D7587023ABEB}"/>
              </a:ext>
            </a:extLst>
          </p:cNvPr>
          <p:cNvSpPr txBox="1"/>
          <p:nvPr/>
        </p:nvSpPr>
        <p:spPr>
          <a:xfrm>
            <a:off x="2775743" y="5387271"/>
            <a:ext cx="4191000" cy="57467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0" tIns="19685" rIns="0" bIns="0">
            <a:spAutoFit/>
          </a:bodyPr>
          <a:lstStyle/>
          <a:p>
            <a:pPr marL="90805">
              <a:spcBef>
                <a:spcPts val="155"/>
              </a:spcBef>
              <a:defRPr/>
            </a:pPr>
            <a:r>
              <a:rPr sz="3600" b="1" spc="-20" dirty="0">
                <a:solidFill>
                  <a:srgbClr val="C00000"/>
                </a:solidFill>
                <a:latin typeface="Carlito"/>
                <a:cs typeface="Carlito"/>
              </a:rPr>
              <a:t>Content</a:t>
            </a:r>
            <a:r>
              <a:rPr sz="3600" b="1" spc="-3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3600" b="1" spc="-5" dirty="0">
                <a:solidFill>
                  <a:srgbClr val="C00000"/>
                </a:solidFill>
                <a:latin typeface="Carlito"/>
                <a:cs typeface="Carlito"/>
              </a:rPr>
              <a:t>Coupling</a:t>
            </a:r>
            <a:endParaRPr sz="3600" dirty="0">
              <a:latin typeface="Carlito"/>
              <a:cs typeface="Carlito"/>
            </a:endParaRPr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5AB82292-57F8-4A77-ECBC-3C358B9BDCCC}"/>
              </a:ext>
            </a:extLst>
          </p:cNvPr>
          <p:cNvSpPr txBox="1"/>
          <p:nvPr/>
        </p:nvSpPr>
        <p:spPr>
          <a:xfrm>
            <a:off x="2775743" y="6130221"/>
            <a:ext cx="4452938" cy="290512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i="1" dirty="0">
                <a:latin typeface="Carlito"/>
                <a:cs typeface="Carlito"/>
              </a:rPr>
              <a:t>A </a:t>
            </a:r>
            <a:r>
              <a:rPr i="1" spc="-5" dirty="0">
                <a:latin typeface="Carlito"/>
                <a:cs typeface="Carlito"/>
              </a:rPr>
              <a:t>module </a:t>
            </a:r>
            <a:r>
              <a:rPr i="1" dirty="0">
                <a:latin typeface="Carlito"/>
                <a:cs typeface="Carlito"/>
              </a:rPr>
              <a:t>changes </a:t>
            </a:r>
            <a:r>
              <a:rPr i="1" spc="-5" dirty="0">
                <a:latin typeface="Carlito"/>
                <a:cs typeface="Carlito"/>
              </a:rPr>
              <a:t>another </a:t>
            </a:r>
            <a:r>
              <a:rPr i="1" spc="-15" dirty="0">
                <a:latin typeface="Carlito"/>
                <a:cs typeface="Carlito"/>
              </a:rPr>
              <a:t>module’s</a:t>
            </a:r>
            <a:r>
              <a:rPr i="1" dirty="0">
                <a:latin typeface="Carlito"/>
                <a:cs typeface="Carlito"/>
              </a:rPr>
              <a:t> </a:t>
            </a:r>
            <a:r>
              <a:rPr i="1" spc="-10" dirty="0">
                <a:latin typeface="Carlito"/>
                <a:cs typeface="Carlito"/>
              </a:rPr>
              <a:t>data</a:t>
            </a:r>
            <a:endParaRPr dirty="0">
              <a:latin typeface="Carlito"/>
              <a:cs typeface="Carlito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331399-A391-C45A-0CAB-B76B2A5ADDDA}"/>
              </a:ext>
            </a:extLst>
          </p:cNvPr>
          <p:cNvSpPr/>
          <p:nvPr/>
        </p:nvSpPr>
        <p:spPr>
          <a:xfrm>
            <a:off x="489743" y="4707821"/>
            <a:ext cx="7604125" cy="6461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spcBef>
                <a:spcPts val="1590"/>
              </a:spcBef>
              <a:defRPr/>
            </a:pPr>
            <a:r>
              <a:rPr lang="en-US" sz="3600" b="1" dirty="0">
                <a:latin typeface="+mj-lt"/>
                <a:ea typeface="+mj-ea"/>
                <a:cs typeface="+mj-cs"/>
              </a:rPr>
              <a:t>Design at the Routine Level: </a:t>
            </a:r>
            <a:r>
              <a:rPr lang="en-US" sz="2400" dirty="0">
                <a:latin typeface="+mj-lt"/>
                <a:ea typeface="+mj-ea"/>
                <a:cs typeface="+mj-cs"/>
              </a:rPr>
              <a:t>Worst Coupling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9E3C3F31-1D01-97CB-E011-379E255C1953}"/>
              </a:ext>
            </a:extLst>
          </p:cNvPr>
          <p:cNvSpPr txBox="1"/>
          <p:nvPr/>
        </p:nvSpPr>
        <p:spPr>
          <a:xfrm>
            <a:off x="399533" y="895674"/>
            <a:ext cx="7381875" cy="566738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US" sz="3600" b="1" dirty="0">
                <a:latin typeface="+mj-lt"/>
                <a:ea typeface="+mj-ea"/>
                <a:cs typeface="+mj-cs"/>
              </a:rPr>
              <a:t>Design at the Routine Level: </a:t>
            </a:r>
            <a:r>
              <a:rPr lang="en-US" sz="2400" dirty="0">
                <a:latin typeface="+mj-lt"/>
                <a:ea typeface="+mj-ea"/>
                <a:cs typeface="+mj-cs"/>
              </a:rPr>
              <a:t>Bad Coupling</a:t>
            </a:r>
          </a:p>
        </p:txBody>
      </p:sp>
    </p:spTree>
    <p:extLst>
      <p:ext uri="{BB962C8B-B14F-4D97-AF65-F5344CB8AC3E}">
        <p14:creationId xmlns:p14="http://schemas.microsoft.com/office/powerpoint/2010/main" val="785093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Design at the Routine Level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BB8D85C8-CE84-66D2-46DF-777E075DB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12</a:t>
            </a:fld>
            <a:endParaRPr lang="en-US" sz="700"/>
          </a:p>
        </p:txBody>
      </p:sp>
      <p:sp>
        <p:nvSpPr>
          <p:cNvPr id="3" name="object 2">
            <a:extLst>
              <a:ext uri="{FF2B5EF4-FFF2-40B4-BE49-F238E27FC236}">
                <a16:creationId xmlns:a16="http://schemas.microsoft.com/office/drawing/2014/main" id="{4D81CAAE-EC3C-34F3-B745-01C77DDE55C9}"/>
              </a:ext>
            </a:extLst>
          </p:cNvPr>
          <p:cNvSpPr txBox="1">
            <a:spLocks/>
          </p:cNvSpPr>
          <p:nvPr/>
        </p:nvSpPr>
        <p:spPr>
          <a:xfrm>
            <a:off x="530315" y="944852"/>
            <a:ext cx="8205787" cy="534057"/>
          </a:xfrm>
          <a:prstGeom prst="rect">
            <a:avLst/>
          </a:prstGeom>
        </p:spPr>
        <p:txBody>
          <a:bodyPr vert="horz" lIns="91440" tIns="12700" rIns="91440" bIns="45720" rtlCol="0" anchor="ctr">
            <a:sp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400" b="0" kern="1200" spc="-5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3600" b="1" dirty="0">
                <a:solidFill>
                  <a:schemeClr val="tx1"/>
                </a:solidFill>
              </a:rPr>
              <a:t>Design at the Routine Level: </a:t>
            </a:r>
            <a:r>
              <a:rPr lang="en-US" sz="2400" dirty="0">
                <a:solidFill>
                  <a:schemeClr val="tx1"/>
                </a:solidFill>
              </a:rPr>
              <a:t>Not Worst Coupling</a:t>
            </a: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62FD3AC9-EFC7-5E0A-A006-A19C3DA4F2A8}"/>
              </a:ext>
            </a:extLst>
          </p:cNvPr>
          <p:cNvSpPr txBox="1"/>
          <p:nvPr/>
        </p:nvSpPr>
        <p:spPr>
          <a:xfrm>
            <a:off x="2528977" y="1755599"/>
            <a:ext cx="4210050" cy="57467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0" tIns="19050" rIns="0" bIns="0">
            <a:spAutoFit/>
          </a:bodyPr>
          <a:lstStyle/>
          <a:p>
            <a:pPr marL="90805">
              <a:spcBef>
                <a:spcPts val="150"/>
              </a:spcBef>
              <a:defRPr/>
            </a:pPr>
            <a:r>
              <a:rPr sz="3600" b="1" spc="-5" dirty="0">
                <a:solidFill>
                  <a:srgbClr val="C00000"/>
                </a:solidFill>
                <a:latin typeface="Carlito"/>
                <a:cs typeface="Carlito"/>
              </a:rPr>
              <a:t>Common</a:t>
            </a:r>
            <a:r>
              <a:rPr sz="3600" b="1" spc="-35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3600" b="1" spc="-5" dirty="0">
                <a:solidFill>
                  <a:srgbClr val="C00000"/>
                </a:solidFill>
                <a:latin typeface="Carlito"/>
                <a:cs typeface="Carlito"/>
              </a:rPr>
              <a:t>Coupling</a:t>
            </a:r>
            <a:endParaRPr sz="3600" dirty="0">
              <a:latin typeface="Carlito"/>
              <a:cs typeface="Carlito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D0A5B721-2C9E-53BE-676E-CCAA1FA2031F}"/>
              </a:ext>
            </a:extLst>
          </p:cNvPr>
          <p:cNvSpPr txBox="1"/>
          <p:nvPr/>
        </p:nvSpPr>
        <p:spPr>
          <a:xfrm>
            <a:off x="1795552" y="2423937"/>
            <a:ext cx="7210425" cy="290512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i="1" spc="-5" dirty="0">
                <a:latin typeface="Carlito"/>
                <a:cs typeface="Carlito"/>
              </a:rPr>
              <a:t>This occurs when all modules </a:t>
            </a:r>
            <a:r>
              <a:rPr i="1" spc="-10" dirty="0">
                <a:latin typeface="Carlito"/>
                <a:cs typeface="Carlito"/>
              </a:rPr>
              <a:t>reference </a:t>
            </a:r>
            <a:r>
              <a:rPr i="1" spc="-5" dirty="0">
                <a:latin typeface="Carlito"/>
                <a:cs typeface="Carlito"/>
              </a:rPr>
              <a:t>the same global </a:t>
            </a:r>
            <a:r>
              <a:rPr i="1" spc="-10" dirty="0">
                <a:latin typeface="Carlito"/>
                <a:cs typeface="Carlito"/>
              </a:rPr>
              <a:t>data</a:t>
            </a:r>
            <a:r>
              <a:rPr i="1" spc="130" dirty="0">
                <a:latin typeface="Carlito"/>
                <a:cs typeface="Carlito"/>
              </a:rPr>
              <a:t> </a:t>
            </a:r>
            <a:r>
              <a:rPr i="1" spc="-10" dirty="0">
                <a:latin typeface="Carlito"/>
                <a:cs typeface="Carlito"/>
              </a:rPr>
              <a:t>structure</a:t>
            </a:r>
            <a:endParaRPr dirty="0">
              <a:latin typeface="Carlito"/>
              <a:cs typeface="Carlito"/>
            </a:endParaRP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9E6DFED7-8E61-7596-3042-2E85A1689148}"/>
              </a:ext>
            </a:extLst>
          </p:cNvPr>
          <p:cNvSpPr txBox="1"/>
          <p:nvPr/>
        </p:nvSpPr>
        <p:spPr>
          <a:xfrm>
            <a:off x="530315" y="2873199"/>
            <a:ext cx="8205787" cy="566738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US" sz="3600" b="1" dirty="0">
                <a:latin typeface="+mj-lt"/>
                <a:ea typeface="+mj-ea"/>
                <a:cs typeface="+mj-cs"/>
              </a:rPr>
              <a:t>Design at the Routine Level: </a:t>
            </a:r>
            <a:r>
              <a:rPr lang="en-US" sz="2400" dirty="0">
                <a:latin typeface="+mj-lt"/>
                <a:ea typeface="+mj-ea"/>
                <a:cs typeface="+mj-cs"/>
              </a:rPr>
              <a:t>Not Worst Coupling</a:t>
            </a: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B2180673-0DE8-DED2-F877-B98C57278C7D}"/>
              </a:ext>
            </a:extLst>
          </p:cNvPr>
          <p:cNvSpPr txBox="1"/>
          <p:nvPr/>
        </p:nvSpPr>
        <p:spPr>
          <a:xfrm>
            <a:off x="2528977" y="3585987"/>
            <a:ext cx="4025900" cy="57467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0" tIns="20320" rIns="0" bIns="0">
            <a:spAutoFit/>
          </a:bodyPr>
          <a:lstStyle/>
          <a:p>
            <a:pPr marL="90805">
              <a:spcBef>
                <a:spcPts val="160"/>
              </a:spcBef>
              <a:defRPr/>
            </a:pPr>
            <a:r>
              <a:rPr sz="3600" b="1" spc="-10" dirty="0">
                <a:solidFill>
                  <a:srgbClr val="C00000"/>
                </a:solidFill>
                <a:latin typeface="Carlito"/>
                <a:cs typeface="Carlito"/>
              </a:rPr>
              <a:t>External</a:t>
            </a:r>
            <a:r>
              <a:rPr sz="3600" b="1" spc="-4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3600" b="1" dirty="0">
                <a:solidFill>
                  <a:srgbClr val="C00000"/>
                </a:solidFill>
                <a:latin typeface="Carlito"/>
                <a:cs typeface="Carlito"/>
              </a:rPr>
              <a:t>Coupling</a:t>
            </a:r>
            <a:endParaRPr sz="3600" dirty="0">
              <a:latin typeface="Carlito"/>
              <a:cs typeface="Carlito"/>
            </a:endParaRP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501392DB-C2BD-CC2D-B59E-5FD779606B6D}"/>
              </a:ext>
            </a:extLst>
          </p:cNvPr>
          <p:cNvSpPr txBox="1"/>
          <p:nvPr/>
        </p:nvSpPr>
        <p:spPr>
          <a:xfrm>
            <a:off x="1995577" y="4252737"/>
            <a:ext cx="6934200" cy="290512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i="1" spc="-5" dirty="0">
                <a:latin typeface="Carlito"/>
                <a:cs typeface="Carlito"/>
              </a:rPr>
              <a:t>Modules </a:t>
            </a:r>
            <a:r>
              <a:rPr i="1" spc="-10" dirty="0">
                <a:latin typeface="Carlito"/>
                <a:cs typeface="Carlito"/>
              </a:rPr>
              <a:t>communicate </a:t>
            </a:r>
            <a:r>
              <a:rPr i="1" spc="-5" dirty="0">
                <a:latin typeface="Carlito"/>
                <a:cs typeface="Carlito"/>
              </a:rPr>
              <a:t>through an </a:t>
            </a:r>
            <a:r>
              <a:rPr i="1" spc="-10" dirty="0">
                <a:latin typeface="Carlito"/>
                <a:cs typeface="Carlito"/>
              </a:rPr>
              <a:t>external </a:t>
            </a:r>
            <a:r>
              <a:rPr i="1" spc="-5" dirty="0">
                <a:latin typeface="Carlito"/>
                <a:cs typeface="Carlito"/>
              </a:rPr>
              <a:t>medium, such as</a:t>
            </a:r>
            <a:r>
              <a:rPr i="1" spc="100" dirty="0">
                <a:latin typeface="Carlito"/>
                <a:cs typeface="Carlito"/>
              </a:rPr>
              <a:t> </a:t>
            </a:r>
            <a:r>
              <a:rPr i="1" spc="-5" dirty="0">
                <a:latin typeface="Carlito"/>
                <a:cs typeface="Carlito"/>
              </a:rPr>
              <a:t>files</a:t>
            </a:r>
            <a:endParaRPr dirty="0">
              <a:latin typeface="Carlito"/>
              <a:cs typeface="Carlito"/>
            </a:endParaRPr>
          </a:p>
        </p:txBody>
      </p:sp>
      <p:sp>
        <p:nvSpPr>
          <p:cNvPr id="14" name="object 8">
            <a:extLst>
              <a:ext uri="{FF2B5EF4-FFF2-40B4-BE49-F238E27FC236}">
                <a16:creationId xmlns:a16="http://schemas.microsoft.com/office/drawing/2014/main" id="{6D31DC28-7058-8C4D-6DC4-29A1E991E174}"/>
              </a:ext>
            </a:extLst>
          </p:cNvPr>
          <p:cNvSpPr txBox="1"/>
          <p:nvPr/>
        </p:nvSpPr>
        <p:spPr>
          <a:xfrm>
            <a:off x="465227" y="4576587"/>
            <a:ext cx="8334375" cy="566737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US" sz="3600" b="1" dirty="0">
                <a:latin typeface="+mj-lt"/>
                <a:ea typeface="+mj-ea"/>
                <a:cs typeface="+mj-cs"/>
              </a:rPr>
              <a:t>Design at the Routine Level: </a:t>
            </a:r>
            <a:r>
              <a:rPr lang="en-US" sz="2400" dirty="0">
                <a:latin typeface="+mj-lt"/>
                <a:ea typeface="+mj-ea"/>
                <a:cs typeface="+mj-cs"/>
              </a:rPr>
              <a:t>Acceptable Coupling</a:t>
            </a:r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127497C3-4A92-B2DC-E232-C01D00447457}"/>
              </a:ext>
            </a:extLst>
          </p:cNvPr>
          <p:cNvSpPr txBox="1"/>
          <p:nvPr/>
        </p:nvSpPr>
        <p:spPr>
          <a:xfrm>
            <a:off x="2528977" y="5289374"/>
            <a:ext cx="3844925" cy="57467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0" tIns="21590" rIns="0" bIns="0">
            <a:spAutoFit/>
          </a:bodyPr>
          <a:lstStyle/>
          <a:p>
            <a:pPr marL="90805">
              <a:spcBef>
                <a:spcPts val="170"/>
              </a:spcBef>
              <a:defRPr/>
            </a:pPr>
            <a:r>
              <a:rPr sz="3600" b="1" spc="-15" dirty="0">
                <a:solidFill>
                  <a:srgbClr val="C00000"/>
                </a:solidFill>
                <a:latin typeface="Carlito"/>
                <a:cs typeface="Carlito"/>
              </a:rPr>
              <a:t>Control</a:t>
            </a:r>
            <a:r>
              <a:rPr sz="3600" b="1" spc="-3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3600" b="1" spc="-5" dirty="0">
                <a:solidFill>
                  <a:srgbClr val="C00000"/>
                </a:solidFill>
                <a:latin typeface="Carlito"/>
                <a:cs typeface="Carlito"/>
              </a:rPr>
              <a:t>Coupling</a:t>
            </a:r>
            <a:endParaRPr sz="3600" dirty="0">
              <a:latin typeface="Carlito"/>
              <a:cs typeface="Carlito"/>
            </a:endParaRPr>
          </a:p>
        </p:txBody>
      </p:sp>
      <p:sp>
        <p:nvSpPr>
          <p:cNvPr id="16" name="object 10">
            <a:extLst>
              <a:ext uri="{FF2B5EF4-FFF2-40B4-BE49-F238E27FC236}">
                <a16:creationId xmlns:a16="http://schemas.microsoft.com/office/drawing/2014/main" id="{20F86FE8-15F3-B131-1EAE-660847CF3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77" y="5957712"/>
            <a:ext cx="9053423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28575" rIns="0" bIns="0">
            <a:spAutoFit/>
          </a:bodyPr>
          <a:lstStyle/>
          <a:p>
            <a:pPr marL="1501775" indent="-1489075">
              <a:lnSpc>
                <a:spcPts val="2088"/>
              </a:lnSpc>
              <a:spcBef>
                <a:spcPts val="225"/>
              </a:spcBef>
            </a:pPr>
            <a:r>
              <a:rPr lang="en-US" i="1" dirty="0">
                <a:latin typeface="Carlito"/>
                <a:ea typeface="Carlito"/>
                <a:cs typeface="Carlito"/>
              </a:rPr>
              <a:t>Two modules exhibit control coupling if one (``module A'') passes to the other (``module B'') a piece of  information that is intended to control the internal logic of the other.</a:t>
            </a:r>
            <a:endParaRPr lang="en-US" dirty="0">
              <a:latin typeface="Carlito"/>
              <a:ea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4051892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 fontScale="90000"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Design at the Routine Level: </a:t>
            </a:r>
            <a:r>
              <a:rPr lang="en-US" sz="3100" b="1" dirty="0">
                <a:solidFill>
                  <a:schemeClr val="tx1"/>
                </a:solidFill>
              </a:rPr>
              <a:t>Acceptable Coupling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BB8D85C8-CE84-66D2-46DF-777E075DB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13</a:t>
            </a:fld>
            <a:endParaRPr lang="en-US" sz="70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4CFF000-33C1-0212-1B0A-BD4634F2430E}"/>
              </a:ext>
            </a:extLst>
          </p:cNvPr>
          <p:cNvSpPr txBox="1"/>
          <p:nvPr/>
        </p:nvSpPr>
        <p:spPr>
          <a:xfrm>
            <a:off x="2386642" y="1293423"/>
            <a:ext cx="3810000" cy="573088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lIns="0" tIns="19050" rIns="0" bIns="0">
            <a:spAutoFit/>
          </a:bodyPr>
          <a:lstStyle/>
          <a:p>
            <a:pPr marL="90805">
              <a:spcBef>
                <a:spcPts val="150"/>
              </a:spcBef>
              <a:defRPr/>
            </a:pPr>
            <a:r>
              <a:rPr sz="3600" b="1" spc="-10" dirty="0">
                <a:solidFill>
                  <a:srgbClr val="C00000"/>
                </a:solidFill>
                <a:latin typeface="Carlito"/>
                <a:cs typeface="Carlito"/>
              </a:rPr>
              <a:t>Stamp</a:t>
            </a:r>
            <a:r>
              <a:rPr sz="3600" b="1" spc="-40" dirty="0">
                <a:solidFill>
                  <a:srgbClr val="C00000"/>
                </a:solidFill>
                <a:latin typeface="Carlito"/>
                <a:cs typeface="Carlito"/>
              </a:rPr>
              <a:t> </a:t>
            </a:r>
            <a:r>
              <a:rPr sz="3600" b="1" dirty="0">
                <a:solidFill>
                  <a:srgbClr val="C00000"/>
                </a:solidFill>
                <a:latin typeface="Carlito"/>
                <a:cs typeface="Carlito"/>
              </a:rPr>
              <a:t>Coupling</a:t>
            </a:r>
            <a:endParaRPr sz="3600" dirty="0">
              <a:latin typeface="Carlito"/>
              <a:cs typeface="Carlito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12B1649-5F27-EDA9-EA42-CD085A0271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217" y="2114161"/>
            <a:ext cx="8302625" cy="846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13970" rIns="0" bIns="0">
            <a:spAutoFit/>
          </a:bodyPr>
          <a:lstStyle/>
          <a:p>
            <a:pPr marL="11113" algn="ctr">
              <a:lnSpc>
                <a:spcPct val="99000"/>
              </a:lnSpc>
              <a:spcBef>
                <a:spcPts val="113"/>
              </a:spcBef>
            </a:pPr>
            <a:r>
              <a:rPr lang="en-US" i="1">
                <a:latin typeface="Carlito"/>
                <a:ea typeface="Carlito"/>
                <a:cs typeface="Carlito"/>
              </a:rPr>
              <a:t>Two modules (``A'' and ``B'') exhibit stamp coupling if one passes directly to the other a ``composite'' piece of  data-that is, a piece of data with meaningful internal structure -such as a record (or structure), array, or  (pointer to) a list or tree.</a:t>
            </a:r>
            <a:endParaRPr lang="en-US">
              <a:latin typeface="Carlito"/>
              <a:ea typeface="Carlito"/>
              <a:cs typeface="Carlito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41B988B-3647-9F0A-FA6A-FC9EE2DE9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0867" y="3080948"/>
            <a:ext cx="5376863" cy="3384550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171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Design at the Routine Level: </a:t>
            </a:r>
            <a:r>
              <a:rPr lang="en-US" sz="3100" b="1" dirty="0">
                <a:solidFill>
                  <a:schemeClr val="tx1"/>
                </a:solidFill>
              </a:rPr>
              <a:t>Ideal Coupling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BB8D85C8-CE84-66D2-46DF-777E075DB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14</a:t>
            </a:fld>
            <a:endParaRPr lang="en-US" sz="70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8C9AF01C-48A4-16B2-A4CD-625B207B80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1069" y="1733909"/>
            <a:ext cx="8618967" cy="36734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13335" rIns="0" bIns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3200" dirty="0">
                <a:latin typeface="Carlito"/>
                <a:ea typeface="Carlito"/>
                <a:cs typeface="Carlito"/>
              </a:rPr>
              <a:t>Modules </a:t>
            </a:r>
            <a:r>
              <a:rPr lang="en-US" sz="3200" i="1" dirty="0">
                <a:latin typeface="Carlito"/>
                <a:ea typeface="Carlito"/>
                <a:cs typeface="Carlito"/>
              </a:rPr>
              <a:t>A </a:t>
            </a:r>
            <a:r>
              <a:rPr lang="en-US" sz="3200" dirty="0">
                <a:latin typeface="Carlito"/>
                <a:ea typeface="Carlito"/>
                <a:cs typeface="Carlito"/>
              </a:rPr>
              <a:t>and </a:t>
            </a:r>
            <a:r>
              <a:rPr lang="en-US" sz="3200" i="1" dirty="0">
                <a:latin typeface="Carlito"/>
                <a:ea typeface="Carlito"/>
                <a:cs typeface="Carlito"/>
              </a:rPr>
              <a:t>B </a:t>
            </a:r>
            <a:r>
              <a:rPr lang="en-US" sz="3200" dirty="0">
                <a:latin typeface="Carlito"/>
                <a:ea typeface="Carlito"/>
                <a:cs typeface="Carlito"/>
              </a:rPr>
              <a:t>have the lowest possible level of coupling – no coupling at all - if they have no direct communication and are also  not ``tied together'' by shared access to the same global data area  or external device.</a:t>
            </a:r>
          </a:p>
          <a:p>
            <a:pPr marL="12700">
              <a:spcBef>
                <a:spcPts val="100"/>
              </a:spcBef>
            </a:pPr>
            <a:endParaRPr lang="en-US" sz="3200" dirty="0">
              <a:latin typeface="Carlito"/>
              <a:ea typeface="Carlito"/>
              <a:cs typeface="Carlito"/>
            </a:endParaRPr>
          </a:p>
          <a:p>
            <a:pPr marL="12700">
              <a:lnSpc>
                <a:spcPts val="2088"/>
              </a:lnSpc>
              <a:spcBef>
                <a:spcPts val="1150"/>
              </a:spcBef>
            </a:pPr>
            <a:r>
              <a:rPr lang="en-US" i="1" dirty="0">
                <a:latin typeface="Carlito"/>
                <a:ea typeface="Carlito"/>
                <a:cs typeface="Carlito"/>
              </a:rPr>
              <a:t>it implies that A and B be implemented, tested, and maintained (almost) completely independently; neither will affect  the behavior of the other</a:t>
            </a:r>
            <a:endParaRPr lang="en-US" dirty="0">
              <a:latin typeface="Carlito"/>
              <a:ea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570380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>
          <a:xfrm>
            <a:off x="-25639" y="-10590"/>
            <a:ext cx="9169639" cy="817280"/>
          </a:xfrm>
          <a:solidFill>
            <a:schemeClr val="accent6">
              <a:lumMod val="40000"/>
              <a:lumOff val="60000"/>
            </a:schemeClr>
          </a:solidFill>
        </p:spPr>
        <p:txBody>
          <a:bodyPr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+mn-lt"/>
              </a:rPr>
              <a:t>Reading </a:t>
            </a:r>
            <a:endParaRPr lang="en-US" b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B97EC265-EF3F-919F-4777-8BF9578AB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840" y="2226344"/>
            <a:ext cx="403937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8C2C5299-C07B-1DA2-18DC-3CB4D0DF474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1447800"/>
            <a:ext cx="8732808" cy="3429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65760" indent="-274320" algn="justLow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84CDEA"/>
              </a:buClr>
              <a:buSzPct val="100000"/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4864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274320" algn="justLow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27432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Aft>
                <a:spcPts val="0"/>
              </a:spcAft>
              <a:buClr>
                <a:srgbClr val="0070C0"/>
              </a:buClr>
              <a:buFont typeface="Wingdings 3"/>
              <a:buChar char=""/>
              <a:defRPr/>
            </a:pPr>
            <a:r>
              <a:rPr lang="en-US" sz="20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Code Complete: A Practical Handbook of Software Construction, 2</a:t>
            </a:r>
            <a:r>
              <a:rPr lang="en-US" sz="2000" baseline="300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nd</a:t>
            </a:r>
            <a:r>
              <a:rPr lang="en-US" sz="20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 Edition, Steve McConnell. </a:t>
            </a:r>
          </a:p>
          <a:p>
            <a:pPr marL="823277" lvl="2">
              <a:spcAft>
                <a:spcPts val="0"/>
              </a:spcAft>
              <a:buClr>
                <a:srgbClr val="0070C0"/>
              </a:buClr>
              <a:buFont typeface="Wingdings 3"/>
              <a:buChar char=""/>
              <a:defRPr/>
            </a:pPr>
            <a:r>
              <a:rPr lang="en-US" sz="1700" dirty="0">
                <a:solidFill>
                  <a:srgbClr val="46424D"/>
                </a:solidFill>
                <a:latin typeface="Arial"/>
                <a:ea typeface="ＭＳ Ｐゴシック" charset="-128"/>
                <a:cs typeface="Arial"/>
              </a:rPr>
              <a:t>Chapter 7</a:t>
            </a:r>
          </a:p>
          <a:p>
            <a:pPr marL="533400" lvl="1" indent="-533400">
              <a:lnSpc>
                <a:spcPct val="115000"/>
              </a:lnSpc>
              <a:spcBef>
                <a:spcPct val="40000"/>
              </a:spcBef>
              <a:buClr>
                <a:srgbClr val="0BD0D9"/>
              </a:buClr>
              <a:buSzPct val="95000"/>
              <a:buFont typeface="Wingdings 2" pitchFamily="18" charset="2"/>
              <a:buNone/>
              <a:defRPr/>
            </a:pPr>
            <a:endParaRPr lang="en-NZ" altLang="en-US" dirty="0"/>
          </a:p>
        </p:txBody>
      </p:sp>
    </p:spTree>
    <p:extLst>
      <p:ext uri="{BB962C8B-B14F-4D97-AF65-F5344CB8AC3E}">
        <p14:creationId xmlns:p14="http://schemas.microsoft.com/office/powerpoint/2010/main" val="2360403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425344" y="6646272"/>
            <a:ext cx="984019" cy="18751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3BD7578B-FDA5-49A9-927E-B5F79B796B65}" type="slidenum">
              <a:rPr lang="en-US" sz="700"/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16</a:t>
            </a:fld>
            <a:endParaRPr lang="en-US" sz="7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C360D8-06EC-45E1-9F03-07203CCB8D4E}"/>
              </a:ext>
            </a:extLst>
          </p:cNvPr>
          <p:cNvSpPr txBox="1"/>
          <p:nvPr/>
        </p:nvSpPr>
        <p:spPr>
          <a:xfrm>
            <a:off x="1721224" y="2286000"/>
            <a:ext cx="570155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solidFill>
                  <a:srgbClr val="404040"/>
                </a:solidFill>
                <a:cs typeface="Calibri"/>
              </a:rPr>
              <a:t>Any questions? ​</a:t>
            </a:r>
          </a:p>
          <a:p>
            <a:pPr algn="ctr"/>
            <a:r>
              <a:rPr lang="en-US" sz="3600">
                <a:solidFill>
                  <a:srgbClr val="404040"/>
                </a:solidFill>
                <a:cs typeface="Calibri"/>
              </a:rPr>
              <a:t>Please feel free to raise your hands and ask.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0711CCF-C1F4-43F6-B9FC-0A5338AB8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5508" y="675881"/>
            <a:ext cx="1299457" cy="128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6050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 CPIT 110">
  <a:themeElements>
    <a:clrScheme name="Custom 1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A2B7C0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CPIT 110" id="{8B30B5B8-1EAF-4AD4-A47C-55C6155E0564}" vid="{0F986C0D-D438-41BC-BADF-01C576FE679B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7d1a000-c374-4d35-b30d-1e8e9eadf82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38470530D50274EAFC96C307341D87E" ma:contentTypeVersion="7" ma:contentTypeDescription="Create a new document." ma:contentTypeScope="" ma:versionID="b8910448027bc4ed34846ea5a9c8ae5b">
  <xsd:schema xmlns:xsd="http://www.w3.org/2001/XMLSchema" xmlns:xs="http://www.w3.org/2001/XMLSchema" xmlns:p="http://schemas.microsoft.com/office/2006/metadata/properties" xmlns:ns3="a7d1a000-c374-4d35-b30d-1e8e9eadf823" xmlns:ns4="1ec989cd-5ee7-4e6d-938f-778fe4b0c792" targetNamespace="http://schemas.microsoft.com/office/2006/metadata/properties" ma:root="true" ma:fieldsID="4f803134678dcdcb51c3dda8fbd31a82" ns3:_="" ns4:_="">
    <xsd:import namespace="a7d1a000-c374-4d35-b30d-1e8e9eadf823"/>
    <xsd:import namespace="1ec989cd-5ee7-4e6d-938f-778fe4b0c792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d1a000-c374-4d35-b30d-1e8e9eadf823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c989cd-5ee7-4e6d-938f-778fe4b0c792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D0BDFD9-B336-410C-8C70-E8CCE7AD7CB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2E0C92-AC64-42CA-94F8-4CA15E127DA0}">
  <ds:schemaRefs>
    <ds:schemaRef ds:uri="http://purl.org/dc/dcmitype/"/>
    <ds:schemaRef ds:uri="http://purl.org/dc/terms/"/>
    <ds:schemaRef ds:uri="http://schemas.microsoft.com/office/2006/documentManagement/types"/>
    <ds:schemaRef ds:uri="1ec989cd-5ee7-4e6d-938f-778fe4b0c792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a7d1a000-c374-4d35-b30d-1e8e9eadf823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07067C3D-3075-485C-B52B-5E822900D7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d1a000-c374-4d35-b30d-1e8e9eadf823"/>
    <ds:schemaRef ds:uri="1ec989cd-5ee7-4e6d-938f-778fe4b0c79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 CPIT 110</Template>
  <TotalTime>324</TotalTime>
  <Words>1233</Words>
  <Application>Microsoft Office PowerPoint</Application>
  <PresentationFormat>On-screen Show (4:3)</PresentationFormat>
  <Paragraphs>133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8" baseType="lpstr">
      <vt:lpstr>Arial</vt:lpstr>
      <vt:lpstr>Calibri</vt:lpstr>
      <vt:lpstr>Calibri Light</vt:lpstr>
      <vt:lpstr>Carlito</vt:lpstr>
      <vt:lpstr>DejaVu Sans Mono</vt:lpstr>
      <vt:lpstr>Eurostile</vt:lpstr>
      <vt:lpstr>Söhne</vt:lpstr>
      <vt:lpstr>Wingdings</vt:lpstr>
      <vt:lpstr>Wingdings 2</vt:lpstr>
      <vt:lpstr>Wingdings 3</vt:lpstr>
      <vt:lpstr>Theme CPIT 110</vt:lpstr>
      <vt:lpstr>Custom Design</vt:lpstr>
      <vt:lpstr>Chapter  2.9 Creating High-Quality Code</vt:lpstr>
      <vt:lpstr>Outline</vt:lpstr>
      <vt:lpstr>Design at the Routine Level</vt:lpstr>
      <vt:lpstr>Design at the Routine Level: Cohesion</vt:lpstr>
      <vt:lpstr>Design at the Routine Level: Desired Cohesion</vt:lpstr>
      <vt:lpstr>Design at the Routine Level: Acceptable Cohesion</vt:lpstr>
      <vt:lpstr>Design at the Routine Level: Acceptable Cohesion</vt:lpstr>
      <vt:lpstr>Design at the Routine Level: Unacceptable Cohesion</vt:lpstr>
      <vt:lpstr>Design at the Routine Level: Unacceptable Cohesion</vt:lpstr>
      <vt:lpstr>Design at the Routine Level: Unacceptable Cohesion</vt:lpstr>
      <vt:lpstr>Design at the Routine Level</vt:lpstr>
      <vt:lpstr>Design at the Routine Level</vt:lpstr>
      <vt:lpstr>Design at the Routine Level: Acceptable Coupling</vt:lpstr>
      <vt:lpstr>Design at the Routine Level: Ideal Coupling</vt:lpstr>
      <vt:lpstr>Reading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0  Introduction to Problem-Solving</dc:title>
  <dc:creator>Ahmad Tayeb;ajtayeb@kau.edu.sa</dc:creator>
  <cp:lastModifiedBy>Mohammad Dakhilallah Mohammad Alahmadi</cp:lastModifiedBy>
  <cp:revision>30</cp:revision>
  <dcterms:created xsi:type="dcterms:W3CDTF">2019-06-07T16:06:41Z</dcterms:created>
  <dcterms:modified xsi:type="dcterms:W3CDTF">2025-03-24T08:25:05Z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0x010100038470530D50274EAFC96C307341D87E</vt:lpwstr>
  </property>
</Properties>
</file>