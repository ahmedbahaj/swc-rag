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 id="2147483757" r:id="rId5"/>
  </p:sldMasterIdLst>
  <p:notesMasterIdLst>
    <p:notesMasterId r:id="rId27"/>
  </p:notesMasterIdLst>
  <p:sldIdLst>
    <p:sldId id="330" r:id="rId6"/>
    <p:sldId id="414" r:id="rId7"/>
    <p:sldId id="416" r:id="rId8"/>
    <p:sldId id="417" r:id="rId9"/>
    <p:sldId id="419" r:id="rId10"/>
    <p:sldId id="420" r:id="rId11"/>
    <p:sldId id="421" r:id="rId12"/>
    <p:sldId id="415" r:id="rId13"/>
    <p:sldId id="431" r:id="rId14"/>
    <p:sldId id="432" r:id="rId15"/>
    <p:sldId id="433" r:id="rId16"/>
    <p:sldId id="434" r:id="rId17"/>
    <p:sldId id="435" r:id="rId18"/>
    <p:sldId id="436" r:id="rId19"/>
    <p:sldId id="437" r:id="rId20"/>
    <p:sldId id="438" r:id="rId21"/>
    <p:sldId id="423" r:id="rId22"/>
    <p:sldId id="413" r:id="rId23"/>
    <p:sldId id="439" r:id="rId24"/>
    <p:sldId id="440" r:id="rId25"/>
    <p:sldId id="441"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id="{EB54229A-E673-4F50-937B-310B31E2AF04}">
          <p14:sldIdLst>
            <p14:sldId id="330"/>
            <p14:sldId id="414"/>
            <p14:sldId id="416"/>
            <p14:sldId id="417"/>
            <p14:sldId id="419"/>
            <p14:sldId id="420"/>
            <p14:sldId id="421"/>
            <p14:sldId id="415"/>
            <p14:sldId id="431"/>
            <p14:sldId id="432"/>
            <p14:sldId id="433"/>
            <p14:sldId id="434"/>
            <p14:sldId id="435"/>
            <p14:sldId id="436"/>
            <p14:sldId id="437"/>
            <p14:sldId id="438"/>
            <p14:sldId id="423"/>
            <p14:sldId id="413"/>
            <p14:sldId id="439"/>
            <p14:sldId id="440"/>
            <p14:sldId id="44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DEA"/>
    <a:srgbClr val="0A4B67"/>
    <a:srgbClr val="88A6B1"/>
    <a:srgbClr val="565351"/>
    <a:srgbClr val="767270"/>
    <a:srgbClr val="FFFFD1"/>
    <a:srgbClr val="6E96A2"/>
    <a:srgbClr val="6B9F25"/>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0C0AEA-CC80-407A-AD52-6C5C3883B89A}" v="3" dt="2023-09-12T14:53:20.8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57" autoAdjust="0"/>
    <p:restoredTop sz="71604" autoAdjust="0"/>
  </p:normalViewPr>
  <p:slideViewPr>
    <p:cSldViewPr snapToGrid="0">
      <p:cViewPr varScale="1">
        <p:scale>
          <a:sx n="79" d="100"/>
          <a:sy n="79" d="100"/>
        </p:scale>
        <p:origin x="2176" y="68"/>
      </p:cViewPr>
      <p:guideLst/>
    </p:cSldViewPr>
  </p:slideViewPr>
  <p:notesTextViewPr>
    <p:cViewPr>
      <p:scale>
        <a:sx n="1" d="1"/>
        <a:sy n="1" d="1"/>
      </p:scale>
      <p:origin x="0" y="-75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Dakhilallah Mohammad Alahmadi" userId="9b436a58-7297-423f-8410-66c59c69358a" providerId="ADAL" clId="{EF0C0AEA-CC80-407A-AD52-6C5C3883B89A}"/>
    <pc:docChg chg="delSld modSld modSection">
      <pc:chgData name="Mohammad Dakhilallah Mohammad Alahmadi" userId="9b436a58-7297-423f-8410-66c59c69358a" providerId="ADAL" clId="{EF0C0AEA-CC80-407A-AD52-6C5C3883B89A}" dt="2023-09-12T14:53:40.310" v="19" actId="20577"/>
      <pc:docMkLst>
        <pc:docMk/>
      </pc:docMkLst>
      <pc:sldChg chg="addSp delSp modSp mod">
        <pc:chgData name="Mohammad Dakhilallah Mohammad Alahmadi" userId="9b436a58-7297-423f-8410-66c59c69358a" providerId="ADAL" clId="{EF0C0AEA-CC80-407A-AD52-6C5C3883B89A}" dt="2023-09-12T14:34:06.975" v="4"/>
        <pc:sldMkLst>
          <pc:docMk/>
          <pc:sldMk cId="0" sldId="330"/>
        </pc:sldMkLst>
        <pc:spChg chg="mod">
          <ac:chgData name="Mohammad Dakhilallah Mohammad Alahmadi" userId="9b436a58-7297-423f-8410-66c59c69358a" providerId="ADAL" clId="{EF0C0AEA-CC80-407A-AD52-6C5C3883B89A}" dt="2023-09-12T14:34:04.857" v="2" actId="113"/>
          <ac:spMkLst>
            <pc:docMk/>
            <pc:sldMk cId="0" sldId="330"/>
            <ac:spMk id="4098" creationId="{5F092033-53A0-4557-BC8C-EDF7C4004F50}"/>
          </ac:spMkLst>
        </pc:spChg>
        <pc:picChg chg="add del">
          <ac:chgData name="Mohammad Dakhilallah Mohammad Alahmadi" userId="9b436a58-7297-423f-8410-66c59c69358a" providerId="ADAL" clId="{EF0C0AEA-CC80-407A-AD52-6C5C3883B89A}" dt="2023-09-12T14:34:06.975" v="4"/>
          <ac:picMkLst>
            <pc:docMk/>
            <pc:sldMk cId="0" sldId="330"/>
            <ac:picMk id="1026" creationId="{9513B949-31D4-08A5-C04E-0DE9E06315BF}"/>
          </ac:picMkLst>
        </pc:picChg>
      </pc:sldChg>
      <pc:sldChg chg="del">
        <pc:chgData name="Mohammad Dakhilallah Mohammad Alahmadi" userId="9b436a58-7297-423f-8410-66c59c69358a" providerId="ADAL" clId="{EF0C0AEA-CC80-407A-AD52-6C5C3883B89A}" dt="2023-09-09T19:46:35.678" v="0" actId="47"/>
        <pc:sldMkLst>
          <pc:docMk/>
          <pc:sldMk cId="0" sldId="333"/>
        </pc:sldMkLst>
      </pc:sldChg>
      <pc:sldChg chg="modNotesTx">
        <pc:chgData name="Mohammad Dakhilallah Mohammad Alahmadi" userId="9b436a58-7297-423f-8410-66c59c69358a" providerId="ADAL" clId="{EF0C0AEA-CC80-407A-AD52-6C5C3883B89A}" dt="2023-09-12T14:53:40.310" v="19" actId="20577"/>
        <pc:sldMkLst>
          <pc:docMk/>
          <pc:sldMk cId="1912636746" sldId="433"/>
        </pc:sldMkLst>
      </pc:sldChg>
    </pc:docChg>
  </pc:docChgLst>
  <pc:docChgLst>
    <pc:chgData name="Mohammad Dakhilallah Mohammad Alahmadi" userId="S::04100753@uj.edu.sa::9b436a58-7297-423f-8410-66c59c69358a" providerId="AD" clId="Web-{539944AC-E72E-1885-3564-544071DCE63E}"/>
    <pc:docChg chg="addSld delSld modSection">
      <pc:chgData name="Mohammad Dakhilallah Mohammad Alahmadi" userId="S::04100753@uj.edu.sa::9b436a58-7297-423f-8410-66c59c69358a" providerId="AD" clId="Web-{539944AC-E72E-1885-3564-544071DCE63E}" dt="2023-08-25T12:10:55.211" v="1"/>
      <pc:docMkLst>
        <pc:docMk/>
      </pc:docMkLst>
      <pc:sldChg chg="del">
        <pc:chgData name="Mohammad Dakhilallah Mohammad Alahmadi" userId="S::04100753@uj.edu.sa::9b436a58-7297-423f-8410-66c59c69358a" providerId="AD" clId="Web-{539944AC-E72E-1885-3564-544071DCE63E}" dt="2023-08-25T12:10:48.914" v="0"/>
        <pc:sldMkLst>
          <pc:docMk/>
          <pc:sldMk cId="3131935373" sldId="441"/>
        </pc:sldMkLst>
      </pc:sldChg>
      <pc:sldChg chg="add">
        <pc:chgData name="Mohammad Dakhilallah Mohammad Alahmadi" userId="S::04100753@uj.edu.sa::9b436a58-7297-423f-8410-66c59c69358a" providerId="AD" clId="Web-{539944AC-E72E-1885-3564-544071DCE63E}" dt="2023-08-25T12:10:55.211" v="1"/>
        <pc:sldMkLst>
          <pc:docMk/>
          <pc:sldMk cId="4043575788" sldId="44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8B844-FEB7-40E9-8905-10D1181F788D}" type="datetimeFigureOut">
              <a:rPr lang="en-US" smtClean="0"/>
              <a:t>9/12/2023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8F4A1-044F-45DC-A6AA-9EC3247C362C}" type="slidenum">
              <a:rPr lang="en-US" smtClean="0"/>
              <a:t>‹#›</a:t>
            </a:fld>
            <a:endParaRPr lang="en-US"/>
          </a:p>
        </p:txBody>
      </p:sp>
    </p:spTree>
    <p:extLst>
      <p:ext uri="{BB962C8B-B14F-4D97-AF65-F5344CB8AC3E}">
        <p14:creationId xmlns:p14="http://schemas.microsoft.com/office/powerpoint/2010/main" val="299014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9B6E0E-3217-4A19-A07B-3D01EE03876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a:extLst>
              <a:ext uri="{FF2B5EF4-FFF2-40B4-BE49-F238E27FC236}">
                <a16:creationId xmlns:a16="http://schemas.microsoft.com/office/drawing/2014/main" id="{1FDB8EE8-7C53-490C-9686-35338E0B09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Last Update: 22/8/2019</a:t>
            </a:r>
          </a:p>
          <a:p>
            <a:r>
              <a:rPr lang="en-US" altLang="en-US"/>
              <a:t>Version 1.0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i="1" dirty="0">
                <a:solidFill>
                  <a:srgbClr val="000000"/>
                </a:solidFill>
                <a:effectLst/>
                <a:latin typeface="BerkeleyOldITC-BoldItalic"/>
              </a:rPr>
              <a:t>Simple-data-parameter coupling </a:t>
            </a:r>
            <a:r>
              <a:rPr lang="en-US" sz="1800" b="0" i="0" dirty="0">
                <a:solidFill>
                  <a:srgbClr val="000000"/>
                </a:solidFill>
                <a:effectLst/>
                <a:latin typeface="BerkeleyOldITC-Book"/>
              </a:rPr>
              <a:t>Two modules are simple-data-parameter coupled if all the data passed between them are of primitive data types and all the data is passed through parameter lists. This kind of coupling is normal and acceptable</a:t>
            </a:r>
            <a:r>
              <a:rPr lang="en-US" dirty="0"/>
              <a:t> </a:t>
            </a:r>
            <a:br>
              <a:rPr lang="en-US" dirty="0"/>
            </a:br>
            <a:endParaRPr lang="en-US" dirty="0"/>
          </a:p>
          <a:p>
            <a:r>
              <a:rPr lang="en-US" sz="1800" b="1" i="1" dirty="0">
                <a:solidFill>
                  <a:srgbClr val="000000"/>
                </a:solidFill>
                <a:effectLst/>
                <a:latin typeface="BerkeleyOldITC-BoldItalic"/>
              </a:rPr>
              <a:t>Simple-object coupling </a:t>
            </a:r>
            <a:r>
              <a:rPr lang="en-US" sz="1800" b="0" i="0" dirty="0">
                <a:solidFill>
                  <a:srgbClr val="000000"/>
                </a:solidFill>
                <a:effectLst/>
                <a:latin typeface="BerkeleyOldITC-Book"/>
              </a:rPr>
              <a:t>A module is simple-object coupled to an object if it instantiates that object. This kind of coupling is fine</a:t>
            </a:r>
            <a:r>
              <a:rPr lang="en-US" dirty="0"/>
              <a:t> </a:t>
            </a:r>
            <a:br>
              <a:rPr lang="en-US" dirty="0"/>
            </a:br>
            <a:endParaRPr lang="en-US" dirty="0"/>
          </a:p>
          <a:p>
            <a:r>
              <a:rPr lang="en-US" sz="1800" b="1" i="1" dirty="0">
                <a:solidFill>
                  <a:srgbClr val="000000"/>
                </a:solidFill>
                <a:effectLst/>
                <a:latin typeface="BerkeleyOldITC-BoldItalic"/>
              </a:rPr>
              <a:t>Object-parameter coupling </a:t>
            </a:r>
            <a:r>
              <a:rPr lang="en-US" sz="1800" b="0" i="0" dirty="0">
                <a:solidFill>
                  <a:srgbClr val="000000"/>
                </a:solidFill>
                <a:effectLst/>
                <a:latin typeface="BerkeleyOldITC-Book"/>
              </a:rPr>
              <a:t>Two modules are object-parameter coupled to each other if </a:t>
            </a:r>
            <a:r>
              <a:rPr lang="en-US" sz="1800" b="0" i="1" dirty="0">
                <a:solidFill>
                  <a:srgbClr val="000000"/>
                </a:solidFill>
                <a:effectLst/>
                <a:latin typeface="BerkeleyOldITC-BookItalic"/>
              </a:rPr>
              <a:t>Object1 </a:t>
            </a:r>
            <a:r>
              <a:rPr lang="en-US" sz="1800" b="0" i="0" dirty="0">
                <a:solidFill>
                  <a:srgbClr val="000000"/>
                </a:solidFill>
                <a:effectLst/>
                <a:latin typeface="BerkeleyOldITC-Book"/>
              </a:rPr>
              <a:t>requires </a:t>
            </a:r>
            <a:r>
              <a:rPr lang="en-US" sz="1800" b="0" i="1" dirty="0">
                <a:solidFill>
                  <a:srgbClr val="000000"/>
                </a:solidFill>
                <a:effectLst/>
                <a:latin typeface="BerkeleyOldITC-BookItalic"/>
              </a:rPr>
              <a:t>Object2 </a:t>
            </a:r>
            <a:r>
              <a:rPr lang="en-US" sz="1800" b="0" i="0" dirty="0">
                <a:solidFill>
                  <a:srgbClr val="000000"/>
                </a:solidFill>
                <a:effectLst/>
                <a:latin typeface="BerkeleyOldITC-Book"/>
              </a:rPr>
              <a:t>to pass it an </a:t>
            </a:r>
            <a:r>
              <a:rPr lang="en-US" sz="1800" b="0" i="1" dirty="0">
                <a:solidFill>
                  <a:srgbClr val="000000"/>
                </a:solidFill>
                <a:effectLst/>
                <a:latin typeface="BerkeleyOldITC-BookItalic"/>
              </a:rPr>
              <a:t>Object3</a:t>
            </a:r>
            <a:r>
              <a:rPr lang="en-US" sz="1800" b="0" i="0" dirty="0">
                <a:solidFill>
                  <a:srgbClr val="000000"/>
                </a:solidFill>
                <a:effectLst/>
                <a:latin typeface="BerkeleyOldITC-Book"/>
              </a:rPr>
              <a:t>. This kind of coupling is tighter than </a:t>
            </a:r>
            <a:r>
              <a:rPr lang="en-US" sz="1800" b="0" i="1" dirty="0">
                <a:solidFill>
                  <a:srgbClr val="000000"/>
                </a:solidFill>
                <a:effectLst/>
                <a:latin typeface="BerkeleyOldITC-BookItalic"/>
              </a:rPr>
              <a:t>Object1 </a:t>
            </a:r>
            <a:r>
              <a:rPr lang="en-US" sz="1800" b="0" i="0" dirty="0">
                <a:solidFill>
                  <a:srgbClr val="000000"/>
                </a:solidFill>
                <a:effectLst/>
                <a:latin typeface="BerkeleyOldITC-Book"/>
              </a:rPr>
              <a:t>requiring </a:t>
            </a:r>
            <a:r>
              <a:rPr lang="en-US" sz="1800" b="0" i="1" dirty="0">
                <a:solidFill>
                  <a:srgbClr val="000000"/>
                </a:solidFill>
                <a:effectLst/>
                <a:latin typeface="BerkeleyOldITC-BookItalic"/>
              </a:rPr>
              <a:t>Object2 </a:t>
            </a:r>
            <a:r>
              <a:rPr lang="en-US" sz="1800" b="0" i="0" dirty="0">
                <a:solidFill>
                  <a:srgbClr val="000000"/>
                </a:solidFill>
                <a:effectLst/>
                <a:latin typeface="BerkeleyOldITC-Book"/>
              </a:rPr>
              <a:t>to pass it only primitive data types because it requires </a:t>
            </a:r>
            <a:r>
              <a:rPr lang="en-US" sz="1800" b="0" i="1" dirty="0">
                <a:solidFill>
                  <a:srgbClr val="000000"/>
                </a:solidFill>
                <a:effectLst/>
                <a:latin typeface="BerkeleyOldITC-BookItalic"/>
              </a:rPr>
              <a:t>Object2 </a:t>
            </a:r>
            <a:r>
              <a:rPr lang="en-US" sz="1800" b="0" i="0" dirty="0">
                <a:solidFill>
                  <a:srgbClr val="000000"/>
                </a:solidFill>
                <a:effectLst/>
                <a:latin typeface="BerkeleyOldITC-Book"/>
              </a:rPr>
              <a:t>to know about </a:t>
            </a:r>
            <a:r>
              <a:rPr lang="en-US" sz="1800" b="0" i="1" dirty="0">
                <a:solidFill>
                  <a:srgbClr val="000000"/>
                </a:solidFill>
                <a:effectLst/>
                <a:latin typeface="BerkeleyOldITC-BookItalic"/>
              </a:rPr>
              <a:t>Object3</a:t>
            </a:r>
            <a:r>
              <a:rPr lang="en-US" dirty="0"/>
              <a:t> </a:t>
            </a:r>
            <a:br>
              <a:rPr lang="en-US" dirty="0"/>
            </a:br>
            <a:endParaRPr lang="en-US" dirty="0"/>
          </a:p>
          <a:p>
            <a:r>
              <a:rPr lang="en-US" sz="1800" b="1" i="1" dirty="0">
                <a:solidFill>
                  <a:srgbClr val="000000"/>
                </a:solidFill>
                <a:effectLst/>
                <a:latin typeface="BerkeleyOldITC-BoldItalic"/>
              </a:rPr>
              <a:t>Semantic coupling </a:t>
            </a:r>
            <a:r>
              <a:rPr lang="en-US" sz="1800" b="0" i="0" dirty="0">
                <a:solidFill>
                  <a:srgbClr val="000000"/>
                </a:solidFill>
                <a:effectLst/>
                <a:latin typeface="BerkeleyOldITC-Book"/>
              </a:rPr>
              <a:t>The most insidious kind of coupling occurs when one module makes use not of some syntactic element of another module but of some semantic knowledge of another module’s inner workings. Here are some examples:</a:t>
            </a:r>
            <a:r>
              <a:rPr lang="en-US" dirty="0"/>
              <a:t> </a:t>
            </a:r>
            <a:br>
              <a:rPr lang="en-US" dirty="0"/>
            </a:br>
            <a:r>
              <a:rPr lang="en-US" sz="1800" b="0" i="0" dirty="0">
                <a:solidFill>
                  <a:srgbClr val="000000"/>
                </a:solidFill>
                <a:effectLst/>
                <a:latin typeface="ZapfDingbats"/>
              </a:rPr>
              <a:t>■  </a:t>
            </a:r>
            <a:r>
              <a:rPr lang="en-US" sz="1800" b="0" i="1" dirty="0">
                <a:solidFill>
                  <a:srgbClr val="000000"/>
                </a:solidFill>
                <a:effectLst/>
                <a:latin typeface="BerkeleyOldITC-BookItalic"/>
              </a:rPr>
              <a:t>Module1 </a:t>
            </a:r>
            <a:r>
              <a:rPr lang="en-US" sz="1800" b="0" i="0" dirty="0">
                <a:solidFill>
                  <a:srgbClr val="000000"/>
                </a:solidFill>
                <a:effectLst/>
                <a:latin typeface="BerkeleyOldITC-Book"/>
              </a:rPr>
              <a:t>passes a control flag to </a:t>
            </a:r>
            <a:r>
              <a:rPr lang="en-US" sz="1800" b="0" i="1" dirty="0">
                <a:solidFill>
                  <a:srgbClr val="000000"/>
                </a:solidFill>
                <a:effectLst/>
                <a:latin typeface="BerkeleyOldITC-BookItalic"/>
              </a:rPr>
              <a:t>Module2 </a:t>
            </a:r>
            <a:r>
              <a:rPr lang="en-US" sz="1800" b="0" i="0" dirty="0">
                <a:solidFill>
                  <a:srgbClr val="000000"/>
                </a:solidFill>
                <a:effectLst/>
                <a:latin typeface="BerkeleyOldITC-Book"/>
              </a:rPr>
              <a:t>that tells </a:t>
            </a:r>
            <a:r>
              <a:rPr lang="en-US" sz="1800" b="0" i="1" dirty="0">
                <a:solidFill>
                  <a:srgbClr val="000000"/>
                </a:solidFill>
                <a:effectLst/>
                <a:latin typeface="BerkeleyOldITC-BookItalic"/>
              </a:rPr>
              <a:t>Module2 </a:t>
            </a:r>
            <a:r>
              <a:rPr lang="en-US" sz="1800" b="0" i="0" dirty="0">
                <a:solidFill>
                  <a:srgbClr val="000000"/>
                </a:solidFill>
                <a:effectLst/>
                <a:latin typeface="BerkeleyOldITC-Book"/>
              </a:rPr>
              <a:t>what to do. This</a:t>
            </a:r>
          </a:p>
          <a:p>
            <a:r>
              <a:rPr lang="en-US" sz="1800" b="0" i="0" dirty="0">
                <a:solidFill>
                  <a:srgbClr val="000000"/>
                </a:solidFill>
                <a:effectLst/>
                <a:latin typeface="BerkeleyOldITC-Book"/>
              </a:rPr>
              <a:t>approach requires </a:t>
            </a:r>
            <a:r>
              <a:rPr lang="en-US" sz="1800" b="0" i="1" dirty="0">
                <a:solidFill>
                  <a:srgbClr val="000000"/>
                </a:solidFill>
                <a:effectLst/>
                <a:latin typeface="BerkeleyOldITC-BookItalic"/>
              </a:rPr>
              <a:t>Module1 </a:t>
            </a:r>
            <a:r>
              <a:rPr lang="en-US" sz="1800" b="0" i="0" dirty="0">
                <a:solidFill>
                  <a:srgbClr val="000000"/>
                </a:solidFill>
                <a:effectLst/>
                <a:latin typeface="BerkeleyOldITC-Book"/>
              </a:rPr>
              <a:t>to make assumptions about the internal workings of</a:t>
            </a:r>
          </a:p>
          <a:p>
            <a:r>
              <a:rPr lang="en-US" sz="1800" b="0" i="0" dirty="0">
                <a:solidFill>
                  <a:srgbClr val="000000"/>
                </a:solidFill>
                <a:effectLst/>
                <a:latin typeface="ZapfDingbats"/>
              </a:rPr>
              <a:t>■  </a:t>
            </a:r>
            <a:r>
              <a:rPr lang="en-US" sz="1800" b="0" i="1" dirty="0">
                <a:solidFill>
                  <a:srgbClr val="000000"/>
                </a:solidFill>
                <a:effectLst/>
                <a:latin typeface="BerkeleyOldITC-BookItalic"/>
              </a:rPr>
              <a:t>Module2</a:t>
            </a:r>
            <a:r>
              <a:rPr lang="en-US" sz="1800" b="0" i="0" dirty="0">
                <a:solidFill>
                  <a:srgbClr val="000000"/>
                </a:solidFill>
                <a:effectLst/>
                <a:latin typeface="BerkeleyOldITC-Book"/>
              </a:rPr>
              <a:t>, namely what </a:t>
            </a:r>
            <a:r>
              <a:rPr lang="en-US" sz="1800" b="0" i="1" dirty="0">
                <a:solidFill>
                  <a:srgbClr val="000000"/>
                </a:solidFill>
                <a:effectLst/>
                <a:latin typeface="BerkeleyOldITC-BookItalic"/>
              </a:rPr>
              <a:t>Module2 </a:t>
            </a:r>
            <a:r>
              <a:rPr lang="en-US" sz="1800" b="0" i="0" dirty="0">
                <a:solidFill>
                  <a:srgbClr val="000000"/>
                </a:solidFill>
                <a:effectLst/>
                <a:latin typeface="BerkeleyOldITC-Book"/>
              </a:rPr>
              <a:t>is going to do with the control flag. If </a:t>
            </a:r>
            <a:r>
              <a:rPr lang="en-US" sz="1800" b="0" i="1" dirty="0">
                <a:solidFill>
                  <a:srgbClr val="000000"/>
                </a:solidFill>
                <a:effectLst/>
                <a:latin typeface="BerkeleyOldITC-BookItalic"/>
              </a:rPr>
              <a:t>Module2</a:t>
            </a:r>
          </a:p>
          <a:p>
            <a:r>
              <a:rPr lang="en-US" sz="1800" b="0" i="0" dirty="0">
                <a:solidFill>
                  <a:srgbClr val="000000"/>
                </a:solidFill>
                <a:effectLst/>
                <a:latin typeface="BerkeleyOldITC-Book"/>
              </a:rPr>
              <a:t>defines a specific data type for the control flag (enumerated type or object), this</a:t>
            </a:r>
          </a:p>
          <a:p>
            <a:r>
              <a:rPr lang="en-US" sz="1800" b="0" i="0" dirty="0">
                <a:solidFill>
                  <a:srgbClr val="000000"/>
                </a:solidFill>
                <a:effectLst/>
                <a:latin typeface="BerkeleyOldITC-Book"/>
              </a:rPr>
              <a:t>usage is probably OK.</a:t>
            </a:r>
          </a:p>
          <a:p>
            <a:r>
              <a:rPr lang="en-US" sz="1800" b="0" i="0" dirty="0">
                <a:solidFill>
                  <a:srgbClr val="000000"/>
                </a:solidFill>
                <a:effectLst/>
                <a:latin typeface="ZapfDingbats"/>
              </a:rPr>
              <a:t>■ </a:t>
            </a:r>
            <a:r>
              <a:rPr lang="en-US" sz="1800" b="0" i="1" dirty="0">
                <a:solidFill>
                  <a:srgbClr val="000000"/>
                </a:solidFill>
                <a:effectLst/>
                <a:latin typeface="BerkeleyOldITC-BookItalic"/>
              </a:rPr>
              <a:t>Module2 </a:t>
            </a:r>
            <a:r>
              <a:rPr lang="en-US" sz="1800" b="0" i="0" dirty="0">
                <a:solidFill>
                  <a:srgbClr val="000000"/>
                </a:solidFill>
                <a:effectLst/>
                <a:latin typeface="BerkeleyOldITC-Book"/>
              </a:rPr>
              <a:t>uses global data after the global data has been modified by </a:t>
            </a:r>
            <a:r>
              <a:rPr lang="en-US" sz="1800" b="0" i="1" dirty="0">
                <a:solidFill>
                  <a:srgbClr val="000000"/>
                </a:solidFill>
                <a:effectLst/>
                <a:latin typeface="BerkeleyOldITC-BookItalic"/>
              </a:rPr>
              <a:t>Module1</a:t>
            </a:r>
            <a:r>
              <a:rPr lang="en-US" sz="1800" b="0" i="0" dirty="0">
                <a:solidFill>
                  <a:srgbClr val="000000"/>
                </a:solidFill>
                <a:effectLst/>
                <a:latin typeface="BerkeleyOldITC-Book"/>
              </a:rPr>
              <a:t>.</a:t>
            </a:r>
          </a:p>
          <a:p>
            <a:r>
              <a:rPr lang="en-US" sz="1800" b="0" i="0" dirty="0">
                <a:solidFill>
                  <a:srgbClr val="000000"/>
                </a:solidFill>
                <a:effectLst/>
                <a:latin typeface="BerkeleyOldITC-Book"/>
              </a:rPr>
              <a:t>This approach requires </a:t>
            </a:r>
            <a:r>
              <a:rPr lang="en-US" sz="1800" b="0" i="1" dirty="0">
                <a:solidFill>
                  <a:srgbClr val="000000"/>
                </a:solidFill>
                <a:effectLst/>
                <a:latin typeface="BerkeleyOldITC-BookItalic"/>
              </a:rPr>
              <a:t>Module2 </a:t>
            </a:r>
            <a:r>
              <a:rPr lang="en-US" sz="1800" b="0" i="0" dirty="0">
                <a:solidFill>
                  <a:srgbClr val="000000"/>
                </a:solidFill>
                <a:effectLst/>
                <a:latin typeface="BerkeleyOldITC-Book"/>
              </a:rPr>
              <a:t>to assume that </a:t>
            </a:r>
            <a:r>
              <a:rPr lang="en-US" sz="1800" b="0" i="1" dirty="0">
                <a:solidFill>
                  <a:srgbClr val="000000"/>
                </a:solidFill>
                <a:effectLst/>
                <a:latin typeface="BerkeleyOldITC-BookItalic"/>
              </a:rPr>
              <a:t>Module1 </a:t>
            </a:r>
            <a:r>
              <a:rPr lang="en-US" sz="1800" b="0" i="0" dirty="0">
                <a:solidFill>
                  <a:srgbClr val="000000"/>
                </a:solidFill>
                <a:effectLst/>
                <a:latin typeface="BerkeleyOldITC-Book"/>
              </a:rPr>
              <a:t>has modified the data</a:t>
            </a:r>
          </a:p>
          <a:p>
            <a:r>
              <a:rPr lang="en-US" sz="1800" b="0" i="0" dirty="0">
                <a:solidFill>
                  <a:srgbClr val="000000"/>
                </a:solidFill>
                <a:effectLst/>
                <a:latin typeface="BerkeleyOldITC-Book"/>
              </a:rPr>
              <a:t>in the </a:t>
            </a:r>
            <a:r>
              <a:rPr lang="en-US" sz="1800" b="0" i="0">
                <a:solidFill>
                  <a:srgbClr val="000000"/>
                </a:solidFill>
                <a:effectLst/>
                <a:latin typeface="BerkeleyOldITC-Book"/>
              </a:rPr>
              <a:t>ways </a:t>
            </a:r>
            <a:r>
              <a:rPr lang="en-US" sz="1800" b="0" i="1">
                <a:solidFill>
                  <a:srgbClr val="000000"/>
                </a:solidFill>
                <a:effectLst/>
                <a:latin typeface="BerkeleyOldITC-BookItalic"/>
              </a:rPr>
              <a:t>Module2 </a:t>
            </a:r>
            <a:r>
              <a:rPr lang="en-US" sz="1800" b="0" i="0" dirty="0">
                <a:solidFill>
                  <a:srgbClr val="000000"/>
                </a:solidFill>
                <a:effectLst/>
                <a:latin typeface="BerkeleyOldITC-Book"/>
              </a:rPr>
              <a:t>needs it to be modified, and that </a:t>
            </a:r>
            <a:r>
              <a:rPr lang="en-US" sz="1800" b="0" i="1" dirty="0">
                <a:solidFill>
                  <a:srgbClr val="000000"/>
                </a:solidFill>
                <a:effectLst/>
                <a:latin typeface="BerkeleyOldITC-BookItalic"/>
              </a:rPr>
              <a:t>Module1 </a:t>
            </a:r>
            <a:r>
              <a:rPr lang="en-US" sz="1800" b="0" i="0" dirty="0">
                <a:solidFill>
                  <a:srgbClr val="000000"/>
                </a:solidFill>
                <a:effectLst/>
                <a:latin typeface="BerkeleyOldITC-Book"/>
              </a:rPr>
              <a:t>has been called at</a:t>
            </a:r>
          </a:p>
          <a:p>
            <a:r>
              <a:rPr lang="en-US" sz="1800" b="0" i="0" dirty="0">
                <a:solidFill>
                  <a:srgbClr val="000000"/>
                </a:solidFill>
                <a:effectLst/>
                <a:latin typeface="BerkeleyOldITC-Book"/>
              </a:rPr>
              <a:t>the right time.</a:t>
            </a:r>
            <a:r>
              <a:rPr lang="en-US" dirty="0"/>
              <a:t>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11</a:t>
            </a:fld>
            <a:endParaRPr lang="en-US"/>
          </a:p>
        </p:txBody>
      </p:sp>
    </p:spTree>
    <p:extLst>
      <p:ext uri="{BB962C8B-B14F-4D97-AF65-F5344CB8AC3E}">
        <p14:creationId xmlns:p14="http://schemas.microsoft.com/office/powerpoint/2010/main" val="3527165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740" y="3183624"/>
            <a:ext cx="8380520" cy="1922733"/>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hasCustomPrompt="1"/>
          </p:nvPr>
        </p:nvSpPr>
        <p:spPr>
          <a:xfrm>
            <a:off x="381740" y="5236867"/>
            <a:ext cx="838052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a:xfrm>
            <a:off x="822961" y="6646272"/>
            <a:ext cx="1854203" cy="187517"/>
          </a:xfrm>
        </p:spPr>
        <p:txBody>
          <a:bodyPr/>
          <a:lstStyle/>
          <a:p>
            <a:fld id="{03C5C922-B9DD-9745-A816-802923AFBE71}" type="datetime1">
              <a:rPr lang="en-US" smtClean="0"/>
              <a:t>9/12/2023</a:t>
            </a:fld>
            <a:endParaRPr lang="en-US"/>
          </a:p>
        </p:txBody>
      </p:sp>
      <p:sp>
        <p:nvSpPr>
          <p:cNvPr id="5" name="Footer Placeholder 4"/>
          <p:cNvSpPr>
            <a:spLocks noGrp="1"/>
          </p:cNvSpPr>
          <p:nvPr>
            <p:ph type="ftr" sz="quarter" idx="11"/>
          </p:nvPr>
        </p:nvSpPr>
        <p:spPr>
          <a:xfrm>
            <a:off x="2764639" y="6646272"/>
            <a:ext cx="3617103" cy="187517"/>
          </a:xfrm>
        </p:spPr>
        <p:txBody>
          <a:bodyPr/>
          <a:lstStyle>
            <a:lvl1pPr>
              <a:defRPr cap="none"/>
            </a:lvl1pPr>
          </a:lstStyle>
          <a:p>
            <a:endParaRPr lang="en-US"/>
          </a:p>
        </p:txBody>
      </p:sp>
      <p:sp>
        <p:nvSpPr>
          <p:cNvPr id="6" name="Slide Number Placeholder 5"/>
          <p:cNvSpPr>
            <a:spLocks noGrp="1"/>
          </p:cNvSpPr>
          <p:nvPr>
            <p:ph type="sldNum" sz="quarter" idx="12"/>
          </p:nvPr>
        </p:nvSpPr>
        <p:spPr>
          <a:xfrm>
            <a:off x="7425344" y="6646272"/>
            <a:ext cx="984019" cy="187517"/>
          </a:xfrm>
        </p:spPr>
        <p:txBody>
          <a:bodyPr/>
          <a:lstStyle>
            <a:lvl1pPr>
              <a:defRPr b="1">
                <a:solidFill>
                  <a:schemeClr val="bg1"/>
                </a:solidFill>
              </a:defRPr>
            </a:lvl1pPr>
          </a:lstStyle>
          <a:p>
            <a:fld id="{9C8A9BBF-D171-497A-B4A2-0767A13C4597}" type="slidenum">
              <a:rPr lang="en-US" smtClean="0"/>
              <a:pPr/>
              <a:t>‹#›</a:t>
            </a:fld>
            <a:endParaRPr lang="en-US"/>
          </a:p>
        </p:txBody>
      </p:sp>
      <p:cxnSp>
        <p:nvCxnSpPr>
          <p:cNvPr id="9" name="Straight Connector 8"/>
          <p:cNvCxnSpPr>
            <a:cxnSpLocks/>
          </p:cNvCxnSpPr>
          <p:nvPr/>
        </p:nvCxnSpPr>
        <p:spPr>
          <a:xfrm flipV="1">
            <a:off x="381740" y="5106357"/>
            <a:ext cx="8380520" cy="18289"/>
          </a:xfrm>
          <a:prstGeom prst="line">
            <a:avLst/>
          </a:prstGeom>
          <a:ln w="38100">
            <a:solidFill>
              <a:srgbClr val="84CDEA"/>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11AE1EE2-4846-41F9-AC6B-D9834B0B3586}"/>
              </a:ext>
            </a:extLst>
          </p:cNvPr>
          <p:cNvCxnSpPr>
            <a:cxnSpLocks/>
          </p:cNvCxnSpPr>
          <p:nvPr/>
        </p:nvCxnSpPr>
        <p:spPr>
          <a:xfrm flipV="1">
            <a:off x="9129643" y="1"/>
            <a:ext cx="12147" cy="687476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11AE4F96-0037-4F43-91BD-25588C022845}"/>
              </a:ext>
            </a:extLst>
          </p:cNvPr>
          <p:cNvSpPr/>
          <p:nvPr userDrawn="1"/>
        </p:nvSpPr>
        <p:spPr>
          <a:xfrm>
            <a:off x="-14359" y="6646273"/>
            <a:ext cx="9144000" cy="237744"/>
          </a:xfrm>
          <a:prstGeom prst="rect">
            <a:avLst/>
          </a:prstGeom>
          <a:solidFill>
            <a:srgbClr val="0A4B67"/>
          </a:solidFill>
          <a:ln>
            <a:solidFill>
              <a:srgbClr val="0A4B67"/>
            </a:solid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BF5B4F-FC83-4FAA-82F0-2510D3F32F49}"/>
              </a:ext>
            </a:extLst>
          </p:cNvPr>
          <p:cNvSpPr/>
          <p:nvPr userDrawn="1"/>
        </p:nvSpPr>
        <p:spPr>
          <a:xfrm>
            <a:off x="-26504" y="6546958"/>
            <a:ext cx="9144001" cy="103220"/>
          </a:xfrm>
          <a:prstGeom prst="rect">
            <a:avLst/>
          </a:prstGeom>
          <a:solidFill>
            <a:srgbClr val="84CDEA"/>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5F0B8816-EFF8-4E7C-AEC1-987D4EE648F1}"/>
              </a:ext>
            </a:extLst>
          </p:cNvPr>
          <p:cNvCxnSpPr>
            <a:cxnSpLocks/>
          </p:cNvCxnSpPr>
          <p:nvPr userDrawn="1"/>
        </p:nvCxnSpPr>
        <p:spPr>
          <a:xfrm flipH="1" flipV="1">
            <a:off x="-5932" y="0"/>
            <a:ext cx="3809" cy="685799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B5B64A5-A6D5-4050-BAC4-E246829DF430}"/>
              </a:ext>
            </a:extLst>
          </p:cNvPr>
          <p:cNvCxnSpPr>
            <a:cxnSpLocks/>
          </p:cNvCxnSpPr>
          <p:nvPr userDrawn="1"/>
        </p:nvCxnSpPr>
        <p:spPr>
          <a:xfrm flipV="1">
            <a:off x="-32436" y="8261"/>
            <a:ext cx="9235440" cy="1"/>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pic>
        <p:nvPicPr>
          <p:cNvPr id="31" name="Picture 30" descr="Logo&#10;&#10;Description automatically generated">
            <a:extLst>
              <a:ext uri="{FF2B5EF4-FFF2-40B4-BE49-F238E27FC236}">
                <a16:creationId xmlns:a16="http://schemas.microsoft.com/office/drawing/2014/main" id="{370668AB-6B94-4243-A6A5-4EDC87C8B508}"/>
              </a:ext>
            </a:extLst>
          </p:cNvPr>
          <p:cNvPicPr>
            <a:picLocks noChangeAspect="1"/>
          </p:cNvPicPr>
          <p:nvPr userDrawn="1"/>
        </p:nvPicPr>
        <p:blipFill>
          <a:blip r:embed="rId3"/>
          <a:stretch>
            <a:fillRect/>
          </a:stretch>
        </p:blipFill>
        <p:spPr>
          <a:xfrm>
            <a:off x="3004824" y="46971"/>
            <a:ext cx="3278818" cy="2319734"/>
          </a:xfrm>
          <a:prstGeom prst="rect">
            <a:avLst/>
          </a:prstGeom>
        </p:spPr>
      </p:pic>
      <p:sp>
        <p:nvSpPr>
          <p:cNvPr id="32" name="TextBox 31">
            <a:extLst>
              <a:ext uri="{FF2B5EF4-FFF2-40B4-BE49-F238E27FC236}">
                <a16:creationId xmlns:a16="http://schemas.microsoft.com/office/drawing/2014/main" id="{A723C23A-9829-0C47-85AC-FD590BD245D5}"/>
              </a:ext>
            </a:extLst>
          </p:cNvPr>
          <p:cNvSpPr txBox="1"/>
          <p:nvPr userDrawn="1"/>
        </p:nvSpPr>
        <p:spPr>
          <a:xfrm>
            <a:off x="185737" y="852895"/>
            <a:ext cx="3278818" cy="707886"/>
          </a:xfrm>
          <a:prstGeom prst="rect">
            <a:avLst/>
          </a:prstGeom>
          <a:noFill/>
        </p:spPr>
        <p:txBody>
          <a:bodyPr wrap="square" rtlCol="0">
            <a:spAutoFit/>
          </a:bodyPr>
          <a:lstStyle/>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COLLAGE OF COMPUTER</a:t>
            </a:r>
          </a:p>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 SCIENCE &amp; ENGINEERING </a:t>
            </a:r>
          </a:p>
        </p:txBody>
      </p:sp>
      <p:cxnSp>
        <p:nvCxnSpPr>
          <p:cNvPr id="33" name="Straight Connector 32">
            <a:extLst>
              <a:ext uri="{FF2B5EF4-FFF2-40B4-BE49-F238E27FC236}">
                <a16:creationId xmlns:a16="http://schemas.microsoft.com/office/drawing/2014/main" id="{322341BA-F8B4-5440-8DF5-89AF9CF24FED}"/>
              </a:ext>
            </a:extLst>
          </p:cNvPr>
          <p:cNvCxnSpPr>
            <a:cxnSpLocks/>
          </p:cNvCxnSpPr>
          <p:nvPr userDrawn="1"/>
        </p:nvCxnSpPr>
        <p:spPr>
          <a:xfrm flipV="1">
            <a:off x="375762" y="1574983"/>
            <a:ext cx="2926080" cy="468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69ACA3-551E-D542-BD71-4881E6644B70}"/>
              </a:ext>
            </a:extLst>
          </p:cNvPr>
          <p:cNvSpPr txBox="1"/>
          <p:nvPr userDrawn="1"/>
        </p:nvSpPr>
        <p:spPr>
          <a:xfrm>
            <a:off x="-785970" y="1579097"/>
            <a:ext cx="5072063" cy="292388"/>
          </a:xfrm>
          <a:prstGeom prst="rect">
            <a:avLst/>
          </a:prstGeom>
          <a:noFill/>
        </p:spPr>
        <p:txBody>
          <a:bodyPr wrap="square" rtlCol="0">
            <a:spAutoFit/>
          </a:bodyPr>
          <a:lstStyle/>
          <a:p>
            <a:pPr marL="0" algn="ctr" defTabSz="914400" rtl="1" eaLnBrk="1" latinLnBrk="0" hangingPunct="1"/>
            <a:r>
              <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UNIVERSITY OF JEDDAH</a:t>
            </a:r>
          </a:p>
        </p:txBody>
      </p:sp>
      <p:sp>
        <p:nvSpPr>
          <p:cNvPr id="35" name="TextBox 34">
            <a:extLst>
              <a:ext uri="{FF2B5EF4-FFF2-40B4-BE49-F238E27FC236}">
                <a16:creationId xmlns:a16="http://schemas.microsoft.com/office/drawing/2014/main" id="{E72639E4-89B5-1D49-B470-747E56896B62}"/>
              </a:ext>
            </a:extLst>
          </p:cNvPr>
          <p:cNvSpPr txBox="1"/>
          <p:nvPr userDrawn="1"/>
        </p:nvSpPr>
        <p:spPr>
          <a:xfrm>
            <a:off x="5679447" y="865829"/>
            <a:ext cx="3278818" cy="707886"/>
          </a:xfrm>
          <a:prstGeom prst="rect">
            <a:avLst/>
          </a:prstGeom>
          <a:noFill/>
        </p:spPr>
        <p:txBody>
          <a:bodyPr wrap="square" rtlCol="0">
            <a:spAutoFit/>
          </a:bodyPr>
          <a:lstStyle/>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كــلـــية عــلــــــــــوم </a:t>
            </a:r>
          </a:p>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و هـنــدســـة الحـــــــاســــب</a:t>
            </a:r>
            <a:endPar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sp>
        <p:nvSpPr>
          <p:cNvPr id="36" name="TextBox 35">
            <a:extLst>
              <a:ext uri="{FF2B5EF4-FFF2-40B4-BE49-F238E27FC236}">
                <a16:creationId xmlns:a16="http://schemas.microsoft.com/office/drawing/2014/main" id="{36F4847C-B76C-6846-8360-9D2AD3FA67B2}"/>
              </a:ext>
            </a:extLst>
          </p:cNvPr>
          <p:cNvSpPr txBox="1"/>
          <p:nvPr userDrawn="1"/>
        </p:nvSpPr>
        <p:spPr>
          <a:xfrm>
            <a:off x="4782824" y="1579097"/>
            <a:ext cx="5072063" cy="292388"/>
          </a:xfrm>
          <a:prstGeom prst="rect">
            <a:avLst/>
          </a:prstGeom>
          <a:noFill/>
        </p:spPr>
        <p:txBody>
          <a:bodyPr wrap="square" rtlCol="0">
            <a:spAutoFit/>
          </a:bodyPr>
          <a:lstStyle/>
          <a:p>
            <a:pPr marL="0" algn="ctr" defTabSz="914400" rtl="1" eaLnBrk="1" latinLnBrk="0" hangingPunct="1"/>
            <a:r>
              <a:rPr lang="ar-SA"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جــــامعـــة جــــــــــــــدة </a:t>
            </a:r>
            <a:endPar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cxnSp>
        <p:nvCxnSpPr>
          <p:cNvPr id="37" name="Straight Connector 36">
            <a:extLst>
              <a:ext uri="{FF2B5EF4-FFF2-40B4-BE49-F238E27FC236}">
                <a16:creationId xmlns:a16="http://schemas.microsoft.com/office/drawing/2014/main" id="{73D420C2-74C6-E448-ABF8-408E3C156421}"/>
              </a:ext>
            </a:extLst>
          </p:cNvPr>
          <p:cNvCxnSpPr>
            <a:cxnSpLocks/>
          </p:cNvCxnSpPr>
          <p:nvPr userDrawn="1"/>
        </p:nvCxnSpPr>
        <p:spPr>
          <a:xfrm>
            <a:off x="5770786" y="1573715"/>
            <a:ext cx="301752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8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428B66AD-B9AD-6E48-A7F8-A3C7D94EDF8F}" type="datetime1">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4CDEA"/>
              </a:buClr>
              <a:defRPr sz="2600">
                <a:solidFill>
                  <a:srgbClr val="565351"/>
                </a:solidFill>
              </a:defRPr>
            </a:lvl1pPr>
            <a:lvl2pPr>
              <a:buClr>
                <a:srgbClr val="565351"/>
              </a:buClr>
              <a:defRPr>
                <a:solidFill>
                  <a:srgbClr val="565351"/>
                </a:solidFill>
              </a:defRPr>
            </a:lvl2pPr>
            <a:lvl3pPr marL="731520" indent="-274320">
              <a:buClr>
                <a:srgbClr val="565351"/>
              </a:buClr>
              <a:buFont typeface="Wingdings" panose="05000000000000000000" pitchFamily="2" charset="2"/>
              <a:buChar char="§"/>
              <a:defRPr sz="2000">
                <a:solidFill>
                  <a:srgbClr val="565351"/>
                </a:solidFill>
              </a:defRPr>
            </a:lvl3pPr>
            <a:lvl4pPr marL="914400" indent="-274320">
              <a:buClr>
                <a:srgbClr val="565351"/>
              </a:buClr>
              <a:buFont typeface="Wingdings" panose="05000000000000000000" pitchFamily="2" charset="2"/>
              <a:buChar char="§"/>
              <a:defRPr sz="2000">
                <a:solidFill>
                  <a:srgbClr val="565351"/>
                </a:solidFill>
              </a:defRPr>
            </a:lvl4pPr>
            <a:lvl5pPr marL="1097280" indent="-274320">
              <a:buClr>
                <a:srgbClr val="565351"/>
              </a:buClr>
              <a:buFont typeface="Wingdings" panose="05000000000000000000" pitchFamily="2" charset="2"/>
              <a:buChar char="§"/>
              <a:defRPr sz="2000">
                <a:solidFill>
                  <a:srgbClr val="56535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5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BBAECC06-C7D4-1747-9BAC-5ADF6973C413}" type="datetime1">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8A6B1"/>
              </a:buClr>
              <a:defRPr sz="2600">
                <a:solidFill>
                  <a:srgbClr val="88A6B1"/>
                </a:solidFill>
              </a:defRPr>
            </a:lvl1pPr>
            <a:lvl2pPr>
              <a:buClr>
                <a:srgbClr val="88A6B1"/>
              </a:buClr>
              <a:defRPr>
                <a:solidFill>
                  <a:srgbClr val="88A6B1"/>
                </a:solidFill>
              </a:defRPr>
            </a:lvl2pPr>
            <a:lvl3pPr marL="731520" indent="-274320">
              <a:buClr>
                <a:srgbClr val="88A6B1"/>
              </a:buClr>
              <a:buFont typeface="Wingdings" panose="05000000000000000000" pitchFamily="2" charset="2"/>
              <a:buChar char="§"/>
              <a:defRPr sz="2000">
                <a:solidFill>
                  <a:srgbClr val="88A6B1"/>
                </a:solidFill>
              </a:defRPr>
            </a:lvl3pPr>
            <a:lvl4pPr marL="914400" indent="-274320">
              <a:buClr>
                <a:srgbClr val="88A6B1"/>
              </a:buClr>
              <a:buFont typeface="Wingdings" panose="05000000000000000000" pitchFamily="2" charset="2"/>
              <a:buChar char="§"/>
              <a:defRPr sz="2000">
                <a:solidFill>
                  <a:srgbClr val="88A6B1"/>
                </a:solidFill>
              </a:defRPr>
            </a:lvl4pPr>
            <a:lvl5pPr marL="1097280" indent="-274320">
              <a:buClr>
                <a:srgbClr val="88A6B1"/>
              </a:buClr>
              <a:buFont typeface="Wingdings" panose="05000000000000000000" pitchFamily="2" charset="2"/>
              <a:buChar char="§"/>
              <a:defRPr sz="2000">
                <a:solidFill>
                  <a:srgbClr val="88A6B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918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6C63C-7E12-D040-9BFC-CED05FF7D470}" type="datetime1">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987DC-EF00-9844-8C8C-DB85411C810C}" type="datetime1">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74528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5C23F-C598-3F49-9FE3-6071741BE353}" type="datetime1">
              <a:rPr lang="en-US" smtClean="0"/>
              <a:t>9/12/2023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1923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66BD12-5D01-AB4B-A157-4C071A505070}"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99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5D1259-9E66-E241-B0DB-D3144AF5C20E}"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4756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59F509-0EC8-5246-80F7-C95CE727AFCC}" type="datetime1">
              <a:rPr lang="en-US" smtClean="0"/>
              <a:t>9/12/2023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9242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rgbClr val="0A4B67"/>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CBA62D3-B106-3146-B5B5-E66A18E804C2}" type="datetime1">
              <a:rPr lang="en-US" smtClean="0"/>
              <a:t>9/12/2023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8A9BBF-D171-497A-B4A2-0767A13C4597}" type="slidenum">
              <a:rPr lang="en-US" smtClean="0"/>
              <a:t>‹#›</a:t>
            </a:fld>
            <a:endParaRPr lang="en-US"/>
          </a:p>
        </p:txBody>
      </p:sp>
    </p:spTree>
    <p:extLst>
      <p:ext uri="{BB962C8B-B14F-4D97-AF65-F5344CB8AC3E}">
        <p14:creationId xmlns:p14="http://schemas.microsoft.com/office/powerpoint/2010/main" val="2444531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8B15B-E63B-A741-9DEA-9AA37D2B7DBF}" type="datetime1">
              <a:rPr lang="en-US" smtClean="0"/>
              <a:t>9/12/2023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4142510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89117-AA99-A343-9D72-6FCA37B5BE17}" type="datetime1">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479478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144E2-60F2-DF46-A244-D7B3522DD83D}" type="datetime1">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38673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5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B5C5D66-23E7-0C4F-8B0A-A1C9C050780A}"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spTree>
    <p:extLst>
      <p:ext uri="{BB962C8B-B14F-4D97-AF65-F5344CB8AC3E}">
        <p14:creationId xmlns:p14="http://schemas.microsoft.com/office/powerpoint/2010/main" val="354359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87DCCB30-1A6D-2E42-BCC5-3E80F21AA084}"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
        <p:nvSpPr>
          <p:cNvPr id="10" name="Text Placeholder 2">
            <a:extLst>
              <a:ext uri="{FF2B5EF4-FFF2-40B4-BE49-F238E27FC236}">
                <a16:creationId xmlns:a16="http://schemas.microsoft.com/office/drawing/2014/main" id="{6187854B-FEC4-4BF8-A3DE-39B0F5014508}"/>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buClr>
              <a:buFont typeface="Wingdings" panose="05000000000000000000" pitchFamily="2" charset="2"/>
              <a:buChar char="§"/>
              <a:defRPr sz="3200">
                <a:solidFill>
                  <a:schemeClr val="tx2"/>
                </a:solidFill>
                <a:latin typeface="+mj-lt"/>
              </a:defRPr>
            </a:lvl1pPr>
            <a:lvl2pPr marL="548640" indent="-274320">
              <a:buClr>
                <a:schemeClr val="accent2"/>
              </a:buClr>
              <a:buFont typeface="Wingdings" panose="05000000000000000000" pitchFamily="2" charset="2"/>
              <a:buChar char="§"/>
              <a:defRPr sz="2800">
                <a:solidFill>
                  <a:schemeClr val="tx2"/>
                </a:solidFill>
                <a:latin typeface="+mj-lt"/>
              </a:defRPr>
            </a:lvl2pPr>
            <a:lvl3pPr marL="731520" indent="-274320">
              <a:buClr>
                <a:schemeClr val="accent2"/>
              </a:buClr>
              <a:buFont typeface="Wingdings" panose="05000000000000000000" pitchFamily="2" charset="2"/>
              <a:buChar char="§"/>
              <a:defRPr sz="2000">
                <a:solidFill>
                  <a:schemeClr val="tx2"/>
                </a:solidFill>
                <a:latin typeface="+mj-lt"/>
              </a:defRPr>
            </a:lvl3pPr>
            <a:lvl4pPr marL="914400" indent="-274320">
              <a:buClr>
                <a:schemeClr val="accent2"/>
              </a:buClr>
              <a:buFont typeface="Wingdings" panose="05000000000000000000" pitchFamily="2" charset="2"/>
              <a:buChar char="§"/>
              <a:defRPr sz="2000">
                <a:solidFill>
                  <a:schemeClr val="tx2"/>
                </a:solidFill>
                <a:latin typeface="+mj-lt"/>
              </a:defRPr>
            </a:lvl4pPr>
            <a:lvl5pPr marL="1097280" indent="-274320">
              <a:buClr>
                <a:schemeClr val="accent2"/>
              </a:buClr>
              <a:buFont typeface="Wingdings" panose="05000000000000000000" pitchFamily="2" charset="2"/>
              <a:buChar char="§"/>
              <a:defRPr sz="2000">
                <a:solidFill>
                  <a:schemeClr val="tx2"/>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02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28DCBF6-F73E-B844-90B5-BA38F3F93D1B}"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E83D2542-5A33-4E2C-863D-145C35640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Tree>
    <p:extLst>
      <p:ext uri="{BB962C8B-B14F-4D97-AF65-F5344CB8AC3E}">
        <p14:creationId xmlns:p14="http://schemas.microsoft.com/office/powerpoint/2010/main" val="341729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E5CE842-8249-8A43-8E1B-D93301EA5234}"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29EAA3A6-8930-4E04-BD7A-70348C3D39E6}"/>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35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6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4AD75E8-E6D9-3E42-B3C2-280D09D847BE}"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92FE125C-DA19-42DA-8C07-FA8039F51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744223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9107F6D-1FE4-8A49-840F-5919ACFA3FD0}"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98729288-CC54-4647-B966-CF553EF13B92}"/>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34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7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78A0CE7-1A78-B749-A181-0CB124262D26}" type="datetime1">
              <a:rPr lang="en-US" smtClean="0"/>
              <a:t>9/12/2023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39FF6332-602A-4C2A-BD1E-7565ECDF5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1812436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p>
        </p:txBody>
      </p:sp>
      <p:sp>
        <p:nvSpPr>
          <p:cNvPr id="4" name="Date Placeholder 3"/>
          <p:cNvSpPr>
            <a:spLocks noGrp="1"/>
          </p:cNvSpPr>
          <p:nvPr>
            <p:ph type="dt" sz="half" idx="10"/>
          </p:nvPr>
        </p:nvSpPr>
        <p:spPr/>
        <p:txBody>
          <a:bodyPr/>
          <a:lstStyle/>
          <a:p>
            <a:fld id="{D78EB7BC-403A-8A44-A663-FD167E87AE44}" type="datetime1">
              <a:rPr lang="en-US" smtClean="0"/>
              <a:t>9/12/2023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6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E94D-AB62-E84E-A49C-DD6A8F51C49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6548DE-348F-0D44-8485-97F299E588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26162-1B8D-B748-8A10-BD7FD12FEF3C}"/>
              </a:ext>
            </a:extLst>
          </p:cNvPr>
          <p:cNvSpPr>
            <a:spLocks noGrp="1"/>
          </p:cNvSpPr>
          <p:nvPr>
            <p:ph type="dt" sz="half" idx="10"/>
          </p:nvPr>
        </p:nvSpPr>
        <p:spPr/>
        <p:txBody>
          <a:bodyPr/>
          <a:lstStyle/>
          <a:p>
            <a:fld id="{82D7B2BE-DDF3-6D43-A226-4CE36737DFF8}" type="datetime1">
              <a:rPr lang="en-US" smtClean="0"/>
              <a:t>9/12/2023</a:t>
            </a:fld>
            <a:endParaRPr lang="en-US"/>
          </a:p>
        </p:txBody>
      </p:sp>
      <p:sp>
        <p:nvSpPr>
          <p:cNvPr id="5" name="Footer Placeholder 4">
            <a:extLst>
              <a:ext uri="{FF2B5EF4-FFF2-40B4-BE49-F238E27FC236}">
                <a16:creationId xmlns:a16="http://schemas.microsoft.com/office/drawing/2014/main" id="{976D9D1D-9864-8648-83E4-1D8B62B21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507A0-C8CD-5445-9AEE-B23C377C4F0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175790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B906-B07C-7D41-AC4D-750B959C9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D5779-8D81-7849-8E67-83ECBF60F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AA4F1-7B19-0240-B7F8-1BDF7D6347D9}"/>
              </a:ext>
            </a:extLst>
          </p:cNvPr>
          <p:cNvSpPr>
            <a:spLocks noGrp="1"/>
          </p:cNvSpPr>
          <p:nvPr>
            <p:ph type="dt" sz="half" idx="10"/>
          </p:nvPr>
        </p:nvSpPr>
        <p:spPr/>
        <p:txBody>
          <a:bodyPr/>
          <a:lstStyle/>
          <a:p>
            <a:fld id="{DB27A88B-F2DD-3743-8F57-25E5E92043B0}" type="datetime1">
              <a:rPr lang="en-US" smtClean="0"/>
              <a:t>9/12/2023</a:t>
            </a:fld>
            <a:endParaRPr lang="en-US"/>
          </a:p>
        </p:txBody>
      </p:sp>
      <p:sp>
        <p:nvSpPr>
          <p:cNvPr id="5" name="Footer Placeholder 4">
            <a:extLst>
              <a:ext uri="{FF2B5EF4-FFF2-40B4-BE49-F238E27FC236}">
                <a16:creationId xmlns:a16="http://schemas.microsoft.com/office/drawing/2014/main" id="{E5414F5D-4D50-5A4A-91C9-B5B4F1451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065B-EF6D-5B4A-8E62-EAFF67B71788}"/>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20012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E47D-172F-034A-8698-73581C856F4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3A576A-13DD-034D-9029-CC506C79F0F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4F2D7-B746-2842-8F52-519E07CFBA07}"/>
              </a:ext>
            </a:extLst>
          </p:cNvPr>
          <p:cNvSpPr>
            <a:spLocks noGrp="1"/>
          </p:cNvSpPr>
          <p:nvPr>
            <p:ph type="dt" sz="half" idx="10"/>
          </p:nvPr>
        </p:nvSpPr>
        <p:spPr/>
        <p:txBody>
          <a:bodyPr/>
          <a:lstStyle/>
          <a:p>
            <a:fld id="{AEDA15C4-E8CB-C04F-BC65-CB0837703214}" type="datetime1">
              <a:rPr lang="en-US" smtClean="0"/>
              <a:t>9/12/2023</a:t>
            </a:fld>
            <a:endParaRPr lang="en-US"/>
          </a:p>
        </p:txBody>
      </p:sp>
      <p:sp>
        <p:nvSpPr>
          <p:cNvPr id="5" name="Footer Placeholder 4">
            <a:extLst>
              <a:ext uri="{FF2B5EF4-FFF2-40B4-BE49-F238E27FC236}">
                <a16:creationId xmlns:a16="http://schemas.microsoft.com/office/drawing/2014/main" id="{EF7E68B1-5017-E64D-9D8C-C1341A22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262E6-3D1E-2D4B-B7BC-0A7197BAA87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578749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806B-ED8B-CC4E-A51A-6CDCADC96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99E7B-D87E-CA4D-A578-EBDC0C47E88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F5550-A328-154E-8FA0-3793746FBC4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74ED10-64BB-9144-9B71-07151AB520AC}"/>
              </a:ext>
            </a:extLst>
          </p:cNvPr>
          <p:cNvSpPr>
            <a:spLocks noGrp="1"/>
          </p:cNvSpPr>
          <p:nvPr>
            <p:ph type="dt" sz="half" idx="10"/>
          </p:nvPr>
        </p:nvSpPr>
        <p:spPr/>
        <p:txBody>
          <a:bodyPr/>
          <a:lstStyle/>
          <a:p>
            <a:fld id="{85089F18-38DA-0947-9593-25D4010703FB}" type="datetime1">
              <a:rPr lang="en-US" smtClean="0"/>
              <a:t>9/12/2023</a:t>
            </a:fld>
            <a:endParaRPr lang="en-US"/>
          </a:p>
        </p:txBody>
      </p:sp>
      <p:sp>
        <p:nvSpPr>
          <p:cNvPr id="6" name="Footer Placeholder 5">
            <a:extLst>
              <a:ext uri="{FF2B5EF4-FFF2-40B4-BE49-F238E27FC236}">
                <a16:creationId xmlns:a16="http://schemas.microsoft.com/office/drawing/2014/main" id="{25A7A753-FB3D-094E-A536-0484A8BE2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A6079-FE42-C140-9B28-ED67471AE867}"/>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853470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84D0-75F5-CD41-9AEF-CB198A0D97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D959F-E739-F542-8EBA-7BBF7E5A36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DF34-2D6B-454C-BFDA-F81C29E7822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58768-2FB0-D847-83EE-654C76812F8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A27B69-16F8-C048-9335-D0E599CA22E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98362-01EA-604E-BA80-BC012B7FAA68}"/>
              </a:ext>
            </a:extLst>
          </p:cNvPr>
          <p:cNvSpPr>
            <a:spLocks noGrp="1"/>
          </p:cNvSpPr>
          <p:nvPr>
            <p:ph type="dt" sz="half" idx="10"/>
          </p:nvPr>
        </p:nvSpPr>
        <p:spPr/>
        <p:txBody>
          <a:bodyPr/>
          <a:lstStyle/>
          <a:p>
            <a:fld id="{ED9A19EE-DABD-FF45-9B3D-868C2008B2F5}" type="datetime1">
              <a:rPr lang="en-US" smtClean="0"/>
              <a:t>9/12/2023</a:t>
            </a:fld>
            <a:endParaRPr lang="en-US"/>
          </a:p>
        </p:txBody>
      </p:sp>
      <p:sp>
        <p:nvSpPr>
          <p:cNvPr id="8" name="Footer Placeholder 7">
            <a:extLst>
              <a:ext uri="{FF2B5EF4-FFF2-40B4-BE49-F238E27FC236}">
                <a16:creationId xmlns:a16="http://schemas.microsoft.com/office/drawing/2014/main" id="{3D58B9EA-23BB-BD43-AE55-BD94F3A7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7FEF2B-07B5-9C42-B58D-B5FF51C4990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01209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CC87-431B-E24A-86AB-554B550F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090D8-3391-5741-87F5-2BCDB8997B8A}"/>
              </a:ext>
            </a:extLst>
          </p:cNvPr>
          <p:cNvSpPr>
            <a:spLocks noGrp="1"/>
          </p:cNvSpPr>
          <p:nvPr>
            <p:ph type="dt" sz="half" idx="10"/>
          </p:nvPr>
        </p:nvSpPr>
        <p:spPr/>
        <p:txBody>
          <a:bodyPr/>
          <a:lstStyle/>
          <a:p>
            <a:fld id="{E7C58DD7-86D3-9543-A3F5-DCAC5C3EC996}" type="datetime1">
              <a:rPr lang="en-US" smtClean="0"/>
              <a:t>9/12/2023</a:t>
            </a:fld>
            <a:endParaRPr lang="en-US"/>
          </a:p>
        </p:txBody>
      </p:sp>
      <p:sp>
        <p:nvSpPr>
          <p:cNvPr id="4" name="Footer Placeholder 3">
            <a:extLst>
              <a:ext uri="{FF2B5EF4-FFF2-40B4-BE49-F238E27FC236}">
                <a16:creationId xmlns:a16="http://schemas.microsoft.com/office/drawing/2014/main" id="{0B09D265-B6E2-2540-8068-45F6C7B8A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0A8C-D91D-2A49-8733-39D5374D66A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9407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9DEDE-71EE-4448-AE52-7A3240E2492C}"/>
              </a:ext>
            </a:extLst>
          </p:cNvPr>
          <p:cNvSpPr>
            <a:spLocks noGrp="1"/>
          </p:cNvSpPr>
          <p:nvPr>
            <p:ph type="dt" sz="half" idx="10"/>
          </p:nvPr>
        </p:nvSpPr>
        <p:spPr/>
        <p:txBody>
          <a:bodyPr/>
          <a:lstStyle/>
          <a:p>
            <a:fld id="{49838251-72EC-7341-947D-39CD70D3F6EE}" type="datetime1">
              <a:rPr lang="en-US" smtClean="0"/>
              <a:t>9/12/2023</a:t>
            </a:fld>
            <a:endParaRPr lang="en-US"/>
          </a:p>
        </p:txBody>
      </p:sp>
      <p:sp>
        <p:nvSpPr>
          <p:cNvPr id="3" name="Footer Placeholder 2">
            <a:extLst>
              <a:ext uri="{FF2B5EF4-FFF2-40B4-BE49-F238E27FC236}">
                <a16:creationId xmlns:a16="http://schemas.microsoft.com/office/drawing/2014/main" id="{421F8A0A-B7DA-2E41-ADC9-3BA00052CA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CDFF72-3DFA-5443-B19A-D882B4A1822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200609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A5-8463-0E45-B968-09BB46EEE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192249-8B24-044B-B428-FDF5326942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15850F-41D2-C244-BE67-588A22885A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A0BA6-7607-1841-ADE7-A7EE8626370B}"/>
              </a:ext>
            </a:extLst>
          </p:cNvPr>
          <p:cNvSpPr>
            <a:spLocks noGrp="1"/>
          </p:cNvSpPr>
          <p:nvPr>
            <p:ph type="dt" sz="half" idx="10"/>
          </p:nvPr>
        </p:nvSpPr>
        <p:spPr/>
        <p:txBody>
          <a:bodyPr/>
          <a:lstStyle/>
          <a:p>
            <a:fld id="{9B2151BF-94DA-6647-804B-F9A617163AF7}" type="datetime1">
              <a:rPr lang="en-US" smtClean="0"/>
              <a:t>9/12/2023</a:t>
            </a:fld>
            <a:endParaRPr lang="en-US"/>
          </a:p>
        </p:txBody>
      </p:sp>
      <p:sp>
        <p:nvSpPr>
          <p:cNvPr id="6" name="Footer Placeholder 5">
            <a:extLst>
              <a:ext uri="{FF2B5EF4-FFF2-40B4-BE49-F238E27FC236}">
                <a16:creationId xmlns:a16="http://schemas.microsoft.com/office/drawing/2014/main" id="{DFE0F34D-E7B8-8F4E-B279-A9B4F7996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03CD8-B992-1746-AD26-32A76C36211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1164086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8A51-10EF-1E4E-B3AE-97D9690F525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7A29CC-C524-664A-B04C-24A0F0002BD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577383-80F2-974A-95B0-54EE043F0E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A7CE-0B2C-F846-AE0D-E9A65F195F76}"/>
              </a:ext>
            </a:extLst>
          </p:cNvPr>
          <p:cNvSpPr>
            <a:spLocks noGrp="1"/>
          </p:cNvSpPr>
          <p:nvPr>
            <p:ph type="dt" sz="half" idx="10"/>
          </p:nvPr>
        </p:nvSpPr>
        <p:spPr/>
        <p:txBody>
          <a:bodyPr/>
          <a:lstStyle/>
          <a:p>
            <a:fld id="{F415CF65-8B95-E947-B306-AD8B9AFCD0C6}" type="datetime1">
              <a:rPr lang="en-US" smtClean="0"/>
              <a:t>9/12/2023</a:t>
            </a:fld>
            <a:endParaRPr lang="en-US"/>
          </a:p>
        </p:txBody>
      </p:sp>
      <p:sp>
        <p:nvSpPr>
          <p:cNvPr id="6" name="Footer Placeholder 5">
            <a:extLst>
              <a:ext uri="{FF2B5EF4-FFF2-40B4-BE49-F238E27FC236}">
                <a16:creationId xmlns:a16="http://schemas.microsoft.com/office/drawing/2014/main" id="{CE700DF7-CAE7-4544-99A8-D2AFF7BCD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F912A-35AA-5340-A6DD-8CF8567AE1D6}"/>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852003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558E-261E-0D48-AAEC-0159545C57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D54A8B-8EB9-5C42-9CFC-A1CD5690D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D7EA-1D89-9B45-8E3B-F3D971FCC324}"/>
              </a:ext>
            </a:extLst>
          </p:cNvPr>
          <p:cNvSpPr>
            <a:spLocks noGrp="1"/>
          </p:cNvSpPr>
          <p:nvPr>
            <p:ph type="dt" sz="half" idx="10"/>
          </p:nvPr>
        </p:nvSpPr>
        <p:spPr/>
        <p:txBody>
          <a:bodyPr/>
          <a:lstStyle/>
          <a:p>
            <a:fld id="{45E326F1-4A6C-904D-BBF5-55A97190C62E}" type="datetime1">
              <a:rPr lang="en-US" smtClean="0"/>
              <a:t>9/12/2023</a:t>
            </a:fld>
            <a:endParaRPr lang="en-US"/>
          </a:p>
        </p:txBody>
      </p:sp>
      <p:sp>
        <p:nvSpPr>
          <p:cNvPr id="5" name="Footer Placeholder 4">
            <a:extLst>
              <a:ext uri="{FF2B5EF4-FFF2-40B4-BE49-F238E27FC236}">
                <a16:creationId xmlns:a16="http://schemas.microsoft.com/office/drawing/2014/main" id="{6702F157-B4BF-0D4E-B227-367844B9F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4DCA-8C92-2F4C-A77F-2E1AE3CFFFD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6943632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38E10-25D9-0841-B84C-B3D5BD26BED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76578-CBA7-4146-881E-E79B341102C1}"/>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4126B-1DBB-F445-849E-8DB3041D5DDF}"/>
              </a:ext>
            </a:extLst>
          </p:cNvPr>
          <p:cNvSpPr>
            <a:spLocks noGrp="1"/>
          </p:cNvSpPr>
          <p:nvPr>
            <p:ph type="dt" sz="half" idx="10"/>
          </p:nvPr>
        </p:nvSpPr>
        <p:spPr/>
        <p:txBody>
          <a:bodyPr/>
          <a:lstStyle/>
          <a:p>
            <a:fld id="{5D62DA29-4527-5B4B-81DE-1DA58A1FF0D8}" type="datetime1">
              <a:rPr lang="en-US" smtClean="0"/>
              <a:t>9/12/2023</a:t>
            </a:fld>
            <a:endParaRPr lang="en-US"/>
          </a:p>
        </p:txBody>
      </p:sp>
      <p:sp>
        <p:nvSpPr>
          <p:cNvPr id="5" name="Footer Placeholder 4">
            <a:extLst>
              <a:ext uri="{FF2B5EF4-FFF2-40B4-BE49-F238E27FC236}">
                <a16:creationId xmlns:a16="http://schemas.microsoft.com/office/drawing/2014/main" id="{9330BA6C-D326-CC45-B516-B35C216BC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96C6D-88A9-424F-B97B-5F788E3BD38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94294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646272"/>
            <a:ext cx="9144001" cy="220605"/>
          </a:xfrm>
          <a:prstGeom prst="rect">
            <a:avLst/>
          </a:prstGeom>
          <a:solidFill>
            <a:srgbClr val="0A4B6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604458"/>
            <a:ext cx="9144001" cy="45719"/>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6304" y="115826"/>
            <a:ext cx="8851392" cy="1292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646272"/>
            <a:ext cx="1854203" cy="187517"/>
          </a:xfrm>
          <a:prstGeom prst="rect">
            <a:avLst/>
          </a:prstGeom>
        </p:spPr>
        <p:txBody>
          <a:bodyPr vert="horz" lIns="91440" tIns="45720" rIns="91440" bIns="45720" rtlCol="0" anchor="ctr"/>
          <a:lstStyle>
            <a:lvl1pPr algn="l">
              <a:defRPr sz="900">
                <a:solidFill>
                  <a:srgbClr val="FFFFFF"/>
                </a:solidFill>
              </a:defRPr>
            </a:lvl1pPr>
          </a:lstStyle>
          <a:p>
            <a:fld id="{5446D974-CBC7-EE4D-B60D-B7706E54EFC8}" type="datetime1">
              <a:rPr lang="en-US" smtClean="0"/>
              <a:t>9/12/2023</a:t>
            </a:fld>
            <a:endParaRPr lang="en-US"/>
          </a:p>
        </p:txBody>
      </p:sp>
      <p:sp>
        <p:nvSpPr>
          <p:cNvPr id="5" name="Footer Placeholder 4"/>
          <p:cNvSpPr>
            <a:spLocks noGrp="1"/>
          </p:cNvSpPr>
          <p:nvPr>
            <p:ph type="ftr" sz="quarter" idx="3"/>
          </p:nvPr>
        </p:nvSpPr>
        <p:spPr>
          <a:xfrm>
            <a:off x="2764639" y="6646272"/>
            <a:ext cx="3617103" cy="187517"/>
          </a:xfrm>
          <a:prstGeom prst="rect">
            <a:avLst/>
          </a:prstGeom>
        </p:spPr>
        <p:txBody>
          <a:bodyPr vert="horz" lIns="91440" tIns="45720" rIns="91440" bIns="45720" rtlCol="0" anchor="ctr"/>
          <a:lstStyle>
            <a:lvl1pPr algn="ctr">
              <a:defRPr sz="800" cap="none"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646272"/>
            <a:ext cx="984019" cy="187517"/>
          </a:xfrm>
          <a:prstGeom prst="rect">
            <a:avLst/>
          </a:prstGeom>
        </p:spPr>
        <p:txBody>
          <a:bodyPr vert="horz" lIns="91440" tIns="45720" rIns="91440" bIns="45720" rtlCol="0" anchor="ctr"/>
          <a:lstStyle>
            <a:lvl1pPr algn="r">
              <a:defRPr sz="1050" b="1">
                <a:solidFill>
                  <a:schemeClr val="bg1"/>
                </a:solidFill>
              </a:defRPr>
            </a:lvl1pPr>
          </a:lstStyle>
          <a:p>
            <a:fld id="{9C8A9BBF-D171-497A-B4A2-0767A13C4597}" type="slidenum">
              <a:rPr lang="en-US" smtClean="0"/>
              <a:pPr/>
              <a:t>‹#›</a:t>
            </a:fld>
            <a:endParaRPr lang="en-US"/>
          </a:p>
        </p:txBody>
      </p:sp>
    </p:spTree>
    <p:extLst>
      <p:ext uri="{BB962C8B-B14F-4D97-AF65-F5344CB8AC3E}">
        <p14:creationId xmlns:p14="http://schemas.microsoft.com/office/powerpoint/2010/main" val="156809917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50" r:id="rId14"/>
    <p:sldLayoutId id="2147483751" r:id="rId15"/>
    <p:sldLayoutId id="2147483752" r:id="rId16"/>
    <p:sldLayoutId id="2147483753" r:id="rId17"/>
    <p:sldLayoutId id="2147483754" r:id="rId18"/>
    <p:sldLayoutId id="2147483755" r:id="rId19"/>
    <p:sldLayoutId id="2147483756" r:id="rId20"/>
    <p:sldLayoutId id="2147483689" r:id="rId21"/>
  </p:sldLayoutIdLst>
  <p:hf hdr="0" ftr="0" dt="0"/>
  <p:txStyles>
    <p:title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p:titleStyle>
    <p:bodyStyle>
      <a:lvl1pPr marL="365760" indent="-274320" algn="justLow"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2B942-B92A-2E45-8EC0-57867F6F01E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A5CF6-438F-FE41-AE0D-B759171B0C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DD81B-544C-D244-83E4-4E486AE7EEC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89413-073D-8B47-B309-030A36FC1175}" type="datetime1">
              <a:rPr lang="en-US" smtClean="0"/>
              <a:t>9/12/2023</a:t>
            </a:fld>
            <a:endParaRPr lang="en-US"/>
          </a:p>
        </p:txBody>
      </p:sp>
      <p:sp>
        <p:nvSpPr>
          <p:cNvPr id="5" name="Footer Placeholder 4">
            <a:extLst>
              <a:ext uri="{FF2B5EF4-FFF2-40B4-BE49-F238E27FC236}">
                <a16:creationId xmlns:a16="http://schemas.microsoft.com/office/drawing/2014/main" id="{10E8B353-9F5D-7C4C-9D19-B7C6D6F6A2A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C5F08-BBA1-684A-BFC9-EF43E5A8A4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DC26-60E4-8E43-A906-D21F61161A83}" type="slidenum">
              <a:rPr lang="en-US" smtClean="0"/>
              <a:t>‹#›</a:t>
            </a:fld>
            <a:endParaRPr lang="en-US"/>
          </a:p>
        </p:txBody>
      </p:sp>
    </p:spTree>
    <p:extLst>
      <p:ext uri="{BB962C8B-B14F-4D97-AF65-F5344CB8AC3E}">
        <p14:creationId xmlns:p14="http://schemas.microsoft.com/office/powerpoint/2010/main" val="240727111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5.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5.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F092033-53A0-4557-BC8C-EDF7C4004F50}"/>
              </a:ext>
            </a:extLst>
          </p:cNvPr>
          <p:cNvSpPr>
            <a:spLocks noGrp="1" noChangeArrowheads="1"/>
          </p:cNvSpPr>
          <p:nvPr>
            <p:ph type="ctrTitle"/>
          </p:nvPr>
        </p:nvSpPr>
        <p:spPr/>
        <p:txBody>
          <a:bodyPr>
            <a:normAutofit/>
          </a:bodyPr>
          <a:lstStyle/>
          <a:p>
            <a:r>
              <a:rPr lang="en-US" altLang="en-US" b="1" dirty="0">
                <a:solidFill>
                  <a:schemeClr val="tx1"/>
                </a:solidFill>
              </a:rPr>
              <a:t>Chapter  2.3</a:t>
            </a:r>
            <a:br>
              <a:rPr lang="en-US" altLang="en-US" b="1" dirty="0">
                <a:solidFill>
                  <a:schemeClr val="tx1"/>
                </a:solidFill>
                <a:cs typeface="Calibri Light"/>
              </a:rPr>
            </a:br>
            <a:r>
              <a:rPr lang="en-US" altLang="en-US" b="1" dirty="0">
                <a:solidFill>
                  <a:schemeClr val="tx1"/>
                </a:solidFill>
              </a:rPr>
              <a:t>Creating High-Quality Code</a:t>
            </a:r>
          </a:p>
        </p:txBody>
      </p:sp>
      <p:sp>
        <p:nvSpPr>
          <p:cNvPr id="4099" name="Subtitle 3">
            <a:extLst>
              <a:ext uri="{FF2B5EF4-FFF2-40B4-BE49-F238E27FC236}">
                <a16:creationId xmlns:a16="http://schemas.microsoft.com/office/drawing/2014/main" id="{B6B8808F-B611-4A7E-94DA-CDF020C7794F}"/>
              </a:ext>
            </a:extLst>
          </p:cNvPr>
          <p:cNvSpPr>
            <a:spLocks noGrp="1" noChangeArrowheads="1"/>
          </p:cNvSpPr>
          <p:nvPr>
            <p:ph type="subTitle" idx="1"/>
          </p:nvPr>
        </p:nvSpPr>
        <p:spPr/>
        <p:txBody>
          <a:bodyPr/>
          <a:lstStyle/>
          <a:p>
            <a:r>
              <a:rPr lang="en-US" altLang="en-US" b="1" dirty="0">
                <a:solidFill>
                  <a:srgbClr val="6E96A2"/>
                </a:solidFill>
              </a:rPr>
              <a:t>CCSW 325 (Software Construction)</a:t>
            </a:r>
          </a:p>
        </p:txBody>
      </p:sp>
      <p:sp>
        <p:nvSpPr>
          <p:cNvPr id="4101" name="Rectangle 6">
            <a:extLst>
              <a:ext uri="{FF2B5EF4-FFF2-40B4-BE49-F238E27FC236}">
                <a16:creationId xmlns:a16="http://schemas.microsoft.com/office/drawing/2014/main" id="{AEE57C53-6C77-4FD6-9666-64A46DD2907C}"/>
              </a:ext>
            </a:extLst>
          </p:cNvPr>
          <p:cNvSpPr>
            <a:spLocks noChangeArrowheads="1"/>
          </p:cNvSpPr>
          <p:nvPr/>
        </p:nvSpPr>
        <p:spPr bwMode="auto">
          <a:xfrm>
            <a:off x="3052763"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29">
            <a:extLst>
              <a:ext uri="{FF2B5EF4-FFF2-40B4-BE49-F238E27FC236}">
                <a16:creationId xmlns:a16="http://schemas.microsoft.com/office/drawing/2014/main" id="{94F01EDA-3993-4F5B-8338-A155D71634A5}"/>
              </a:ext>
            </a:extLst>
          </p:cNvPr>
          <p:cNvSpPr>
            <a:spLocks noChangeArrowheads="1"/>
          </p:cNvSpPr>
          <p:nvPr/>
        </p:nvSpPr>
        <p:spPr bwMode="auto">
          <a:xfrm>
            <a:off x="0" y="240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031">
            <a:extLst>
              <a:ext uri="{FF2B5EF4-FFF2-40B4-BE49-F238E27FC236}">
                <a16:creationId xmlns:a16="http://schemas.microsoft.com/office/drawing/2014/main" id="{D4B57B18-3F97-4D1E-AA13-041A7DDAEFC6}"/>
              </a:ext>
            </a:extLst>
          </p:cNvPr>
          <p:cNvSpPr>
            <a:spLocks noChangeArrowheads="1"/>
          </p:cNvSpPr>
          <p:nvPr/>
        </p:nvSpPr>
        <p:spPr bwMode="auto">
          <a:xfrm>
            <a:off x="0" y="2263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Slide Number Placeholder 2">
            <a:extLst>
              <a:ext uri="{FF2B5EF4-FFF2-40B4-BE49-F238E27FC236}">
                <a16:creationId xmlns:a16="http://schemas.microsoft.com/office/drawing/2014/main" id="{089F2176-6175-6A4D-84ED-59A2EE053491}"/>
              </a:ext>
            </a:extLst>
          </p:cNvPr>
          <p:cNvSpPr>
            <a:spLocks noGrp="1"/>
          </p:cNvSpPr>
          <p:nvPr>
            <p:ph type="sldNum" sz="quarter" idx="12"/>
          </p:nvPr>
        </p:nvSpPr>
        <p:spPr/>
        <p:txBody>
          <a:bodyPr/>
          <a:lstStyle/>
          <a:p>
            <a:fld id="{9C8A9BBF-D171-497A-B4A2-0767A13C459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a:t>
            </a:fld>
            <a:endParaRPr lang="en-US" sz="700"/>
          </a:p>
        </p:txBody>
      </p:sp>
      <p:sp>
        <p:nvSpPr>
          <p:cNvPr id="3" name="Title 1">
            <a:extLst>
              <a:ext uri="{FF2B5EF4-FFF2-40B4-BE49-F238E27FC236}">
                <a16:creationId xmlns:a16="http://schemas.microsoft.com/office/drawing/2014/main" id="{81690C46-397F-C514-93ED-5E53859057EA}"/>
              </a:ext>
            </a:extLst>
          </p:cNvPr>
          <p:cNvSpPr txBox="1">
            <a:spLocks/>
          </p:cNvSpPr>
          <p:nvPr/>
        </p:nvSpPr>
        <p:spPr bwMode="auto">
          <a:xfrm>
            <a:off x="657681" y="2438400"/>
            <a:ext cx="7828638" cy="990600"/>
          </a:xfrm>
          <a:prstGeom prst="rect">
            <a:avLst/>
          </a:prstGeom>
          <a:noFill/>
          <a:ln w="9525">
            <a:noFill/>
            <a:miter lim="800000"/>
            <a:headEnd/>
            <a:tailEnd/>
          </a:ln>
        </p:spPr>
        <p:txBody>
          <a:bodyPr lIns="0" tIns="0" rIns="16207" bIns="0" anchor="b">
            <a:noAutofit/>
            <a:scene3d>
              <a:camera prst="orthographicFront"/>
              <a:lightRig rig="freezing" dir="t">
                <a:rot lat="0" lon="0" rev="5640000"/>
              </a:lightRig>
            </a:scene3d>
            <a:sp3d prstMaterial="flat">
              <a:bevelT w="38100" h="38100"/>
              <a:contourClr>
                <a:schemeClr val="tx2"/>
              </a:contourClr>
            </a:sp3d>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lgn="ctr" fontAlgn="auto">
              <a:lnSpc>
                <a:spcPct val="120000"/>
              </a:lnSpc>
              <a:spcAft>
                <a:spcPts val="0"/>
              </a:spcAft>
              <a:defRPr/>
            </a:pPr>
            <a:r>
              <a:rPr lang="en-US" sz="3600" b="1" dirty="0">
                <a:solidFill>
                  <a:prstClr val="black"/>
                </a:solidFill>
                <a:latin typeface="Calibri Light"/>
              </a:rPr>
              <a:t>2- Creating High-Quality Code [3]</a:t>
            </a:r>
          </a:p>
        </p:txBody>
      </p:sp>
    </p:spTree>
    <p:extLst>
      <p:ext uri="{BB962C8B-B14F-4D97-AF65-F5344CB8AC3E}">
        <p14:creationId xmlns:p14="http://schemas.microsoft.com/office/powerpoint/2010/main" val="419306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17013" y="-1083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Outline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3</a:t>
            </a:fld>
            <a:endParaRPr lang="en-US" sz="700"/>
          </a:p>
        </p:txBody>
      </p:sp>
      <p:sp>
        <p:nvSpPr>
          <p:cNvPr id="12" name="Content Placeholder 11">
            <a:extLst>
              <a:ext uri="{FF2B5EF4-FFF2-40B4-BE49-F238E27FC236}">
                <a16:creationId xmlns:a16="http://schemas.microsoft.com/office/drawing/2014/main" id="{F21CAF2F-BEC7-333A-DBF4-3118C1C0869D}"/>
              </a:ext>
            </a:extLst>
          </p:cNvPr>
          <p:cNvSpPr>
            <a:spLocks noGrp="1"/>
          </p:cNvSpPr>
          <p:nvPr>
            <p:ph sz="half" idx="1"/>
          </p:nvPr>
        </p:nvSpPr>
        <p:spPr>
          <a:xfrm>
            <a:off x="822959" y="1845734"/>
            <a:ext cx="7803455" cy="4023360"/>
          </a:xfrm>
        </p:spPr>
        <p:txBody>
          <a:bodyPr/>
          <a:lstStyle/>
          <a:p>
            <a:pPr algn="l" rtl="0" fontAlgn="base">
              <a:buFont typeface="Arial" panose="020B0604020202020204" pitchFamily="34" charset="0"/>
              <a:buChar char="•"/>
            </a:pPr>
            <a:r>
              <a:rPr lang="en-US" sz="2400" b="0" i="0" u="none" strike="noStrike" dirty="0">
                <a:solidFill>
                  <a:srgbClr val="000000"/>
                </a:solidFill>
                <a:effectLst/>
                <a:latin typeface="Arial" panose="020B0604020202020204" pitchFamily="34" charset="0"/>
                <a:cs typeface="Arial" panose="020B0604020202020204" pitchFamily="34" charset="0"/>
              </a:rPr>
              <a:t>Design in Construction – Part 2 of 2</a:t>
            </a:r>
            <a:r>
              <a:rPr lang="en-US" sz="2400" b="0" i="0" dirty="0">
                <a:solidFill>
                  <a:srgbClr val="000000"/>
                </a:solidFill>
                <a:effectLst/>
                <a:latin typeface="Arial" panose="020B0604020202020204" pitchFamily="34" charset="0"/>
                <a:cs typeface="Arial" panose="020B0604020202020204" pitchFamily="34" charset="0"/>
              </a:rPr>
              <a:t>​</a:t>
            </a:r>
          </a:p>
          <a:p>
            <a:pPr lvl="1" algn="l" fontAlgn="base">
              <a:buClr>
                <a:srgbClr val="0070C0"/>
              </a:buClr>
              <a:buFont typeface="Arial" panose="020B0604020202020204" pitchFamily="34" charset="0"/>
              <a:buChar char="•"/>
            </a:pPr>
            <a:r>
              <a:rPr lang="en-US" sz="2000" b="0" i="0" u="none" strike="noStrike" dirty="0">
                <a:solidFill>
                  <a:srgbClr val="000000"/>
                </a:solidFill>
                <a:effectLst/>
                <a:latin typeface="Arial" panose="020B0604020202020204" pitchFamily="34" charset="0"/>
                <a:cs typeface="Arial" panose="020B0604020202020204" pitchFamily="34" charset="0"/>
              </a:rPr>
              <a:t>Design Building Blocks: Heuristics</a:t>
            </a:r>
            <a:r>
              <a:rPr lang="en-US" sz="2000" b="0" i="0" dirty="0">
                <a:solidFill>
                  <a:srgbClr val="000000"/>
                </a:solidFill>
                <a:effectLst/>
                <a:latin typeface="Arial" panose="020B0604020202020204" pitchFamily="34" charset="0"/>
                <a:cs typeface="Arial" panose="020B0604020202020204" pitchFamily="34" charset="0"/>
              </a:rPr>
              <a:t>​</a:t>
            </a:r>
          </a:p>
          <a:p>
            <a:pPr lvl="1" algn="l" fontAlgn="base">
              <a:buClr>
                <a:srgbClr val="0070C0"/>
              </a:buClr>
              <a:buFont typeface="Arial" panose="020B0604020202020204" pitchFamily="34" charset="0"/>
              <a:buChar char="•"/>
            </a:pPr>
            <a:r>
              <a:rPr lang="en-US" sz="2000" b="0" i="0" u="none" strike="noStrike" dirty="0">
                <a:solidFill>
                  <a:srgbClr val="000000"/>
                </a:solidFill>
                <a:effectLst/>
                <a:latin typeface="Arial" panose="020B0604020202020204" pitchFamily="34" charset="0"/>
                <a:cs typeface="Arial" panose="020B0604020202020204" pitchFamily="34" charset="0"/>
              </a:rPr>
              <a:t>Design Practices</a:t>
            </a:r>
            <a:endParaRPr lang="en-US" sz="2000" b="0" i="0" dirty="0">
              <a:solidFill>
                <a:srgbClr val="000000"/>
              </a:solidFill>
              <a:effectLst/>
              <a:latin typeface="Arial" panose="020B0604020202020204" pitchFamily="34" charset="0"/>
              <a:cs typeface="Arial" panose="020B0604020202020204" pitchFamily="34" charset="0"/>
            </a:endParaRPr>
          </a:p>
          <a:p>
            <a:endParaRPr lang="en-SA" dirty="0"/>
          </a:p>
        </p:txBody>
      </p:sp>
    </p:spTree>
    <p:extLst>
      <p:ext uri="{BB962C8B-B14F-4D97-AF65-F5344CB8AC3E}">
        <p14:creationId xmlns:p14="http://schemas.microsoft.com/office/powerpoint/2010/main" val="1076553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17014"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Design Building Blocks: Heuristics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4</a:t>
            </a:fld>
            <a:endParaRPr lang="en-US" sz="700"/>
          </a:p>
        </p:txBody>
      </p:sp>
      <p:sp>
        <p:nvSpPr>
          <p:cNvPr id="2" name="Rectangle 5">
            <a:extLst>
              <a:ext uri="{FF2B5EF4-FFF2-40B4-BE49-F238E27FC236}">
                <a16:creationId xmlns:a16="http://schemas.microsoft.com/office/drawing/2014/main" id="{DCDC8291-1FD8-A704-A622-6EC5E9F5EEA0}"/>
              </a:ext>
            </a:extLst>
          </p:cNvPr>
          <p:cNvSpPr/>
          <p:nvPr/>
        </p:nvSpPr>
        <p:spPr>
          <a:xfrm>
            <a:off x="469430" y="2135022"/>
            <a:ext cx="8179497" cy="646331"/>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lgn="ctr" eaLnBrk="0" hangingPunct="0">
              <a:spcBef>
                <a:spcPct val="20000"/>
              </a:spcBef>
              <a:buClr>
                <a:srgbClr val="0BD0D9"/>
              </a:buClr>
              <a:buSzPct val="95000"/>
              <a:defRPr/>
            </a:pPr>
            <a:r>
              <a:rPr lang="en-US" sz="1800" b="0" i="1" u="none" strike="noStrike" dirty="0">
                <a:solidFill>
                  <a:srgbClr val="000000"/>
                </a:solidFill>
                <a:effectLst/>
                <a:latin typeface="Carlito"/>
              </a:rPr>
              <a:t>Because design is nondeterministic, skillful application of an effective set of  heuristics is the core activity in good software design</a:t>
            </a:r>
            <a:r>
              <a:rPr lang="en-US" sz="1800" b="0" i="0" dirty="0">
                <a:solidFill>
                  <a:srgbClr val="000000"/>
                </a:solidFill>
                <a:effectLst/>
                <a:latin typeface="Carlito"/>
              </a:rPr>
              <a:t>​</a:t>
            </a:r>
            <a:endParaRPr lang="en-US" sz="2800" dirty="0">
              <a:latin typeface="+mn-lt"/>
              <a:cs typeface="+mn-cs"/>
            </a:endParaRPr>
          </a:p>
        </p:txBody>
      </p:sp>
      <p:sp>
        <p:nvSpPr>
          <p:cNvPr id="12" name="TextBox 11">
            <a:extLst>
              <a:ext uri="{FF2B5EF4-FFF2-40B4-BE49-F238E27FC236}">
                <a16:creationId xmlns:a16="http://schemas.microsoft.com/office/drawing/2014/main" id="{1CA58355-5C5D-AC37-FAD0-3E00CE646B6C}"/>
              </a:ext>
            </a:extLst>
          </p:cNvPr>
          <p:cNvSpPr txBox="1"/>
          <p:nvPr/>
        </p:nvSpPr>
        <p:spPr>
          <a:xfrm>
            <a:off x="2266591" y="3171009"/>
            <a:ext cx="4584938" cy="369332"/>
          </a:xfrm>
          <a:prstGeom prst="rect">
            <a:avLst/>
          </a:prstGeom>
          <a:noFill/>
        </p:spPr>
        <p:txBody>
          <a:bodyPr wrap="square">
            <a:spAutoFit/>
          </a:bodyPr>
          <a:lstStyle/>
          <a:p>
            <a:r>
              <a:rPr lang="en-SA" b="0" i="0" dirty="0">
                <a:solidFill>
                  <a:srgbClr val="000000"/>
                </a:solidFill>
                <a:effectLst/>
                <a:latin typeface="Times" pitchFamily="2" charset="0"/>
              </a:rPr>
              <a:t> </a:t>
            </a:r>
            <a:endParaRPr lang="en-SA" dirty="0"/>
          </a:p>
        </p:txBody>
      </p:sp>
      <p:sp>
        <p:nvSpPr>
          <p:cNvPr id="14" name="TextBox 13">
            <a:extLst>
              <a:ext uri="{FF2B5EF4-FFF2-40B4-BE49-F238E27FC236}">
                <a16:creationId xmlns:a16="http://schemas.microsoft.com/office/drawing/2014/main" id="{7A083C27-06EE-E2D3-BCFC-2AE31ACE784E}"/>
              </a:ext>
            </a:extLst>
          </p:cNvPr>
          <p:cNvSpPr txBox="1"/>
          <p:nvPr/>
        </p:nvSpPr>
        <p:spPr>
          <a:xfrm>
            <a:off x="2266591" y="3171009"/>
            <a:ext cx="4584938" cy="369332"/>
          </a:xfrm>
          <a:prstGeom prst="rect">
            <a:avLst/>
          </a:prstGeom>
          <a:noFill/>
        </p:spPr>
        <p:txBody>
          <a:bodyPr wrap="square">
            <a:spAutoFit/>
          </a:bodyPr>
          <a:lstStyle/>
          <a:p>
            <a:r>
              <a:rPr lang="en-SA" b="0" i="0" dirty="0">
                <a:solidFill>
                  <a:srgbClr val="000000"/>
                </a:solidFill>
                <a:effectLst/>
                <a:latin typeface="Times" pitchFamily="2" charset="0"/>
              </a:rPr>
              <a:t> </a:t>
            </a:r>
            <a:endParaRPr lang="en-SA" dirty="0"/>
          </a:p>
        </p:txBody>
      </p:sp>
      <p:sp>
        <p:nvSpPr>
          <p:cNvPr id="17" name="object 4">
            <a:extLst>
              <a:ext uri="{FF2B5EF4-FFF2-40B4-BE49-F238E27FC236}">
                <a16:creationId xmlns:a16="http://schemas.microsoft.com/office/drawing/2014/main" id="{07B01F02-770C-AB94-482C-AAAC49018041}"/>
              </a:ext>
            </a:extLst>
          </p:cNvPr>
          <p:cNvSpPr>
            <a:spLocks noChangeArrowheads="1"/>
          </p:cNvSpPr>
          <p:nvPr/>
        </p:nvSpPr>
        <p:spPr bwMode="auto">
          <a:xfrm>
            <a:off x="2743200" y="3248025"/>
            <a:ext cx="4495800" cy="1706563"/>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18" name="object 5">
            <a:extLst>
              <a:ext uri="{FF2B5EF4-FFF2-40B4-BE49-F238E27FC236}">
                <a16:creationId xmlns:a16="http://schemas.microsoft.com/office/drawing/2014/main" id="{77EDB948-52EC-5D80-9FC9-1231183F44A5}"/>
              </a:ext>
            </a:extLst>
          </p:cNvPr>
          <p:cNvSpPr txBox="1"/>
          <p:nvPr/>
        </p:nvSpPr>
        <p:spPr>
          <a:xfrm>
            <a:off x="2743200" y="4954588"/>
            <a:ext cx="4483100" cy="309562"/>
          </a:xfrm>
          <a:prstGeom prst="rect">
            <a:avLst/>
          </a:prstGeom>
          <a:ln w="12700">
            <a:solidFill>
              <a:srgbClr val="000000"/>
            </a:solidFill>
          </a:ln>
        </p:spPr>
        <p:txBody>
          <a:bodyPr lIns="0" tIns="31115" rIns="0" bIns="0">
            <a:spAutoFit/>
          </a:bodyPr>
          <a:lstStyle/>
          <a:p>
            <a:pPr marL="1046480">
              <a:spcBef>
                <a:spcPts val="245"/>
              </a:spcBef>
              <a:defRPr/>
            </a:pPr>
            <a:r>
              <a:rPr b="1" spc="-10" dirty="0">
                <a:latin typeface="Carlito"/>
                <a:cs typeface="Carlito"/>
              </a:rPr>
              <a:t>GOAL: </a:t>
            </a:r>
            <a:r>
              <a:rPr spc="-5" dirty="0">
                <a:latin typeface="Carlito"/>
                <a:cs typeface="Carlito"/>
              </a:rPr>
              <a:t>Minimal</a:t>
            </a:r>
            <a:r>
              <a:rPr spc="10" dirty="0">
                <a:latin typeface="Carlito"/>
                <a:cs typeface="Carlito"/>
              </a:rPr>
              <a:t> </a:t>
            </a:r>
            <a:r>
              <a:rPr spc="-5" dirty="0">
                <a:latin typeface="Carlito"/>
                <a:cs typeface="Carlito"/>
              </a:rPr>
              <a:t>Complexity</a:t>
            </a:r>
            <a:endParaRPr dirty="0">
              <a:latin typeface="Carlito"/>
              <a:cs typeface="Carlito"/>
            </a:endParaRPr>
          </a:p>
        </p:txBody>
      </p:sp>
    </p:spTree>
    <p:extLst>
      <p:ext uri="{BB962C8B-B14F-4D97-AF65-F5344CB8AC3E}">
        <p14:creationId xmlns:p14="http://schemas.microsoft.com/office/powerpoint/2010/main" val="4021999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5</a:t>
            </a:fld>
            <a:endParaRPr lang="en-US" sz="700"/>
          </a:p>
        </p:txBody>
      </p:sp>
      <p:sp>
        <p:nvSpPr>
          <p:cNvPr id="2" name="Title 5">
            <a:extLst>
              <a:ext uri="{FF2B5EF4-FFF2-40B4-BE49-F238E27FC236}">
                <a16:creationId xmlns:a16="http://schemas.microsoft.com/office/drawing/2014/main" id="{77043787-089C-6D4C-A2A0-7A1EB5136641}"/>
              </a:ext>
            </a:extLst>
          </p:cNvPr>
          <p:cNvSpPr>
            <a:spLocks noGrp="1"/>
          </p:cNvSpPr>
          <p:nvPr>
            <p:ph type="title"/>
          </p:nvPr>
        </p:nvSpPr>
        <p:spPr>
          <a:xfrm>
            <a:off x="-17014" y="-10590"/>
            <a:ext cx="9169639" cy="817280"/>
          </a:xfrm>
          <a:solidFill>
            <a:schemeClr val="accent6">
              <a:lumMod val="40000"/>
              <a:lumOff val="60000"/>
            </a:schemeClr>
          </a:solidFill>
        </p:spPr>
        <p:txBody>
          <a:bodyPr anchor="ctr">
            <a:normAutofit fontScale="90000"/>
          </a:bodyPr>
          <a:lstStyle/>
          <a:p>
            <a:r>
              <a:rPr lang="en-US" sz="4400" b="1" dirty="0">
                <a:solidFill>
                  <a:schemeClr val="tx1"/>
                </a:solidFill>
                <a:latin typeface="+mn-lt"/>
              </a:rPr>
              <a:t>Design Heuristics : </a:t>
            </a:r>
            <a:r>
              <a:rPr lang="en-US" sz="4400" dirty="0">
                <a:solidFill>
                  <a:schemeClr val="tx1"/>
                </a:solidFill>
                <a:latin typeface="+mn-lt"/>
              </a:rPr>
              <a:t>Find Real-World Objects</a:t>
            </a:r>
            <a:endParaRPr lang="en-US" dirty="0">
              <a:solidFill>
                <a:schemeClr val="tx1"/>
              </a:solidFill>
              <a:latin typeface="+mn-lt"/>
            </a:endParaRPr>
          </a:p>
        </p:txBody>
      </p:sp>
      <p:pic>
        <p:nvPicPr>
          <p:cNvPr id="4" name="Picture 2">
            <a:extLst>
              <a:ext uri="{FF2B5EF4-FFF2-40B4-BE49-F238E27FC236}">
                <a16:creationId xmlns:a16="http://schemas.microsoft.com/office/drawing/2014/main" id="{23628E88-5D22-9AB9-B046-63E404B10C2C}"/>
              </a:ext>
            </a:extLst>
          </p:cNvPr>
          <p:cNvPicPr>
            <a:picLocks noChangeAspect="1" noChangeArrowheads="1"/>
          </p:cNvPicPr>
          <p:nvPr/>
        </p:nvPicPr>
        <p:blipFill>
          <a:blip r:embed="rId2" cstate="print"/>
          <a:srcRect/>
          <a:stretch>
            <a:fillRect/>
          </a:stretch>
        </p:blipFill>
        <p:spPr bwMode="auto">
          <a:xfrm>
            <a:off x="77638" y="1588698"/>
            <a:ext cx="9066362" cy="4695825"/>
          </a:xfrm>
          <a:prstGeom prst="rect">
            <a:avLst/>
          </a:prstGeom>
          <a:noFill/>
          <a:ln w="9525">
            <a:noFill/>
            <a:miter lim="800000"/>
            <a:headEnd/>
            <a:tailEnd/>
          </a:ln>
        </p:spPr>
      </p:pic>
    </p:spTree>
    <p:extLst>
      <p:ext uri="{BB962C8B-B14F-4D97-AF65-F5344CB8AC3E}">
        <p14:creationId xmlns:p14="http://schemas.microsoft.com/office/powerpoint/2010/main" val="166040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3600" b="1" dirty="0">
                <a:solidFill>
                  <a:schemeClr val="tx1"/>
                </a:solidFill>
                <a:latin typeface="+mn-lt"/>
              </a:rPr>
              <a:t>Design Heuristics : </a:t>
            </a:r>
            <a:r>
              <a:rPr lang="en-US" sz="3600" dirty="0">
                <a:solidFill>
                  <a:schemeClr val="tx1"/>
                </a:solidFill>
                <a:latin typeface="+mn-lt"/>
              </a:rPr>
              <a:t>Form Consistent Abstractions</a:t>
            </a:r>
            <a:endParaRPr lang="en-US" sz="36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6</a:t>
            </a:fld>
            <a:endParaRPr lang="en-US" sz="700"/>
          </a:p>
        </p:txBody>
      </p:sp>
      <p:sp>
        <p:nvSpPr>
          <p:cNvPr id="6" name="object 4">
            <a:extLst>
              <a:ext uri="{FF2B5EF4-FFF2-40B4-BE49-F238E27FC236}">
                <a16:creationId xmlns:a16="http://schemas.microsoft.com/office/drawing/2014/main" id="{07353A36-D589-0DF0-FE44-90C1E35CCC08}"/>
              </a:ext>
            </a:extLst>
          </p:cNvPr>
          <p:cNvSpPr txBox="1">
            <a:spLocks noChangeArrowheads="1"/>
          </p:cNvSpPr>
          <p:nvPr/>
        </p:nvSpPr>
        <p:spPr bwMode="auto">
          <a:xfrm>
            <a:off x="320278" y="1347774"/>
            <a:ext cx="8477802" cy="749564"/>
          </a:xfrm>
          <a:prstGeom prst="rect">
            <a:avLst/>
          </a:prstGeom>
          <a:noFill/>
          <a:ln w="9525">
            <a:noFill/>
            <a:miter lim="800000"/>
            <a:headEnd/>
            <a:tailEnd/>
          </a:ln>
        </p:spPr>
        <p:txBody>
          <a:bodyPr wrap="square" lIns="0" tIns="10795"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algn="ctr"/>
            <a:r>
              <a:rPr lang="en-US" sz="2400" dirty="0"/>
              <a:t>Abstraction is the ability to engage with a concept while safely ignoring some of its details</a:t>
            </a:r>
          </a:p>
        </p:txBody>
      </p:sp>
      <p:sp>
        <p:nvSpPr>
          <p:cNvPr id="3" name="object 4">
            <a:extLst>
              <a:ext uri="{FF2B5EF4-FFF2-40B4-BE49-F238E27FC236}">
                <a16:creationId xmlns:a16="http://schemas.microsoft.com/office/drawing/2014/main" id="{63E75E05-5F91-672E-57EC-461752AB0AA0}"/>
              </a:ext>
            </a:extLst>
          </p:cNvPr>
          <p:cNvSpPr txBox="1">
            <a:spLocks noChangeArrowheads="1"/>
          </p:cNvSpPr>
          <p:nvPr/>
        </p:nvSpPr>
        <p:spPr bwMode="auto">
          <a:xfrm>
            <a:off x="320278" y="2222747"/>
            <a:ext cx="8477802" cy="749564"/>
          </a:xfrm>
          <a:prstGeom prst="rect">
            <a:avLst/>
          </a:prstGeom>
          <a:noFill/>
          <a:ln w="9525">
            <a:noFill/>
            <a:miter lim="800000"/>
            <a:headEnd/>
            <a:tailEnd/>
          </a:ln>
        </p:spPr>
        <p:txBody>
          <a:bodyPr wrap="square" lIns="0" tIns="10795" rIns="0" bIns="0">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pPr marL="12700" algn="ctr">
              <a:spcBef>
                <a:spcPts val="100"/>
              </a:spcBef>
              <a:defRPr/>
            </a:pPr>
            <a:r>
              <a:rPr lang="en-US" sz="2400" i="1" spc="-10" dirty="0">
                <a:latin typeface="Carlito"/>
                <a:cs typeface="Carlito"/>
              </a:rPr>
              <a:t>From </a:t>
            </a:r>
            <a:r>
              <a:rPr lang="en-US" sz="2400" i="1" dirty="0">
                <a:latin typeface="Carlito"/>
                <a:cs typeface="Carlito"/>
              </a:rPr>
              <a:t>a </a:t>
            </a:r>
            <a:r>
              <a:rPr lang="en-US" sz="2400" i="1" spc="-10" dirty="0">
                <a:latin typeface="Carlito"/>
                <a:cs typeface="Carlito"/>
              </a:rPr>
              <a:t>complexity point </a:t>
            </a:r>
            <a:r>
              <a:rPr lang="en-US" sz="2400" i="1" dirty="0">
                <a:latin typeface="Carlito"/>
                <a:cs typeface="Carlito"/>
              </a:rPr>
              <a:t>of </a:t>
            </a:r>
            <a:r>
              <a:rPr lang="en-US" sz="2400" i="1" spc="-25" dirty="0">
                <a:latin typeface="Carlito"/>
                <a:cs typeface="Carlito"/>
              </a:rPr>
              <a:t>view, </a:t>
            </a:r>
            <a:r>
              <a:rPr lang="en-US" sz="2400" i="1" spc="-5" dirty="0">
                <a:latin typeface="Carlito"/>
                <a:cs typeface="Carlito"/>
              </a:rPr>
              <a:t>the principal benefit </a:t>
            </a:r>
            <a:r>
              <a:rPr lang="en-US" sz="2400" i="1" dirty="0">
                <a:latin typeface="Carlito"/>
                <a:cs typeface="Carlito"/>
              </a:rPr>
              <a:t>of </a:t>
            </a:r>
            <a:r>
              <a:rPr lang="en-US" sz="2400" i="1" spc="-10" dirty="0">
                <a:latin typeface="Carlito"/>
                <a:cs typeface="Carlito"/>
              </a:rPr>
              <a:t>abstraction </a:t>
            </a:r>
            <a:r>
              <a:rPr lang="en-US" sz="2400" i="1" spc="-5" dirty="0">
                <a:latin typeface="Carlito"/>
                <a:cs typeface="Carlito"/>
              </a:rPr>
              <a:t>is that it allows you </a:t>
            </a:r>
            <a:r>
              <a:rPr lang="en-US" sz="2400" i="1" spc="-15" dirty="0">
                <a:latin typeface="Carlito"/>
                <a:cs typeface="Carlito"/>
              </a:rPr>
              <a:t>to </a:t>
            </a:r>
            <a:r>
              <a:rPr lang="en-US" sz="2400" i="1" spc="-5" dirty="0">
                <a:latin typeface="Carlito"/>
                <a:cs typeface="Carlito"/>
              </a:rPr>
              <a:t>ignore </a:t>
            </a:r>
            <a:r>
              <a:rPr lang="en-US" sz="2400" i="1" spc="-10" dirty="0">
                <a:latin typeface="Carlito"/>
                <a:cs typeface="Carlito"/>
              </a:rPr>
              <a:t>irrelevant</a:t>
            </a:r>
            <a:r>
              <a:rPr lang="en-US" sz="2400" i="1" spc="300" dirty="0">
                <a:latin typeface="Carlito"/>
                <a:cs typeface="Carlito"/>
              </a:rPr>
              <a:t> </a:t>
            </a:r>
            <a:r>
              <a:rPr lang="en-US" sz="2400" i="1" spc="-10" dirty="0">
                <a:latin typeface="Carlito"/>
                <a:cs typeface="Carlito"/>
              </a:rPr>
              <a:t>details</a:t>
            </a:r>
            <a:endParaRPr lang="en-US" sz="2400" dirty="0">
              <a:latin typeface="Carlito"/>
              <a:cs typeface="Carlito"/>
            </a:endParaRPr>
          </a:p>
        </p:txBody>
      </p:sp>
      <p:sp>
        <p:nvSpPr>
          <p:cNvPr id="4" name="object 3">
            <a:extLst>
              <a:ext uri="{FF2B5EF4-FFF2-40B4-BE49-F238E27FC236}">
                <a16:creationId xmlns:a16="http://schemas.microsoft.com/office/drawing/2014/main" id="{2EC5ADA2-A0E2-280F-465A-7382DC99D358}"/>
              </a:ext>
            </a:extLst>
          </p:cNvPr>
          <p:cNvSpPr>
            <a:spLocks noChangeArrowheads="1"/>
          </p:cNvSpPr>
          <p:nvPr/>
        </p:nvSpPr>
        <p:spPr bwMode="auto">
          <a:xfrm>
            <a:off x="320278" y="3159633"/>
            <a:ext cx="4483100" cy="172878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10" name="object 4">
            <a:extLst>
              <a:ext uri="{FF2B5EF4-FFF2-40B4-BE49-F238E27FC236}">
                <a16:creationId xmlns:a16="http://schemas.microsoft.com/office/drawing/2014/main" id="{6D287C3B-67B0-8F35-CAA1-D9585B85B8CE}"/>
              </a:ext>
            </a:extLst>
          </p:cNvPr>
          <p:cNvSpPr>
            <a:spLocks noChangeArrowheads="1"/>
          </p:cNvSpPr>
          <p:nvPr/>
        </p:nvSpPr>
        <p:spPr bwMode="auto">
          <a:xfrm>
            <a:off x="5289826" y="3097721"/>
            <a:ext cx="3521075" cy="1852613"/>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a:p>
        </p:txBody>
      </p:sp>
      <p:sp>
        <p:nvSpPr>
          <p:cNvPr id="13" name="object 5">
            <a:extLst>
              <a:ext uri="{FF2B5EF4-FFF2-40B4-BE49-F238E27FC236}">
                <a16:creationId xmlns:a16="http://schemas.microsoft.com/office/drawing/2014/main" id="{440D1645-ABF8-D295-E5BE-55568FEF7A01}"/>
              </a:ext>
            </a:extLst>
          </p:cNvPr>
          <p:cNvSpPr txBox="1">
            <a:spLocks noChangeArrowheads="1"/>
          </p:cNvSpPr>
          <p:nvPr/>
        </p:nvSpPr>
        <p:spPr bwMode="auto">
          <a:xfrm>
            <a:off x="101479" y="5491418"/>
            <a:ext cx="8915400" cy="762000"/>
          </a:xfrm>
          <a:prstGeom prst="rect">
            <a:avLst/>
          </a:prstGeom>
          <a:solidFill>
            <a:srgbClr val="FBE5D6"/>
          </a:solidFill>
          <a:ln w="9525">
            <a:noFill/>
            <a:miter lim="800000"/>
            <a:headEnd/>
            <a:tailEnd/>
          </a:ln>
        </p:spPr>
        <p:txBody>
          <a:bodyPr lIns="0" tIns="15875" rIns="0" bIns="0">
            <a:spAutoFit/>
          </a:bodyPr>
          <a:lstStyle/>
          <a:p>
            <a:pPr marL="819150" indent="-561975">
              <a:lnSpc>
                <a:spcPct val="101000"/>
              </a:lnSpc>
              <a:spcBef>
                <a:spcPts val="125"/>
              </a:spcBef>
            </a:pPr>
            <a:r>
              <a:rPr lang="en-US" sz="2400" dirty="0">
                <a:latin typeface="Carlito"/>
                <a:ea typeface="Carlito"/>
                <a:cs typeface="Carlito"/>
              </a:rPr>
              <a:t>Good programmers create abstractions at the routine-interface  level, class-interface level, and package-interface level</a:t>
            </a:r>
          </a:p>
        </p:txBody>
      </p:sp>
    </p:spTree>
    <p:extLst>
      <p:ext uri="{BB962C8B-B14F-4D97-AF65-F5344CB8AC3E}">
        <p14:creationId xmlns:p14="http://schemas.microsoft.com/office/powerpoint/2010/main" val="2997704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Autofit/>
          </a:bodyPr>
          <a:lstStyle/>
          <a:p>
            <a:r>
              <a:rPr lang="en-US" sz="3200" b="1" dirty="0">
                <a:solidFill>
                  <a:schemeClr val="tx1"/>
                </a:solidFill>
                <a:latin typeface="+mn-lt"/>
              </a:rPr>
              <a:t>Design Heuristics : </a:t>
            </a:r>
            <a:r>
              <a:rPr lang="en-US" sz="3200" dirty="0">
                <a:solidFill>
                  <a:schemeClr val="tx1"/>
                </a:solidFill>
                <a:latin typeface="+mn-lt"/>
              </a:rPr>
              <a:t>Encapsulate Implementation Details</a:t>
            </a:r>
            <a:endParaRPr lang="en-US" sz="32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7</a:t>
            </a:fld>
            <a:endParaRPr lang="en-US" sz="700"/>
          </a:p>
        </p:txBody>
      </p:sp>
      <p:sp>
        <p:nvSpPr>
          <p:cNvPr id="6" name="Rectangle 10">
            <a:extLst>
              <a:ext uri="{FF2B5EF4-FFF2-40B4-BE49-F238E27FC236}">
                <a16:creationId xmlns:a16="http://schemas.microsoft.com/office/drawing/2014/main" id="{F80AB3CF-0303-C5E0-123E-B36858FD38B0}"/>
              </a:ext>
            </a:extLst>
          </p:cNvPr>
          <p:cNvSpPr>
            <a:spLocks noChangeArrowheads="1"/>
          </p:cNvSpPr>
          <p:nvPr/>
        </p:nvSpPr>
        <p:spPr bwMode="auto">
          <a:xfrm>
            <a:off x="230915" y="1851287"/>
            <a:ext cx="8305800" cy="646113"/>
          </a:xfrm>
          <a:prstGeom prst="rect">
            <a:avLst/>
          </a:prstGeom>
          <a:noFill/>
          <a:ln w="9525">
            <a:noFill/>
            <a:miter lim="800000"/>
            <a:headEnd/>
            <a:tailEnd/>
          </a:ln>
        </p:spPr>
        <p:txBody>
          <a:bodyPr>
            <a:spAutoFit/>
          </a:bodyPr>
          <a:lstStyle/>
          <a:p>
            <a:pPr marL="3465513" indent="-3452813">
              <a:lnSpc>
                <a:spcPts val="2088"/>
              </a:lnSpc>
              <a:spcBef>
                <a:spcPts val="225"/>
              </a:spcBef>
            </a:pPr>
            <a:r>
              <a:rPr lang="en-US" i="1" dirty="0">
                <a:latin typeface="Carlito"/>
                <a:ea typeface="Carlito"/>
                <a:cs typeface="Carlito"/>
              </a:rPr>
              <a:t>Encapsulation picks up where abstraction leaves off. It helps managing complexity by forbidding you to look at the complexity.</a:t>
            </a:r>
            <a:endParaRPr lang="en-US" dirty="0">
              <a:latin typeface="Carlito"/>
              <a:ea typeface="Carlito"/>
              <a:cs typeface="Carlito"/>
            </a:endParaRPr>
          </a:p>
        </p:txBody>
      </p:sp>
      <p:sp>
        <p:nvSpPr>
          <p:cNvPr id="2" name="object 4">
            <a:extLst>
              <a:ext uri="{FF2B5EF4-FFF2-40B4-BE49-F238E27FC236}">
                <a16:creationId xmlns:a16="http://schemas.microsoft.com/office/drawing/2014/main" id="{CFCEE49C-7C7D-02CF-6AD2-2D3A5F783F30}"/>
              </a:ext>
            </a:extLst>
          </p:cNvPr>
          <p:cNvSpPr>
            <a:spLocks noChangeArrowheads="1"/>
          </p:cNvSpPr>
          <p:nvPr/>
        </p:nvSpPr>
        <p:spPr bwMode="auto">
          <a:xfrm>
            <a:off x="1777851" y="2807751"/>
            <a:ext cx="5210175" cy="2135188"/>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3" name="object 5">
            <a:extLst>
              <a:ext uri="{FF2B5EF4-FFF2-40B4-BE49-F238E27FC236}">
                <a16:creationId xmlns:a16="http://schemas.microsoft.com/office/drawing/2014/main" id="{F2F248AB-6BEC-D7E8-23F9-E342F456053B}"/>
              </a:ext>
            </a:extLst>
          </p:cNvPr>
          <p:cNvSpPr txBox="1">
            <a:spLocks noChangeArrowheads="1"/>
          </p:cNvSpPr>
          <p:nvPr/>
        </p:nvSpPr>
        <p:spPr bwMode="auto">
          <a:xfrm>
            <a:off x="1842938" y="5050889"/>
            <a:ext cx="5075238" cy="877887"/>
          </a:xfrm>
          <a:prstGeom prst="rect">
            <a:avLst/>
          </a:prstGeom>
          <a:noFill/>
          <a:ln w="9525">
            <a:noFill/>
            <a:miter lim="800000"/>
            <a:headEnd/>
            <a:tailEnd/>
          </a:ln>
        </p:spPr>
        <p:txBody>
          <a:bodyPr lIns="0" tIns="9525" rIns="0" bIns="0">
            <a:spAutoFit/>
          </a:bodyPr>
          <a:lstStyle/>
          <a:p>
            <a:pPr marL="12700">
              <a:lnSpc>
                <a:spcPct val="101000"/>
              </a:lnSpc>
              <a:spcBef>
                <a:spcPts val="75"/>
              </a:spcBef>
            </a:pPr>
            <a:r>
              <a:rPr lang="en-US" sz="1400" i="1" dirty="0">
                <a:latin typeface="Carlito"/>
                <a:ea typeface="Carlito"/>
                <a:cs typeface="Carlito"/>
              </a:rPr>
              <a:t>Encapsulation says that, not only are you allowed to take a simpler view of a complex  concept, you are not allowed to look at any of the details of the complex concept.</a:t>
            </a:r>
            <a:endParaRPr lang="en-US" sz="1400" dirty="0">
              <a:latin typeface="Carlito"/>
              <a:ea typeface="Carlito"/>
              <a:cs typeface="Carlito"/>
            </a:endParaRPr>
          </a:p>
          <a:p>
            <a:pPr marL="12700">
              <a:spcBef>
                <a:spcPts val="25"/>
              </a:spcBef>
            </a:pPr>
            <a:r>
              <a:rPr lang="en-US" sz="1400" i="1" dirty="0">
                <a:latin typeface="Carlito"/>
                <a:ea typeface="Carlito"/>
                <a:cs typeface="Carlito"/>
              </a:rPr>
              <a:t>What you see is what you get—it’s all you get!</a:t>
            </a:r>
            <a:endParaRPr lang="en-US" sz="1400" dirty="0">
              <a:latin typeface="Carlito"/>
              <a:ea typeface="Carlito"/>
              <a:cs typeface="Carlito"/>
            </a:endParaRPr>
          </a:p>
        </p:txBody>
      </p:sp>
    </p:spTree>
    <p:extLst>
      <p:ext uri="{BB962C8B-B14F-4D97-AF65-F5344CB8AC3E}">
        <p14:creationId xmlns:p14="http://schemas.microsoft.com/office/powerpoint/2010/main" val="3810758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Design Heuristics: </a:t>
            </a:r>
            <a:r>
              <a:rPr lang="en-US" sz="4400" dirty="0">
                <a:solidFill>
                  <a:schemeClr val="tx1"/>
                </a:solidFill>
                <a:latin typeface="+mn-lt"/>
              </a:rPr>
              <a:t>Inherit</a:t>
            </a:r>
            <a:endParaRPr lang="en-US"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8</a:t>
            </a:fld>
            <a:endParaRPr lang="en-US" sz="700"/>
          </a:p>
        </p:txBody>
      </p:sp>
      <p:sp>
        <p:nvSpPr>
          <p:cNvPr id="9" name="مربع نص 8">
            <a:extLst>
              <a:ext uri="{FF2B5EF4-FFF2-40B4-BE49-F238E27FC236}">
                <a16:creationId xmlns:a16="http://schemas.microsoft.com/office/drawing/2014/main" id="{8B31B243-B08B-ED41-CE85-50256F6EBC35}"/>
              </a:ext>
            </a:extLst>
          </p:cNvPr>
          <p:cNvSpPr txBox="1"/>
          <p:nvPr/>
        </p:nvSpPr>
        <p:spPr>
          <a:xfrm>
            <a:off x="60385" y="1262090"/>
            <a:ext cx="9005977" cy="1183466"/>
          </a:xfrm>
          <a:prstGeom prst="rect">
            <a:avLst/>
          </a:prstGeom>
          <a:noFill/>
        </p:spPr>
        <p:txBody>
          <a:bodyPr wrap="square">
            <a:spAutoFit/>
          </a:bodyPr>
          <a:lstStyle/>
          <a:p>
            <a:pPr marL="2782888" indent="-2770188">
              <a:lnSpc>
                <a:spcPts val="2088"/>
              </a:lnSpc>
              <a:spcBef>
                <a:spcPts val="225"/>
              </a:spcBef>
            </a:pPr>
            <a:r>
              <a:rPr lang="en-US" sz="2400" i="1" dirty="0">
                <a:latin typeface="Carlito"/>
                <a:ea typeface="Carlito"/>
                <a:cs typeface="Carlito"/>
              </a:rPr>
              <a:t>Inheritance is one of object-oriented programming’s most powerful tools. It can provide great benefits when used  well, and it can do great damage when used naively.</a:t>
            </a:r>
            <a:endParaRPr lang="en-US" sz="2400" dirty="0">
              <a:latin typeface="Carlito"/>
              <a:ea typeface="Carlito"/>
              <a:cs typeface="Carlito"/>
            </a:endParaRPr>
          </a:p>
        </p:txBody>
      </p:sp>
      <p:sp>
        <p:nvSpPr>
          <p:cNvPr id="2" name="object 4">
            <a:extLst>
              <a:ext uri="{FF2B5EF4-FFF2-40B4-BE49-F238E27FC236}">
                <a16:creationId xmlns:a16="http://schemas.microsoft.com/office/drawing/2014/main" id="{8902F52C-1FA6-B58C-3377-C57DB81153ED}"/>
              </a:ext>
            </a:extLst>
          </p:cNvPr>
          <p:cNvSpPr txBox="1">
            <a:spLocks noChangeArrowheads="1"/>
          </p:cNvSpPr>
          <p:nvPr/>
        </p:nvSpPr>
        <p:spPr bwMode="auto">
          <a:xfrm>
            <a:off x="60384" y="2882480"/>
            <a:ext cx="4882551" cy="1872500"/>
          </a:xfrm>
          <a:prstGeom prst="rect">
            <a:avLst/>
          </a:prstGeom>
          <a:noFill/>
          <a:ln w="12700">
            <a:solidFill>
              <a:srgbClr val="000000"/>
            </a:solidFill>
            <a:miter lim="800000"/>
            <a:headEnd/>
            <a:tailEnd/>
          </a:ln>
        </p:spPr>
        <p:txBody>
          <a:bodyPr wrap="square" lIns="0" tIns="19050" rIns="0" bIns="0">
            <a:spAutoFit/>
          </a:bodyPr>
          <a:lstStyle/>
          <a:p>
            <a:pPr marL="153988" algn="ctr">
              <a:lnSpc>
                <a:spcPct val="101000"/>
              </a:lnSpc>
              <a:spcBef>
                <a:spcPts val="150"/>
              </a:spcBef>
            </a:pPr>
            <a:r>
              <a:rPr lang="en-US" sz="2400" dirty="0">
                <a:latin typeface="Carlito"/>
                <a:ea typeface="Carlito"/>
                <a:cs typeface="Carlito"/>
              </a:rPr>
              <a:t>Object-oriented programming allows classes to </a:t>
            </a:r>
            <a:r>
              <a:rPr lang="en-US" sz="2400" b="1" dirty="0">
                <a:latin typeface="Carlito"/>
                <a:ea typeface="Carlito"/>
                <a:cs typeface="Carlito"/>
              </a:rPr>
              <a:t>inherit commonly used state and behavior </a:t>
            </a:r>
            <a:r>
              <a:rPr lang="en-US" sz="2400" dirty="0">
                <a:latin typeface="Carlito"/>
                <a:ea typeface="Carlito"/>
                <a:cs typeface="Carlito"/>
              </a:rPr>
              <a:t>from other classes and let you focus on the features that  make a specific class unique</a:t>
            </a:r>
          </a:p>
        </p:txBody>
      </p:sp>
      <p:sp>
        <p:nvSpPr>
          <p:cNvPr id="3" name="object 5">
            <a:extLst>
              <a:ext uri="{FF2B5EF4-FFF2-40B4-BE49-F238E27FC236}">
                <a16:creationId xmlns:a16="http://schemas.microsoft.com/office/drawing/2014/main" id="{9F577546-4698-4165-F401-ED6A3B477412}"/>
              </a:ext>
            </a:extLst>
          </p:cNvPr>
          <p:cNvSpPr>
            <a:spLocks noChangeArrowheads="1"/>
          </p:cNvSpPr>
          <p:nvPr/>
        </p:nvSpPr>
        <p:spPr bwMode="auto">
          <a:xfrm>
            <a:off x="5005449" y="2900956"/>
            <a:ext cx="4060914" cy="3324225"/>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251095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3200" b="1" dirty="0">
                <a:solidFill>
                  <a:schemeClr val="tx1"/>
                </a:solidFill>
                <a:latin typeface="+mn-lt"/>
              </a:rPr>
              <a:t>Design Heuristics: </a:t>
            </a:r>
            <a:r>
              <a:rPr lang="en-US" sz="3200" dirty="0">
                <a:solidFill>
                  <a:schemeClr val="tx1"/>
                </a:solidFill>
                <a:latin typeface="+mn-lt"/>
              </a:rPr>
              <a:t>Hide Secrets (Information Hiding)</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9</a:t>
            </a:fld>
            <a:endParaRPr lang="en-US" sz="700"/>
          </a:p>
        </p:txBody>
      </p:sp>
      <p:sp>
        <p:nvSpPr>
          <p:cNvPr id="4" name="object 4">
            <a:extLst>
              <a:ext uri="{FF2B5EF4-FFF2-40B4-BE49-F238E27FC236}">
                <a16:creationId xmlns:a16="http://schemas.microsoft.com/office/drawing/2014/main" id="{FA2C9599-FDF9-BA64-FF1B-0CBDF2853AB6}"/>
              </a:ext>
            </a:extLst>
          </p:cNvPr>
          <p:cNvSpPr>
            <a:spLocks noChangeArrowheads="1"/>
          </p:cNvSpPr>
          <p:nvPr/>
        </p:nvSpPr>
        <p:spPr bwMode="auto">
          <a:xfrm>
            <a:off x="2901830" y="2162535"/>
            <a:ext cx="3314700" cy="4371975"/>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8" name="object 3">
            <a:extLst>
              <a:ext uri="{FF2B5EF4-FFF2-40B4-BE49-F238E27FC236}">
                <a16:creationId xmlns:a16="http://schemas.microsoft.com/office/drawing/2014/main" id="{D38AED6D-C18C-2787-9BB5-A2F32BF9D4D8}"/>
              </a:ext>
            </a:extLst>
          </p:cNvPr>
          <p:cNvSpPr txBox="1">
            <a:spLocks noChangeArrowheads="1"/>
          </p:cNvSpPr>
          <p:nvPr/>
        </p:nvSpPr>
        <p:spPr bwMode="auto">
          <a:xfrm>
            <a:off x="63261" y="1293693"/>
            <a:ext cx="8994475" cy="566737"/>
          </a:xfrm>
          <a:prstGeom prst="rect">
            <a:avLst/>
          </a:prstGeom>
          <a:noFill/>
          <a:ln w="9525">
            <a:noFill/>
            <a:miter lim="800000"/>
            <a:headEnd/>
            <a:tailEnd/>
          </a:ln>
        </p:spPr>
        <p:txBody>
          <a:bodyPr wrap="square" lIns="0" tIns="28575" rIns="0" bIns="0">
            <a:spAutoFit/>
          </a:bodyPr>
          <a:lstStyle/>
          <a:p>
            <a:pPr marL="4587875" indent="-4576763">
              <a:lnSpc>
                <a:spcPts val="2088"/>
              </a:lnSpc>
              <a:spcBef>
                <a:spcPts val="225"/>
              </a:spcBef>
            </a:pPr>
            <a:r>
              <a:rPr lang="en-US" i="1" dirty="0">
                <a:latin typeface="Carlito"/>
                <a:ea typeface="Carlito"/>
                <a:cs typeface="Carlito"/>
              </a:rPr>
              <a:t>Information hiding gives rise to the concepts of encapsulation and modularity and it is associated with the concept of abstraction.</a:t>
            </a:r>
            <a:endParaRPr lang="en-US" dirty="0">
              <a:latin typeface="Carlito"/>
              <a:ea typeface="Carlito"/>
              <a:cs typeface="Carlito"/>
            </a:endParaRPr>
          </a:p>
        </p:txBody>
      </p:sp>
    </p:spTree>
    <p:extLst>
      <p:ext uri="{BB962C8B-B14F-4D97-AF65-F5344CB8AC3E}">
        <p14:creationId xmlns:p14="http://schemas.microsoft.com/office/powerpoint/2010/main" val="1240525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US" sz="4400" b="1" dirty="0">
                <a:solidFill>
                  <a:schemeClr val="tx1"/>
                </a:solidFill>
                <a:latin typeface="+mn-lt"/>
              </a:rPr>
              <a:t>Design Heuristics: </a:t>
            </a:r>
            <a:r>
              <a:rPr lang="en-US" sz="3600" dirty="0">
                <a:solidFill>
                  <a:schemeClr val="tx1"/>
                </a:solidFill>
                <a:latin typeface="+mn-lt"/>
              </a:rPr>
              <a:t>Identify Areas Likely to Change </a:t>
            </a:r>
            <a:endParaRPr lang="en-US" sz="36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10</a:t>
            </a:fld>
            <a:endParaRPr lang="en-US" sz="700"/>
          </a:p>
        </p:txBody>
      </p:sp>
      <p:sp>
        <p:nvSpPr>
          <p:cNvPr id="4" name="object 3">
            <a:extLst>
              <a:ext uri="{FF2B5EF4-FFF2-40B4-BE49-F238E27FC236}">
                <a16:creationId xmlns:a16="http://schemas.microsoft.com/office/drawing/2014/main" id="{342E3FCC-FABB-4A68-4FBC-300BE138CD30}"/>
              </a:ext>
            </a:extLst>
          </p:cNvPr>
          <p:cNvSpPr txBox="1">
            <a:spLocks noChangeArrowheads="1"/>
          </p:cNvSpPr>
          <p:nvPr/>
        </p:nvSpPr>
        <p:spPr bwMode="auto">
          <a:xfrm>
            <a:off x="-25639" y="1095614"/>
            <a:ext cx="9169639" cy="850682"/>
          </a:xfrm>
          <a:prstGeom prst="rect">
            <a:avLst/>
          </a:prstGeom>
          <a:noFill/>
          <a:ln w="9525">
            <a:noFill/>
            <a:miter lim="800000"/>
            <a:headEnd/>
            <a:tailEnd/>
          </a:ln>
        </p:spPr>
        <p:txBody>
          <a:bodyPr wrap="square" lIns="0" tIns="28575" rIns="0" bIns="0">
            <a:spAutoFit/>
          </a:bodyPr>
          <a:lstStyle/>
          <a:p>
            <a:pPr marL="844550" indent="-833438" algn="ctr">
              <a:lnSpc>
                <a:spcPts val="2088"/>
              </a:lnSpc>
              <a:spcBef>
                <a:spcPts val="225"/>
              </a:spcBef>
            </a:pPr>
            <a:r>
              <a:rPr lang="en-US" i="1" dirty="0">
                <a:latin typeface="Carlito"/>
                <a:ea typeface="Carlito"/>
                <a:cs typeface="Carlito"/>
              </a:rPr>
              <a:t>Accommodating changes is one of the most challenging aspects of good program design. The goal is to isolate unstable areas so that the effect of a change will be limited to one routine, class, or package</a:t>
            </a:r>
            <a:endParaRPr lang="en-US" dirty="0">
              <a:latin typeface="Carlito"/>
              <a:ea typeface="Carlito"/>
              <a:cs typeface="Carlito"/>
            </a:endParaRPr>
          </a:p>
        </p:txBody>
      </p:sp>
      <p:sp>
        <p:nvSpPr>
          <p:cNvPr id="6" name="object 4">
            <a:extLst>
              <a:ext uri="{FF2B5EF4-FFF2-40B4-BE49-F238E27FC236}">
                <a16:creationId xmlns:a16="http://schemas.microsoft.com/office/drawing/2014/main" id="{89921D7C-440F-311B-B2BE-2508248F0265}"/>
              </a:ext>
            </a:extLst>
          </p:cNvPr>
          <p:cNvSpPr>
            <a:spLocks/>
          </p:cNvSpPr>
          <p:nvPr/>
        </p:nvSpPr>
        <p:spPr bwMode="auto">
          <a:xfrm>
            <a:off x="1533311" y="2037002"/>
            <a:ext cx="1630559" cy="962025"/>
          </a:xfrm>
          <a:custGeom>
            <a:avLst/>
            <a:gdLst>
              <a:gd name="T0" fmla="*/ 1861214 w 1604010"/>
              <a:gd name="T1" fmla="*/ 0 h 962660"/>
              <a:gd name="T2" fmla="*/ 118794 w 1604010"/>
              <a:gd name="T3" fmla="*/ 0 h 962660"/>
              <a:gd name="T4" fmla="*/ 72550 w 1604010"/>
              <a:gd name="T5" fmla="*/ 7546 h 962660"/>
              <a:gd name="T6" fmla="*/ 34790 w 1604010"/>
              <a:gd name="T7" fmla="*/ 28124 h 962660"/>
              <a:gd name="T8" fmla="*/ 9335 w 1604010"/>
              <a:gd name="T9" fmla="*/ 58647 h 962660"/>
              <a:gd name="T10" fmla="*/ 0 w 1604010"/>
              <a:gd name="T11" fmla="*/ 96026 h 962660"/>
              <a:gd name="T12" fmla="*/ 0 w 1604010"/>
              <a:gd name="T13" fmla="*/ 864174 h 962660"/>
              <a:gd name="T14" fmla="*/ 9335 w 1604010"/>
              <a:gd name="T15" fmla="*/ 901543 h 962660"/>
              <a:gd name="T16" fmla="*/ 34790 w 1604010"/>
              <a:gd name="T17" fmla="*/ 932061 h 962660"/>
              <a:gd name="T18" fmla="*/ 72550 w 1604010"/>
              <a:gd name="T19" fmla="*/ 952639 h 962660"/>
              <a:gd name="T20" fmla="*/ 118794 w 1604010"/>
              <a:gd name="T21" fmla="*/ 960185 h 962660"/>
              <a:gd name="T22" fmla="*/ 1861214 w 1604010"/>
              <a:gd name="T23" fmla="*/ 960185 h 962660"/>
              <a:gd name="T24" fmla="*/ 1907449 w 1604010"/>
              <a:gd name="T25" fmla="*/ 952639 h 962660"/>
              <a:gd name="T26" fmla="*/ 1945211 w 1604010"/>
              <a:gd name="T27" fmla="*/ 932061 h 962660"/>
              <a:gd name="T28" fmla="*/ 1970670 w 1604010"/>
              <a:gd name="T29" fmla="*/ 901543 h 962660"/>
              <a:gd name="T30" fmla="*/ 1980007 w 1604010"/>
              <a:gd name="T31" fmla="*/ 864174 h 962660"/>
              <a:gd name="T32" fmla="*/ 1980007 w 1604010"/>
              <a:gd name="T33" fmla="*/ 96026 h 962660"/>
              <a:gd name="T34" fmla="*/ 1970670 w 1604010"/>
              <a:gd name="T35" fmla="*/ 58647 h 962660"/>
              <a:gd name="T36" fmla="*/ 1945211 w 1604010"/>
              <a:gd name="T37" fmla="*/ 28124 h 962660"/>
              <a:gd name="T38" fmla="*/ 1907449 w 1604010"/>
              <a:gd name="T39" fmla="*/ 7546 h 962660"/>
              <a:gd name="T40" fmla="*/ 1861214 w 1604010"/>
              <a:gd name="T41" fmla="*/ 0 h 9626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04010"/>
              <a:gd name="T64" fmla="*/ 0 h 962660"/>
              <a:gd name="T65" fmla="*/ 1604010 w 1604010"/>
              <a:gd name="T66" fmla="*/ 962660 h 9626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04010" h="962660">
                <a:moveTo>
                  <a:pt x="1507261" y="0"/>
                </a:moveTo>
                <a:lnTo>
                  <a:pt x="96202" y="0"/>
                </a:lnTo>
                <a:lnTo>
                  <a:pt x="58753" y="7561"/>
                </a:lnTo>
                <a:lnTo>
                  <a:pt x="28174" y="28181"/>
                </a:lnTo>
                <a:lnTo>
                  <a:pt x="7559" y="58764"/>
                </a:lnTo>
                <a:lnTo>
                  <a:pt x="0" y="96215"/>
                </a:lnTo>
                <a:lnTo>
                  <a:pt x="0" y="865886"/>
                </a:lnTo>
                <a:lnTo>
                  <a:pt x="7559" y="903329"/>
                </a:lnTo>
                <a:lnTo>
                  <a:pt x="28174" y="933908"/>
                </a:lnTo>
                <a:lnTo>
                  <a:pt x="58753" y="954527"/>
                </a:lnTo>
                <a:lnTo>
                  <a:pt x="96202" y="962088"/>
                </a:lnTo>
                <a:lnTo>
                  <a:pt x="1507261" y="962088"/>
                </a:lnTo>
                <a:lnTo>
                  <a:pt x="1544704" y="954527"/>
                </a:lnTo>
                <a:lnTo>
                  <a:pt x="1575284" y="933908"/>
                </a:lnTo>
                <a:lnTo>
                  <a:pt x="1595902" y="903329"/>
                </a:lnTo>
                <a:lnTo>
                  <a:pt x="1603463" y="865886"/>
                </a:lnTo>
                <a:lnTo>
                  <a:pt x="1603463" y="96215"/>
                </a:lnTo>
                <a:lnTo>
                  <a:pt x="1595902" y="58764"/>
                </a:lnTo>
                <a:lnTo>
                  <a:pt x="1575284" y="28181"/>
                </a:lnTo>
                <a:lnTo>
                  <a:pt x="1544704" y="7561"/>
                </a:lnTo>
                <a:lnTo>
                  <a:pt x="1507261" y="0"/>
                </a:lnTo>
                <a:close/>
              </a:path>
            </a:pathLst>
          </a:custGeom>
          <a:solidFill>
            <a:srgbClr val="5B9BD5"/>
          </a:solidFill>
          <a:ln w="9525">
            <a:noFill/>
            <a:round/>
            <a:headEnd/>
            <a:tailEnd/>
          </a:ln>
        </p:spPr>
        <p:txBody>
          <a:bodyPr lIns="0" tIns="0" rIns="0" bIns="0"/>
          <a:lstStyle/>
          <a:p>
            <a:endParaRPr lang="en-US"/>
          </a:p>
        </p:txBody>
      </p:sp>
      <p:sp>
        <p:nvSpPr>
          <p:cNvPr id="7" name="object 5">
            <a:extLst>
              <a:ext uri="{FF2B5EF4-FFF2-40B4-BE49-F238E27FC236}">
                <a16:creationId xmlns:a16="http://schemas.microsoft.com/office/drawing/2014/main" id="{5AE86BFA-695E-6080-5B96-DDCED21623FD}"/>
              </a:ext>
            </a:extLst>
          </p:cNvPr>
          <p:cNvSpPr txBox="1">
            <a:spLocks noChangeArrowheads="1"/>
          </p:cNvSpPr>
          <p:nvPr/>
        </p:nvSpPr>
        <p:spPr bwMode="auto">
          <a:xfrm>
            <a:off x="1621812" y="2220861"/>
            <a:ext cx="1386878" cy="719428"/>
          </a:xfrm>
          <a:prstGeom prst="rect">
            <a:avLst/>
          </a:prstGeom>
          <a:noFill/>
          <a:ln w="9525">
            <a:noFill/>
            <a:miter lim="800000"/>
            <a:headEnd/>
            <a:tailEnd/>
          </a:ln>
        </p:spPr>
        <p:txBody>
          <a:bodyPr wrap="square" lIns="0" tIns="33020" rIns="0" bIns="0">
            <a:spAutoFit/>
          </a:bodyPr>
          <a:lstStyle/>
          <a:p>
            <a:pPr marL="12700" indent="92075" algn="ctr">
              <a:lnSpc>
                <a:spcPts val="1300"/>
              </a:lnSpc>
              <a:spcBef>
                <a:spcPts val="263"/>
              </a:spcBef>
            </a:pPr>
            <a:r>
              <a:rPr lang="en-US" dirty="0">
                <a:solidFill>
                  <a:srgbClr val="FFFFFF"/>
                </a:solidFill>
                <a:latin typeface="Carlito"/>
                <a:ea typeface="Carlito"/>
                <a:cs typeface="Carlito"/>
              </a:rPr>
              <a:t>Identify items that  seem likely to change</a:t>
            </a:r>
            <a:endParaRPr lang="en-US" dirty="0">
              <a:latin typeface="Carlito"/>
              <a:ea typeface="Carlito"/>
              <a:cs typeface="Carlito"/>
            </a:endParaRPr>
          </a:p>
        </p:txBody>
      </p:sp>
      <p:sp>
        <p:nvSpPr>
          <p:cNvPr id="8" name="object 6">
            <a:extLst>
              <a:ext uri="{FF2B5EF4-FFF2-40B4-BE49-F238E27FC236}">
                <a16:creationId xmlns:a16="http://schemas.microsoft.com/office/drawing/2014/main" id="{020C7EB0-1CFB-A5CC-9D7A-BBBF981D3F68}"/>
              </a:ext>
            </a:extLst>
          </p:cNvPr>
          <p:cNvSpPr>
            <a:spLocks/>
          </p:cNvSpPr>
          <p:nvPr/>
        </p:nvSpPr>
        <p:spPr bwMode="auto">
          <a:xfrm>
            <a:off x="3363523" y="2319577"/>
            <a:ext cx="266244" cy="398462"/>
          </a:xfrm>
          <a:custGeom>
            <a:avLst/>
            <a:gdLst>
              <a:gd name="T0" fmla="*/ 95631 w 340360"/>
              <a:gd name="T1" fmla="*/ 0 h 398144"/>
              <a:gd name="T2" fmla="*/ 95631 w 340360"/>
              <a:gd name="T3" fmla="*/ 79719 h 398144"/>
              <a:gd name="T4" fmla="*/ 0 w 340360"/>
              <a:gd name="T5" fmla="*/ 79719 h 398144"/>
              <a:gd name="T6" fmla="*/ 0 w 340360"/>
              <a:gd name="T7" fmla="*/ 318885 h 398144"/>
              <a:gd name="T8" fmla="*/ 95631 w 340360"/>
              <a:gd name="T9" fmla="*/ 318885 h 398144"/>
              <a:gd name="T10" fmla="*/ 95631 w 340360"/>
              <a:gd name="T11" fmla="*/ 398616 h 398144"/>
              <a:gd name="T12" fmla="*/ 191262 w 340360"/>
              <a:gd name="T13" fmla="*/ 199308 h 398144"/>
              <a:gd name="T14" fmla="*/ 95631 w 340360"/>
              <a:gd name="T15" fmla="*/ 0 h 398144"/>
              <a:gd name="T16" fmla="*/ 0 60000 65536"/>
              <a:gd name="T17" fmla="*/ 0 60000 65536"/>
              <a:gd name="T18" fmla="*/ 0 60000 65536"/>
              <a:gd name="T19" fmla="*/ 0 60000 65536"/>
              <a:gd name="T20" fmla="*/ 0 60000 65536"/>
              <a:gd name="T21" fmla="*/ 0 60000 65536"/>
              <a:gd name="T22" fmla="*/ 0 60000 65536"/>
              <a:gd name="T23" fmla="*/ 0 60000 65536"/>
              <a:gd name="T24" fmla="*/ 0 w 340360"/>
              <a:gd name="T25" fmla="*/ 0 h 398144"/>
              <a:gd name="T26" fmla="*/ 340360 w 340360"/>
              <a:gd name="T27" fmla="*/ 398144 h 3981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0360" h="398144">
                <a:moveTo>
                  <a:pt x="169964" y="0"/>
                </a:moveTo>
                <a:lnTo>
                  <a:pt x="169964" y="79527"/>
                </a:lnTo>
                <a:lnTo>
                  <a:pt x="0" y="79527"/>
                </a:lnTo>
                <a:lnTo>
                  <a:pt x="0" y="318122"/>
                </a:lnTo>
                <a:lnTo>
                  <a:pt x="169964" y="318122"/>
                </a:lnTo>
                <a:lnTo>
                  <a:pt x="169964" y="397662"/>
                </a:lnTo>
                <a:lnTo>
                  <a:pt x="339928" y="198831"/>
                </a:lnTo>
                <a:lnTo>
                  <a:pt x="169964" y="0"/>
                </a:lnTo>
                <a:close/>
              </a:path>
            </a:pathLst>
          </a:custGeom>
          <a:solidFill>
            <a:srgbClr val="5B9BD5"/>
          </a:solidFill>
          <a:ln w="9525">
            <a:noFill/>
            <a:round/>
            <a:headEnd/>
            <a:tailEnd/>
          </a:ln>
        </p:spPr>
        <p:txBody>
          <a:bodyPr lIns="0" tIns="0" rIns="0" bIns="0"/>
          <a:lstStyle/>
          <a:p>
            <a:endParaRPr lang="en-US"/>
          </a:p>
        </p:txBody>
      </p:sp>
      <p:sp>
        <p:nvSpPr>
          <p:cNvPr id="9" name="object 7">
            <a:extLst>
              <a:ext uri="{FF2B5EF4-FFF2-40B4-BE49-F238E27FC236}">
                <a16:creationId xmlns:a16="http://schemas.microsoft.com/office/drawing/2014/main" id="{FEA652E7-3297-9411-A495-B22F061FC278}"/>
              </a:ext>
            </a:extLst>
          </p:cNvPr>
          <p:cNvSpPr>
            <a:spLocks/>
          </p:cNvSpPr>
          <p:nvPr/>
        </p:nvSpPr>
        <p:spPr bwMode="auto">
          <a:xfrm>
            <a:off x="3783862" y="2037002"/>
            <a:ext cx="1695240" cy="962025"/>
          </a:xfrm>
          <a:custGeom>
            <a:avLst/>
            <a:gdLst>
              <a:gd name="T0" fmla="*/ 2091610 w 1604009"/>
              <a:gd name="T1" fmla="*/ 0 h 962660"/>
              <a:gd name="T2" fmla="*/ 133517 w 1604009"/>
              <a:gd name="T3" fmla="*/ 0 h 962660"/>
              <a:gd name="T4" fmla="*/ 81546 w 1604009"/>
              <a:gd name="T5" fmla="*/ 7546 h 962660"/>
              <a:gd name="T6" fmla="*/ 39106 w 1604009"/>
              <a:gd name="T7" fmla="*/ 28124 h 962660"/>
              <a:gd name="T8" fmla="*/ 10493 w 1604009"/>
              <a:gd name="T9" fmla="*/ 58647 h 962660"/>
              <a:gd name="T10" fmla="*/ 0 w 1604009"/>
              <a:gd name="T11" fmla="*/ 96026 h 962660"/>
              <a:gd name="T12" fmla="*/ 0 w 1604009"/>
              <a:gd name="T13" fmla="*/ 864174 h 962660"/>
              <a:gd name="T14" fmla="*/ 10493 w 1604009"/>
              <a:gd name="T15" fmla="*/ 901543 h 962660"/>
              <a:gd name="T16" fmla="*/ 39106 w 1604009"/>
              <a:gd name="T17" fmla="*/ 932061 h 962660"/>
              <a:gd name="T18" fmla="*/ 81546 w 1604009"/>
              <a:gd name="T19" fmla="*/ 952639 h 962660"/>
              <a:gd name="T20" fmla="*/ 133517 w 1604009"/>
              <a:gd name="T21" fmla="*/ 960185 h 962660"/>
              <a:gd name="T22" fmla="*/ 2091610 w 1604009"/>
              <a:gd name="T23" fmla="*/ 960185 h 962660"/>
              <a:gd name="T24" fmla="*/ 2143579 w 1604009"/>
              <a:gd name="T25" fmla="*/ 952639 h 962660"/>
              <a:gd name="T26" fmla="*/ 2186019 w 1604009"/>
              <a:gd name="T27" fmla="*/ 932061 h 962660"/>
              <a:gd name="T28" fmla="*/ 2214634 w 1604009"/>
              <a:gd name="T29" fmla="*/ 901543 h 962660"/>
              <a:gd name="T30" fmla="*/ 2225125 w 1604009"/>
              <a:gd name="T31" fmla="*/ 864174 h 962660"/>
              <a:gd name="T32" fmla="*/ 2225125 w 1604009"/>
              <a:gd name="T33" fmla="*/ 96026 h 962660"/>
              <a:gd name="T34" fmla="*/ 2214634 w 1604009"/>
              <a:gd name="T35" fmla="*/ 58647 h 962660"/>
              <a:gd name="T36" fmla="*/ 2186019 w 1604009"/>
              <a:gd name="T37" fmla="*/ 28124 h 962660"/>
              <a:gd name="T38" fmla="*/ 2143579 w 1604009"/>
              <a:gd name="T39" fmla="*/ 7546 h 962660"/>
              <a:gd name="T40" fmla="*/ 2091610 w 1604009"/>
              <a:gd name="T41" fmla="*/ 0 h 9626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04009"/>
              <a:gd name="T64" fmla="*/ 0 h 962660"/>
              <a:gd name="T65" fmla="*/ 1604009 w 1604009"/>
              <a:gd name="T66" fmla="*/ 962660 h 9626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04009" h="962660">
                <a:moveTo>
                  <a:pt x="1507261" y="0"/>
                </a:moveTo>
                <a:lnTo>
                  <a:pt x="96215" y="0"/>
                </a:lnTo>
                <a:lnTo>
                  <a:pt x="58764" y="7561"/>
                </a:lnTo>
                <a:lnTo>
                  <a:pt x="28181" y="28181"/>
                </a:lnTo>
                <a:lnTo>
                  <a:pt x="7561" y="58764"/>
                </a:lnTo>
                <a:lnTo>
                  <a:pt x="0" y="96215"/>
                </a:lnTo>
                <a:lnTo>
                  <a:pt x="0" y="865886"/>
                </a:lnTo>
                <a:lnTo>
                  <a:pt x="7561" y="903329"/>
                </a:lnTo>
                <a:lnTo>
                  <a:pt x="28181" y="933908"/>
                </a:lnTo>
                <a:lnTo>
                  <a:pt x="58764" y="954527"/>
                </a:lnTo>
                <a:lnTo>
                  <a:pt x="96215" y="962088"/>
                </a:lnTo>
                <a:lnTo>
                  <a:pt x="1507261" y="962088"/>
                </a:lnTo>
                <a:lnTo>
                  <a:pt x="1544712" y="954527"/>
                </a:lnTo>
                <a:lnTo>
                  <a:pt x="1575295" y="933908"/>
                </a:lnTo>
                <a:lnTo>
                  <a:pt x="1595915" y="903329"/>
                </a:lnTo>
                <a:lnTo>
                  <a:pt x="1603476" y="865886"/>
                </a:lnTo>
                <a:lnTo>
                  <a:pt x="1603476" y="96215"/>
                </a:lnTo>
                <a:lnTo>
                  <a:pt x="1595915" y="58764"/>
                </a:lnTo>
                <a:lnTo>
                  <a:pt x="1575295" y="28181"/>
                </a:lnTo>
                <a:lnTo>
                  <a:pt x="1544712" y="7561"/>
                </a:lnTo>
                <a:lnTo>
                  <a:pt x="1507261" y="0"/>
                </a:lnTo>
                <a:close/>
              </a:path>
            </a:pathLst>
          </a:custGeom>
          <a:solidFill>
            <a:srgbClr val="4DC58D"/>
          </a:solidFill>
          <a:ln w="9525">
            <a:noFill/>
            <a:round/>
            <a:headEnd/>
            <a:tailEnd/>
          </a:ln>
        </p:spPr>
        <p:txBody>
          <a:bodyPr lIns="0" tIns="0" rIns="0" bIns="0"/>
          <a:lstStyle/>
          <a:p>
            <a:endParaRPr lang="en-US"/>
          </a:p>
        </p:txBody>
      </p:sp>
      <p:sp>
        <p:nvSpPr>
          <p:cNvPr id="10" name="object 8">
            <a:extLst>
              <a:ext uri="{FF2B5EF4-FFF2-40B4-BE49-F238E27FC236}">
                <a16:creationId xmlns:a16="http://schemas.microsoft.com/office/drawing/2014/main" id="{487748E9-E667-9423-B934-1F20167716BE}"/>
              </a:ext>
            </a:extLst>
          </p:cNvPr>
          <p:cNvSpPr txBox="1">
            <a:spLocks noChangeArrowheads="1"/>
          </p:cNvSpPr>
          <p:nvPr/>
        </p:nvSpPr>
        <p:spPr bwMode="auto">
          <a:xfrm>
            <a:off x="3864195" y="2191108"/>
            <a:ext cx="1498189" cy="719428"/>
          </a:xfrm>
          <a:prstGeom prst="rect">
            <a:avLst/>
          </a:prstGeom>
          <a:noFill/>
          <a:ln w="9525">
            <a:noFill/>
            <a:miter lim="800000"/>
            <a:headEnd/>
            <a:tailEnd/>
          </a:ln>
        </p:spPr>
        <p:txBody>
          <a:bodyPr wrap="square" lIns="0" tIns="33020" rIns="0" bIns="0">
            <a:spAutoFit/>
          </a:bodyPr>
          <a:lstStyle/>
          <a:p>
            <a:pPr marL="255588" indent="-242888" algn="ctr">
              <a:lnSpc>
                <a:spcPts val="1300"/>
              </a:lnSpc>
              <a:spcBef>
                <a:spcPts val="263"/>
              </a:spcBef>
            </a:pPr>
            <a:r>
              <a:rPr lang="en-US" dirty="0">
                <a:solidFill>
                  <a:srgbClr val="FFFFFF"/>
                </a:solidFill>
                <a:latin typeface="Carlito"/>
                <a:ea typeface="Carlito"/>
                <a:cs typeface="Carlito"/>
              </a:rPr>
              <a:t>Separate items that are  likely to change</a:t>
            </a:r>
            <a:endParaRPr lang="en-US" dirty="0">
              <a:latin typeface="Carlito"/>
              <a:ea typeface="Carlito"/>
              <a:cs typeface="Carlito"/>
            </a:endParaRPr>
          </a:p>
        </p:txBody>
      </p:sp>
      <p:sp>
        <p:nvSpPr>
          <p:cNvPr id="11" name="object 9">
            <a:extLst>
              <a:ext uri="{FF2B5EF4-FFF2-40B4-BE49-F238E27FC236}">
                <a16:creationId xmlns:a16="http://schemas.microsoft.com/office/drawing/2014/main" id="{A5ADD0A6-980B-97F9-B84D-F4C581A310AF}"/>
              </a:ext>
            </a:extLst>
          </p:cNvPr>
          <p:cNvSpPr>
            <a:spLocks/>
          </p:cNvSpPr>
          <p:nvPr/>
        </p:nvSpPr>
        <p:spPr bwMode="auto">
          <a:xfrm>
            <a:off x="5733659" y="2319577"/>
            <a:ext cx="266245" cy="398462"/>
          </a:xfrm>
          <a:custGeom>
            <a:avLst/>
            <a:gdLst>
              <a:gd name="T0" fmla="*/ 95640 w 340359"/>
              <a:gd name="T1" fmla="*/ 0 h 398144"/>
              <a:gd name="T2" fmla="*/ 95640 w 340359"/>
              <a:gd name="T3" fmla="*/ 79719 h 398144"/>
              <a:gd name="T4" fmla="*/ 0 w 340359"/>
              <a:gd name="T5" fmla="*/ 79719 h 398144"/>
              <a:gd name="T6" fmla="*/ 0 w 340359"/>
              <a:gd name="T7" fmla="*/ 318885 h 398144"/>
              <a:gd name="T8" fmla="*/ 95640 w 340359"/>
              <a:gd name="T9" fmla="*/ 318885 h 398144"/>
              <a:gd name="T10" fmla="*/ 95640 w 340359"/>
              <a:gd name="T11" fmla="*/ 398616 h 398144"/>
              <a:gd name="T12" fmla="*/ 191273 w 340359"/>
              <a:gd name="T13" fmla="*/ 199308 h 398144"/>
              <a:gd name="T14" fmla="*/ 95640 w 340359"/>
              <a:gd name="T15" fmla="*/ 0 h 398144"/>
              <a:gd name="T16" fmla="*/ 0 60000 65536"/>
              <a:gd name="T17" fmla="*/ 0 60000 65536"/>
              <a:gd name="T18" fmla="*/ 0 60000 65536"/>
              <a:gd name="T19" fmla="*/ 0 60000 65536"/>
              <a:gd name="T20" fmla="*/ 0 60000 65536"/>
              <a:gd name="T21" fmla="*/ 0 60000 65536"/>
              <a:gd name="T22" fmla="*/ 0 60000 65536"/>
              <a:gd name="T23" fmla="*/ 0 60000 65536"/>
              <a:gd name="T24" fmla="*/ 0 w 340359"/>
              <a:gd name="T25" fmla="*/ 0 h 398144"/>
              <a:gd name="T26" fmla="*/ 340359 w 340359"/>
              <a:gd name="T27" fmla="*/ 398144 h 3981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0359" h="398144">
                <a:moveTo>
                  <a:pt x="169976" y="0"/>
                </a:moveTo>
                <a:lnTo>
                  <a:pt x="169976" y="79527"/>
                </a:lnTo>
                <a:lnTo>
                  <a:pt x="0" y="79527"/>
                </a:lnTo>
                <a:lnTo>
                  <a:pt x="0" y="318122"/>
                </a:lnTo>
                <a:lnTo>
                  <a:pt x="169976" y="318122"/>
                </a:lnTo>
                <a:lnTo>
                  <a:pt x="169976" y="397662"/>
                </a:lnTo>
                <a:lnTo>
                  <a:pt x="339940" y="198831"/>
                </a:lnTo>
                <a:lnTo>
                  <a:pt x="169976" y="0"/>
                </a:lnTo>
                <a:close/>
              </a:path>
            </a:pathLst>
          </a:custGeom>
          <a:solidFill>
            <a:srgbClr val="70AD47"/>
          </a:solidFill>
          <a:ln w="9525">
            <a:noFill/>
            <a:round/>
            <a:headEnd/>
            <a:tailEnd/>
          </a:ln>
        </p:spPr>
        <p:txBody>
          <a:bodyPr lIns="0" tIns="0" rIns="0" bIns="0"/>
          <a:lstStyle/>
          <a:p>
            <a:endParaRPr lang="en-US"/>
          </a:p>
        </p:txBody>
      </p:sp>
      <p:sp>
        <p:nvSpPr>
          <p:cNvPr id="12" name="object 10">
            <a:extLst>
              <a:ext uri="{FF2B5EF4-FFF2-40B4-BE49-F238E27FC236}">
                <a16:creationId xmlns:a16="http://schemas.microsoft.com/office/drawing/2014/main" id="{4178A547-0283-E78E-953F-0BFF86312ED5}"/>
              </a:ext>
            </a:extLst>
          </p:cNvPr>
          <p:cNvSpPr>
            <a:spLocks/>
          </p:cNvSpPr>
          <p:nvPr/>
        </p:nvSpPr>
        <p:spPr bwMode="auto">
          <a:xfrm>
            <a:off x="6153876" y="2037002"/>
            <a:ext cx="1687719" cy="962025"/>
          </a:xfrm>
          <a:custGeom>
            <a:avLst/>
            <a:gdLst>
              <a:gd name="T0" fmla="*/ 2063896 w 1604009"/>
              <a:gd name="T1" fmla="*/ 0 h 962660"/>
              <a:gd name="T2" fmla="*/ 131747 w 1604009"/>
              <a:gd name="T3" fmla="*/ 0 h 962660"/>
              <a:gd name="T4" fmla="*/ 80467 w 1604009"/>
              <a:gd name="T5" fmla="*/ 7546 h 962660"/>
              <a:gd name="T6" fmla="*/ 38588 w 1604009"/>
              <a:gd name="T7" fmla="*/ 28124 h 962660"/>
              <a:gd name="T8" fmla="*/ 10353 w 1604009"/>
              <a:gd name="T9" fmla="*/ 58647 h 962660"/>
              <a:gd name="T10" fmla="*/ 0 w 1604009"/>
              <a:gd name="T11" fmla="*/ 96026 h 962660"/>
              <a:gd name="T12" fmla="*/ 0 w 1604009"/>
              <a:gd name="T13" fmla="*/ 864174 h 962660"/>
              <a:gd name="T14" fmla="*/ 10353 w 1604009"/>
              <a:gd name="T15" fmla="*/ 901543 h 962660"/>
              <a:gd name="T16" fmla="*/ 38588 w 1604009"/>
              <a:gd name="T17" fmla="*/ 932061 h 962660"/>
              <a:gd name="T18" fmla="*/ 80467 w 1604009"/>
              <a:gd name="T19" fmla="*/ 952639 h 962660"/>
              <a:gd name="T20" fmla="*/ 131747 w 1604009"/>
              <a:gd name="T21" fmla="*/ 960185 h 962660"/>
              <a:gd name="T22" fmla="*/ 2063896 w 1604009"/>
              <a:gd name="T23" fmla="*/ 960185 h 962660"/>
              <a:gd name="T24" fmla="*/ 2115178 w 1604009"/>
              <a:gd name="T25" fmla="*/ 952639 h 962660"/>
              <a:gd name="T26" fmla="*/ 2157054 w 1604009"/>
              <a:gd name="T27" fmla="*/ 932061 h 962660"/>
              <a:gd name="T28" fmla="*/ 2185291 w 1604009"/>
              <a:gd name="T29" fmla="*/ 901543 h 962660"/>
              <a:gd name="T30" fmla="*/ 2195643 w 1604009"/>
              <a:gd name="T31" fmla="*/ 864174 h 962660"/>
              <a:gd name="T32" fmla="*/ 2195643 w 1604009"/>
              <a:gd name="T33" fmla="*/ 96026 h 962660"/>
              <a:gd name="T34" fmla="*/ 2185291 w 1604009"/>
              <a:gd name="T35" fmla="*/ 58647 h 962660"/>
              <a:gd name="T36" fmla="*/ 2157054 w 1604009"/>
              <a:gd name="T37" fmla="*/ 28124 h 962660"/>
              <a:gd name="T38" fmla="*/ 2115178 w 1604009"/>
              <a:gd name="T39" fmla="*/ 7546 h 962660"/>
              <a:gd name="T40" fmla="*/ 2063896 w 1604009"/>
              <a:gd name="T41" fmla="*/ 0 h 9626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04009"/>
              <a:gd name="T64" fmla="*/ 0 h 962660"/>
              <a:gd name="T65" fmla="*/ 1604009 w 1604009"/>
              <a:gd name="T66" fmla="*/ 962660 h 9626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04009" h="962660">
                <a:moveTo>
                  <a:pt x="1507261" y="0"/>
                </a:moveTo>
                <a:lnTo>
                  <a:pt x="96215" y="0"/>
                </a:lnTo>
                <a:lnTo>
                  <a:pt x="58764" y="7561"/>
                </a:lnTo>
                <a:lnTo>
                  <a:pt x="28181" y="28181"/>
                </a:lnTo>
                <a:lnTo>
                  <a:pt x="7561" y="58764"/>
                </a:lnTo>
                <a:lnTo>
                  <a:pt x="0" y="96215"/>
                </a:lnTo>
                <a:lnTo>
                  <a:pt x="0" y="865886"/>
                </a:lnTo>
                <a:lnTo>
                  <a:pt x="7561" y="903329"/>
                </a:lnTo>
                <a:lnTo>
                  <a:pt x="28181" y="933908"/>
                </a:lnTo>
                <a:lnTo>
                  <a:pt x="58764" y="954527"/>
                </a:lnTo>
                <a:lnTo>
                  <a:pt x="96215" y="962088"/>
                </a:lnTo>
                <a:lnTo>
                  <a:pt x="1507261" y="962088"/>
                </a:lnTo>
                <a:lnTo>
                  <a:pt x="1544712" y="954527"/>
                </a:lnTo>
                <a:lnTo>
                  <a:pt x="1575295" y="933908"/>
                </a:lnTo>
                <a:lnTo>
                  <a:pt x="1595915" y="903329"/>
                </a:lnTo>
                <a:lnTo>
                  <a:pt x="1603476" y="865886"/>
                </a:lnTo>
                <a:lnTo>
                  <a:pt x="1603476" y="96215"/>
                </a:lnTo>
                <a:lnTo>
                  <a:pt x="1595915" y="58764"/>
                </a:lnTo>
                <a:lnTo>
                  <a:pt x="1575295" y="28181"/>
                </a:lnTo>
                <a:lnTo>
                  <a:pt x="1544712" y="7561"/>
                </a:lnTo>
                <a:lnTo>
                  <a:pt x="1507261" y="0"/>
                </a:lnTo>
                <a:close/>
              </a:path>
            </a:pathLst>
          </a:custGeom>
          <a:solidFill>
            <a:srgbClr val="70AD47"/>
          </a:solidFill>
          <a:ln w="9525">
            <a:noFill/>
            <a:round/>
            <a:headEnd/>
            <a:tailEnd/>
          </a:ln>
        </p:spPr>
        <p:txBody>
          <a:bodyPr lIns="0" tIns="0" rIns="0" bIns="0"/>
          <a:lstStyle/>
          <a:p>
            <a:endParaRPr lang="en-US"/>
          </a:p>
        </p:txBody>
      </p:sp>
      <p:sp>
        <p:nvSpPr>
          <p:cNvPr id="13" name="object 11">
            <a:extLst>
              <a:ext uri="{FF2B5EF4-FFF2-40B4-BE49-F238E27FC236}">
                <a16:creationId xmlns:a16="http://schemas.microsoft.com/office/drawing/2014/main" id="{10B5F2DE-0D4D-FD73-5CEB-1F95FD1DE150}"/>
              </a:ext>
            </a:extLst>
          </p:cNvPr>
          <p:cNvSpPr txBox="1">
            <a:spLocks noChangeArrowheads="1"/>
          </p:cNvSpPr>
          <p:nvPr/>
        </p:nvSpPr>
        <p:spPr bwMode="auto">
          <a:xfrm>
            <a:off x="6333518" y="2235220"/>
            <a:ext cx="1561366" cy="719428"/>
          </a:xfrm>
          <a:prstGeom prst="rect">
            <a:avLst/>
          </a:prstGeom>
          <a:noFill/>
          <a:ln w="9525">
            <a:noFill/>
            <a:miter lim="800000"/>
            <a:headEnd/>
            <a:tailEnd/>
          </a:ln>
        </p:spPr>
        <p:txBody>
          <a:bodyPr wrap="square" lIns="0" tIns="33020" rIns="0" bIns="0">
            <a:spAutoFit/>
          </a:bodyPr>
          <a:lstStyle/>
          <a:p>
            <a:pPr marL="254000" indent="-241300">
              <a:lnSpc>
                <a:spcPts val="1300"/>
              </a:lnSpc>
              <a:spcBef>
                <a:spcPts val="263"/>
              </a:spcBef>
            </a:pPr>
            <a:r>
              <a:rPr lang="en-US" dirty="0">
                <a:solidFill>
                  <a:srgbClr val="FFFFFF"/>
                </a:solidFill>
                <a:latin typeface="Carlito"/>
                <a:ea typeface="Carlito"/>
                <a:cs typeface="Carlito"/>
              </a:rPr>
              <a:t>Isolate items that seem  likely to change</a:t>
            </a:r>
            <a:endParaRPr lang="en-US" dirty="0">
              <a:latin typeface="Carlito"/>
              <a:ea typeface="Carlito"/>
              <a:cs typeface="Carlito"/>
            </a:endParaRPr>
          </a:p>
        </p:txBody>
      </p:sp>
      <p:sp>
        <p:nvSpPr>
          <p:cNvPr id="14" name="object 12">
            <a:extLst>
              <a:ext uri="{FF2B5EF4-FFF2-40B4-BE49-F238E27FC236}">
                <a16:creationId xmlns:a16="http://schemas.microsoft.com/office/drawing/2014/main" id="{7ACB599B-36C6-9E86-7765-3F93A4AA3292}"/>
              </a:ext>
            </a:extLst>
          </p:cNvPr>
          <p:cNvSpPr>
            <a:spLocks/>
          </p:cNvSpPr>
          <p:nvPr/>
        </p:nvSpPr>
        <p:spPr bwMode="auto">
          <a:xfrm>
            <a:off x="1000732" y="3140314"/>
            <a:ext cx="7228867" cy="2179638"/>
          </a:xfrm>
          <a:custGeom>
            <a:avLst/>
            <a:gdLst>
              <a:gd name="T0" fmla="*/ 0 w 6826250"/>
              <a:gd name="T1" fmla="*/ 30787 h 2179954"/>
              <a:gd name="T2" fmla="*/ 3072 w 6826250"/>
              <a:gd name="T3" fmla="*/ 18801 h 2179954"/>
              <a:gd name="T4" fmla="*/ 11452 w 6826250"/>
              <a:gd name="T5" fmla="*/ 9017 h 2179954"/>
              <a:gd name="T6" fmla="*/ 23879 w 6826250"/>
              <a:gd name="T7" fmla="*/ 2420 h 2179954"/>
              <a:gd name="T8" fmla="*/ 39100 w 6826250"/>
              <a:gd name="T9" fmla="*/ 0 h 2179954"/>
              <a:gd name="T10" fmla="*/ 8626111 w 6826250"/>
              <a:gd name="T11" fmla="*/ 0 h 2179954"/>
              <a:gd name="T12" fmla="*/ 8641326 w 6826250"/>
              <a:gd name="T13" fmla="*/ 2420 h 2179954"/>
              <a:gd name="T14" fmla="*/ 8653761 w 6826250"/>
              <a:gd name="T15" fmla="*/ 9017 h 2179954"/>
              <a:gd name="T16" fmla="*/ 8662142 w 6826250"/>
              <a:gd name="T17" fmla="*/ 18801 h 2179954"/>
              <a:gd name="T18" fmla="*/ 8665212 w 6826250"/>
              <a:gd name="T19" fmla="*/ 30787 h 2179954"/>
              <a:gd name="T20" fmla="*/ 8665212 w 6826250"/>
              <a:gd name="T21" fmla="*/ 2148045 h 2179954"/>
              <a:gd name="T22" fmla="*/ 8662142 w 6826250"/>
              <a:gd name="T23" fmla="*/ 2160027 h 2179954"/>
              <a:gd name="T24" fmla="*/ 8653761 w 6826250"/>
              <a:gd name="T25" fmla="*/ 2169811 h 2179954"/>
              <a:gd name="T26" fmla="*/ 8641326 w 6826250"/>
              <a:gd name="T27" fmla="*/ 2176412 h 2179954"/>
              <a:gd name="T28" fmla="*/ 8626111 w 6826250"/>
              <a:gd name="T29" fmla="*/ 2178832 h 2179954"/>
              <a:gd name="T30" fmla="*/ 39100 w 6826250"/>
              <a:gd name="T31" fmla="*/ 2178832 h 2179954"/>
              <a:gd name="T32" fmla="*/ 23879 w 6826250"/>
              <a:gd name="T33" fmla="*/ 2176412 h 2179954"/>
              <a:gd name="T34" fmla="*/ 11452 w 6826250"/>
              <a:gd name="T35" fmla="*/ 2169811 h 2179954"/>
              <a:gd name="T36" fmla="*/ 3072 w 6826250"/>
              <a:gd name="T37" fmla="*/ 2160027 h 2179954"/>
              <a:gd name="T38" fmla="*/ 0 w 6826250"/>
              <a:gd name="T39" fmla="*/ 2148045 h 2179954"/>
              <a:gd name="T40" fmla="*/ 0 w 6826250"/>
              <a:gd name="T41" fmla="*/ 30787 h 217995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26250"/>
              <a:gd name="T64" fmla="*/ 0 h 2179954"/>
              <a:gd name="T65" fmla="*/ 6826250 w 6826250"/>
              <a:gd name="T66" fmla="*/ 2179954 h 217995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26250" h="2179954">
                <a:moveTo>
                  <a:pt x="0" y="30799"/>
                </a:moveTo>
                <a:lnTo>
                  <a:pt x="2420" y="18810"/>
                </a:lnTo>
                <a:lnTo>
                  <a:pt x="9020" y="9020"/>
                </a:lnTo>
                <a:lnTo>
                  <a:pt x="18810" y="2420"/>
                </a:lnTo>
                <a:lnTo>
                  <a:pt x="30799" y="0"/>
                </a:lnTo>
                <a:lnTo>
                  <a:pt x="6794873" y="0"/>
                </a:lnTo>
                <a:lnTo>
                  <a:pt x="6806862" y="2420"/>
                </a:lnTo>
                <a:lnTo>
                  <a:pt x="6816652" y="9020"/>
                </a:lnTo>
                <a:lnTo>
                  <a:pt x="6823253" y="18810"/>
                </a:lnTo>
                <a:lnTo>
                  <a:pt x="6825673" y="30799"/>
                </a:lnTo>
                <a:lnTo>
                  <a:pt x="6825673" y="2148981"/>
                </a:lnTo>
                <a:lnTo>
                  <a:pt x="6823253" y="2160969"/>
                </a:lnTo>
                <a:lnTo>
                  <a:pt x="6816652" y="2170759"/>
                </a:lnTo>
                <a:lnTo>
                  <a:pt x="6806862" y="2177360"/>
                </a:lnTo>
                <a:lnTo>
                  <a:pt x="6794873" y="2179781"/>
                </a:lnTo>
                <a:lnTo>
                  <a:pt x="30799" y="2179781"/>
                </a:lnTo>
                <a:lnTo>
                  <a:pt x="18810" y="2177360"/>
                </a:lnTo>
                <a:lnTo>
                  <a:pt x="9020" y="2170759"/>
                </a:lnTo>
                <a:lnTo>
                  <a:pt x="2420" y="2160969"/>
                </a:lnTo>
                <a:lnTo>
                  <a:pt x="0" y="2148981"/>
                </a:lnTo>
                <a:lnTo>
                  <a:pt x="0" y="30799"/>
                </a:lnTo>
                <a:close/>
              </a:path>
            </a:pathLst>
          </a:custGeom>
          <a:noFill/>
          <a:ln w="12700">
            <a:solidFill>
              <a:srgbClr val="000000"/>
            </a:solidFill>
            <a:round/>
            <a:headEnd/>
            <a:tailEnd/>
          </a:ln>
        </p:spPr>
        <p:txBody>
          <a:bodyPr lIns="0" tIns="0" rIns="0" bIns="0"/>
          <a:lstStyle/>
          <a:p>
            <a:endParaRPr lang="en-US"/>
          </a:p>
        </p:txBody>
      </p:sp>
      <p:sp>
        <p:nvSpPr>
          <p:cNvPr id="15" name="object 13">
            <a:extLst>
              <a:ext uri="{FF2B5EF4-FFF2-40B4-BE49-F238E27FC236}">
                <a16:creationId xmlns:a16="http://schemas.microsoft.com/office/drawing/2014/main" id="{1791A3FF-8B37-F6C0-A68B-6D92B1D462B4}"/>
              </a:ext>
            </a:extLst>
          </p:cNvPr>
          <p:cNvSpPr txBox="1"/>
          <p:nvPr/>
        </p:nvSpPr>
        <p:spPr>
          <a:xfrm>
            <a:off x="1069342" y="3286363"/>
            <a:ext cx="1604989" cy="756000"/>
          </a:xfrm>
          <a:prstGeom prst="rect">
            <a:avLst/>
          </a:prstGeom>
          <a:solidFill>
            <a:srgbClr val="FFF2CC"/>
          </a:solidFill>
        </p:spPr>
        <p:txBody>
          <a:bodyPr wrap="square" lIns="0" tIns="4445" rIns="0" bIns="0">
            <a:spAutoFit/>
          </a:bodyPr>
          <a:lstStyle/>
          <a:p>
            <a:pPr algn="ctr">
              <a:spcBef>
                <a:spcPts val="35"/>
              </a:spcBef>
              <a:defRPr/>
            </a:pPr>
            <a:endParaRPr dirty="0">
              <a:latin typeface="Times New Roman"/>
              <a:cs typeface="Times New Roman"/>
            </a:endParaRPr>
          </a:p>
          <a:p>
            <a:pPr marL="200660" algn="ctr">
              <a:defRPr/>
            </a:pPr>
            <a:r>
              <a:rPr sz="1600" spc="-5" dirty="0">
                <a:latin typeface="Carlito"/>
                <a:cs typeface="Carlito"/>
              </a:rPr>
              <a:t>Business</a:t>
            </a:r>
            <a:r>
              <a:rPr sz="1600" spc="-20" dirty="0">
                <a:latin typeface="Carlito"/>
                <a:cs typeface="Carlito"/>
              </a:rPr>
              <a:t> </a:t>
            </a:r>
            <a:r>
              <a:rPr sz="1600" spc="-5" dirty="0">
                <a:latin typeface="Carlito"/>
                <a:cs typeface="Carlito"/>
              </a:rPr>
              <a:t>rules</a:t>
            </a:r>
            <a:endParaRPr sz="1600" dirty="0">
              <a:latin typeface="Carlito"/>
              <a:cs typeface="Carlito"/>
            </a:endParaRPr>
          </a:p>
        </p:txBody>
      </p:sp>
      <p:sp>
        <p:nvSpPr>
          <p:cNvPr id="16" name="object 14">
            <a:extLst>
              <a:ext uri="{FF2B5EF4-FFF2-40B4-BE49-F238E27FC236}">
                <a16:creationId xmlns:a16="http://schemas.microsoft.com/office/drawing/2014/main" id="{5B5DBA0A-F514-1F82-EC4F-0A424D2E74A2}"/>
              </a:ext>
            </a:extLst>
          </p:cNvPr>
          <p:cNvSpPr txBox="1">
            <a:spLocks noChangeArrowheads="1"/>
          </p:cNvSpPr>
          <p:nvPr/>
        </p:nvSpPr>
        <p:spPr bwMode="auto">
          <a:xfrm>
            <a:off x="2904492" y="3280014"/>
            <a:ext cx="1604989" cy="723600"/>
          </a:xfrm>
          <a:prstGeom prst="rect">
            <a:avLst/>
          </a:prstGeom>
          <a:solidFill>
            <a:srgbClr val="FFF2CC"/>
          </a:solidFill>
          <a:ln w="9525">
            <a:noFill/>
            <a:miter lim="800000"/>
            <a:headEnd/>
            <a:tailEnd/>
          </a:ln>
        </p:spPr>
        <p:txBody>
          <a:bodyPr wrap="square" lIns="0" tIns="5715" rIns="0" bIns="0">
            <a:spAutoFit/>
          </a:bodyPr>
          <a:lstStyle/>
          <a:p>
            <a:pPr algn="ctr">
              <a:spcBef>
                <a:spcPts val="50"/>
              </a:spcBef>
            </a:pPr>
            <a:endParaRPr lang="en-US" dirty="0">
              <a:latin typeface="Times New Roman" pitchFamily="18" charset="0"/>
              <a:cs typeface="Times New Roman" pitchFamily="18" charset="0"/>
            </a:endParaRPr>
          </a:p>
          <a:p>
            <a:pPr algn="ctr">
              <a:lnSpc>
                <a:spcPts val="1700"/>
              </a:lnSpc>
            </a:pPr>
            <a:r>
              <a:rPr lang="en-US" sz="1600" dirty="0">
                <a:latin typeface="Carlito"/>
                <a:ea typeface="Carlito"/>
                <a:cs typeface="Carlito"/>
              </a:rPr>
              <a:t>Hardware  dependencies</a:t>
            </a:r>
          </a:p>
        </p:txBody>
      </p:sp>
      <p:sp>
        <p:nvSpPr>
          <p:cNvPr id="17" name="object 15">
            <a:extLst>
              <a:ext uri="{FF2B5EF4-FFF2-40B4-BE49-F238E27FC236}">
                <a16:creationId xmlns:a16="http://schemas.microsoft.com/office/drawing/2014/main" id="{2EC2E7EA-5178-C403-CDF3-6EE536C11908}"/>
              </a:ext>
            </a:extLst>
          </p:cNvPr>
          <p:cNvSpPr txBox="1"/>
          <p:nvPr/>
        </p:nvSpPr>
        <p:spPr>
          <a:xfrm>
            <a:off x="4728530" y="3319701"/>
            <a:ext cx="1604988" cy="756000"/>
          </a:xfrm>
          <a:prstGeom prst="rect">
            <a:avLst/>
          </a:prstGeom>
          <a:solidFill>
            <a:srgbClr val="FFF2CC"/>
          </a:solidFill>
        </p:spPr>
        <p:txBody>
          <a:bodyPr wrap="square" lIns="0" tIns="4445" rIns="0" bIns="0">
            <a:spAutoFit/>
          </a:bodyPr>
          <a:lstStyle/>
          <a:p>
            <a:pPr algn="ctr">
              <a:spcBef>
                <a:spcPts val="35"/>
              </a:spcBef>
              <a:defRPr/>
            </a:pPr>
            <a:endParaRPr dirty="0">
              <a:latin typeface="Times New Roman"/>
              <a:cs typeface="Times New Roman"/>
            </a:endParaRPr>
          </a:p>
          <a:p>
            <a:pPr marL="86360" algn="ctr">
              <a:defRPr/>
            </a:pPr>
            <a:r>
              <a:rPr sz="1600" spc="-5" dirty="0">
                <a:latin typeface="Carlito"/>
                <a:cs typeface="Carlito"/>
              </a:rPr>
              <a:t>Input </a:t>
            </a:r>
            <a:r>
              <a:rPr sz="1600" dirty="0">
                <a:latin typeface="Carlito"/>
                <a:cs typeface="Carlito"/>
              </a:rPr>
              <a:t>and</a:t>
            </a:r>
            <a:r>
              <a:rPr sz="1600" spc="-35" dirty="0">
                <a:latin typeface="Carlito"/>
                <a:cs typeface="Carlito"/>
              </a:rPr>
              <a:t> </a:t>
            </a:r>
            <a:r>
              <a:rPr sz="1600" spc="-5" dirty="0">
                <a:latin typeface="Carlito"/>
                <a:cs typeface="Carlito"/>
              </a:rPr>
              <a:t>output</a:t>
            </a:r>
            <a:endParaRPr sz="1600" dirty="0">
              <a:latin typeface="Carlito"/>
              <a:cs typeface="Carlito"/>
            </a:endParaRPr>
          </a:p>
        </p:txBody>
      </p:sp>
      <p:sp>
        <p:nvSpPr>
          <p:cNvPr id="18" name="object 16">
            <a:extLst>
              <a:ext uri="{FF2B5EF4-FFF2-40B4-BE49-F238E27FC236}">
                <a16:creationId xmlns:a16="http://schemas.microsoft.com/office/drawing/2014/main" id="{F8898224-751E-7CC3-0815-25DC5A64AB4E}"/>
              </a:ext>
            </a:extLst>
          </p:cNvPr>
          <p:cNvSpPr txBox="1">
            <a:spLocks noChangeArrowheads="1"/>
          </p:cNvSpPr>
          <p:nvPr/>
        </p:nvSpPr>
        <p:spPr bwMode="auto">
          <a:xfrm>
            <a:off x="6538280" y="3319702"/>
            <a:ext cx="1604988" cy="789447"/>
          </a:xfrm>
          <a:prstGeom prst="rect">
            <a:avLst/>
          </a:prstGeom>
          <a:solidFill>
            <a:srgbClr val="FFF2CC"/>
          </a:solidFill>
          <a:ln w="9525">
            <a:noFill/>
            <a:miter lim="800000"/>
            <a:headEnd/>
            <a:tailEnd/>
          </a:ln>
        </p:spPr>
        <p:txBody>
          <a:bodyPr wrap="square" lIns="0" tIns="116205" rIns="0" bIns="0">
            <a:spAutoFit/>
          </a:bodyPr>
          <a:lstStyle/>
          <a:p>
            <a:pPr marL="242888" algn="ctr">
              <a:lnSpc>
                <a:spcPct val="91000"/>
              </a:lnSpc>
              <a:spcBef>
                <a:spcPts val="913"/>
              </a:spcBef>
            </a:pPr>
            <a:r>
              <a:rPr lang="en-US" sz="1600" dirty="0">
                <a:latin typeface="Carlito"/>
                <a:ea typeface="Carlito"/>
                <a:cs typeface="Carlito"/>
              </a:rPr>
              <a:t>Nonstandard  language  features</a:t>
            </a:r>
          </a:p>
        </p:txBody>
      </p:sp>
      <p:sp>
        <p:nvSpPr>
          <p:cNvPr id="19" name="object 17">
            <a:extLst>
              <a:ext uri="{FF2B5EF4-FFF2-40B4-BE49-F238E27FC236}">
                <a16:creationId xmlns:a16="http://schemas.microsoft.com/office/drawing/2014/main" id="{8E8794C7-58BD-99C0-170D-8BF7D5233274}"/>
              </a:ext>
            </a:extLst>
          </p:cNvPr>
          <p:cNvSpPr txBox="1">
            <a:spLocks noChangeArrowheads="1"/>
          </p:cNvSpPr>
          <p:nvPr/>
        </p:nvSpPr>
        <p:spPr bwMode="auto">
          <a:xfrm>
            <a:off x="1966280" y="4296014"/>
            <a:ext cx="1604988" cy="788806"/>
          </a:xfrm>
          <a:prstGeom prst="rect">
            <a:avLst/>
          </a:prstGeom>
          <a:solidFill>
            <a:srgbClr val="FFF2CC"/>
          </a:solidFill>
          <a:ln w="9525">
            <a:noFill/>
            <a:miter lim="800000"/>
            <a:headEnd/>
            <a:tailEnd/>
          </a:ln>
        </p:spPr>
        <p:txBody>
          <a:bodyPr wrap="square" lIns="0" tIns="115570" rIns="0" bIns="0">
            <a:spAutoFit/>
          </a:bodyPr>
          <a:lstStyle/>
          <a:p>
            <a:pPr marL="92075" algn="ctr">
              <a:lnSpc>
                <a:spcPct val="91000"/>
              </a:lnSpc>
              <a:spcBef>
                <a:spcPts val="913"/>
              </a:spcBef>
            </a:pPr>
            <a:r>
              <a:rPr lang="en-US" sz="1600" dirty="0">
                <a:latin typeface="Carlito"/>
                <a:ea typeface="Carlito"/>
                <a:cs typeface="Carlito"/>
              </a:rPr>
              <a:t>Difficult design  and construction  areas</a:t>
            </a:r>
          </a:p>
        </p:txBody>
      </p:sp>
      <p:sp>
        <p:nvSpPr>
          <p:cNvPr id="20" name="object 18">
            <a:extLst>
              <a:ext uri="{FF2B5EF4-FFF2-40B4-BE49-F238E27FC236}">
                <a16:creationId xmlns:a16="http://schemas.microsoft.com/office/drawing/2014/main" id="{179B0A7E-45C8-D059-04C4-C41A2B1BE680}"/>
              </a:ext>
            </a:extLst>
          </p:cNvPr>
          <p:cNvSpPr txBox="1"/>
          <p:nvPr/>
        </p:nvSpPr>
        <p:spPr>
          <a:xfrm>
            <a:off x="3795080" y="4296014"/>
            <a:ext cx="1604988" cy="756000"/>
          </a:xfrm>
          <a:prstGeom prst="rect">
            <a:avLst/>
          </a:prstGeom>
          <a:solidFill>
            <a:srgbClr val="FFF2CC"/>
          </a:solidFill>
        </p:spPr>
        <p:txBody>
          <a:bodyPr wrap="square" lIns="0" tIns="6350" rIns="0" bIns="0">
            <a:spAutoFit/>
          </a:bodyPr>
          <a:lstStyle/>
          <a:p>
            <a:pPr algn="ctr">
              <a:spcBef>
                <a:spcPts val="50"/>
              </a:spcBef>
              <a:defRPr/>
            </a:pPr>
            <a:endParaRPr dirty="0">
              <a:latin typeface="Times New Roman"/>
              <a:cs typeface="Times New Roman"/>
            </a:endParaRPr>
          </a:p>
          <a:p>
            <a:pPr marL="140335" algn="ctr">
              <a:defRPr/>
            </a:pPr>
            <a:r>
              <a:rPr sz="1600" spc="-10" dirty="0">
                <a:latin typeface="Carlito"/>
                <a:cs typeface="Carlito"/>
              </a:rPr>
              <a:t>Status</a:t>
            </a:r>
            <a:r>
              <a:rPr sz="1600" spc="-25" dirty="0">
                <a:latin typeface="Carlito"/>
                <a:cs typeface="Carlito"/>
              </a:rPr>
              <a:t> </a:t>
            </a:r>
            <a:r>
              <a:rPr sz="1600" spc="-5" dirty="0">
                <a:latin typeface="Carlito"/>
                <a:cs typeface="Carlito"/>
              </a:rPr>
              <a:t>variables</a:t>
            </a:r>
            <a:endParaRPr sz="1600" dirty="0">
              <a:latin typeface="Carlito"/>
              <a:cs typeface="Carlito"/>
            </a:endParaRPr>
          </a:p>
        </p:txBody>
      </p:sp>
      <p:sp>
        <p:nvSpPr>
          <p:cNvPr id="21" name="object 19">
            <a:extLst>
              <a:ext uri="{FF2B5EF4-FFF2-40B4-BE49-F238E27FC236}">
                <a16:creationId xmlns:a16="http://schemas.microsoft.com/office/drawing/2014/main" id="{B8CA06A9-FF0A-8631-6A23-C73B68B3F734}"/>
              </a:ext>
            </a:extLst>
          </p:cNvPr>
          <p:cNvSpPr txBox="1">
            <a:spLocks noChangeArrowheads="1"/>
          </p:cNvSpPr>
          <p:nvPr/>
        </p:nvSpPr>
        <p:spPr bwMode="auto">
          <a:xfrm>
            <a:off x="5641342" y="4296014"/>
            <a:ext cx="1604989" cy="724557"/>
          </a:xfrm>
          <a:prstGeom prst="rect">
            <a:avLst/>
          </a:prstGeom>
          <a:solidFill>
            <a:srgbClr val="FFF2CC"/>
          </a:solidFill>
          <a:ln w="9525">
            <a:noFill/>
            <a:miter lim="800000"/>
            <a:headEnd/>
            <a:tailEnd/>
          </a:ln>
        </p:spPr>
        <p:txBody>
          <a:bodyPr wrap="square" lIns="0" tIns="5080" rIns="0" bIns="0">
            <a:spAutoFit/>
          </a:bodyPr>
          <a:lstStyle/>
          <a:p>
            <a:pPr algn="ctr">
              <a:spcBef>
                <a:spcPts val="38"/>
              </a:spcBef>
            </a:pPr>
            <a:endParaRPr lang="en-US" dirty="0">
              <a:latin typeface="Times New Roman" pitchFamily="18" charset="0"/>
              <a:cs typeface="Times New Roman" pitchFamily="18" charset="0"/>
            </a:endParaRPr>
          </a:p>
          <a:p>
            <a:pPr algn="ctr">
              <a:lnSpc>
                <a:spcPts val="1700"/>
              </a:lnSpc>
            </a:pPr>
            <a:r>
              <a:rPr lang="en-US" sz="1600" dirty="0">
                <a:latin typeface="Carlito"/>
                <a:ea typeface="Carlito"/>
                <a:cs typeface="Carlito"/>
              </a:rPr>
              <a:t>Data-size  constraints</a:t>
            </a:r>
          </a:p>
        </p:txBody>
      </p:sp>
      <p:sp>
        <p:nvSpPr>
          <p:cNvPr id="22" name="object 20">
            <a:extLst>
              <a:ext uri="{FF2B5EF4-FFF2-40B4-BE49-F238E27FC236}">
                <a16:creationId xmlns:a16="http://schemas.microsoft.com/office/drawing/2014/main" id="{96D19C20-ECF4-27D1-C817-8C199B87551F}"/>
              </a:ext>
            </a:extLst>
          </p:cNvPr>
          <p:cNvSpPr txBox="1"/>
          <p:nvPr/>
        </p:nvSpPr>
        <p:spPr>
          <a:xfrm>
            <a:off x="3376222" y="5322529"/>
            <a:ext cx="2510519" cy="289823"/>
          </a:xfrm>
          <a:prstGeom prst="rect">
            <a:avLst/>
          </a:prstGeom>
        </p:spPr>
        <p:txBody>
          <a:bodyPr wrap="square" lIns="0" tIns="12700" rIns="0" bIns="0">
            <a:spAutoFit/>
          </a:bodyPr>
          <a:lstStyle/>
          <a:p>
            <a:pPr marL="12700">
              <a:spcBef>
                <a:spcPts val="100"/>
              </a:spcBef>
              <a:defRPr/>
            </a:pPr>
            <a:r>
              <a:rPr spc="-5" dirty="0">
                <a:latin typeface="Carlito"/>
                <a:cs typeface="Carlito"/>
              </a:rPr>
              <a:t>Areas </a:t>
            </a:r>
            <a:r>
              <a:rPr spc="-15" dirty="0">
                <a:latin typeface="Carlito"/>
                <a:cs typeface="Carlito"/>
              </a:rPr>
              <a:t>Likely </a:t>
            </a:r>
            <a:r>
              <a:rPr spc="-10" dirty="0">
                <a:latin typeface="Carlito"/>
                <a:cs typeface="Carlito"/>
              </a:rPr>
              <a:t>to</a:t>
            </a:r>
            <a:r>
              <a:rPr spc="-45" dirty="0">
                <a:latin typeface="Carlito"/>
                <a:cs typeface="Carlito"/>
              </a:rPr>
              <a:t> </a:t>
            </a:r>
            <a:r>
              <a:rPr spc="-10" dirty="0">
                <a:latin typeface="Carlito"/>
                <a:cs typeface="Carlito"/>
              </a:rPr>
              <a:t>Change</a:t>
            </a:r>
            <a:endParaRPr dirty="0">
              <a:latin typeface="Carlito"/>
              <a:cs typeface="Carlito"/>
            </a:endParaRPr>
          </a:p>
        </p:txBody>
      </p:sp>
      <p:sp>
        <p:nvSpPr>
          <p:cNvPr id="23" name="object 21">
            <a:extLst>
              <a:ext uri="{FF2B5EF4-FFF2-40B4-BE49-F238E27FC236}">
                <a16:creationId xmlns:a16="http://schemas.microsoft.com/office/drawing/2014/main" id="{2A9665D9-D262-A657-432E-6A2CA2BDAFD8}"/>
              </a:ext>
            </a:extLst>
          </p:cNvPr>
          <p:cNvSpPr txBox="1">
            <a:spLocks noChangeArrowheads="1"/>
          </p:cNvSpPr>
          <p:nvPr/>
        </p:nvSpPr>
        <p:spPr bwMode="auto">
          <a:xfrm>
            <a:off x="48189" y="5720002"/>
            <a:ext cx="9025235" cy="873124"/>
          </a:xfrm>
          <a:prstGeom prst="rect">
            <a:avLst/>
          </a:prstGeom>
          <a:solidFill>
            <a:srgbClr val="EDEDED"/>
          </a:solidFill>
          <a:ln w="9525">
            <a:noFill/>
            <a:miter lim="800000"/>
            <a:headEnd/>
            <a:tailEnd/>
          </a:ln>
        </p:spPr>
        <p:txBody>
          <a:bodyPr wrap="square" lIns="0" tIns="50800" rIns="0" bIns="0">
            <a:spAutoFit/>
          </a:bodyPr>
          <a:lstStyle/>
          <a:p>
            <a:pPr marL="530225" indent="-244475" algn="ctr">
              <a:lnSpc>
                <a:spcPts val="2088"/>
              </a:lnSpc>
              <a:spcBef>
                <a:spcPts val="400"/>
              </a:spcBef>
            </a:pPr>
            <a:r>
              <a:rPr lang="en-US" i="1">
                <a:latin typeface="Carlito"/>
                <a:ea typeface="Carlito"/>
                <a:cs typeface="Carlito"/>
              </a:rPr>
              <a:t>A good technique for identifying areas likely to change is first to identify the minimal subset of the program that might be of use to the user. The subset makes up the core of the system and is unlikely to change.</a:t>
            </a:r>
            <a:endParaRPr lang="en-US">
              <a:latin typeface="Carlito"/>
              <a:ea typeface="Carlito"/>
              <a:cs typeface="Carlito"/>
            </a:endParaRPr>
          </a:p>
        </p:txBody>
      </p:sp>
    </p:spTree>
    <p:extLst>
      <p:ext uri="{BB962C8B-B14F-4D97-AF65-F5344CB8AC3E}">
        <p14:creationId xmlns:p14="http://schemas.microsoft.com/office/powerpoint/2010/main" val="1569888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1"/>
            <a:ext cx="9169639" cy="950869"/>
          </a:xfrm>
          <a:solidFill>
            <a:schemeClr val="accent6">
              <a:lumMod val="40000"/>
              <a:lumOff val="60000"/>
            </a:schemeClr>
          </a:solidFill>
        </p:spPr>
        <p:txBody>
          <a:bodyPr anchor="ctr">
            <a:normAutofit/>
          </a:bodyPr>
          <a:lstStyle/>
          <a:p>
            <a:r>
              <a:rPr lang="en-US" sz="4400" b="1" dirty="0">
                <a:solidFill>
                  <a:schemeClr val="tx1"/>
                </a:solidFill>
                <a:latin typeface="+mn-lt"/>
              </a:rPr>
              <a:t>Design Heuristics: </a:t>
            </a:r>
            <a:r>
              <a:rPr lang="en-US" sz="4400" dirty="0">
                <a:solidFill>
                  <a:schemeClr val="tx1"/>
                </a:solidFill>
                <a:latin typeface="+mn-lt"/>
              </a:rPr>
              <a:t>Keep Coupling Loose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11</a:t>
            </a:fld>
            <a:endParaRPr lang="en-US" sz="700"/>
          </a:p>
        </p:txBody>
      </p:sp>
      <p:sp>
        <p:nvSpPr>
          <p:cNvPr id="7" name="TextBox 6">
            <a:extLst>
              <a:ext uri="{FF2B5EF4-FFF2-40B4-BE49-F238E27FC236}">
                <a16:creationId xmlns:a16="http://schemas.microsoft.com/office/drawing/2014/main" id="{A01BAD23-B858-1B04-E1C7-1D757C60F048}"/>
              </a:ext>
            </a:extLst>
          </p:cNvPr>
          <p:cNvSpPr txBox="1"/>
          <p:nvPr/>
        </p:nvSpPr>
        <p:spPr>
          <a:xfrm>
            <a:off x="485415" y="634843"/>
            <a:ext cx="8147529" cy="369332"/>
          </a:xfrm>
          <a:prstGeom prst="rect">
            <a:avLst/>
          </a:prstGeom>
          <a:noFill/>
        </p:spPr>
        <p:txBody>
          <a:bodyPr wrap="square">
            <a:spAutoFit/>
          </a:bodyPr>
          <a:lstStyle/>
          <a:p>
            <a:r>
              <a:rPr lang="en-US" sz="1800" i="1" spc="-5" dirty="0">
                <a:latin typeface="Carlito"/>
                <a:cs typeface="Carlito"/>
              </a:rPr>
              <a:t>Coupling describes how </a:t>
            </a:r>
            <a:r>
              <a:rPr lang="en-US" sz="1800" i="1" spc="-10" dirty="0">
                <a:latin typeface="Carlito"/>
                <a:cs typeface="Carlito"/>
              </a:rPr>
              <a:t>tightly </a:t>
            </a:r>
            <a:r>
              <a:rPr lang="en-US" sz="1800" i="1" dirty="0">
                <a:latin typeface="Carlito"/>
                <a:cs typeface="Carlito"/>
              </a:rPr>
              <a:t>a </a:t>
            </a:r>
            <a:r>
              <a:rPr lang="en-US" sz="1800" i="1" spc="-5" dirty="0">
                <a:latin typeface="Carlito"/>
                <a:cs typeface="Carlito"/>
              </a:rPr>
              <a:t>class </a:t>
            </a:r>
            <a:r>
              <a:rPr lang="en-US" sz="1800" i="1" dirty="0">
                <a:latin typeface="Carlito"/>
                <a:cs typeface="Carlito"/>
              </a:rPr>
              <a:t>or </a:t>
            </a:r>
            <a:r>
              <a:rPr lang="en-US" sz="1800" i="1" spc="-5" dirty="0">
                <a:latin typeface="Carlito"/>
                <a:cs typeface="Carlito"/>
              </a:rPr>
              <a:t>routine is </a:t>
            </a:r>
            <a:r>
              <a:rPr lang="en-US" sz="1800" i="1" spc="-10" dirty="0">
                <a:latin typeface="Carlito"/>
                <a:cs typeface="Carlito"/>
              </a:rPr>
              <a:t>related </a:t>
            </a:r>
            <a:r>
              <a:rPr lang="en-US" sz="1800" i="1" spc="-15" dirty="0">
                <a:latin typeface="Carlito"/>
                <a:cs typeface="Carlito"/>
              </a:rPr>
              <a:t>to </a:t>
            </a:r>
            <a:r>
              <a:rPr lang="en-US" sz="1800" i="1" spc="-5" dirty="0">
                <a:latin typeface="Carlito"/>
                <a:cs typeface="Carlito"/>
              </a:rPr>
              <a:t>other classes </a:t>
            </a:r>
            <a:r>
              <a:rPr lang="en-US" sz="1800" i="1" dirty="0">
                <a:latin typeface="Carlito"/>
                <a:cs typeface="Carlito"/>
              </a:rPr>
              <a:t>or</a:t>
            </a:r>
            <a:r>
              <a:rPr lang="en-US" sz="1800" i="1" spc="105" dirty="0">
                <a:latin typeface="Carlito"/>
                <a:cs typeface="Carlito"/>
              </a:rPr>
              <a:t> </a:t>
            </a:r>
            <a:r>
              <a:rPr lang="en-US" sz="1800" i="1" spc="-5" dirty="0">
                <a:latin typeface="Carlito"/>
                <a:cs typeface="Carlito"/>
              </a:rPr>
              <a:t>routines.</a:t>
            </a:r>
            <a:endParaRPr lang="en-SA" dirty="0"/>
          </a:p>
        </p:txBody>
      </p:sp>
      <p:sp>
        <p:nvSpPr>
          <p:cNvPr id="8" name="object 3">
            <a:extLst>
              <a:ext uri="{FF2B5EF4-FFF2-40B4-BE49-F238E27FC236}">
                <a16:creationId xmlns:a16="http://schemas.microsoft.com/office/drawing/2014/main" id="{88D74FF4-DE01-4E39-6EC1-01E06AD27C21}"/>
              </a:ext>
            </a:extLst>
          </p:cNvPr>
          <p:cNvSpPr>
            <a:spLocks noChangeArrowheads="1"/>
          </p:cNvSpPr>
          <p:nvPr/>
        </p:nvSpPr>
        <p:spPr bwMode="auto">
          <a:xfrm>
            <a:off x="0" y="1188386"/>
            <a:ext cx="4781520" cy="4038600"/>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a:p>
        </p:txBody>
      </p:sp>
      <p:sp>
        <p:nvSpPr>
          <p:cNvPr id="9" name="object 4">
            <a:extLst>
              <a:ext uri="{FF2B5EF4-FFF2-40B4-BE49-F238E27FC236}">
                <a16:creationId xmlns:a16="http://schemas.microsoft.com/office/drawing/2014/main" id="{FF3990DD-7154-D23F-687A-85DF7C3DE988}"/>
              </a:ext>
            </a:extLst>
          </p:cNvPr>
          <p:cNvSpPr txBox="1">
            <a:spLocks noChangeArrowheads="1"/>
          </p:cNvSpPr>
          <p:nvPr/>
        </p:nvSpPr>
        <p:spPr bwMode="auto">
          <a:xfrm>
            <a:off x="4729597" y="1596374"/>
            <a:ext cx="4293633" cy="1130951"/>
          </a:xfrm>
          <a:prstGeom prst="rect">
            <a:avLst/>
          </a:prstGeom>
          <a:solidFill>
            <a:srgbClr val="EDEDED"/>
          </a:solidFill>
          <a:ln w="9525">
            <a:noFill/>
            <a:miter lim="800000"/>
            <a:headEnd/>
            <a:tailEnd/>
          </a:ln>
        </p:spPr>
        <p:txBody>
          <a:bodyPr wrap="square" lIns="0" tIns="33655" rIns="0" bIns="0">
            <a:spAutoFit/>
          </a:bodyPr>
          <a:lstStyle/>
          <a:p>
            <a:pPr marL="90488" algn="just">
              <a:lnSpc>
                <a:spcPct val="99000"/>
              </a:lnSpc>
              <a:spcBef>
                <a:spcPts val="263"/>
              </a:spcBef>
            </a:pPr>
            <a:r>
              <a:rPr lang="en-US" dirty="0">
                <a:latin typeface="Carlito"/>
                <a:ea typeface="Carlito"/>
                <a:cs typeface="Carlito"/>
              </a:rPr>
              <a:t>The goal is to create classes and routines with small, direct, visible, and flexible relations to other classes and routines, which is known as “loose coupling.</a:t>
            </a:r>
          </a:p>
        </p:txBody>
      </p:sp>
      <p:graphicFrame>
        <p:nvGraphicFramePr>
          <p:cNvPr id="10" name="object 5">
            <a:extLst>
              <a:ext uri="{FF2B5EF4-FFF2-40B4-BE49-F238E27FC236}">
                <a16:creationId xmlns:a16="http://schemas.microsoft.com/office/drawing/2014/main" id="{2394995E-4318-02D2-7B93-C0CA9B3D8A10}"/>
              </a:ext>
            </a:extLst>
          </p:cNvPr>
          <p:cNvGraphicFramePr>
            <a:graphicFrameLocks noGrp="1"/>
          </p:cNvGraphicFramePr>
          <p:nvPr>
            <p:extLst>
              <p:ext uri="{D42A27DB-BD31-4B8C-83A1-F6EECF244321}">
                <p14:modId xmlns:p14="http://schemas.microsoft.com/office/powerpoint/2010/main" val="1194548449"/>
              </p:ext>
            </p:extLst>
          </p:nvPr>
        </p:nvGraphicFramePr>
        <p:xfrm>
          <a:off x="6043867" y="2901299"/>
          <a:ext cx="2946530" cy="1098551"/>
        </p:xfrm>
        <a:graphic>
          <a:graphicData uri="http://schemas.openxmlformats.org/drawingml/2006/table">
            <a:tbl>
              <a:tblPr/>
              <a:tblGrid>
                <a:gridCol w="1754301">
                  <a:extLst>
                    <a:ext uri="{9D8B030D-6E8A-4147-A177-3AD203B41FA5}">
                      <a16:colId xmlns:a16="http://schemas.microsoft.com/office/drawing/2014/main" val="20000"/>
                    </a:ext>
                  </a:extLst>
                </a:gridCol>
                <a:gridCol w="648851">
                  <a:extLst>
                    <a:ext uri="{9D8B030D-6E8A-4147-A177-3AD203B41FA5}">
                      <a16:colId xmlns:a16="http://schemas.microsoft.com/office/drawing/2014/main" val="20001"/>
                    </a:ext>
                  </a:extLst>
                </a:gridCol>
                <a:gridCol w="388509">
                  <a:extLst>
                    <a:ext uri="{9D8B030D-6E8A-4147-A177-3AD203B41FA5}">
                      <a16:colId xmlns:a16="http://schemas.microsoft.com/office/drawing/2014/main" val="20002"/>
                    </a:ext>
                  </a:extLst>
                </a:gridCol>
                <a:gridCol w="154869">
                  <a:extLst>
                    <a:ext uri="{9D8B030D-6E8A-4147-A177-3AD203B41FA5}">
                      <a16:colId xmlns:a16="http://schemas.microsoft.com/office/drawing/2014/main" val="20003"/>
                    </a:ext>
                  </a:extLst>
                </a:gridCol>
              </a:tblGrid>
              <a:tr h="360363">
                <a:tc rowSpan="3">
                  <a:txBody>
                    <a:bodyPr/>
                    <a:lstStyle/>
                    <a:p>
                      <a:pPr marL="317500" marR="0" lvl="0" indent="-103188" algn="l" defTabSz="914400" rtl="0" eaLnBrk="1" fontAlgn="base" latinLnBrk="0" hangingPunct="1">
                        <a:lnSpc>
                          <a:spcPct val="101000"/>
                        </a:lnSpc>
                        <a:spcBef>
                          <a:spcPts val="700"/>
                        </a:spcBef>
                        <a:spcAft>
                          <a:spcPct val="0"/>
                        </a:spcAft>
                        <a:buClrTx/>
                        <a:buSzTx/>
                        <a:buFontTx/>
                        <a:buNone/>
                        <a:tabLst/>
                      </a:pPr>
                      <a:r>
                        <a:rPr kumimoji="0" lang="en-US" sz="2800" b="0" i="0" u="none" strike="noStrike" cap="none" normalizeH="0" baseline="0">
                          <a:ln>
                            <a:noFill/>
                          </a:ln>
                          <a:solidFill>
                            <a:schemeClr val="tx1"/>
                          </a:solidFill>
                          <a:effectLst/>
                          <a:latin typeface="Carlito"/>
                          <a:ea typeface="Carlito"/>
                          <a:cs typeface="Carlito"/>
                        </a:rPr>
                        <a:t>Coupling  Criteria</a:t>
                      </a:r>
                    </a:p>
                  </a:txBody>
                  <a:tcPr marL="0" marR="0" marT="89535"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0" algn="l" defTabSz="914400" rtl="0" eaLnBrk="1" fontAlgn="base" latinLnBrk="0" hangingPunct="1">
                        <a:lnSpc>
                          <a:spcPct val="100000"/>
                        </a:lnSpc>
                        <a:spcBef>
                          <a:spcPts val="100"/>
                        </a:spcBef>
                        <a:spcAft>
                          <a:spcPct val="0"/>
                        </a:spcAft>
                        <a:buClrTx/>
                        <a:buSzTx/>
                        <a:buFontTx/>
                        <a:buNone/>
                        <a:tabLst/>
                      </a:pPr>
                      <a:r>
                        <a:rPr kumimoji="0" lang="en-US" sz="1800" b="0" i="0" u="none" strike="noStrike" cap="none" normalizeH="0" baseline="0">
                          <a:ln>
                            <a:noFill/>
                          </a:ln>
                          <a:solidFill>
                            <a:schemeClr val="tx1"/>
                          </a:solidFill>
                          <a:effectLst/>
                          <a:latin typeface="Carlito"/>
                          <a:ea typeface="Carlito"/>
                          <a:cs typeface="Carlito"/>
                        </a:rPr>
                        <a:t>Size</a:t>
                      </a:r>
                    </a:p>
                  </a:txBody>
                  <a:tcPr marL="0" marR="0" marT="12065" marB="0" horzOverflow="overflow">
                    <a:lnL w="19050" cap="flat" cmpd="sng" algn="ctr">
                      <a:solidFill>
                        <a:srgbClr val="000000"/>
                      </a:solidFill>
                      <a:prstDash val="solid"/>
                      <a:round/>
                      <a:headEnd type="none" w="med" len="med"/>
                      <a:tailEnd type="none" w="med" len="med"/>
                    </a:lnL>
                    <a:lnR>
                      <a:noFill/>
                    </a:lnR>
                    <a:lnT>
                      <a:noFill/>
                    </a:lnT>
                    <a:lnB w="28575" cap="flat" cmpd="sng" algn="ctr">
                      <a:solidFill>
                        <a:srgbClr val="FFFFFF"/>
                      </a:solidFill>
                      <a:prstDash val="solid"/>
                      <a:round/>
                      <a:headEnd type="none" w="med" len="med"/>
                      <a:tailEnd type="none" w="med" len="med"/>
                    </a:lnB>
                    <a:lnTlToBr>
                      <a:noFill/>
                    </a:lnTlToBr>
                    <a:lnBlToTr>
                      <a:noFill/>
                    </a:lnBlToTr>
                    <a:solidFill>
                      <a:srgbClr val="DEEBF7"/>
                    </a:solid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a:noFill/>
                    </a:lnT>
                    <a:lnB w="28575"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90525">
                <a:tc vMerge="1">
                  <a:txBody>
                    <a:bodyPr/>
                    <a:lstStyle/>
                    <a:p>
                      <a:endParaRPr lang="en-US"/>
                    </a:p>
                  </a:txBody>
                  <a:tcPr/>
                </a:tc>
                <a:tc gridSpan="2">
                  <a:txBody>
                    <a:bodyPr/>
                    <a:lstStyle/>
                    <a:p>
                      <a:pPr marL="123825" marR="0" lvl="0" indent="0" algn="l" defTabSz="914400" rtl="0" eaLnBrk="1" fontAlgn="base" latinLnBrk="0" hangingPunct="1">
                        <a:lnSpc>
                          <a:spcPct val="100000"/>
                        </a:lnSpc>
                        <a:spcBef>
                          <a:spcPts val="338"/>
                        </a:spcBef>
                        <a:spcAft>
                          <a:spcPct val="0"/>
                        </a:spcAft>
                        <a:buClrTx/>
                        <a:buSzTx/>
                        <a:buFontTx/>
                        <a:buNone/>
                        <a:tabLst/>
                      </a:pPr>
                      <a:r>
                        <a:rPr kumimoji="0" lang="en-US" sz="1800" b="0" i="0" u="none" strike="noStrike" cap="none" normalizeH="0" baseline="0">
                          <a:ln>
                            <a:noFill/>
                          </a:ln>
                          <a:solidFill>
                            <a:schemeClr val="tx1"/>
                          </a:solidFill>
                          <a:effectLst/>
                          <a:latin typeface="Carlito"/>
                          <a:ea typeface="Carlito"/>
                          <a:cs typeface="Carlito"/>
                        </a:rPr>
                        <a:t>Visibility</a:t>
                      </a:r>
                    </a:p>
                  </a:txBody>
                  <a:tcPr marL="0" marR="0" marT="42544" marB="0" horzOverflow="overflow">
                    <a:lnL w="19050" cap="flat" cmpd="sng" algn="ctr">
                      <a:solidFill>
                        <a:srgbClr val="000000"/>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rgbClr val="DEEBF7"/>
                    </a:solid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Times New Roman" pitchFamily="18" charset="0"/>
                        <a:cs typeface="Times New Roman" pitchFamily="18" charset="0"/>
                      </a:endParaRPr>
                    </a:p>
                  </a:txBody>
                  <a:tcPr marL="0" marR="0" marT="0" marB="0" horzOverflow="overflow">
                    <a:lnL>
                      <a:noFill/>
                    </a:lnL>
                    <a:lnR>
                      <a:noFill/>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7663">
                <a:tc vMerge="1">
                  <a:txBody>
                    <a:bodyPr/>
                    <a:lstStyle/>
                    <a:p>
                      <a:endParaRPr lang="en-US"/>
                    </a:p>
                  </a:txBody>
                  <a:tcPr/>
                </a:tc>
                <a:tc gridSpan="3">
                  <a:txBody>
                    <a:bodyPr/>
                    <a:lstStyle/>
                    <a:p>
                      <a:pPr marL="177800" marR="0" lvl="0" indent="0" algn="l" defTabSz="914400" rtl="0" eaLnBrk="1" fontAlgn="base" latinLnBrk="0" hangingPunct="1">
                        <a:lnSpc>
                          <a:spcPct val="100000"/>
                        </a:lnSpc>
                        <a:spcBef>
                          <a:spcPts val="338"/>
                        </a:spcBef>
                        <a:spcAft>
                          <a:spcPct val="0"/>
                        </a:spcAft>
                        <a:buClrTx/>
                        <a:buSzTx/>
                        <a:buFontTx/>
                        <a:buNone/>
                        <a:tabLst/>
                      </a:pPr>
                      <a:r>
                        <a:rPr kumimoji="0" lang="en-US" sz="1800" b="0" i="0" u="none" strike="noStrike" cap="none" normalizeH="0" baseline="0">
                          <a:ln>
                            <a:noFill/>
                          </a:ln>
                          <a:solidFill>
                            <a:schemeClr val="tx1"/>
                          </a:solidFill>
                          <a:effectLst/>
                          <a:latin typeface="Carlito"/>
                          <a:ea typeface="Carlito"/>
                          <a:cs typeface="Carlito"/>
                        </a:rPr>
                        <a:t>Flexibility</a:t>
                      </a:r>
                    </a:p>
                  </a:txBody>
                  <a:tcPr marL="0" marR="0" marT="42545" marB="0" horzOverflow="overflow">
                    <a:lnL w="19050" cap="flat" cmpd="sng" algn="ctr">
                      <a:solidFill>
                        <a:srgbClr val="000000"/>
                      </a:solidFill>
                      <a:prstDash val="solid"/>
                      <a:round/>
                      <a:headEnd type="none" w="med" len="med"/>
                      <a:tailEnd type="none" w="med" len="med"/>
                    </a:lnL>
                    <a:lnR>
                      <a:noFill/>
                    </a:lnR>
                    <a:lnT w="28575" cap="flat" cmpd="sng" algn="ctr">
                      <a:solidFill>
                        <a:srgbClr val="FFFFFF"/>
                      </a:solidFill>
                      <a:prstDash val="solid"/>
                      <a:round/>
                      <a:headEnd type="none" w="med" len="med"/>
                      <a:tailEnd type="none" w="med" len="med"/>
                    </a:lnT>
                    <a:lnB>
                      <a:noFill/>
                    </a:lnB>
                    <a:lnTlToBr>
                      <a:noFill/>
                    </a:lnTlToBr>
                    <a:lnBlToTr>
                      <a:noFill/>
                    </a:lnBlToTr>
                    <a:solidFill>
                      <a:srgbClr val="DEEBF7"/>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11" name="object 6">
            <a:extLst>
              <a:ext uri="{FF2B5EF4-FFF2-40B4-BE49-F238E27FC236}">
                <a16:creationId xmlns:a16="http://schemas.microsoft.com/office/drawing/2014/main" id="{068D3AF4-83B5-7EC4-0531-73B1F8E22F82}"/>
              </a:ext>
            </a:extLst>
          </p:cNvPr>
          <p:cNvSpPr txBox="1"/>
          <p:nvPr/>
        </p:nvSpPr>
        <p:spPr>
          <a:xfrm>
            <a:off x="5824186" y="4214161"/>
            <a:ext cx="3005276" cy="298159"/>
          </a:xfrm>
          <a:prstGeom prst="rect">
            <a:avLst/>
          </a:prstGeom>
          <a:ln w="12700">
            <a:solidFill>
              <a:srgbClr val="000000"/>
            </a:solidFill>
          </a:ln>
        </p:spPr>
        <p:txBody>
          <a:bodyPr wrap="square" lIns="0" tIns="20955" rIns="0" bIns="0">
            <a:spAutoFit/>
          </a:bodyPr>
          <a:lstStyle/>
          <a:p>
            <a:pPr marL="380365">
              <a:spcBef>
                <a:spcPts val="165"/>
              </a:spcBef>
              <a:defRPr/>
            </a:pPr>
            <a:r>
              <a:rPr spc="-5" dirty="0">
                <a:latin typeface="Carlito"/>
                <a:cs typeface="Carlito"/>
              </a:rPr>
              <a:t>Kinds of Coupling</a:t>
            </a:r>
            <a:endParaRPr dirty="0">
              <a:latin typeface="Carlito"/>
              <a:cs typeface="Carlito"/>
            </a:endParaRPr>
          </a:p>
        </p:txBody>
      </p:sp>
      <p:sp>
        <p:nvSpPr>
          <p:cNvPr id="12" name="object 7">
            <a:extLst>
              <a:ext uri="{FF2B5EF4-FFF2-40B4-BE49-F238E27FC236}">
                <a16:creationId xmlns:a16="http://schemas.microsoft.com/office/drawing/2014/main" id="{AB9A20FC-5A4B-D0E9-11F8-AF5B4C5532BE}"/>
              </a:ext>
            </a:extLst>
          </p:cNvPr>
          <p:cNvSpPr txBox="1"/>
          <p:nvPr/>
        </p:nvSpPr>
        <p:spPr>
          <a:xfrm>
            <a:off x="5824186" y="4765780"/>
            <a:ext cx="3005276" cy="309600"/>
          </a:xfrm>
          <a:prstGeom prst="rect">
            <a:avLst/>
          </a:prstGeom>
          <a:solidFill>
            <a:srgbClr val="FBE5D6"/>
          </a:solidFill>
        </p:spPr>
        <p:txBody>
          <a:bodyPr wrap="square" lIns="0" tIns="31750" rIns="0" bIns="0">
            <a:spAutoFit/>
          </a:bodyPr>
          <a:lstStyle/>
          <a:p>
            <a:pPr marL="158750">
              <a:spcBef>
                <a:spcPts val="250"/>
              </a:spcBef>
              <a:defRPr/>
            </a:pPr>
            <a:r>
              <a:rPr sz="1500" i="1" spc="-10" dirty="0">
                <a:latin typeface="Carlito"/>
                <a:cs typeface="Carlito"/>
              </a:rPr>
              <a:t>Simple-data-parameter</a:t>
            </a:r>
            <a:r>
              <a:rPr sz="1500" i="1" dirty="0">
                <a:latin typeface="Carlito"/>
                <a:cs typeface="Carlito"/>
              </a:rPr>
              <a:t> </a:t>
            </a:r>
            <a:r>
              <a:rPr sz="1500" i="1" spc="-10" dirty="0">
                <a:latin typeface="Carlito"/>
                <a:cs typeface="Carlito"/>
              </a:rPr>
              <a:t>coupling</a:t>
            </a:r>
            <a:endParaRPr sz="1500" dirty="0">
              <a:latin typeface="Carlito"/>
              <a:cs typeface="Carlito"/>
            </a:endParaRPr>
          </a:p>
        </p:txBody>
      </p:sp>
      <p:sp>
        <p:nvSpPr>
          <p:cNvPr id="13" name="object 8">
            <a:extLst>
              <a:ext uri="{FF2B5EF4-FFF2-40B4-BE49-F238E27FC236}">
                <a16:creationId xmlns:a16="http://schemas.microsoft.com/office/drawing/2014/main" id="{6123DFD1-3C74-DD3E-5826-048831B6B981}"/>
              </a:ext>
            </a:extLst>
          </p:cNvPr>
          <p:cNvSpPr txBox="1"/>
          <p:nvPr/>
        </p:nvSpPr>
        <p:spPr>
          <a:xfrm>
            <a:off x="5824186" y="5253974"/>
            <a:ext cx="3005276" cy="310983"/>
          </a:xfrm>
          <a:prstGeom prst="rect">
            <a:avLst/>
          </a:prstGeom>
          <a:solidFill>
            <a:srgbClr val="FBE5D6"/>
          </a:solidFill>
        </p:spPr>
        <p:txBody>
          <a:bodyPr wrap="square" lIns="0" tIns="33655" rIns="0" bIns="0">
            <a:spAutoFit/>
          </a:bodyPr>
          <a:lstStyle/>
          <a:p>
            <a:pPr marL="611505">
              <a:spcBef>
                <a:spcPts val="265"/>
              </a:spcBef>
              <a:defRPr/>
            </a:pPr>
            <a:r>
              <a:rPr i="1" spc="-5" dirty="0">
                <a:latin typeface="Carlito"/>
                <a:cs typeface="Carlito"/>
              </a:rPr>
              <a:t>Simple-object</a:t>
            </a:r>
            <a:r>
              <a:rPr i="1" spc="-10" dirty="0">
                <a:latin typeface="Carlito"/>
                <a:cs typeface="Carlito"/>
              </a:rPr>
              <a:t> </a:t>
            </a:r>
            <a:r>
              <a:rPr i="1" spc="-5" dirty="0">
                <a:latin typeface="Carlito"/>
                <a:cs typeface="Carlito"/>
              </a:rPr>
              <a:t>coupling</a:t>
            </a:r>
            <a:endParaRPr dirty="0">
              <a:latin typeface="Carlito"/>
              <a:cs typeface="Carlito"/>
            </a:endParaRPr>
          </a:p>
        </p:txBody>
      </p:sp>
      <p:sp>
        <p:nvSpPr>
          <p:cNvPr id="14" name="object 9">
            <a:extLst>
              <a:ext uri="{FF2B5EF4-FFF2-40B4-BE49-F238E27FC236}">
                <a16:creationId xmlns:a16="http://schemas.microsoft.com/office/drawing/2014/main" id="{704FB5A7-5638-6A78-BB33-12F3E542583A}"/>
              </a:ext>
            </a:extLst>
          </p:cNvPr>
          <p:cNvSpPr txBox="1"/>
          <p:nvPr/>
        </p:nvSpPr>
        <p:spPr>
          <a:xfrm>
            <a:off x="5824186" y="5695299"/>
            <a:ext cx="3005276" cy="309059"/>
          </a:xfrm>
          <a:prstGeom prst="rect">
            <a:avLst/>
          </a:prstGeom>
          <a:solidFill>
            <a:srgbClr val="FBE5D6"/>
          </a:solidFill>
        </p:spPr>
        <p:txBody>
          <a:bodyPr wrap="square" lIns="0" tIns="31750" rIns="0" bIns="0">
            <a:spAutoFit/>
          </a:bodyPr>
          <a:lstStyle/>
          <a:p>
            <a:pPr marL="416559">
              <a:spcBef>
                <a:spcPts val="250"/>
              </a:spcBef>
              <a:defRPr/>
            </a:pPr>
            <a:r>
              <a:rPr i="1" spc="-10" dirty="0">
                <a:latin typeface="Carlito"/>
                <a:cs typeface="Carlito"/>
              </a:rPr>
              <a:t>Object-parameter</a:t>
            </a:r>
            <a:r>
              <a:rPr i="1" spc="-15" dirty="0">
                <a:latin typeface="Carlito"/>
                <a:cs typeface="Carlito"/>
              </a:rPr>
              <a:t> </a:t>
            </a:r>
            <a:r>
              <a:rPr i="1" spc="-10" dirty="0">
                <a:latin typeface="Carlito"/>
                <a:cs typeface="Carlito"/>
              </a:rPr>
              <a:t>coupling</a:t>
            </a:r>
            <a:endParaRPr dirty="0">
              <a:latin typeface="Carlito"/>
              <a:cs typeface="Carlito"/>
            </a:endParaRPr>
          </a:p>
        </p:txBody>
      </p:sp>
      <p:sp>
        <p:nvSpPr>
          <p:cNvPr id="15" name="object 10">
            <a:extLst>
              <a:ext uri="{FF2B5EF4-FFF2-40B4-BE49-F238E27FC236}">
                <a16:creationId xmlns:a16="http://schemas.microsoft.com/office/drawing/2014/main" id="{B0B2622E-88A9-6118-6CBC-1200CB11370A}"/>
              </a:ext>
            </a:extLst>
          </p:cNvPr>
          <p:cNvSpPr txBox="1"/>
          <p:nvPr/>
        </p:nvSpPr>
        <p:spPr>
          <a:xfrm>
            <a:off x="5824186" y="6150911"/>
            <a:ext cx="3005276" cy="311624"/>
          </a:xfrm>
          <a:prstGeom prst="rect">
            <a:avLst/>
          </a:prstGeom>
          <a:solidFill>
            <a:srgbClr val="FBE5D6"/>
          </a:solidFill>
        </p:spPr>
        <p:txBody>
          <a:bodyPr wrap="square" lIns="0" tIns="34290" rIns="0" bIns="0">
            <a:spAutoFit/>
          </a:bodyPr>
          <a:lstStyle/>
          <a:p>
            <a:pPr marL="814069">
              <a:spcBef>
                <a:spcPts val="270"/>
              </a:spcBef>
              <a:defRPr/>
            </a:pPr>
            <a:r>
              <a:rPr i="1" spc="-5" dirty="0">
                <a:latin typeface="Carlito"/>
                <a:cs typeface="Carlito"/>
              </a:rPr>
              <a:t>Semantic coupling</a:t>
            </a:r>
            <a:endParaRPr dirty="0">
              <a:latin typeface="Carlito"/>
              <a:cs typeface="Carlito"/>
            </a:endParaRPr>
          </a:p>
        </p:txBody>
      </p:sp>
      <p:sp>
        <p:nvSpPr>
          <p:cNvPr id="16" name="object 11">
            <a:extLst>
              <a:ext uri="{FF2B5EF4-FFF2-40B4-BE49-F238E27FC236}">
                <a16:creationId xmlns:a16="http://schemas.microsoft.com/office/drawing/2014/main" id="{232E2083-4438-111B-DE5D-A192FF544644}"/>
              </a:ext>
            </a:extLst>
          </p:cNvPr>
          <p:cNvSpPr txBox="1">
            <a:spLocks noChangeArrowheads="1"/>
          </p:cNvSpPr>
          <p:nvPr/>
        </p:nvSpPr>
        <p:spPr bwMode="auto">
          <a:xfrm>
            <a:off x="2393" y="5330174"/>
            <a:ext cx="4844213" cy="1131887"/>
          </a:xfrm>
          <a:prstGeom prst="rect">
            <a:avLst/>
          </a:prstGeom>
          <a:noFill/>
          <a:ln w="12700">
            <a:solidFill>
              <a:srgbClr val="000000"/>
            </a:solidFill>
            <a:miter lim="800000"/>
            <a:headEnd/>
            <a:tailEnd/>
          </a:ln>
        </p:spPr>
        <p:txBody>
          <a:bodyPr wrap="square" lIns="0" tIns="34925" rIns="0" bIns="0">
            <a:spAutoFit/>
          </a:bodyPr>
          <a:lstStyle/>
          <a:p>
            <a:pPr marL="101600" algn="ctr">
              <a:lnSpc>
                <a:spcPct val="99000"/>
              </a:lnSpc>
              <a:spcBef>
                <a:spcPts val="275"/>
              </a:spcBef>
            </a:pPr>
            <a:r>
              <a:rPr lang="en-US" b="1">
                <a:latin typeface="Carlito"/>
                <a:ea typeface="Carlito"/>
                <a:cs typeface="Carlito"/>
              </a:rPr>
              <a:t>Classes </a:t>
            </a:r>
            <a:r>
              <a:rPr lang="en-US">
                <a:latin typeface="Carlito"/>
                <a:ea typeface="Carlito"/>
                <a:cs typeface="Carlito"/>
              </a:rPr>
              <a:t>and </a:t>
            </a:r>
            <a:r>
              <a:rPr lang="en-US" b="1">
                <a:latin typeface="Carlito"/>
                <a:ea typeface="Carlito"/>
                <a:cs typeface="Carlito"/>
              </a:rPr>
              <a:t>routines </a:t>
            </a:r>
            <a:r>
              <a:rPr lang="en-US">
                <a:latin typeface="Carlito"/>
                <a:ea typeface="Carlito"/>
                <a:cs typeface="Carlito"/>
              </a:rPr>
              <a:t>are first and foremost intellectual tools for  </a:t>
            </a:r>
            <a:r>
              <a:rPr lang="en-US" b="1">
                <a:latin typeface="Carlito"/>
                <a:ea typeface="Carlito"/>
                <a:cs typeface="Carlito"/>
              </a:rPr>
              <a:t>reducing complexity</a:t>
            </a:r>
            <a:r>
              <a:rPr lang="en-US">
                <a:latin typeface="Carlito"/>
                <a:ea typeface="Carlito"/>
                <a:cs typeface="Carlito"/>
              </a:rPr>
              <a:t>. If they’re not making your job simpler,  they’re not doing their jobs.</a:t>
            </a:r>
          </a:p>
        </p:txBody>
      </p:sp>
    </p:spTree>
    <p:extLst>
      <p:ext uri="{BB962C8B-B14F-4D97-AF65-F5344CB8AC3E}">
        <p14:creationId xmlns:p14="http://schemas.microsoft.com/office/powerpoint/2010/main" val="1912636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US" sz="3600" b="1" dirty="0">
                <a:solidFill>
                  <a:schemeClr val="tx1"/>
                </a:solidFill>
                <a:latin typeface="+mn-lt"/>
              </a:rPr>
              <a:t>Design Heuristics: </a:t>
            </a:r>
            <a:r>
              <a:rPr lang="en-US" sz="3600" dirty="0">
                <a:solidFill>
                  <a:schemeClr val="tx1"/>
                </a:solidFill>
                <a:latin typeface="+mn-lt"/>
              </a:rPr>
              <a:t>Look for Common Design Patterns</a:t>
            </a:r>
            <a:endParaRPr lang="en-US" sz="36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12</a:t>
            </a:fld>
            <a:endParaRPr lang="en-US" sz="700"/>
          </a:p>
        </p:txBody>
      </p:sp>
      <p:sp>
        <p:nvSpPr>
          <p:cNvPr id="4" name="object 3">
            <a:extLst>
              <a:ext uri="{FF2B5EF4-FFF2-40B4-BE49-F238E27FC236}">
                <a16:creationId xmlns:a16="http://schemas.microsoft.com/office/drawing/2014/main" id="{64CB10BB-5091-09D3-6533-7F549689F760}"/>
              </a:ext>
            </a:extLst>
          </p:cNvPr>
          <p:cNvSpPr txBox="1">
            <a:spLocks noChangeArrowheads="1"/>
          </p:cNvSpPr>
          <p:nvPr/>
        </p:nvSpPr>
        <p:spPr bwMode="auto">
          <a:xfrm>
            <a:off x="50561" y="1166222"/>
            <a:ext cx="9093439" cy="568325"/>
          </a:xfrm>
          <a:prstGeom prst="rect">
            <a:avLst/>
          </a:prstGeom>
          <a:noFill/>
          <a:ln w="9525">
            <a:noFill/>
            <a:miter lim="800000"/>
            <a:headEnd/>
            <a:tailEnd/>
          </a:ln>
        </p:spPr>
        <p:txBody>
          <a:bodyPr wrap="square" lIns="0" tIns="26670" rIns="0" bIns="0">
            <a:spAutoFit/>
          </a:bodyPr>
          <a:lstStyle/>
          <a:p>
            <a:pPr marL="4157663" indent="-4144963">
              <a:lnSpc>
                <a:spcPts val="2113"/>
              </a:lnSpc>
              <a:spcBef>
                <a:spcPts val="213"/>
              </a:spcBef>
            </a:pPr>
            <a:r>
              <a:rPr lang="en-US" i="1" dirty="0">
                <a:latin typeface="Carlito"/>
                <a:ea typeface="Carlito"/>
                <a:cs typeface="Carlito"/>
              </a:rPr>
              <a:t>Design patterns provide the cores of ready-made solutions that can be used to solve many of software’s most common problems</a:t>
            </a:r>
            <a:endParaRPr lang="en-US" dirty="0">
              <a:latin typeface="Carlito"/>
              <a:ea typeface="Carlito"/>
              <a:cs typeface="Carlito"/>
            </a:endParaRPr>
          </a:p>
        </p:txBody>
      </p:sp>
      <p:sp>
        <p:nvSpPr>
          <p:cNvPr id="8" name="object 4">
            <a:extLst>
              <a:ext uri="{FF2B5EF4-FFF2-40B4-BE49-F238E27FC236}">
                <a16:creationId xmlns:a16="http://schemas.microsoft.com/office/drawing/2014/main" id="{EF9CEC32-5010-DBBA-9B84-4E52A5CCD907}"/>
              </a:ext>
            </a:extLst>
          </p:cNvPr>
          <p:cNvSpPr>
            <a:spLocks noChangeArrowheads="1"/>
          </p:cNvSpPr>
          <p:nvPr/>
        </p:nvSpPr>
        <p:spPr bwMode="auto">
          <a:xfrm>
            <a:off x="-25639" y="1788522"/>
            <a:ext cx="4758732" cy="2384425"/>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9" name="object 5">
            <a:extLst>
              <a:ext uri="{FF2B5EF4-FFF2-40B4-BE49-F238E27FC236}">
                <a16:creationId xmlns:a16="http://schemas.microsoft.com/office/drawing/2014/main" id="{1E567E72-1455-6CEC-5796-457E8415ABE5}"/>
              </a:ext>
            </a:extLst>
          </p:cNvPr>
          <p:cNvSpPr>
            <a:spLocks noChangeArrowheads="1"/>
          </p:cNvSpPr>
          <p:nvPr/>
        </p:nvSpPr>
        <p:spPr bwMode="auto">
          <a:xfrm>
            <a:off x="4942937" y="1788522"/>
            <a:ext cx="4201064" cy="2384425"/>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a:p>
        </p:txBody>
      </p:sp>
      <p:sp>
        <p:nvSpPr>
          <p:cNvPr id="10" name="object 6">
            <a:extLst>
              <a:ext uri="{FF2B5EF4-FFF2-40B4-BE49-F238E27FC236}">
                <a16:creationId xmlns:a16="http://schemas.microsoft.com/office/drawing/2014/main" id="{81601467-F713-AA99-FE8B-529D9568EDFB}"/>
              </a:ext>
            </a:extLst>
          </p:cNvPr>
          <p:cNvSpPr>
            <a:spLocks noChangeArrowheads="1"/>
          </p:cNvSpPr>
          <p:nvPr/>
        </p:nvSpPr>
        <p:spPr bwMode="auto">
          <a:xfrm>
            <a:off x="1829873" y="4172947"/>
            <a:ext cx="5534813" cy="2438400"/>
          </a:xfrm>
          <a:prstGeom prst="rect">
            <a:avLst/>
          </a:prstGeom>
          <a:blipFill dpi="0" rotWithShape="1">
            <a:blip r:embed="rId4"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156507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Design Practices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13</a:t>
            </a:fld>
            <a:endParaRPr lang="en-US" sz="700"/>
          </a:p>
        </p:txBody>
      </p:sp>
      <p:sp>
        <p:nvSpPr>
          <p:cNvPr id="9" name="object 2">
            <a:extLst>
              <a:ext uri="{FF2B5EF4-FFF2-40B4-BE49-F238E27FC236}">
                <a16:creationId xmlns:a16="http://schemas.microsoft.com/office/drawing/2014/main" id="{5E4E3FF7-F440-3D47-AC4C-72C1CC59EF0C}"/>
              </a:ext>
            </a:extLst>
          </p:cNvPr>
          <p:cNvSpPr txBox="1">
            <a:spLocks/>
          </p:cNvSpPr>
          <p:nvPr/>
        </p:nvSpPr>
        <p:spPr>
          <a:xfrm>
            <a:off x="368180" y="3100705"/>
            <a:ext cx="8382000" cy="328295"/>
          </a:xfrm>
          <a:prstGeom prst="rect">
            <a:avLst/>
          </a:prstGeom>
        </p:spPr>
        <p:txBody>
          <a:bodyPr vert="horz" lIns="91440" tIns="12700" rIns="91440" bIns="45720" rtlCol="0" anchor="ctr">
            <a:spAutoFit/>
          </a:bodyPr>
          <a:lst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a:lstStyle>
          <a:p>
            <a:pPr marL="3250565" marR="5080" indent="-3238500">
              <a:lnSpc>
                <a:spcPts val="2110"/>
              </a:lnSpc>
              <a:spcBef>
                <a:spcPts val="215"/>
              </a:spcBef>
              <a:defRPr/>
            </a:pPr>
            <a:r>
              <a:rPr lang="en-US" sz="1800" i="1" spc="-5" dirty="0">
                <a:latin typeface="Carlito"/>
                <a:cs typeface="Carlito"/>
              </a:rPr>
              <a:t>Heuristics </a:t>
            </a:r>
            <a:r>
              <a:rPr lang="en-US" sz="1800" i="1" spc="-10" dirty="0">
                <a:latin typeface="Carlito"/>
                <a:cs typeface="Carlito"/>
              </a:rPr>
              <a:t>related </a:t>
            </a:r>
            <a:r>
              <a:rPr lang="en-US" sz="1800" i="1" spc="-15" dirty="0">
                <a:latin typeface="Carlito"/>
                <a:cs typeface="Carlito"/>
              </a:rPr>
              <a:t>to </a:t>
            </a:r>
            <a:r>
              <a:rPr lang="en-US" sz="1800" i="1" spc="-5" dirty="0">
                <a:latin typeface="Carlito"/>
                <a:cs typeface="Carlito"/>
              </a:rPr>
              <a:t>design attributes—what you want the </a:t>
            </a:r>
            <a:r>
              <a:rPr lang="en-US" sz="1800" i="1" spc="-10" dirty="0">
                <a:latin typeface="Carlito"/>
                <a:cs typeface="Carlito"/>
              </a:rPr>
              <a:t>completed </a:t>
            </a:r>
            <a:r>
              <a:rPr lang="en-US" sz="1800" i="1" dirty="0">
                <a:latin typeface="Carlito"/>
                <a:cs typeface="Carlito"/>
              </a:rPr>
              <a:t>design </a:t>
            </a:r>
            <a:r>
              <a:rPr lang="en-US" sz="1800" i="1" spc="-15" dirty="0">
                <a:latin typeface="Carlito"/>
                <a:cs typeface="Carlito"/>
              </a:rPr>
              <a:t>to  </a:t>
            </a:r>
            <a:r>
              <a:rPr lang="en-US" sz="1800" i="1" spc="-5" dirty="0">
                <a:latin typeface="Carlito"/>
                <a:cs typeface="Carlito"/>
              </a:rPr>
              <a:t>look</a:t>
            </a:r>
            <a:r>
              <a:rPr lang="en-US" sz="1800" i="1" spc="-10" dirty="0">
                <a:latin typeface="Carlito"/>
                <a:cs typeface="Carlito"/>
              </a:rPr>
              <a:t> </a:t>
            </a:r>
            <a:r>
              <a:rPr lang="en-US" sz="1800" i="1" spc="-20" dirty="0">
                <a:latin typeface="Carlito"/>
                <a:cs typeface="Carlito"/>
              </a:rPr>
              <a:t>like.</a:t>
            </a:r>
            <a:endParaRPr lang="en-US" sz="1800" dirty="0">
              <a:latin typeface="Carlito"/>
              <a:cs typeface="Carlito"/>
            </a:endParaRPr>
          </a:p>
        </p:txBody>
      </p:sp>
    </p:spTree>
    <p:extLst>
      <p:ext uri="{BB962C8B-B14F-4D97-AF65-F5344CB8AC3E}">
        <p14:creationId xmlns:p14="http://schemas.microsoft.com/office/powerpoint/2010/main" val="2868387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Design Practices: </a:t>
            </a:r>
            <a:r>
              <a:rPr lang="en-US" sz="4400" dirty="0">
                <a:solidFill>
                  <a:schemeClr val="tx1"/>
                </a:solidFill>
                <a:latin typeface="+mn-lt"/>
              </a:rPr>
              <a:t>Iterate</a:t>
            </a:r>
            <a:endParaRPr lang="en-US"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14</a:t>
            </a:fld>
            <a:endParaRPr lang="en-US" sz="700"/>
          </a:p>
        </p:txBody>
      </p:sp>
      <p:sp>
        <p:nvSpPr>
          <p:cNvPr id="6" name="object 3">
            <a:extLst>
              <a:ext uri="{FF2B5EF4-FFF2-40B4-BE49-F238E27FC236}">
                <a16:creationId xmlns:a16="http://schemas.microsoft.com/office/drawing/2014/main" id="{E917AE61-5C70-5A1C-9340-86A1249C5A75}"/>
              </a:ext>
            </a:extLst>
          </p:cNvPr>
          <p:cNvSpPr txBox="1">
            <a:spLocks noChangeArrowheads="1"/>
          </p:cNvSpPr>
          <p:nvPr/>
        </p:nvSpPr>
        <p:spPr bwMode="auto">
          <a:xfrm>
            <a:off x="115019" y="1394484"/>
            <a:ext cx="9028981" cy="565150"/>
          </a:xfrm>
          <a:prstGeom prst="rect">
            <a:avLst/>
          </a:prstGeom>
          <a:noFill/>
          <a:ln w="9525">
            <a:noFill/>
            <a:miter lim="800000"/>
            <a:headEnd/>
            <a:tailEnd/>
          </a:ln>
        </p:spPr>
        <p:txBody>
          <a:bodyPr wrap="square" lIns="0" tIns="26670" rIns="0" bIns="0">
            <a:spAutoFit/>
          </a:bodyPr>
          <a:lstStyle/>
          <a:p>
            <a:pPr marL="4567238" indent="-4556125">
              <a:lnSpc>
                <a:spcPts val="2113"/>
              </a:lnSpc>
              <a:spcBef>
                <a:spcPts val="213"/>
              </a:spcBef>
            </a:pPr>
            <a:r>
              <a:rPr lang="en-US" i="1" dirty="0">
                <a:latin typeface="Carlito"/>
                <a:ea typeface="Carlito"/>
                <a:cs typeface="Carlito"/>
              </a:rPr>
              <a:t>Design is an iterative process. You don’t usually go from point A only to point B; you go from point A to point B and back to point A</a:t>
            </a:r>
            <a:endParaRPr lang="en-US" dirty="0">
              <a:latin typeface="Carlito"/>
              <a:ea typeface="Carlito"/>
              <a:cs typeface="Carlito"/>
            </a:endParaRPr>
          </a:p>
        </p:txBody>
      </p:sp>
      <p:sp>
        <p:nvSpPr>
          <p:cNvPr id="7" name="object 4">
            <a:extLst>
              <a:ext uri="{FF2B5EF4-FFF2-40B4-BE49-F238E27FC236}">
                <a16:creationId xmlns:a16="http://schemas.microsoft.com/office/drawing/2014/main" id="{803092AC-3C98-8DA2-7162-91E6B54A294C}"/>
              </a:ext>
            </a:extLst>
          </p:cNvPr>
          <p:cNvSpPr txBox="1">
            <a:spLocks noChangeArrowheads="1"/>
          </p:cNvSpPr>
          <p:nvPr/>
        </p:nvSpPr>
        <p:spPr bwMode="auto">
          <a:xfrm>
            <a:off x="3963119" y="2702584"/>
            <a:ext cx="5065862" cy="854075"/>
          </a:xfrm>
          <a:prstGeom prst="rect">
            <a:avLst/>
          </a:prstGeom>
          <a:solidFill>
            <a:srgbClr val="FFF2CC"/>
          </a:solidFill>
          <a:ln w="9525">
            <a:noFill/>
            <a:miter lim="800000"/>
            <a:headEnd/>
            <a:tailEnd/>
          </a:ln>
        </p:spPr>
        <p:txBody>
          <a:bodyPr wrap="square" lIns="0" tIns="46355" rIns="0" bIns="0">
            <a:spAutoFit/>
          </a:bodyPr>
          <a:lstStyle/>
          <a:p>
            <a:pPr marL="139700" indent="274638">
              <a:lnSpc>
                <a:spcPts val="2113"/>
              </a:lnSpc>
              <a:spcBef>
                <a:spcPts val="363"/>
              </a:spcBef>
            </a:pPr>
            <a:r>
              <a:rPr lang="en-US" dirty="0">
                <a:latin typeface="Carlito"/>
                <a:ea typeface="Carlito"/>
                <a:cs typeface="Carlito"/>
              </a:rPr>
              <a:t>As you cycle through </a:t>
            </a:r>
            <a:r>
              <a:rPr lang="en-US" b="1" dirty="0">
                <a:latin typeface="Carlito"/>
                <a:ea typeface="Carlito"/>
                <a:cs typeface="Carlito"/>
              </a:rPr>
              <a:t>candidate designs </a:t>
            </a:r>
            <a:r>
              <a:rPr lang="en-US" dirty="0">
                <a:latin typeface="Carlito"/>
                <a:ea typeface="Carlito"/>
                <a:cs typeface="Carlito"/>
              </a:rPr>
              <a:t>and </a:t>
            </a:r>
            <a:r>
              <a:rPr lang="en-US" b="1" dirty="0">
                <a:latin typeface="Carlito"/>
                <a:ea typeface="Carlito"/>
                <a:cs typeface="Carlito"/>
              </a:rPr>
              <a:t>try different  approaches</a:t>
            </a:r>
            <a:r>
              <a:rPr lang="en-US" dirty="0">
                <a:latin typeface="Carlito"/>
                <a:ea typeface="Carlito"/>
                <a:cs typeface="Carlito"/>
              </a:rPr>
              <a:t>, you’ll look at both </a:t>
            </a:r>
            <a:r>
              <a:rPr lang="en-US" b="1" dirty="0">
                <a:latin typeface="Carlito"/>
                <a:ea typeface="Carlito"/>
                <a:cs typeface="Carlito"/>
              </a:rPr>
              <a:t>high-level </a:t>
            </a:r>
            <a:r>
              <a:rPr lang="en-US" dirty="0">
                <a:latin typeface="Carlito"/>
                <a:ea typeface="Carlito"/>
                <a:cs typeface="Carlito"/>
              </a:rPr>
              <a:t>and </a:t>
            </a:r>
            <a:r>
              <a:rPr lang="en-US" b="1" dirty="0">
                <a:latin typeface="Carlito"/>
                <a:ea typeface="Carlito"/>
                <a:cs typeface="Carlito"/>
              </a:rPr>
              <a:t>low-level views</a:t>
            </a:r>
            <a:r>
              <a:rPr lang="en-US" dirty="0">
                <a:latin typeface="Carlito"/>
                <a:ea typeface="Carlito"/>
                <a:cs typeface="Carlito"/>
              </a:rPr>
              <a:t>.</a:t>
            </a:r>
          </a:p>
        </p:txBody>
      </p:sp>
      <p:sp>
        <p:nvSpPr>
          <p:cNvPr id="8" name="object 5">
            <a:extLst>
              <a:ext uri="{FF2B5EF4-FFF2-40B4-BE49-F238E27FC236}">
                <a16:creationId xmlns:a16="http://schemas.microsoft.com/office/drawing/2014/main" id="{6755266E-076D-9751-2C6F-F592F11A624D}"/>
              </a:ext>
            </a:extLst>
          </p:cNvPr>
          <p:cNvSpPr>
            <a:spLocks noChangeArrowheads="1"/>
          </p:cNvSpPr>
          <p:nvPr/>
        </p:nvSpPr>
        <p:spPr bwMode="auto">
          <a:xfrm>
            <a:off x="115019" y="2251734"/>
            <a:ext cx="3598863" cy="412750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9" name="object 6">
            <a:extLst>
              <a:ext uri="{FF2B5EF4-FFF2-40B4-BE49-F238E27FC236}">
                <a16:creationId xmlns:a16="http://schemas.microsoft.com/office/drawing/2014/main" id="{D0DA9B58-C27C-0ECF-07A2-BFF7CE8BD846}"/>
              </a:ext>
            </a:extLst>
          </p:cNvPr>
          <p:cNvSpPr txBox="1">
            <a:spLocks noChangeArrowheads="1"/>
          </p:cNvSpPr>
          <p:nvPr/>
        </p:nvSpPr>
        <p:spPr bwMode="auto">
          <a:xfrm>
            <a:off x="3963119" y="4085297"/>
            <a:ext cx="5065862" cy="1417637"/>
          </a:xfrm>
          <a:prstGeom prst="rect">
            <a:avLst/>
          </a:prstGeom>
          <a:solidFill>
            <a:srgbClr val="FFF2CC"/>
          </a:solidFill>
          <a:ln w="9525">
            <a:noFill/>
            <a:miter lim="800000"/>
            <a:headEnd/>
            <a:tailEnd/>
          </a:ln>
        </p:spPr>
        <p:txBody>
          <a:bodyPr wrap="square" lIns="0" tIns="32384" rIns="0" bIns="0">
            <a:spAutoFit/>
          </a:bodyPr>
          <a:lstStyle/>
          <a:p>
            <a:pPr marL="95250" indent="50800" algn="ctr">
              <a:spcBef>
                <a:spcPts val="250"/>
              </a:spcBef>
            </a:pPr>
            <a:r>
              <a:rPr lang="en-US" b="1" dirty="0">
                <a:latin typeface="Carlito"/>
                <a:ea typeface="Carlito"/>
                <a:cs typeface="Carlito"/>
              </a:rPr>
              <a:t>The big picture you get from working with high-level issues will help you to put the low-level details in perspective</a:t>
            </a:r>
            <a:r>
              <a:rPr lang="en-US" dirty="0">
                <a:latin typeface="Carlito"/>
                <a:ea typeface="Carlito"/>
                <a:cs typeface="Carlito"/>
              </a:rPr>
              <a:t>. The details you get from working with low-level issues will provide a foundation in solid reality for the high-level decisions.</a:t>
            </a:r>
          </a:p>
        </p:txBody>
      </p:sp>
    </p:spTree>
    <p:extLst>
      <p:ext uri="{BB962C8B-B14F-4D97-AF65-F5344CB8AC3E}">
        <p14:creationId xmlns:p14="http://schemas.microsoft.com/office/powerpoint/2010/main" val="1478326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b="1" dirty="0">
                <a:solidFill>
                  <a:schemeClr val="tx1"/>
                </a:solidFill>
                <a:latin typeface="+mn-lt"/>
              </a:rPr>
              <a:t>Design Practices: </a:t>
            </a:r>
            <a:r>
              <a:rPr lang="en-US" dirty="0">
                <a:solidFill>
                  <a:schemeClr val="tx1"/>
                </a:solidFill>
                <a:latin typeface="+mn-lt"/>
              </a:rPr>
              <a:t>Divide and Conquer</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15</a:t>
            </a:fld>
            <a:endParaRPr lang="en-US" sz="700"/>
          </a:p>
        </p:txBody>
      </p:sp>
      <p:sp>
        <p:nvSpPr>
          <p:cNvPr id="7" name="object 4">
            <a:extLst>
              <a:ext uri="{FF2B5EF4-FFF2-40B4-BE49-F238E27FC236}">
                <a16:creationId xmlns:a16="http://schemas.microsoft.com/office/drawing/2014/main" id="{6BA170F3-144C-CA10-943A-465827828AD0}"/>
              </a:ext>
            </a:extLst>
          </p:cNvPr>
          <p:cNvSpPr txBox="1">
            <a:spLocks noChangeArrowheads="1"/>
          </p:cNvSpPr>
          <p:nvPr/>
        </p:nvSpPr>
        <p:spPr bwMode="auto">
          <a:xfrm>
            <a:off x="3071004" y="3459552"/>
            <a:ext cx="5973792" cy="852488"/>
          </a:xfrm>
          <a:prstGeom prst="rect">
            <a:avLst/>
          </a:prstGeom>
          <a:solidFill>
            <a:srgbClr val="FFF2CC"/>
          </a:solidFill>
          <a:ln w="9525">
            <a:noFill/>
            <a:miter lim="800000"/>
            <a:headEnd/>
            <a:tailEnd/>
          </a:ln>
        </p:spPr>
        <p:txBody>
          <a:bodyPr wrap="square" lIns="0" tIns="28575" rIns="0" bIns="0">
            <a:spAutoFit/>
          </a:bodyPr>
          <a:lstStyle/>
          <a:p>
            <a:pPr marL="90488">
              <a:lnSpc>
                <a:spcPct val="99000"/>
              </a:lnSpc>
              <a:spcBef>
                <a:spcPts val="225"/>
              </a:spcBef>
            </a:pPr>
            <a:r>
              <a:rPr lang="en-US" i="1" dirty="0">
                <a:latin typeface="Carlito"/>
                <a:ea typeface="Carlito"/>
                <a:cs typeface="Carlito"/>
              </a:rPr>
              <a:t>Divide the program into different areas of concern, then tackle  each of those areas individually. If you run into a dead end in  one of the areas, iterate!</a:t>
            </a:r>
            <a:endParaRPr lang="en-US" dirty="0">
              <a:latin typeface="Carlito"/>
              <a:ea typeface="Carlito"/>
              <a:cs typeface="Carlito"/>
            </a:endParaRPr>
          </a:p>
        </p:txBody>
      </p:sp>
      <p:sp>
        <p:nvSpPr>
          <p:cNvPr id="8" name="object 5">
            <a:extLst>
              <a:ext uri="{FF2B5EF4-FFF2-40B4-BE49-F238E27FC236}">
                <a16:creationId xmlns:a16="http://schemas.microsoft.com/office/drawing/2014/main" id="{6046FAC5-DC3E-33E4-921F-DF3A580D6964}"/>
              </a:ext>
            </a:extLst>
          </p:cNvPr>
          <p:cNvSpPr>
            <a:spLocks noChangeArrowheads="1"/>
          </p:cNvSpPr>
          <p:nvPr/>
        </p:nvSpPr>
        <p:spPr bwMode="auto">
          <a:xfrm>
            <a:off x="99204" y="1876815"/>
            <a:ext cx="2797175" cy="4383087"/>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9" name="object 6">
            <a:extLst>
              <a:ext uri="{FF2B5EF4-FFF2-40B4-BE49-F238E27FC236}">
                <a16:creationId xmlns:a16="http://schemas.microsoft.com/office/drawing/2014/main" id="{75167CBC-CB14-B382-ECFD-01D95A95B390}"/>
              </a:ext>
            </a:extLst>
          </p:cNvPr>
          <p:cNvSpPr txBox="1">
            <a:spLocks noChangeArrowheads="1"/>
          </p:cNvSpPr>
          <p:nvPr/>
        </p:nvSpPr>
        <p:spPr bwMode="auto">
          <a:xfrm>
            <a:off x="3071004" y="2676915"/>
            <a:ext cx="5973792" cy="762000"/>
          </a:xfrm>
          <a:prstGeom prst="rect">
            <a:avLst/>
          </a:prstGeom>
          <a:noFill/>
          <a:ln w="12700">
            <a:solidFill>
              <a:srgbClr val="000000"/>
            </a:solidFill>
            <a:miter lim="800000"/>
            <a:headEnd/>
            <a:tailEnd/>
          </a:ln>
        </p:spPr>
        <p:txBody>
          <a:bodyPr wrap="square" lIns="0" tIns="16510" rIns="0" bIns="0">
            <a:spAutoFit/>
          </a:bodyPr>
          <a:lstStyle/>
          <a:p>
            <a:pPr marL="1704975" indent="-1476375">
              <a:lnSpc>
                <a:spcPct val="101000"/>
              </a:lnSpc>
              <a:spcBef>
                <a:spcPts val="125"/>
              </a:spcBef>
            </a:pPr>
            <a:r>
              <a:rPr lang="en-US" sz="2400" b="1">
                <a:latin typeface="Carlito"/>
                <a:ea typeface="Carlito"/>
                <a:cs typeface="Carlito"/>
              </a:rPr>
              <a:t>Incremental refinement </a:t>
            </a:r>
            <a:r>
              <a:rPr lang="en-US" sz="2400">
                <a:latin typeface="Carlito"/>
                <a:ea typeface="Carlito"/>
                <a:cs typeface="Carlito"/>
              </a:rPr>
              <a:t>is a powerful tool for managing complexity.</a:t>
            </a:r>
          </a:p>
        </p:txBody>
      </p:sp>
    </p:spTree>
    <p:extLst>
      <p:ext uri="{BB962C8B-B14F-4D97-AF65-F5344CB8AC3E}">
        <p14:creationId xmlns:p14="http://schemas.microsoft.com/office/powerpoint/2010/main" val="1589293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US" sz="4400" b="1" dirty="0">
                <a:solidFill>
                  <a:schemeClr val="tx1"/>
                </a:solidFill>
                <a:latin typeface="+mn-lt"/>
              </a:rPr>
              <a:t>Design Practices: </a:t>
            </a:r>
            <a:r>
              <a:rPr lang="en-US" dirty="0">
                <a:solidFill>
                  <a:schemeClr val="tx1"/>
                </a:solidFill>
                <a:latin typeface="+mn-lt"/>
              </a:rPr>
              <a:t>Top-Down and Bottom-Up</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16</a:t>
            </a:fld>
            <a:endParaRPr lang="en-US" sz="700"/>
          </a:p>
        </p:txBody>
      </p:sp>
      <p:sp>
        <p:nvSpPr>
          <p:cNvPr id="7" name="object 3">
            <a:extLst>
              <a:ext uri="{FF2B5EF4-FFF2-40B4-BE49-F238E27FC236}">
                <a16:creationId xmlns:a16="http://schemas.microsoft.com/office/drawing/2014/main" id="{19C8C9A9-F697-45B9-D742-0AB4D328CA1F}"/>
              </a:ext>
            </a:extLst>
          </p:cNvPr>
          <p:cNvSpPr txBox="1"/>
          <p:nvPr/>
        </p:nvSpPr>
        <p:spPr>
          <a:xfrm>
            <a:off x="152400" y="1600200"/>
            <a:ext cx="4267200" cy="1917700"/>
          </a:xfrm>
          <a:prstGeom prst="rect">
            <a:avLst/>
          </a:prstGeom>
          <a:solidFill>
            <a:srgbClr val="E2F0D9"/>
          </a:solidFill>
        </p:spPr>
        <p:txBody>
          <a:bodyPr lIns="0" tIns="32384" rIns="0" bIns="0">
            <a:spAutoFit/>
          </a:bodyPr>
          <a:lstStyle/>
          <a:p>
            <a:pPr>
              <a:lnSpc>
                <a:spcPts val="2135"/>
              </a:lnSpc>
              <a:spcBef>
                <a:spcPts val="254"/>
              </a:spcBef>
              <a:defRPr/>
            </a:pPr>
            <a:r>
              <a:rPr b="1" spc="-25" dirty="0">
                <a:latin typeface="Carlito"/>
                <a:cs typeface="Carlito"/>
              </a:rPr>
              <a:t>Top-down </a:t>
            </a:r>
            <a:r>
              <a:rPr b="1" spc="-10" dirty="0">
                <a:latin typeface="Carlito"/>
                <a:cs typeface="Carlito"/>
              </a:rPr>
              <a:t>design </a:t>
            </a:r>
            <a:r>
              <a:rPr spc="-5" dirty="0">
                <a:latin typeface="Carlito"/>
                <a:cs typeface="Carlito"/>
              </a:rPr>
              <a:t>begins </a:t>
            </a:r>
            <a:r>
              <a:rPr spc="-10" dirty="0">
                <a:latin typeface="Carlito"/>
                <a:cs typeface="Carlito"/>
              </a:rPr>
              <a:t>at </a:t>
            </a:r>
            <a:r>
              <a:rPr dirty="0">
                <a:latin typeface="Carlito"/>
                <a:cs typeface="Carlito"/>
              </a:rPr>
              <a:t>a </a:t>
            </a:r>
            <a:r>
              <a:rPr spc="-5" dirty="0">
                <a:latin typeface="Carlito"/>
                <a:cs typeface="Carlito"/>
              </a:rPr>
              <a:t>high </a:t>
            </a:r>
            <a:r>
              <a:rPr spc="-10" dirty="0">
                <a:latin typeface="Carlito"/>
                <a:cs typeface="Carlito"/>
              </a:rPr>
              <a:t>level </a:t>
            </a:r>
            <a:r>
              <a:rPr dirty="0">
                <a:latin typeface="Carlito"/>
                <a:cs typeface="Carlito"/>
              </a:rPr>
              <a:t>of</a:t>
            </a:r>
            <a:r>
              <a:rPr lang="en-US" spc="80" dirty="0">
                <a:latin typeface="Carlito"/>
                <a:cs typeface="Carlito"/>
              </a:rPr>
              <a:t> </a:t>
            </a:r>
            <a:r>
              <a:rPr spc="-10" dirty="0">
                <a:latin typeface="Carlito"/>
                <a:cs typeface="Carlito"/>
              </a:rPr>
              <a:t>abstraction.</a:t>
            </a:r>
            <a:r>
              <a:rPr lang="en-US" dirty="0">
                <a:latin typeface="Carlito"/>
                <a:cs typeface="Carlito"/>
              </a:rPr>
              <a:t> </a:t>
            </a:r>
            <a:r>
              <a:rPr spc="-50" dirty="0">
                <a:latin typeface="Carlito"/>
                <a:cs typeface="Carlito"/>
              </a:rPr>
              <a:t>You </a:t>
            </a:r>
            <a:r>
              <a:rPr spc="-5" dirty="0">
                <a:latin typeface="Carlito"/>
                <a:cs typeface="Carlito"/>
              </a:rPr>
              <a:t>define base classes </a:t>
            </a:r>
            <a:r>
              <a:rPr dirty="0">
                <a:latin typeface="Carlito"/>
                <a:cs typeface="Carlito"/>
              </a:rPr>
              <a:t>or other </a:t>
            </a:r>
            <a:r>
              <a:rPr spc="-5" dirty="0">
                <a:latin typeface="Carlito"/>
                <a:cs typeface="Carlito"/>
              </a:rPr>
              <a:t>nonspecific design elements. As </a:t>
            </a:r>
            <a:r>
              <a:rPr spc="-10" dirty="0">
                <a:latin typeface="Carlito"/>
                <a:cs typeface="Carlito"/>
              </a:rPr>
              <a:t>you </a:t>
            </a:r>
            <a:r>
              <a:rPr spc="-5" dirty="0">
                <a:latin typeface="Carlito"/>
                <a:cs typeface="Carlito"/>
              </a:rPr>
              <a:t>develop the design, </a:t>
            </a:r>
            <a:r>
              <a:rPr spc="-10" dirty="0">
                <a:latin typeface="Carlito"/>
                <a:cs typeface="Carlito"/>
              </a:rPr>
              <a:t>you </a:t>
            </a:r>
            <a:r>
              <a:rPr spc="-5" dirty="0">
                <a:latin typeface="Carlito"/>
                <a:cs typeface="Carlito"/>
              </a:rPr>
              <a:t>increase</a:t>
            </a:r>
            <a:r>
              <a:rPr spc="75" dirty="0">
                <a:latin typeface="Carlito"/>
                <a:cs typeface="Carlito"/>
              </a:rPr>
              <a:t> </a:t>
            </a:r>
            <a:r>
              <a:rPr spc="-5" dirty="0">
                <a:latin typeface="Carlito"/>
                <a:cs typeface="Carlito"/>
              </a:rPr>
              <a:t>the</a:t>
            </a:r>
            <a:r>
              <a:rPr lang="en-US" dirty="0">
                <a:latin typeface="Carlito"/>
                <a:cs typeface="Carlito"/>
              </a:rPr>
              <a:t> </a:t>
            </a:r>
            <a:r>
              <a:rPr spc="-10" dirty="0">
                <a:latin typeface="Carlito"/>
                <a:cs typeface="Carlito"/>
              </a:rPr>
              <a:t>level </a:t>
            </a:r>
            <a:r>
              <a:rPr dirty="0">
                <a:latin typeface="Carlito"/>
                <a:cs typeface="Carlito"/>
              </a:rPr>
              <a:t>of </a:t>
            </a:r>
            <a:r>
              <a:rPr spc="-10" dirty="0">
                <a:latin typeface="Carlito"/>
                <a:cs typeface="Carlito"/>
              </a:rPr>
              <a:t>detail, </a:t>
            </a:r>
            <a:r>
              <a:rPr spc="-5" dirty="0">
                <a:latin typeface="Carlito"/>
                <a:cs typeface="Carlito"/>
              </a:rPr>
              <a:t>identifying derived classes, </a:t>
            </a:r>
            <a:r>
              <a:rPr spc="-10" dirty="0">
                <a:latin typeface="Carlito"/>
                <a:cs typeface="Carlito"/>
              </a:rPr>
              <a:t>collaborating </a:t>
            </a:r>
            <a:r>
              <a:rPr spc="-5" dirty="0">
                <a:latin typeface="Carlito"/>
                <a:cs typeface="Carlito"/>
              </a:rPr>
              <a:t>classes, </a:t>
            </a:r>
            <a:r>
              <a:rPr dirty="0">
                <a:latin typeface="Carlito"/>
                <a:cs typeface="Carlito"/>
              </a:rPr>
              <a:t>and </a:t>
            </a:r>
            <a:r>
              <a:rPr spc="-5" dirty="0">
                <a:latin typeface="Carlito"/>
                <a:cs typeface="Carlito"/>
              </a:rPr>
              <a:t>other </a:t>
            </a:r>
            <a:r>
              <a:rPr spc="-10" dirty="0">
                <a:latin typeface="Carlito"/>
                <a:cs typeface="Carlito"/>
              </a:rPr>
              <a:t>detailed </a:t>
            </a:r>
            <a:r>
              <a:rPr spc="-5" dirty="0">
                <a:latin typeface="Carlito"/>
                <a:cs typeface="Carlito"/>
              </a:rPr>
              <a:t>design</a:t>
            </a:r>
            <a:r>
              <a:rPr spc="65" dirty="0">
                <a:latin typeface="Carlito"/>
                <a:cs typeface="Carlito"/>
              </a:rPr>
              <a:t> </a:t>
            </a:r>
            <a:r>
              <a:rPr spc="-5" dirty="0">
                <a:latin typeface="Carlito"/>
                <a:cs typeface="Carlito"/>
              </a:rPr>
              <a:t>elements.</a:t>
            </a:r>
            <a:endParaRPr dirty="0">
              <a:latin typeface="Carlito"/>
              <a:cs typeface="Carlito"/>
            </a:endParaRPr>
          </a:p>
        </p:txBody>
      </p:sp>
      <p:sp>
        <p:nvSpPr>
          <p:cNvPr id="8" name="object 4">
            <a:extLst>
              <a:ext uri="{FF2B5EF4-FFF2-40B4-BE49-F238E27FC236}">
                <a16:creationId xmlns:a16="http://schemas.microsoft.com/office/drawing/2014/main" id="{9B769C2D-3B0A-73A2-A8B3-85B063BEFEEA}"/>
              </a:ext>
            </a:extLst>
          </p:cNvPr>
          <p:cNvSpPr txBox="1">
            <a:spLocks noChangeArrowheads="1"/>
          </p:cNvSpPr>
          <p:nvPr/>
        </p:nvSpPr>
        <p:spPr bwMode="auto">
          <a:xfrm>
            <a:off x="5029200" y="1616075"/>
            <a:ext cx="3962400" cy="1831912"/>
          </a:xfrm>
          <a:prstGeom prst="rect">
            <a:avLst/>
          </a:prstGeom>
          <a:solidFill>
            <a:srgbClr val="FBE5D6"/>
          </a:solidFill>
          <a:ln w="9525">
            <a:noFill/>
            <a:miter lim="800000"/>
            <a:headEnd/>
            <a:tailEnd/>
          </a:ln>
        </p:spPr>
        <p:txBody>
          <a:bodyPr wrap="square" lIns="0" tIns="168275" rIns="0" bIns="0">
            <a:spAutoFit/>
          </a:bodyPr>
          <a:lstStyle/>
          <a:p>
            <a:pPr marL="192088" indent="-4763">
              <a:spcBef>
                <a:spcPts val="1325"/>
              </a:spcBef>
            </a:pPr>
            <a:r>
              <a:rPr lang="en-US" b="1" dirty="0">
                <a:latin typeface="Carlito"/>
                <a:ea typeface="Carlito"/>
                <a:cs typeface="Carlito"/>
              </a:rPr>
              <a:t>Bottom-up design </a:t>
            </a:r>
            <a:r>
              <a:rPr lang="en-US" dirty="0">
                <a:latin typeface="Carlito"/>
                <a:ea typeface="Carlito"/>
                <a:cs typeface="Carlito"/>
              </a:rPr>
              <a:t>starts with specifics and works toward generalities. It typically begins by identifying concrete objects and then generalizes aggregations of objects and base classes from those specifics</a:t>
            </a:r>
          </a:p>
        </p:txBody>
      </p:sp>
      <p:grpSp>
        <p:nvGrpSpPr>
          <p:cNvPr id="9" name="object 5">
            <a:extLst>
              <a:ext uri="{FF2B5EF4-FFF2-40B4-BE49-F238E27FC236}">
                <a16:creationId xmlns:a16="http://schemas.microsoft.com/office/drawing/2014/main" id="{C400DF81-C62A-3A94-2061-263476374672}"/>
              </a:ext>
            </a:extLst>
          </p:cNvPr>
          <p:cNvGrpSpPr>
            <a:grpSpLocks/>
          </p:cNvGrpSpPr>
          <p:nvPr/>
        </p:nvGrpSpPr>
        <p:grpSpPr bwMode="auto">
          <a:xfrm>
            <a:off x="457201" y="3873500"/>
            <a:ext cx="5538158" cy="2603500"/>
            <a:chOff x="541649" y="3531176"/>
            <a:chExt cx="7171690" cy="2603500"/>
          </a:xfrm>
        </p:grpSpPr>
        <p:sp>
          <p:nvSpPr>
            <p:cNvPr id="10" name="object 6">
              <a:extLst>
                <a:ext uri="{FF2B5EF4-FFF2-40B4-BE49-F238E27FC236}">
                  <a16:creationId xmlns:a16="http://schemas.microsoft.com/office/drawing/2014/main" id="{69B3E758-F99F-4304-960B-2CAF112E49BB}"/>
                </a:ext>
              </a:extLst>
            </p:cNvPr>
            <p:cNvSpPr>
              <a:spLocks noChangeArrowheads="1"/>
            </p:cNvSpPr>
            <p:nvPr/>
          </p:nvSpPr>
          <p:spPr bwMode="auto">
            <a:xfrm>
              <a:off x="4351654" y="3737551"/>
              <a:ext cx="3361395" cy="2162782"/>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11" name="object 7">
              <a:extLst>
                <a:ext uri="{FF2B5EF4-FFF2-40B4-BE49-F238E27FC236}">
                  <a16:creationId xmlns:a16="http://schemas.microsoft.com/office/drawing/2014/main" id="{CB1C7B18-648F-301E-8E80-01EBD1611EF7}"/>
                </a:ext>
              </a:extLst>
            </p:cNvPr>
            <p:cNvSpPr>
              <a:spLocks noChangeArrowheads="1"/>
            </p:cNvSpPr>
            <p:nvPr/>
          </p:nvSpPr>
          <p:spPr bwMode="auto">
            <a:xfrm>
              <a:off x="541649" y="3531176"/>
              <a:ext cx="3810000" cy="2603500"/>
            </a:xfrm>
            <a:prstGeom prst="rect">
              <a:avLst/>
            </a:prstGeom>
            <a:blipFill dpi="0" rotWithShape="1">
              <a:blip r:embed="rId3" cstate="print"/>
              <a:srcRect/>
              <a:stretch>
                <a:fillRect/>
              </a:stretch>
            </a:blipFill>
            <a:ln w="9525">
              <a:noFill/>
              <a:miter lim="800000"/>
              <a:headEnd/>
              <a:tailEnd/>
            </a:ln>
          </p:spPr>
          <p:txBody>
            <a:bodyPr lIns="0" tIns="0" rIns="0" bIns="0"/>
            <a:lstStyle/>
            <a:p>
              <a:endParaRPr lang="en-US"/>
            </a:p>
          </p:txBody>
        </p:sp>
      </p:grpSp>
      <p:sp>
        <p:nvSpPr>
          <p:cNvPr id="12" name="object 8">
            <a:extLst>
              <a:ext uri="{FF2B5EF4-FFF2-40B4-BE49-F238E27FC236}">
                <a16:creationId xmlns:a16="http://schemas.microsoft.com/office/drawing/2014/main" id="{39174083-BE9D-2BE2-2655-A1C9ED6586EC}"/>
              </a:ext>
            </a:extLst>
          </p:cNvPr>
          <p:cNvSpPr>
            <a:spLocks noChangeArrowheads="1"/>
          </p:cNvSpPr>
          <p:nvPr/>
        </p:nvSpPr>
        <p:spPr bwMode="auto">
          <a:xfrm>
            <a:off x="6116128" y="3865563"/>
            <a:ext cx="2875472" cy="2603500"/>
          </a:xfrm>
          <a:prstGeom prst="rect">
            <a:avLst/>
          </a:prstGeom>
          <a:blipFill dpi="0" rotWithShape="1">
            <a:blip r:embed="rId4"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495630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17</a:t>
            </a:fld>
            <a:endParaRPr lang="en-US" sz="700"/>
          </a:p>
        </p:txBody>
      </p:sp>
      <p:sp>
        <p:nvSpPr>
          <p:cNvPr id="3" name="Title 5">
            <a:extLst>
              <a:ext uri="{FF2B5EF4-FFF2-40B4-BE49-F238E27FC236}">
                <a16:creationId xmlns:a16="http://schemas.microsoft.com/office/drawing/2014/main" id="{22C9A53E-BDA7-FAA3-3D6E-3BA1D76C182B}"/>
              </a:ext>
            </a:extLst>
          </p:cNvPr>
          <p:cNvSpPr>
            <a:spLocks noGrp="1"/>
          </p:cNvSpPr>
          <p:nvPr>
            <p:ph type="title"/>
          </p:nvPr>
        </p:nvSpPr>
        <p:spPr>
          <a:xfrm>
            <a:off x="-25639" y="-10590"/>
            <a:ext cx="9169639" cy="817280"/>
          </a:xfrm>
          <a:solidFill>
            <a:schemeClr val="accent6">
              <a:lumMod val="40000"/>
              <a:lumOff val="60000"/>
            </a:schemeClr>
          </a:solidFill>
        </p:spPr>
        <p:txBody>
          <a:bodyPr anchor="ctr">
            <a:normAutofit fontScale="90000"/>
          </a:bodyPr>
          <a:lstStyle/>
          <a:p>
            <a:r>
              <a:rPr lang="en-US" sz="4400" b="1" dirty="0">
                <a:solidFill>
                  <a:schemeClr val="tx1"/>
                </a:solidFill>
                <a:latin typeface="+mn-lt"/>
              </a:rPr>
              <a:t>Design Practices: </a:t>
            </a:r>
            <a:r>
              <a:rPr lang="en-US" dirty="0">
                <a:solidFill>
                  <a:schemeClr val="tx1"/>
                </a:solidFill>
                <a:latin typeface="+mn-lt"/>
              </a:rPr>
              <a:t>Experimental Prototyping</a:t>
            </a:r>
          </a:p>
        </p:txBody>
      </p:sp>
      <p:sp>
        <p:nvSpPr>
          <p:cNvPr id="7" name="object 2">
            <a:extLst>
              <a:ext uri="{FF2B5EF4-FFF2-40B4-BE49-F238E27FC236}">
                <a16:creationId xmlns:a16="http://schemas.microsoft.com/office/drawing/2014/main" id="{D12565AC-4E43-9D28-CD7E-D858D7E5E693}"/>
              </a:ext>
            </a:extLst>
          </p:cNvPr>
          <p:cNvSpPr txBox="1">
            <a:spLocks/>
          </p:cNvSpPr>
          <p:nvPr/>
        </p:nvSpPr>
        <p:spPr>
          <a:xfrm>
            <a:off x="-155305" y="846934"/>
            <a:ext cx="8839200" cy="1601079"/>
          </a:xfrm>
          <a:prstGeom prst="rect">
            <a:avLst/>
          </a:prstGeom>
        </p:spPr>
        <p:txBody>
          <a:bodyPr vert="horz" lIns="91440" tIns="12700" rIns="91440" bIns="45720" rtlCol="0" anchor="ctr">
            <a:spAutoFit/>
          </a:bodyPr>
          <a:lst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a:lstStyle>
          <a:p>
            <a:pPr marL="12700">
              <a:lnSpc>
                <a:spcPts val="4165"/>
              </a:lnSpc>
              <a:spcBef>
                <a:spcPts val="100"/>
              </a:spcBef>
              <a:defRPr/>
            </a:pPr>
            <a:br>
              <a:rPr lang="en-US" sz="2800" dirty="0"/>
            </a:br>
            <a:br>
              <a:rPr lang="en-US" sz="1800" i="1" spc="-45" dirty="0">
                <a:latin typeface="Carlito"/>
                <a:cs typeface="Carlito"/>
              </a:rPr>
            </a:br>
            <a:r>
              <a:rPr lang="en-US" sz="1800" i="1" spc="-45" dirty="0">
                <a:latin typeface="Carlito"/>
                <a:cs typeface="Carlito"/>
              </a:rPr>
              <a:t>You </a:t>
            </a:r>
            <a:r>
              <a:rPr lang="en-US" sz="1800" i="1" spc="-5" dirty="0">
                <a:latin typeface="Carlito"/>
                <a:cs typeface="Carlito"/>
              </a:rPr>
              <a:t>can’t fully define the design problem </a:t>
            </a:r>
            <a:r>
              <a:rPr lang="en-US" sz="1800" i="1" spc="-10" dirty="0">
                <a:latin typeface="Carlito"/>
                <a:cs typeface="Carlito"/>
              </a:rPr>
              <a:t>until </a:t>
            </a:r>
            <a:r>
              <a:rPr lang="en-US" sz="1800" i="1" spc="-5" dirty="0">
                <a:latin typeface="Carlito"/>
                <a:cs typeface="Carlito"/>
              </a:rPr>
              <a:t>you’ve at </a:t>
            </a:r>
            <a:r>
              <a:rPr lang="en-US" sz="1800" i="1" spc="-10" dirty="0">
                <a:latin typeface="Carlito"/>
                <a:cs typeface="Carlito"/>
              </a:rPr>
              <a:t>least </a:t>
            </a:r>
            <a:r>
              <a:rPr lang="en-US" sz="1800" i="1" spc="-5" dirty="0">
                <a:latin typeface="Carlito"/>
                <a:cs typeface="Carlito"/>
              </a:rPr>
              <a:t>partially solved</a:t>
            </a:r>
            <a:r>
              <a:rPr lang="en-US" sz="1800" i="1" spc="250" dirty="0">
                <a:latin typeface="Carlito"/>
                <a:cs typeface="Carlito"/>
              </a:rPr>
              <a:t> </a:t>
            </a:r>
            <a:r>
              <a:rPr lang="en-US" sz="1800" i="1" spc="-5" dirty="0">
                <a:latin typeface="Carlito"/>
                <a:cs typeface="Carlito"/>
              </a:rPr>
              <a:t>it.</a:t>
            </a:r>
            <a:endParaRPr lang="en-US" sz="1800" dirty="0">
              <a:latin typeface="Carlito"/>
              <a:cs typeface="Carlito"/>
            </a:endParaRPr>
          </a:p>
        </p:txBody>
      </p:sp>
      <p:sp>
        <p:nvSpPr>
          <p:cNvPr id="8" name="object 3">
            <a:extLst>
              <a:ext uri="{FF2B5EF4-FFF2-40B4-BE49-F238E27FC236}">
                <a16:creationId xmlns:a16="http://schemas.microsoft.com/office/drawing/2014/main" id="{3ABAE7B0-D002-44B4-0023-21E89901FCA9}"/>
              </a:ext>
            </a:extLst>
          </p:cNvPr>
          <p:cNvSpPr txBox="1">
            <a:spLocks noChangeArrowheads="1"/>
          </p:cNvSpPr>
          <p:nvPr/>
        </p:nvSpPr>
        <p:spPr bwMode="auto">
          <a:xfrm>
            <a:off x="3810000" y="3048000"/>
            <a:ext cx="5210175" cy="1508125"/>
          </a:xfrm>
          <a:prstGeom prst="rect">
            <a:avLst/>
          </a:prstGeom>
          <a:noFill/>
          <a:ln w="12700">
            <a:solidFill>
              <a:srgbClr val="000000"/>
            </a:solidFill>
            <a:miter lim="800000"/>
            <a:headEnd/>
            <a:tailEnd/>
          </a:ln>
        </p:spPr>
        <p:txBody>
          <a:bodyPr wrap="square" lIns="0" tIns="16510" rIns="0" bIns="0">
            <a:spAutoFit/>
          </a:bodyPr>
          <a:lstStyle/>
          <a:p>
            <a:pPr marL="179388" algn="ctr">
              <a:lnSpc>
                <a:spcPct val="101000"/>
              </a:lnSpc>
              <a:spcBef>
                <a:spcPts val="125"/>
              </a:spcBef>
            </a:pPr>
            <a:r>
              <a:rPr lang="en-US" sz="2400" dirty="0">
                <a:latin typeface="Carlito"/>
                <a:ea typeface="Carlito"/>
                <a:cs typeface="Carlito"/>
              </a:rPr>
              <a:t>Prototyping means writing the absolute minimum amount of throwaway code that’s needed to answer a specific design question.</a:t>
            </a:r>
          </a:p>
        </p:txBody>
      </p:sp>
      <p:sp>
        <p:nvSpPr>
          <p:cNvPr id="9" name="object 4">
            <a:extLst>
              <a:ext uri="{FF2B5EF4-FFF2-40B4-BE49-F238E27FC236}">
                <a16:creationId xmlns:a16="http://schemas.microsoft.com/office/drawing/2014/main" id="{CB127815-63B2-45DB-0853-56959094921B}"/>
              </a:ext>
            </a:extLst>
          </p:cNvPr>
          <p:cNvSpPr>
            <a:spLocks noChangeArrowheads="1"/>
          </p:cNvSpPr>
          <p:nvPr/>
        </p:nvSpPr>
        <p:spPr bwMode="auto">
          <a:xfrm>
            <a:off x="123825" y="2935288"/>
            <a:ext cx="3533775" cy="3008312"/>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
        <p:nvSpPr>
          <p:cNvPr id="10" name="object 5">
            <a:extLst>
              <a:ext uri="{FF2B5EF4-FFF2-40B4-BE49-F238E27FC236}">
                <a16:creationId xmlns:a16="http://schemas.microsoft.com/office/drawing/2014/main" id="{9B593ED4-A528-6BF5-E800-1D7A9DEF547B}"/>
              </a:ext>
            </a:extLst>
          </p:cNvPr>
          <p:cNvSpPr txBox="1">
            <a:spLocks noChangeArrowheads="1"/>
          </p:cNvSpPr>
          <p:nvPr/>
        </p:nvSpPr>
        <p:spPr bwMode="auto">
          <a:xfrm>
            <a:off x="4119563" y="4670425"/>
            <a:ext cx="4900612" cy="1135063"/>
          </a:xfrm>
          <a:prstGeom prst="rect">
            <a:avLst/>
          </a:prstGeom>
          <a:noFill/>
          <a:ln w="12700">
            <a:solidFill>
              <a:srgbClr val="000000"/>
            </a:solidFill>
            <a:miter lim="800000"/>
            <a:headEnd/>
            <a:tailEnd/>
          </a:ln>
        </p:spPr>
        <p:txBody>
          <a:bodyPr wrap="square" lIns="0" tIns="15875" rIns="0" bIns="0">
            <a:spAutoFit/>
          </a:bodyPr>
          <a:lstStyle/>
          <a:p>
            <a:pPr marL="846138" indent="-498475">
              <a:lnSpc>
                <a:spcPct val="101000"/>
              </a:lnSpc>
              <a:spcBef>
                <a:spcPts val="125"/>
              </a:spcBef>
            </a:pPr>
            <a:r>
              <a:rPr lang="en-US" sz="2400" dirty="0">
                <a:latin typeface="Carlito"/>
                <a:ea typeface="Carlito"/>
                <a:cs typeface="Carlito"/>
              </a:rPr>
              <a:t>A risk of prototyping arises when developers do not treat the code as </a:t>
            </a:r>
            <a:r>
              <a:rPr lang="en-US" sz="2400" b="1" dirty="0">
                <a:latin typeface="Carlito"/>
                <a:ea typeface="Carlito"/>
                <a:cs typeface="Carlito"/>
              </a:rPr>
              <a:t>throwaway code</a:t>
            </a:r>
            <a:r>
              <a:rPr lang="en-US" sz="2400" dirty="0">
                <a:latin typeface="Carlito"/>
                <a:ea typeface="Carlito"/>
                <a:cs typeface="Carlito"/>
              </a:rPr>
              <a:t>.</a:t>
            </a:r>
          </a:p>
        </p:txBody>
      </p:sp>
    </p:spTree>
    <p:extLst>
      <p:ext uri="{BB962C8B-B14F-4D97-AF65-F5344CB8AC3E}">
        <p14:creationId xmlns:p14="http://schemas.microsoft.com/office/powerpoint/2010/main" val="2586610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18</a:t>
            </a:fld>
            <a:endParaRPr lang="en-US" sz="700"/>
          </a:p>
        </p:txBody>
      </p:sp>
      <p:sp>
        <p:nvSpPr>
          <p:cNvPr id="9" name="Title 5">
            <a:extLst>
              <a:ext uri="{FF2B5EF4-FFF2-40B4-BE49-F238E27FC236}">
                <a16:creationId xmlns:a16="http://schemas.microsoft.com/office/drawing/2014/main" id="{714DC5E4-9566-F430-79B9-2CDBC66B4879}"/>
              </a:ext>
            </a:extLst>
          </p:cNvPr>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Design Practices: </a:t>
            </a:r>
            <a:r>
              <a:rPr lang="en-US" dirty="0">
                <a:solidFill>
                  <a:schemeClr val="tx1"/>
                </a:solidFill>
                <a:latin typeface="+mn-lt"/>
              </a:rPr>
              <a:t>Collaborative Design</a:t>
            </a:r>
          </a:p>
        </p:txBody>
      </p:sp>
      <p:sp>
        <p:nvSpPr>
          <p:cNvPr id="10" name="object 2">
            <a:extLst>
              <a:ext uri="{FF2B5EF4-FFF2-40B4-BE49-F238E27FC236}">
                <a16:creationId xmlns:a16="http://schemas.microsoft.com/office/drawing/2014/main" id="{D3617138-44FE-2365-A142-2277DFB931EB}"/>
              </a:ext>
            </a:extLst>
          </p:cNvPr>
          <p:cNvSpPr txBox="1">
            <a:spLocks/>
          </p:cNvSpPr>
          <p:nvPr/>
        </p:nvSpPr>
        <p:spPr>
          <a:xfrm>
            <a:off x="291613" y="1135147"/>
            <a:ext cx="8776187" cy="828432"/>
          </a:xfrm>
          <a:prstGeom prst="rect">
            <a:avLst/>
          </a:prstGeom>
        </p:spPr>
        <p:txBody>
          <a:bodyPr vert="horz" lIns="91440" tIns="12700" rIns="91440" bIns="45720" rtlCol="0" anchor="ctr">
            <a:spAutoFit/>
          </a:bodyPr>
          <a:lst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a:lstStyle>
          <a:p>
            <a:pPr marL="12700">
              <a:lnSpc>
                <a:spcPts val="2005"/>
              </a:lnSpc>
              <a:defRPr/>
            </a:pPr>
            <a:br>
              <a:rPr lang="en-US" sz="1800" i="1" spc="-5" dirty="0">
                <a:latin typeface="Carlito"/>
                <a:cs typeface="Carlito"/>
              </a:rPr>
            </a:br>
            <a:r>
              <a:rPr lang="en-US" sz="1800" i="1" spc="-5" dirty="0">
                <a:latin typeface="Carlito"/>
                <a:cs typeface="Carlito"/>
              </a:rPr>
              <a:t>In design, two heads are often </a:t>
            </a:r>
            <a:r>
              <a:rPr lang="en-US" sz="1800" i="1" spc="-10" dirty="0">
                <a:latin typeface="Carlito"/>
                <a:cs typeface="Carlito"/>
              </a:rPr>
              <a:t>better </a:t>
            </a:r>
            <a:r>
              <a:rPr lang="en-US" sz="1800" i="1" spc="-5" dirty="0">
                <a:latin typeface="Carlito"/>
                <a:cs typeface="Carlito"/>
              </a:rPr>
              <a:t>than one, whether those two heads are </a:t>
            </a:r>
            <a:r>
              <a:rPr lang="en-US" sz="1800" i="1" spc="-10" dirty="0">
                <a:latin typeface="Carlito"/>
                <a:cs typeface="Carlito"/>
              </a:rPr>
              <a:t>organized formally </a:t>
            </a:r>
            <a:r>
              <a:rPr lang="en-US" sz="1800" i="1" dirty="0">
                <a:latin typeface="Carlito"/>
                <a:cs typeface="Carlito"/>
              </a:rPr>
              <a:t>or</a:t>
            </a:r>
            <a:r>
              <a:rPr lang="en-US" sz="1800" i="1" spc="275" dirty="0">
                <a:latin typeface="Carlito"/>
                <a:cs typeface="Carlito"/>
              </a:rPr>
              <a:t> </a:t>
            </a:r>
            <a:r>
              <a:rPr lang="en-US" sz="1800" i="1" spc="-10" dirty="0">
                <a:latin typeface="Carlito"/>
                <a:cs typeface="Carlito"/>
              </a:rPr>
              <a:t>informally</a:t>
            </a:r>
            <a:endParaRPr lang="en-US" sz="1800" dirty="0">
              <a:latin typeface="Carlito"/>
              <a:cs typeface="Carlito"/>
            </a:endParaRPr>
          </a:p>
        </p:txBody>
      </p:sp>
      <p:sp>
        <p:nvSpPr>
          <p:cNvPr id="11" name="object 3">
            <a:extLst>
              <a:ext uri="{FF2B5EF4-FFF2-40B4-BE49-F238E27FC236}">
                <a16:creationId xmlns:a16="http://schemas.microsoft.com/office/drawing/2014/main" id="{307DCD7E-5C0D-6A48-D50B-9DE9419264E1}"/>
              </a:ext>
            </a:extLst>
          </p:cNvPr>
          <p:cNvSpPr>
            <a:spLocks noChangeArrowheads="1"/>
          </p:cNvSpPr>
          <p:nvPr/>
        </p:nvSpPr>
        <p:spPr bwMode="auto">
          <a:xfrm>
            <a:off x="2165106" y="2342775"/>
            <a:ext cx="5029200" cy="3924300"/>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spTree>
    <p:extLst>
      <p:ext uri="{BB962C8B-B14F-4D97-AF65-F5344CB8AC3E}">
        <p14:creationId xmlns:p14="http://schemas.microsoft.com/office/powerpoint/2010/main" val="2615860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19</a:t>
            </a:fld>
            <a:endParaRPr lang="en-US" sz="700"/>
          </a:p>
        </p:txBody>
      </p:sp>
      <p:sp>
        <p:nvSpPr>
          <p:cNvPr id="9" name="Title 5">
            <a:extLst>
              <a:ext uri="{FF2B5EF4-FFF2-40B4-BE49-F238E27FC236}">
                <a16:creationId xmlns:a16="http://schemas.microsoft.com/office/drawing/2014/main" id="{714DC5E4-9566-F430-79B9-2CDBC66B4879}"/>
              </a:ext>
            </a:extLst>
          </p:cNvPr>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3600" b="1" dirty="0">
                <a:solidFill>
                  <a:schemeClr val="tx1"/>
                </a:solidFill>
                <a:latin typeface="+mn-lt"/>
              </a:rPr>
              <a:t>Design Practices: </a:t>
            </a:r>
            <a:r>
              <a:rPr lang="en-US" sz="3600" dirty="0">
                <a:solidFill>
                  <a:schemeClr val="tx1"/>
                </a:solidFill>
                <a:latin typeface="+mn-lt"/>
              </a:rPr>
              <a:t>Capturing Your Design Work</a:t>
            </a:r>
          </a:p>
        </p:txBody>
      </p:sp>
      <p:sp>
        <p:nvSpPr>
          <p:cNvPr id="2" name="object 3">
            <a:extLst>
              <a:ext uri="{FF2B5EF4-FFF2-40B4-BE49-F238E27FC236}">
                <a16:creationId xmlns:a16="http://schemas.microsoft.com/office/drawing/2014/main" id="{D9B831E6-BD68-0F39-1796-64EC1402B9D3}"/>
              </a:ext>
            </a:extLst>
          </p:cNvPr>
          <p:cNvSpPr>
            <a:spLocks noChangeArrowheads="1"/>
          </p:cNvSpPr>
          <p:nvPr/>
        </p:nvSpPr>
        <p:spPr bwMode="auto">
          <a:xfrm>
            <a:off x="122807" y="2147977"/>
            <a:ext cx="4878388" cy="3319463"/>
          </a:xfrm>
          <a:prstGeom prst="rect">
            <a:avLst/>
          </a:prstGeom>
          <a:blipFill dpi="0" rotWithShape="1">
            <a:blip r:embed="rId2" cstate="print"/>
            <a:srcRect/>
            <a:stretch>
              <a:fillRect/>
            </a:stretch>
          </a:blipFill>
          <a:ln w="9525">
            <a:noFill/>
            <a:miter lim="800000"/>
            <a:headEnd/>
            <a:tailEnd/>
          </a:ln>
        </p:spPr>
        <p:txBody>
          <a:bodyPr lIns="0" tIns="0" rIns="0" bIns="0"/>
          <a:lstStyle/>
          <a:p>
            <a:endParaRPr lang="en-US"/>
          </a:p>
        </p:txBody>
      </p:sp>
      <p:pic>
        <p:nvPicPr>
          <p:cNvPr id="3" name="Picture 2">
            <a:extLst>
              <a:ext uri="{FF2B5EF4-FFF2-40B4-BE49-F238E27FC236}">
                <a16:creationId xmlns:a16="http://schemas.microsoft.com/office/drawing/2014/main" id="{0DE173B5-BD55-1417-6B31-16D9128E540E}"/>
              </a:ext>
            </a:extLst>
          </p:cNvPr>
          <p:cNvPicPr>
            <a:picLocks noChangeAspect="1" noChangeArrowheads="1"/>
          </p:cNvPicPr>
          <p:nvPr/>
        </p:nvPicPr>
        <p:blipFill>
          <a:blip r:embed="rId3" cstate="print"/>
          <a:srcRect/>
          <a:stretch>
            <a:fillRect/>
          </a:stretch>
        </p:blipFill>
        <p:spPr bwMode="auto">
          <a:xfrm>
            <a:off x="5275832" y="2292440"/>
            <a:ext cx="3745361" cy="2981325"/>
          </a:xfrm>
          <a:prstGeom prst="rect">
            <a:avLst/>
          </a:prstGeom>
          <a:noFill/>
          <a:ln w="9525">
            <a:noFill/>
            <a:miter lim="800000"/>
            <a:headEnd/>
            <a:tailEnd/>
          </a:ln>
        </p:spPr>
      </p:pic>
    </p:spTree>
    <p:extLst>
      <p:ext uri="{BB962C8B-B14F-4D97-AF65-F5344CB8AC3E}">
        <p14:creationId xmlns:p14="http://schemas.microsoft.com/office/powerpoint/2010/main" val="950648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20</a:t>
            </a:fld>
            <a:endParaRPr lang="en-US" sz="700"/>
          </a:p>
        </p:txBody>
      </p:sp>
      <p:sp>
        <p:nvSpPr>
          <p:cNvPr id="9" name="Title 5">
            <a:extLst>
              <a:ext uri="{FF2B5EF4-FFF2-40B4-BE49-F238E27FC236}">
                <a16:creationId xmlns:a16="http://schemas.microsoft.com/office/drawing/2014/main" id="{714DC5E4-9566-F430-79B9-2CDBC66B4879}"/>
              </a:ext>
            </a:extLst>
          </p:cNvPr>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3600" b="1" dirty="0">
                <a:solidFill>
                  <a:schemeClr val="tx1"/>
                </a:solidFill>
                <a:latin typeface="+mn-lt"/>
              </a:rPr>
              <a:t>Reading </a:t>
            </a:r>
            <a:endParaRPr lang="en-US" sz="3600" dirty="0">
              <a:solidFill>
                <a:schemeClr val="tx1"/>
              </a:solidFill>
              <a:latin typeface="+mn-lt"/>
            </a:endParaRPr>
          </a:p>
        </p:txBody>
      </p:sp>
      <p:sp>
        <p:nvSpPr>
          <p:cNvPr id="4" name="Rectangle 6">
            <a:extLst>
              <a:ext uri="{FF2B5EF4-FFF2-40B4-BE49-F238E27FC236}">
                <a16:creationId xmlns:a16="http://schemas.microsoft.com/office/drawing/2014/main" id="{DA8B9730-4182-D660-A256-8E110F5BDEAF}"/>
              </a:ext>
            </a:extLst>
          </p:cNvPr>
          <p:cNvSpPr>
            <a:spLocks noGrp="1" noChangeArrowheads="1"/>
          </p:cNvSpPr>
          <p:nvPr>
            <p:ph idx="1"/>
          </p:nvPr>
        </p:nvSpPr>
        <p:spPr>
          <a:xfrm>
            <a:off x="152400" y="1447800"/>
            <a:ext cx="8870830" cy="3429000"/>
          </a:xfrm>
        </p:spPr>
        <p:txBody>
          <a:bodyPr/>
          <a:lstStyle/>
          <a:p>
            <a:pPr marL="548640" lvl="1" indent="-274320" eaLnBrk="1" fontAlgn="auto" hangingPunct="1">
              <a:spcAft>
                <a:spcPts val="0"/>
              </a:spcAft>
              <a:buClr>
                <a:srgbClr val="00B0F0"/>
              </a:buClr>
              <a:buFont typeface="Wingdings 3"/>
              <a:buChar char=""/>
              <a:defRPr/>
            </a:pPr>
            <a:r>
              <a:rPr lang="en-US" sz="2000" dirty="0">
                <a:solidFill>
                  <a:srgbClr val="46424D"/>
                </a:solidFill>
                <a:latin typeface="Arial"/>
                <a:ea typeface="ＭＳ Ｐゴシック" charset="-128"/>
                <a:cs typeface="Arial"/>
              </a:rPr>
              <a:t>Code Complete: A Practical Handbook of Software Construction, 2</a:t>
            </a:r>
            <a:r>
              <a:rPr lang="en-US" sz="2000" baseline="30000" dirty="0">
                <a:solidFill>
                  <a:srgbClr val="46424D"/>
                </a:solidFill>
                <a:latin typeface="Arial"/>
                <a:ea typeface="ＭＳ Ｐゴシック" charset="-128"/>
                <a:cs typeface="Arial"/>
              </a:rPr>
              <a:t>nd</a:t>
            </a:r>
            <a:r>
              <a:rPr lang="en-US" sz="2000" dirty="0">
                <a:solidFill>
                  <a:srgbClr val="46424D"/>
                </a:solidFill>
                <a:latin typeface="Arial"/>
                <a:ea typeface="ＭＳ Ｐゴシック" charset="-128"/>
                <a:cs typeface="Arial"/>
              </a:rPr>
              <a:t> Edition, Steve McConnell. </a:t>
            </a:r>
          </a:p>
          <a:p>
            <a:pPr marL="823277" lvl="2" indent="-274320" eaLnBrk="1" fontAlgn="auto" hangingPunct="1">
              <a:spcAft>
                <a:spcPts val="0"/>
              </a:spcAft>
              <a:buClr>
                <a:srgbClr val="00B0F0"/>
              </a:buClr>
              <a:buFont typeface="Wingdings 3"/>
              <a:buChar char=""/>
              <a:defRPr/>
            </a:pPr>
            <a:r>
              <a:rPr lang="en-US" sz="1700" dirty="0">
                <a:solidFill>
                  <a:srgbClr val="46424D"/>
                </a:solidFill>
                <a:latin typeface="Arial"/>
                <a:ea typeface="ＭＳ Ｐゴシック" charset="-128"/>
                <a:cs typeface="Arial"/>
              </a:rPr>
              <a:t>Chapter 5</a:t>
            </a:r>
          </a:p>
          <a:p>
            <a:pPr marL="533400" lvl="1" indent="-533400" eaLnBrk="1" hangingPunct="1">
              <a:lnSpc>
                <a:spcPct val="115000"/>
              </a:lnSpc>
              <a:spcBef>
                <a:spcPct val="40000"/>
              </a:spcBef>
              <a:buClr>
                <a:srgbClr val="0BD0D9"/>
              </a:buClr>
              <a:buSzPct val="95000"/>
              <a:buFont typeface="Wingdings 2" pitchFamily="18" charset="2"/>
              <a:buNone/>
              <a:defRPr/>
            </a:pPr>
            <a:endParaRPr lang="en-NZ" altLang="en-US" dirty="0"/>
          </a:p>
        </p:txBody>
      </p:sp>
      <p:pic>
        <p:nvPicPr>
          <p:cNvPr id="6" name="Picture 2">
            <a:extLst>
              <a:ext uri="{FF2B5EF4-FFF2-40B4-BE49-F238E27FC236}">
                <a16:creationId xmlns:a16="http://schemas.microsoft.com/office/drawing/2014/main" id="{8E13E4CF-FB25-7702-39E8-0524CC6129A2}"/>
              </a:ext>
            </a:extLst>
          </p:cNvPr>
          <p:cNvPicPr>
            <a:picLocks noChangeAspect="1" noChangeArrowheads="1"/>
          </p:cNvPicPr>
          <p:nvPr/>
        </p:nvPicPr>
        <p:blipFill>
          <a:blip r:embed="rId2" cstate="print"/>
          <a:srcRect/>
          <a:stretch>
            <a:fillRect/>
          </a:stretch>
        </p:blipFill>
        <p:spPr bwMode="auto">
          <a:xfrm>
            <a:off x="2608052" y="2200465"/>
            <a:ext cx="4171950" cy="4343400"/>
          </a:xfrm>
          <a:prstGeom prst="rect">
            <a:avLst/>
          </a:prstGeom>
          <a:noFill/>
          <a:ln w="9525">
            <a:noFill/>
            <a:miter lim="800000"/>
            <a:headEnd/>
            <a:tailEnd/>
          </a:ln>
        </p:spPr>
      </p:pic>
    </p:spTree>
    <p:extLst>
      <p:ext uri="{BB962C8B-B14F-4D97-AF65-F5344CB8AC3E}">
        <p14:creationId xmlns:p14="http://schemas.microsoft.com/office/powerpoint/2010/main" val="1575550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21</a:t>
            </a:fld>
            <a:endParaRPr lang="en-US" sz="700"/>
          </a:p>
        </p:txBody>
      </p:sp>
      <p:sp>
        <p:nvSpPr>
          <p:cNvPr id="4" name="TextBox 3">
            <a:extLst>
              <a:ext uri="{FF2B5EF4-FFF2-40B4-BE49-F238E27FC236}">
                <a16:creationId xmlns:a16="http://schemas.microsoft.com/office/drawing/2014/main" id="{88C360D8-06EC-45E1-9F03-07203CCB8D4E}"/>
              </a:ext>
            </a:extLst>
          </p:cNvPr>
          <p:cNvSpPr txBox="1"/>
          <p:nvPr/>
        </p:nvSpPr>
        <p:spPr>
          <a:xfrm>
            <a:off x="1721224" y="2286000"/>
            <a:ext cx="57015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rgbClr val="404040"/>
                </a:solidFill>
                <a:cs typeface="Calibri"/>
              </a:rPr>
              <a:t>Any questions? ​</a:t>
            </a:r>
          </a:p>
          <a:p>
            <a:pPr algn="ctr"/>
            <a:r>
              <a:rPr lang="en-US" sz="3600">
                <a:solidFill>
                  <a:srgbClr val="404040"/>
                </a:solidFill>
                <a:cs typeface="Calibri"/>
              </a:rPr>
              <a:t>Please feel free to raise your hands and ask.</a:t>
            </a:r>
          </a:p>
        </p:txBody>
      </p:sp>
      <p:pic>
        <p:nvPicPr>
          <p:cNvPr id="2" name="Picture 2">
            <a:extLst>
              <a:ext uri="{FF2B5EF4-FFF2-40B4-BE49-F238E27FC236}">
                <a16:creationId xmlns:a16="http://schemas.microsoft.com/office/drawing/2014/main" id="{D0711CCF-C1F4-43F6-B9FC-0A5338AB8F85}"/>
              </a:ext>
            </a:extLst>
          </p:cNvPr>
          <p:cNvPicPr>
            <a:picLocks noChangeAspect="1"/>
          </p:cNvPicPr>
          <p:nvPr/>
        </p:nvPicPr>
        <p:blipFill>
          <a:blip r:embed="rId2"/>
          <a:stretch>
            <a:fillRect/>
          </a:stretch>
        </p:blipFill>
        <p:spPr>
          <a:xfrm>
            <a:off x="3915508" y="675881"/>
            <a:ext cx="1299457" cy="1285931"/>
          </a:xfrm>
          <a:prstGeom prst="rect">
            <a:avLst/>
          </a:prstGeom>
        </p:spPr>
      </p:pic>
    </p:spTree>
    <p:extLst>
      <p:ext uri="{BB962C8B-B14F-4D97-AF65-F5344CB8AC3E}">
        <p14:creationId xmlns:p14="http://schemas.microsoft.com/office/powerpoint/2010/main" val="4043575788"/>
      </p:ext>
    </p:extLst>
  </p:cSld>
  <p:clrMapOvr>
    <a:masterClrMapping/>
  </p:clrMapOvr>
</p:sld>
</file>

<file path=ppt/theme/theme1.xml><?xml version="1.0" encoding="utf-8"?>
<a:theme xmlns:a="http://schemas.openxmlformats.org/drawingml/2006/main" name="Theme CPIT 110">
  <a:themeElements>
    <a:clrScheme name="Custom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A2B7C0"/>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 CPIT 110" id="{8B30B5B8-1EAF-4AD4-A47C-55C6155E0564}" vid="{0F986C0D-D438-41BC-BADF-01C576FE679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7d1a000-c374-4d35-b30d-1e8e9eadf82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38470530D50274EAFC96C307341D87E" ma:contentTypeVersion="7" ma:contentTypeDescription="Create a new document." ma:contentTypeScope="" ma:versionID="b8910448027bc4ed34846ea5a9c8ae5b">
  <xsd:schema xmlns:xsd="http://www.w3.org/2001/XMLSchema" xmlns:xs="http://www.w3.org/2001/XMLSchema" xmlns:p="http://schemas.microsoft.com/office/2006/metadata/properties" xmlns:ns3="a7d1a000-c374-4d35-b30d-1e8e9eadf823" xmlns:ns4="1ec989cd-5ee7-4e6d-938f-778fe4b0c792" targetNamespace="http://schemas.microsoft.com/office/2006/metadata/properties" ma:root="true" ma:fieldsID="4f803134678dcdcb51c3dda8fbd31a82" ns3:_="" ns4:_="">
    <xsd:import namespace="a7d1a000-c374-4d35-b30d-1e8e9eadf823"/>
    <xsd:import namespace="1ec989cd-5ee7-4e6d-938f-778fe4b0c792"/>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d1a000-c374-4d35-b30d-1e8e9eadf82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ec989cd-5ee7-4e6d-938f-778fe4b0c792"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0BDFD9-B336-410C-8C70-E8CCE7AD7CBC}">
  <ds:schemaRefs>
    <ds:schemaRef ds:uri="http://schemas.microsoft.com/sharepoint/v3/contenttype/forms"/>
  </ds:schemaRefs>
</ds:datastoreItem>
</file>

<file path=customXml/itemProps2.xml><?xml version="1.0" encoding="utf-8"?>
<ds:datastoreItem xmlns:ds="http://schemas.openxmlformats.org/officeDocument/2006/customXml" ds:itemID="{202E0C92-AC64-42CA-94F8-4CA15E127DA0}">
  <ds:schemaRefs>
    <ds:schemaRef ds:uri="1ec989cd-5ee7-4e6d-938f-778fe4b0c792"/>
    <ds:schemaRef ds:uri="http://schemas.microsoft.com/office/2006/metadata/properties"/>
    <ds:schemaRef ds:uri="a7d1a000-c374-4d35-b30d-1e8e9eadf823"/>
    <ds:schemaRef ds:uri="http://schemas.microsoft.com/office/2006/documentManagement/types"/>
    <ds:schemaRef ds:uri="http://www.w3.org/XML/1998/namespace"/>
    <ds:schemaRef ds:uri="http://purl.org/dc/elements/1.1/"/>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5548C0B0-DD3B-48FD-9375-09F259EFD0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d1a000-c374-4d35-b30d-1e8e9eadf823"/>
    <ds:schemaRef ds:uri="1ec989cd-5ee7-4e6d-938f-778fe4b0c7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Theme CPIT 110</Template>
  <TotalTime>262</TotalTime>
  <Words>1214</Words>
  <Application>Microsoft Office PowerPoint</Application>
  <PresentationFormat>On-screen Show (4:3)</PresentationFormat>
  <Paragraphs>120</Paragraphs>
  <Slides>21</Slides>
  <Notes>2</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21</vt:i4>
      </vt:variant>
    </vt:vector>
  </HeadingPairs>
  <TitlesOfParts>
    <vt:vector size="37" baseType="lpstr">
      <vt:lpstr>Arial</vt:lpstr>
      <vt:lpstr>BerkeleyOldITC-BoldItalic</vt:lpstr>
      <vt:lpstr>BerkeleyOldITC-Book</vt:lpstr>
      <vt:lpstr>BerkeleyOldITC-BookItalic</vt:lpstr>
      <vt:lpstr>Calibri</vt:lpstr>
      <vt:lpstr>Calibri Light</vt:lpstr>
      <vt:lpstr>Carlito</vt:lpstr>
      <vt:lpstr>Eurostile</vt:lpstr>
      <vt:lpstr>Times</vt:lpstr>
      <vt:lpstr>Times New Roman</vt:lpstr>
      <vt:lpstr>Wingdings</vt:lpstr>
      <vt:lpstr>Wingdings 2</vt:lpstr>
      <vt:lpstr>Wingdings 3</vt:lpstr>
      <vt:lpstr>ZapfDingbats</vt:lpstr>
      <vt:lpstr>Theme CPIT 110</vt:lpstr>
      <vt:lpstr>Custom Design</vt:lpstr>
      <vt:lpstr>Chapter  2.3 Creating High-Quality Code</vt:lpstr>
      <vt:lpstr>PowerPoint Presentation</vt:lpstr>
      <vt:lpstr>Outline</vt:lpstr>
      <vt:lpstr>Design Building Blocks: Heuristics</vt:lpstr>
      <vt:lpstr>Design Heuristics : Find Real-World Objects</vt:lpstr>
      <vt:lpstr>Design Heuristics : Form Consistent Abstractions</vt:lpstr>
      <vt:lpstr>Design Heuristics : Encapsulate Implementation Details</vt:lpstr>
      <vt:lpstr>Design Heuristics: Inherit</vt:lpstr>
      <vt:lpstr>Design Heuristics: Hide Secrets (Information Hiding)</vt:lpstr>
      <vt:lpstr>Design Heuristics: Identify Areas Likely to Change </vt:lpstr>
      <vt:lpstr>Design Heuristics: Keep Coupling Loose</vt:lpstr>
      <vt:lpstr>Design Heuristics: Look for Common Design Patterns</vt:lpstr>
      <vt:lpstr>Design Practices</vt:lpstr>
      <vt:lpstr>Design Practices: Iterate</vt:lpstr>
      <vt:lpstr>Design Practices: Divide and Conquer</vt:lpstr>
      <vt:lpstr>Design Practices: Top-Down and Bottom-Up</vt:lpstr>
      <vt:lpstr>Design Practices: Experimental Prototyping</vt:lpstr>
      <vt:lpstr>Design Practices: Collaborative Design</vt:lpstr>
      <vt:lpstr>Design Practices: Capturing Your Design Work</vt:lpstr>
      <vt:lpstr>Reading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Introduction to Problem-Solving</dc:title>
  <dc:creator>Ahmad Tayeb;ajtayeb@kau.edu.sa</dc:creator>
  <cp:lastModifiedBy>Mohammad Dakhilallah Mohammad Alahmadi</cp:lastModifiedBy>
  <cp:revision>24</cp:revision>
  <dcterms:created xsi:type="dcterms:W3CDTF">2019-06-07T16:06:41Z</dcterms:created>
  <dcterms:modified xsi:type="dcterms:W3CDTF">2023-09-12T14:53:41Z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0x010100038470530D50274EAFC96C307341D87E</vt:lpwstr>
  </property>
</Properties>
</file>