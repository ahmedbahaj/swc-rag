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0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78" r:id="rId17"/>
    <p:sldId id="476" r:id="rId18"/>
    <p:sldId id="41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78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D258C-EE05-45D5-9985-4FA3BBAEDB48}" v="1" dt="2024-10-18T19:07:41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5" autoAdjust="0"/>
    <p:restoredTop sz="94698"/>
  </p:normalViewPr>
  <p:slideViewPr>
    <p:cSldViewPr snapToGrid="0">
      <p:cViewPr varScale="1">
        <p:scale>
          <a:sx n="104" d="100"/>
          <a:sy n="104" d="100"/>
        </p:scale>
        <p:origin x="1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AD5D258C-EE05-45D5-9985-4FA3BBAEDB48}"/>
    <pc:docChg chg="custSel modSld">
      <pc:chgData name="Mohammad Dakhilallah Mohammad Alahmadi" userId="9b436a58-7297-423f-8410-66c59c69358a" providerId="ADAL" clId="{AD5D258C-EE05-45D5-9985-4FA3BBAEDB48}" dt="2024-10-18T19:07:43.131" v="2" actId="478"/>
      <pc:docMkLst>
        <pc:docMk/>
      </pc:docMkLst>
      <pc:sldChg chg="addSp delSp modSp mod">
        <pc:chgData name="Mohammad Dakhilallah Mohammad Alahmadi" userId="9b436a58-7297-423f-8410-66c59c69358a" providerId="ADAL" clId="{AD5D258C-EE05-45D5-9985-4FA3BBAEDB48}" dt="2024-10-18T19:07:43.131" v="2" actId="478"/>
        <pc:sldMkLst>
          <pc:docMk/>
          <pc:sldMk cId="268952856" sldId="465"/>
        </pc:sldMkLst>
        <pc:picChg chg="mod">
          <ac:chgData name="Mohammad Dakhilallah Mohammad Alahmadi" userId="9b436a58-7297-423f-8410-66c59c69358a" providerId="ADAL" clId="{AD5D258C-EE05-45D5-9985-4FA3BBAEDB48}" dt="2024-10-18T19:06:31.807" v="0" actId="1076"/>
          <ac:picMkLst>
            <pc:docMk/>
            <pc:sldMk cId="268952856" sldId="465"/>
            <ac:picMk id="3" creationId="{088618C6-1895-7B4B-36CD-661724F6E7F5}"/>
          </ac:picMkLst>
        </pc:picChg>
        <pc:picChg chg="add del">
          <ac:chgData name="Mohammad Dakhilallah Mohammad Alahmadi" userId="9b436a58-7297-423f-8410-66c59c69358a" providerId="ADAL" clId="{AD5D258C-EE05-45D5-9985-4FA3BBAEDB48}" dt="2024-10-18T19:07:43.131" v="2" actId="478"/>
          <ac:picMkLst>
            <pc:docMk/>
            <pc:sldMk cId="268952856" sldId="465"/>
            <ac:picMk id="6" creationId="{D9C6D389-AF01-4CA2-BDA5-74CA2B0383E5}"/>
          </ac:picMkLst>
        </pc:picChg>
      </pc:sldChg>
    </pc:docChg>
  </pc:docChgLst>
  <pc:docChgLst>
    <pc:chgData name="Mohammad Dakhilallah Mohammad Alahmadi" userId="9b436a58-7297-423f-8410-66c59c69358a" providerId="ADAL" clId="{3442E5BE-E3FF-4439-9B3C-A8448202F5B6}"/>
    <pc:docChg chg="undo custSel delSld modSld modSection">
      <pc:chgData name="Mohammad Dakhilallah Mohammad Alahmadi" userId="9b436a58-7297-423f-8410-66c59c69358a" providerId="ADAL" clId="{3442E5BE-E3FF-4439-9B3C-A8448202F5B6}" dt="2023-10-03T20:35:57.514" v="115" actId="47"/>
      <pc:docMkLst>
        <pc:docMk/>
      </pc:docMkLst>
      <pc:sldChg chg="del">
        <pc:chgData name="Mohammad Dakhilallah Mohammad Alahmadi" userId="9b436a58-7297-423f-8410-66c59c69358a" providerId="ADAL" clId="{3442E5BE-E3FF-4439-9B3C-A8448202F5B6}" dt="2023-09-27T07:39:55.241" v="0" actId="47"/>
        <pc:sldMkLst>
          <pc:docMk/>
          <pc:sldMk cId="0" sldId="333"/>
        </pc:sldMkLst>
      </pc:sldChg>
      <pc:sldChg chg="modSp mod">
        <pc:chgData name="Mohammad Dakhilallah Mohammad Alahmadi" userId="9b436a58-7297-423f-8410-66c59c69358a" providerId="ADAL" clId="{3442E5BE-E3FF-4439-9B3C-A8448202F5B6}" dt="2023-10-03T20:25:29.368" v="62" actId="1035"/>
        <pc:sldMkLst>
          <pc:docMk/>
          <pc:sldMk cId="251095777" sldId="415"/>
        </pc:sldMkLst>
        <pc:spChg chg="mod">
          <ac:chgData name="Mohammad Dakhilallah Mohammad Alahmadi" userId="9b436a58-7297-423f-8410-66c59c69358a" providerId="ADAL" clId="{3442E5BE-E3FF-4439-9B3C-A8448202F5B6}" dt="2023-10-03T20:25:23.764" v="43" actId="5793"/>
          <ac:spMkLst>
            <pc:docMk/>
            <pc:sldMk cId="251095777" sldId="415"/>
            <ac:spMk id="3" creationId="{B65ECD18-BEC5-1FF0-E19E-7CB036AA35BE}"/>
          </ac:spMkLst>
        </pc:spChg>
        <pc:picChg chg="mod">
          <ac:chgData name="Mohammad Dakhilallah Mohammad Alahmadi" userId="9b436a58-7297-423f-8410-66c59c69358a" providerId="ADAL" clId="{3442E5BE-E3FF-4439-9B3C-A8448202F5B6}" dt="2023-10-03T20:25:29.368" v="62" actId="1035"/>
          <ac:picMkLst>
            <pc:docMk/>
            <pc:sldMk cId="251095777" sldId="415"/>
            <ac:picMk id="2" creationId="{EA21DA31-0D6F-69E2-BA7F-C168295771EB}"/>
          </ac:picMkLst>
        </pc:picChg>
      </pc:sldChg>
      <pc:sldChg chg="del">
        <pc:chgData name="Mohammad Dakhilallah Mohammad Alahmadi" userId="9b436a58-7297-423f-8410-66c59c69358a" providerId="ADAL" clId="{3442E5BE-E3FF-4439-9B3C-A8448202F5B6}" dt="2023-09-27T07:39:57.432" v="1" actId="47"/>
        <pc:sldMkLst>
          <pc:docMk/>
          <pc:sldMk cId="1076553011" sldId="416"/>
        </pc:sldMkLst>
      </pc:sldChg>
      <pc:sldChg chg="modSp mod">
        <pc:chgData name="Mohammad Dakhilallah Mohammad Alahmadi" userId="9b436a58-7297-423f-8410-66c59c69358a" providerId="ADAL" clId="{3442E5BE-E3FF-4439-9B3C-A8448202F5B6}" dt="2023-10-03T20:24:41.037" v="12" actId="5793"/>
        <pc:sldMkLst>
          <pc:docMk/>
          <pc:sldMk cId="3810758988" sldId="421"/>
        </pc:sldMkLst>
        <pc:spChg chg="mod">
          <ac:chgData name="Mohammad Dakhilallah Mohammad Alahmadi" userId="9b436a58-7297-423f-8410-66c59c69358a" providerId="ADAL" clId="{3442E5BE-E3FF-4439-9B3C-A8448202F5B6}" dt="2023-10-03T20:24:41.037" v="12" actId="5793"/>
          <ac:spMkLst>
            <pc:docMk/>
            <pc:sldMk cId="3810758988" sldId="421"/>
            <ac:spMk id="4" creationId="{B863EF77-995A-5937-0A87-4AA33C845047}"/>
          </ac:spMkLst>
        </pc:spChg>
      </pc:sldChg>
      <pc:sldChg chg="del">
        <pc:chgData name="Mohammad Dakhilallah Mohammad Alahmadi" userId="9b436a58-7297-423f-8410-66c59c69358a" providerId="ADAL" clId="{3442E5BE-E3FF-4439-9B3C-A8448202F5B6}" dt="2023-10-03T20:35:57.514" v="115" actId="47"/>
        <pc:sldMkLst>
          <pc:docMk/>
          <pc:sldMk cId="2586610191" sldId="423"/>
        </pc:sldMkLst>
      </pc:sldChg>
      <pc:sldChg chg="modSp mod">
        <pc:chgData name="Mohammad Dakhilallah Mohammad Alahmadi" userId="9b436a58-7297-423f-8410-66c59c69358a" providerId="ADAL" clId="{3442E5BE-E3FF-4439-9B3C-A8448202F5B6}" dt="2023-10-03T20:28:27.388" v="97" actId="5793"/>
        <pc:sldMkLst>
          <pc:docMk/>
          <pc:sldMk cId="381756412" sldId="467"/>
        </pc:sldMkLst>
        <pc:spChg chg="mod">
          <ac:chgData name="Mohammad Dakhilallah Mohammad Alahmadi" userId="9b436a58-7297-423f-8410-66c59c69358a" providerId="ADAL" clId="{3442E5BE-E3FF-4439-9B3C-A8448202F5B6}" dt="2023-10-03T20:28:27.388" v="97" actId="5793"/>
          <ac:spMkLst>
            <pc:docMk/>
            <pc:sldMk cId="381756412" sldId="467"/>
            <ac:spMk id="3" creationId="{D3C442CF-53A2-0392-90A3-6725147F45D1}"/>
          </ac:spMkLst>
        </pc:spChg>
      </pc:sldChg>
      <pc:sldChg chg="modSp mod modNotesTx">
        <pc:chgData name="Mohammad Dakhilallah Mohammad Alahmadi" userId="9b436a58-7297-423f-8410-66c59c69358a" providerId="ADAL" clId="{3442E5BE-E3FF-4439-9B3C-A8448202F5B6}" dt="2023-10-03T20:33:05.064" v="105" actId="20577"/>
        <pc:sldMkLst>
          <pc:docMk/>
          <pc:sldMk cId="4288430029" sldId="468"/>
        </pc:sldMkLst>
        <pc:spChg chg="mod">
          <ac:chgData name="Mohammad Dakhilallah Mohammad Alahmadi" userId="9b436a58-7297-423f-8410-66c59c69358a" providerId="ADAL" clId="{3442E5BE-E3FF-4439-9B3C-A8448202F5B6}" dt="2023-10-03T20:28:34.148" v="101" actId="5793"/>
          <ac:spMkLst>
            <pc:docMk/>
            <pc:sldMk cId="4288430029" sldId="468"/>
            <ac:spMk id="3" creationId="{7477EBB7-D419-B507-3185-EB329609344E}"/>
          </ac:spMkLst>
        </pc:spChg>
      </pc:sldChg>
      <pc:sldChg chg="modSp mod modNotesTx">
        <pc:chgData name="Mohammad Dakhilallah Mohammad Alahmadi" userId="9b436a58-7297-423f-8410-66c59c69358a" providerId="ADAL" clId="{3442E5BE-E3FF-4439-9B3C-A8448202F5B6}" dt="2023-10-03T20:35:48.868" v="114" actId="20577"/>
        <pc:sldMkLst>
          <pc:docMk/>
          <pc:sldMk cId="3564204740" sldId="478"/>
        </pc:sldMkLst>
        <pc:spChg chg="mod">
          <ac:chgData name="Mohammad Dakhilallah Mohammad Alahmadi" userId="9b436a58-7297-423f-8410-66c59c69358a" providerId="ADAL" clId="{3442E5BE-E3FF-4439-9B3C-A8448202F5B6}" dt="2023-10-03T20:34:20.765" v="107" actId="5793"/>
          <ac:spMkLst>
            <pc:docMk/>
            <pc:sldMk cId="3564204740" sldId="478"/>
            <ac:spMk id="11" creationId="{7ADE0687-7681-7E09-6786-A3B140EC02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Söhne Mono"/>
              </a:rPr>
              <a:t>// Bad practice: Reusing the same variable for different activities with inappropriate naming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2E95D3"/>
                </a:solidFill>
                <a:effectLst/>
                <a:latin typeface="Söhne Mono"/>
              </a:rPr>
              <a:t>let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total = </a:t>
            </a:r>
            <a:r>
              <a:rPr lang="en-US" b="0" i="0" dirty="0" err="1">
                <a:solidFill>
                  <a:srgbClr val="F22C3D"/>
                </a:solidFill>
                <a:effectLst/>
                <a:latin typeface="Söhne Mono"/>
              </a:rPr>
              <a:t>calculateSum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(numbers);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total = total *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2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;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effectLst/>
                <a:latin typeface="Söhne Mono"/>
              </a:rPr>
              <a:t>// 'total' now represents something different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Söhne Mono"/>
              </a:rPr>
              <a:t># Bad practice: Using a variable with hidden meanings</a:t>
            </a:r>
            <a:endParaRPr lang="ar-SA" b="0" i="0" dirty="0">
              <a:effectLst/>
              <a:latin typeface="Söhne Mono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status =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1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US" b="0" i="0" dirty="0">
                <a:effectLst/>
                <a:latin typeface="Söhne Mono"/>
              </a:rPr>
              <a:t># 1 means "active," 2 means "inactive"</a:t>
            </a:r>
            <a:endParaRPr lang="ar-SA" b="0" i="0" dirty="0">
              <a:effectLst/>
              <a:latin typeface="Söhne Mono"/>
            </a:endParaRPr>
          </a:p>
          <a:p>
            <a:r>
              <a:rPr lang="en-US" b="0" i="0" dirty="0">
                <a:effectLst/>
                <a:latin typeface="Söhne Mono"/>
              </a:rPr>
              <a:t># Better practice: Using explicit constants or enumerations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STATUS_ACTIVE =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1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STATUS_INACTIVE =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2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endParaRPr lang="ar-SA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 err="1">
                <a:solidFill>
                  <a:srgbClr val="FFFFFF"/>
                </a:solidFill>
                <a:effectLst/>
                <a:latin typeface="Söhne Mono"/>
              </a:rPr>
              <a:t>current_status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= STATUS_ACTIVE </a:t>
            </a:r>
            <a:r>
              <a:rPr lang="en-US" b="0" i="0" dirty="0">
                <a:effectLst/>
                <a:latin typeface="Söhne Mono"/>
              </a:rPr>
              <a:t># Now it's clear that '</a:t>
            </a:r>
            <a:r>
              <a:rPr lang="en-US" b="0" i="0" dirty="0" err="1">
                <a:effectLst/>
                <a:latin typeface="Söhne Mono"/>
              </a:rPr>
              <a:t>current_status</a:t>
            </a:r>
            <a:r>
              <a:rPr lang="en-US" b="0" i="0" dirty="0">
                <a:effectLst/>
                <a:latin typeface="Söhne Mono"/>
              </a:rPr>
              <a:t>' represents an active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4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3.2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High-Quality Variables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GB" altLang="en-US" dirty="0">
                <a:solidFill>
                  <a:schemeClr val="tx1"/>
                </a:solidFill>
              </a:rPr>
              <a:t>Scope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Using Each Variable for Exactly One Purpose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altLang="en-US" sz="4400" b="1" dirty="0">
                <a:solidFill>
                  <a:schemeClr val="tx1"/>
                </a:solidFill>
              </a:rPr>
              <a:t>Scope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F6CF0B3-DFB2-7A64-F8E0-3C4CFF38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34281"/>
            <a:ext cx="8273143" cy="4389437"/>
          </a:xfrm>
        </p:spPr>
        <p:txBody>
          <a:bodyPr/>
          <a:lstStyle/>
          <a:p>
            <a:r>
              <a:rPr lang="en-GB" altLang="en-US" dirty="0"/>
              <a:t>Scope, or visibility, refers to the extent to which your variables are known and can be referenced throughout a program.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619CBC2-3B16-447A-57A7-99177F6D3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2598057"/>
            <a:ext cx="40386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altLang="en-US" dirty="0"/>
              <a:t>A variable with limited or small scope is known in only a small area of a program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DD421DC-60F5-4194-4F9F-1ACF922EE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90800"/>
            <a:ext cx="40386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altLang="en-US" dirty="0"/>
              <a:t>A variable with large scope is known in many places in a program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7BC5F0-106C-F607-3D51-2D6A5CFB2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329443"/>
            <a:ext cx="3762375" cy="324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5DDDAC8A-972E-7C88-0A0B-34864B785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1400" y="3329443"/>
            <a:ext cx="3733800" cy="324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altLang="en-US" sz="4400" b="1" dirty="0">
                <a:solidFill>
                  <a:schemeClr val="tx1"/>
                </a:solidFill>
              </a:rPr>
              <a:t>Scope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3EF77-995A-5937-0A87-4AA33C845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34281"/>
            <a:ext cx="8273143" cy="4389437"/>
          </a:xfrm>
        </p:spPr>
        <p:txBody>
          <a:bodyPr>
            <a:normAutofit lnSpcReduction="10000"/>
          </a:bodyPr>
          <a:lstStyle/>
          <a:p>
            <a:r>
              <a:rPr lang="en-GB" altLang="en-US" dirty="0">
                <a:solidFill>
                  <a:schemeClr val="tx1"/>
                </a:solidFill>
              </a:rPr>
              <a:t>Different languages handle scope in different ways.</a:t>
            </a:r>
            <a:endParaRPr lang="ar-SA" altLang="en-US" dirty="0">
              <a:solidFill>
                <a:schemeClr val="tx1"/>
              </a:solidFill>
            </a:endParaRPr>
          </a:p>
          <a:p>
            <a:pPr marL="91440" indent="0">
              <a:buNone/>
            </a:pPr>
            <a:r>
              <a:rPr lang="en-GB" altLang="en-US" dirty="0">
                <a:solidFill>
                  <a:schemeClr val="tx1"/>
                </a:solidFill>
              </a:rPr>
              <a:t> </a:t>
            </a: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In some primitive languages, all variables are global. You therefore don’t have any control over the scope of a variable, and that can create a lot of problems. </a:t>
            </a:r>
            <a:endParaRPr lang="ar-SA" altLang="en-US" dirty="0">
              <a:solidFill>
                <a:schemeClr val="tx1"/>
              </a:solidFill>
            </a:endParaRP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In C++ and similar languages, a variable can be visible to a block (a section of code enclosed in curly brackets), a routine, a class, or the whole program. </a:t>
            </a:r>
            <a:endParaRPr lang="ar-SA" altLang="en-US" dirty="0">
              <a:solidFill>
                <a:schemeClr val="tx1"/>
              </a:solidFill>
            </a:endParaRP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In Java and C#, a variable can also be visible to a package or namespace (a collection of classes).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altLang="en-US" sz="4400" b="1" dirty="0">
                <a:solidFill>
                  <a:schemeClr val="tx1"/>
                </a:solidFill>
              </a:rPr>
              <a:t>General Guidelines for Minimizing Scope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65ECD18-BEC5-1FF0-E19E-7CB036AA35BE}"/>
              </a:ext>
            </a:extLst>
          </p:cNvPr>
          <p:cNvSpPr txBox="1">
            <a:spLocks/>
          </p:cNvSpPr>
          <p:nvPr/>
        </p:nvSpPr>
        <p:spPr>
          <a:xfrm>
            <a:off x="406400" y="1234281"/>
            <a:ext cx="8273143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Calibri" pitchFamily="34" charset="0"/>
              <a:buAutoNum type="arabicPeriod"/>
            </a:pPr>
            <a:r>
              <a:rPr lang="en-GB" altLang="en-US" dirty="0">
                <a:solidFill>
                  <a:schemeClr val="tx1"/>
                </a:solidFill>
              </a:rPr>
              <a:t>Initialize variables used in a loop immediately before the loop </a:t>
            </a:r>
            <a:r>
              <a:rPr lang="en-US" altLang="en-US" dirty="0">
                <a:solidFill>
                  <a:schemeClr val="tx1"/>
                </a:solidFill>
              </a:rPr>
              <a:t>than back at the beginning of the routine containing the loop</a:t>
            </a:r>
          </a:p>
          <a:p>
            <a:pPr marL="514350" indent="-514350">
              <a:buFont typeface="Calibri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514350" indent="-514350">
              <a:buFont typeface="Calibri" pitchFamily="34" charset="0"/>
              <a:buAutoNum type="arabicPeriod"/>
            </a:pPr>
            <a:r>
              <a:rPr lang="en-GB" altLang="en-US" dirty="0">
                <a:solidFill>
                  <a:schemeClr val="tx1"/>
                </a:solidFill>
              </a:rPr>
              <a:t>Don’t assign a value to a variable until just before the value is used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A21DA31-0D6F-69E2-BA7F-C168295771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896" y="4536343"/>
            <a:ext cx="83947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altLang="en-US" sz="4400" b="1" dirty="0">
                <a:solidFill>
                  <a:schemeClr val="tx1"/>
                </a:solidFill>
              </a:rPr>
              <a:t>General Guidelines for Minimizing Scope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94492C1-9DBF-8ACD-CDF4-73A986D0E706}"/>
              </a:ext>
            </a:extLst>
          </p:cNvPr>
          <p:cNvSpPr txBox="1">
            <a:spLocks/>
          </p:cNvSpPr>
          <p:nvPr/>
        </p:nvSpPr>
        <p:spPr>
          <a:xfrm>
            <a:off x="406400" y="1234281"/>
            <a:ext cx="8273143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Calibri" pitchFamily="34" charset="0"/>
              <a:buAutoNum type="arabicPeriod" startAt="3"/>
            </a:pPr>
            <a:r>
              <a:rPr lang="en-GB" altLang="en-US" dirty="0">
                <a:solidFill>
                  <a:schemeClr val="tx1"/>
                </a:solidFill>
              </a:rPr>
              <a:t>Group related statements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88618C6-1895-7B4B-36CD-661724F6E7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57" y="1953219"/>
            <a:ext cx="656748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Callout 3">
            <a:extLst>
              <a:ext uri="{FF2B5EF4-FFF2-40B4-BE49-F238E27FC236}">
                <a16:creationId xmlns:a16="http://schemas.microsoft.com/office/drawing/2014/main" id="{F2690BCD-5D28-C502-451B-03B429FA4A95}"/>
              </a:ext>
            </a:extLst>
          </p:cNvPr>
          <p:cNvSpPr/>
          <p:nvPr/>
        </p:nvSpPr>
        <p:spPr>
          <a:xfrm>
            <a:off x="6313035" y="2296886"/>
            <a:ext cx="2830965" cy="2971800"/>
          </a:xfrm>
          <a:prstGeom prst="wedgeEllipseCallout">
            <a:avLst>
              <a:gd name="adj1" fmla="val -104687"/>
              <a:gd name="adj2" fmla="val 746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 err="1">
                <a:solidFill>
                  <a:schemeClr val="tx1"/>
                </a:solidFill>
              </a:rPr>
              <a:t>oldData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newData</a:t>
            </a:r>
            <a:r>
              <a:rPr lang="en-GB" dirty="0">
                <a:solidFill>
                  <a:schemeClr val="tx1"/>
                </a:solidFill>
              </a:rPr>
              <a:t>,  </a:t>
            </a:r>
            <a:r>
              <a:rPr lang="en-GB" dirty="0" err="1">
                <a:solidFill>
                  <a:schemeClr val="tx1"/>
                </a:solidFill>
              </a:rPr>
              <a:t>numOldData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numNewData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totalOldData</a:t>
            </a:r>
            <a:r>
              <a:rPr lang="en-GB" dirty="0">
                <a:solidFill>
                  <a:schemeClr val="tx1"/>
                </a:solidFill>
              </a:rPr>
              <a:t>, and </a:t>
            </a:r>
            <a:r>
              <a:rPr lang="en-GB" dirty="0" err="1">
                <a:solidFill>
                  <a:schemeClr val="tx1"/>
                </a:solidFill>
              </a:rPr>
              <a:t>totalNewData</a:t>
            </a:r>
            <a:r>
              <a:rPr lang="en-GB" dirty="0">
                <a:solidFill>
                  <a:schemeClr val="tx1"/>
                </a:solidFill>
              </a:rPr>
              <a:t> all at once—six  variables for just this short fragment.</a:t>
            </a:r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GB" altLang="en-US" sz="4000" b="1" dirty="0">
                <a:solidFill>
                  <a:schemeClr val="tx1"/>
                </a:solidFill>
              </a:rPr>
              <a:t>General Guidelines for Minimizing Scope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90D674A-DAC7-9894-738F-8201442C152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547" y="1709057"/>
            <a:ext cx="83724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A36D42A1-B865-58F4-9BA8-7016FE178956}"/>
              </a:ext>
            </a:extLst>
          </p:cNvPr>
          <p:cNvSpPr/>
          <p:nvPr/>
        </p:nvSpPr>
        <p:spPr>
          <a:xfrm>
            <a:off x="10022" y="4107770"/>
            <a:ext cx="2725738" cy="2265362"/>
          </a:xfrm>
          <a:prstGeom prst="wedgeEllipseCallout">
            <a:avLst>
              <a:gd name="adj1" fmla="val 52904"/>
              <a:gd name="adj2" fmla="val -6236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two blocks are each shorter than the original block and individually contain fewer variables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4E4209D-57DA-BAE9-64A8-C312C2B7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822" y="5214257"/>
            <a:ext cx="50292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Good or bad? </a:t>
            </a:r>
            <a:r>
              <a:rPr lang="en-US" b="1"/>
              <a:t>Good: </a:t>
            </a:r>
            <a:r>
              <a:rPr lang="en-US" b="1" i="1"/>
              <a:t>more understandable, with groups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altLang="en-US" sz="4400" b="1" dirty="0">
                <a:solidFill>
                  <a:schemeClr val="tx1"/>
                </a:solidFill>
              </a:rPr>
              <a:t>General Guidelines for Minimizing Scope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3C442CF-53A2-0392-90A3-6725147F45D1}"/>
              </a:ext>
            </a:extLst>
          </p:cNvPr>
          <p:cNvSpPr txBox="1">
            <a:spLocks/>
          </p:cNvSpPr>
          <p:nvPr/>
        </p:nvSpPr>
        <p:spPr>
          <a:xfrm>
            <a:off x="406400" y="1234281"/>
            <a:ext cx="8273143" cy="438943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Calibri" pitchFamily="34" charset="0"/>
              <a:buAutoNum type="arabicPeriod" startAt="4"/>
            </a:pPr>
            <a:r>
              <a:rPr lang="en-GB" altLang="en-US" dirty="0">
                <a:solidFill>
                  <a:schemeClr val="tx1"/>
                </a:solidFill>
              </a:rPr>
              <a:t>Begin with most restricted visibility, and expand the variable’s scope only if necessary </a:t>
            </a:r>
          </a:p>
          <a:p>
            <a:pPr marL="0" indent="0"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Part of minimizing the scope of a variable is keeping it as local as possible. </a:t>
            </a: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It is much more difficult to reduce the scope of a variable that has had a large scope than to expand the scope of a variable that has had a small scope</a:t>
            </a: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US" dirty="0">
                <a:solidFill>
                  <a:schemeClr val="tx1"/>
                </a:solidFill>
              </a:rPr>
              <a:t>It’s harder to turn a </a:t>
            </a:r>
            <a:r>
              <a:rPr lang="en-US" b="1" dirty="0">
                <a:solidFill>
                  <a:schemeClr val="tx1"/>
                </a:solidFill>
              </a:rPr>
              <a:t>protected data member into a private data member </a:t>
            </a:r>
            <a:r>
              <a:rPr lang="en-US" dirty="0">
                <a:solidFill>
                  <a:schemeClr val="tx1"/>
                </a:solidFill>
              </a:rPr>
              <a:t>than vice versa.</a:t>
            </a:r>
            <a:endParaRPr lang="en-GB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Using Each Variable for Exactly One Purpose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77EBB7-D419-B507-3185-EB329609344E}"/>
              </a:ext>
            </a:extLst>
          </p:cNvPr>
          <p:cNvSpPr txBox="1">
            <a:spLocks/>
          </p:cNvSpPr>
          <p:nvPr/>
        </p:nvSpPr>
        <p:spPr>
          <a:xfrm>
            <a:off x="406400" y="1234281"/>
            <a:ext cx="8273143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</a:rPr>
              <a:t>Use each variable for one purpose only</a:t>
            </a:r>
          </a:p>
          <a:p>
            <a:pPr marL="91440" indent="0"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It’s sometimes tempting to use one variable in two different places for two different activities. </a:t>
            </a: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Usually, the variable is named inappropriately for one of its uses, or a “temporary” variable is used in both cases</a:t>
            </a:r>
          </a:p>
        </p:txBody>
      </p: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Using Each Variable for Exactly One Purpose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505A487-0D24-8FBD-9A11-EEE9FE6DB84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31031"/>
            <a:ext cx="7954963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Callout 3">
            <a:extLst>
              <a:ext uri="{FF2B5EF4-FFF2-40B4-BE49-F238E27FC236}">
                <a16:creationId xmlns:a16="http://schemas.microsoft.com/office/drawing/2014/main" id="{BA4A5EE2-1BC8-EDB2-1B33-9739B5E8F191}"/>
              </a:ext>
            </a:extLst>
          </p:cNvPr>
          <p:cNvSpPr/>
          <p:nvPr/>
        </p:nvSpPr>
        <p:spPr>
          <a:xfrm>
            <a:off x="5200650" y="2564431"/>
            <a:ext cx="3769179" cy="1755775"/>
          </a:xfrm>
          <a:prstGeom prst="wedgeEllipseCallout">
            <a:avLst>
              <a:gd name="adj1" fmla="val -79054"/>
              <a:gd name="adj2" fmla="val 876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Question: What is the relationship between temp in the first few lines and temp in the last few?</a:t>
            </a: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Using Each Variable for Exactly One Purpose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0C72000-BD6C-3734-3EEA-C25ED47BEF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776412"/>
            <a:ext cx="788035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Callout 3">
            <a:extLst>
              <a:ext uri="{FF2B5EF4-FFF2-40B4-BE49-F238E27FC236}">
                <a16:creationId xmlns:a16="http://schemas.microsoft.com/office/drawing/2014/main" id="{CC775101-6B1E-F2E6-4DFB-CFBF4AD8BF5A}"/>
              </a:ext>
            </a:extLst>
          </p:cNvPr>
          <p:cNvSpPr/>
          <p:nvPr/>
        </p:nvSpPr>
        <p:spPr>
          <a:xfrm>
            <a:off x="4846637" y="4395787"/>
            <a:ext cx="4297363" cy="1828800"/>
          </a:xfrm>
          <a:prstGeom prst="wedgeEllipseCallout">
            <a:avLst>
              <a:gd name="adj1" fmla="val -51906"/>
              <a:gd name="adj2" fmla="val -9861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Creating unique variables for each purpose makes your code more readable.</a:t>
            </a:r>
          </a:p>
        </p:txBody>
      </p:sp>
    </p:spTree>
    <p:extLst>
      <p:ext uri="{BB962C8B-B14F-4D97-AF65-F5344CB8AC3E}">
        <p14:creationId xmlns:p14="http://schemas.microsoft.com/office/powerpoint/2010/main" val="383040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Using Each Variable for Exactly One Purpose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ADE0687-7681-7E09-6786-A3B140EC02D9}"/>
              </a:ext>
            </a:extLst>
          </p:cNvPr>
          <p:cNvSpPr txBox="1">
            <a:spLocks/>
          </p:cNvSpPr>
          <p:nvPr/>
        </p:nvSpPr>
        <p:spPr>
          <a:xfrm>
            <a:off x="422608" y="1183205"/>
            <a:ext cx="8273143" cy="546306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>
                <a:solidFill>
                  <a:schemeClr val="tx1"/>
                </a:solidFill>
              </a:rPr>
              <a:t>Avoid variables with hidden meanings</a:t>
            </a:r>
          </a:p>
          <a:p>
            <a:pPr lvl="1">
              <a:buClr>
                <a:srgbClr val="0070C0"/>
              </a:buClr>
            </a:pPr>
            <a:r>
              <a:rPr lang="en-GB" altLang="en-US" dirty="0">
                <a:solidFill>
                  <a:schemeClr val="tx1"/>
                </a:solidFill>
              </a:rPr>
              <a:t>Another way in which a variable can be used for more than one purpose is to have different values for the variable mean different things.</a:t>
            </a:r>
            <a:endParaRPr lang="ar-SA" altLang="en-US" dirty="0">
              <a:solidFill>
                <a:schemeClr val="tx1"/>
              </a:solidFill>
            </a:endParaRPr>
          </a:p>
          <a:p>
            <a:pPr marL="274320" lvl="1" indent="0">
              <a:buClr>
                <a:srgbClr val="0070C0"/>
              </a:buClr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r>
              <a:rPr lang="en-GB" altLang="en-US" dirty="0">
                <a:solidFill>
                  <a:schemeClr val="tx1"/>
                </a:solidFill>
              </a:rPr>
              <a:t>Make sure that all declared variables are used</a:t>
            </a:r>
          </a:p>
        </p:txBody>
      </p:sp>
    </p:spTree>
    <p:extLst>
      <p:ext uri="{BB962C8B-B14F-4D97-AF65-F5344CB8AC3E}">
        <p14:creationId xmlns:p14="http://schemas.microsoft.com/office/powerpoint/2010/main" val="356420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10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1236</TotalTime>
  <Words>659</Words>
  <Application>Microsoft Office PowerPoint</Application>
  <PresentationFormat>On-screen Show (4:3)</PresentationFormat>
  <Paragraphs>91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Eurostile</vt:lpstr>
      <vt:lpstr>Söhne Mono</vt:lpstr>
      <vt:lpstr>Wingdings</vt:lpstr>
      <vt:lpstr>Wingdings 2</vt:lpstr>
      <vt:lpstr>Wingdings 3</vt:lpstr>
      <vt:lpstr>Theme CPIT 110</vt:lpstr>
      <vt:lpstr>Custom Design</vt:lpstr>
      <vt:lpstr>Chapter  3.2 High-Quality Variables</vt:lpstr>
      <vt:lpstr>Outline</vt:lpstr>
      <vt:lpstr>Scope</vt:lpstr>
      <vt:lpstr>Scope</vt:lpstr>
      <vt:lpstr>General Guidelines for Minimizing Scope</vt:lpstr>
      <vt:lpstr>General Guidelines for Minimizing Scope</vt:lpstr>
      <vt:lpstr>General Guidelines for Minimizing Scope</vt:lpstr>
      <vt:lpstr>General Guidelines for Minimizing Scope</vt:lpstr>
      <vt:lpstr>Using Each Variable for Exactly One Purpose</vt:lpstr>
      <vt:lpstr>Using Each Variable for Exactly One Purpose</vt:lpstr>
      <vt:lpstr>Using Each Variable for Exactly One Purpose</vt:lpstr>
      <vt:lpstr>Using Each Variable for Exactly One Purpose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29</cp:revision>
  <dcterms:created xsi:type="dcterms:W3CDTF">2019-06-07T16:06:41Z</dcterms:created>
  <dcterms:modified xsi:type="dcterms:W3CDTF">2024-10-18T19:07:52Z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