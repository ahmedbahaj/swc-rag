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2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78" r:id="rId17"/>
    <p:sldId id="479" r:id="rId18"/>
    <p:sldId id="480" r:id="rId19"/>
    <p:sldId id="476" r:id="rId20"/>
    <p:sldId id="41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78"/>
            <p14:sldId id="479"/>
            <p14:sldId id="480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41" autoAdjust="0"/>
    <p:restoredTop sz="94719"/>
  </p:normalViewPr>
  <p:slideViewPr>
    <p:cSldViewPr snapToGrid="0">
      <p:cViewPr varScale="1">
        <p:scale>
          <a:sx n="105" d="100"/>
          <a:sy n="105" d="100"/>
        </p:scale>
        <p:origin x="13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99290E80-E5F4-4768-A6E4-651D14271D09}"/>
    <pc:docChg chg="undo custSel modSld">
      <pc:chgData name="Mohammad Dakhilallah Mohammad Alahmadi" userId="9b436a58-7297-423f-8410-66c59c69358a" providerId="ADAL" clId="{99290E80-E5F4-4768-A6E4-651D14271D09}" dt="2023-10-08T00:02:07.317" v="56" actId="207"/>
      <pc:docMkLst>
        <pc:docMk/>
      </pc:docMkLst>
      <pc:sldChg chg="modSp mod">
        <pc:chgData name="Mohammad Dakhilallah Mohammad Alahmadi" userId="9b436a58-7297-423f-8410-66c59c69358a" providerId="ADAL" clId="{99290E80-E5F4-4768-A6E4-651D14271D09}" dt="2023-10-08T00:02:02.729" v="55" actId="207"/>
        <pc:sldMkLst>
          <pc:docMk/>
          <pc:sldMk cId="2615860504" sldId="413"/>
        </pc:sldMkLst>
        <pc:spChg chg="mod">
          <ac:chgData name="Mohammad Dakhilallah Mohammad Alahmadi" userId="9b436a58-7297-423f-8410-66c59c69358a" providerId="ADAL" clId="{99290E80-E5F4-4768-A6E4-651D14271D09}" dt="2023-10-08T00:02:02.729" v="55" actId="207"/>
          <ac:spMkLst>
            <pc:docMk/>
            <pc:sldMk cId="2615860504" sldId="413"/>
            <ac:spMk id="4" creationId="{88C360D8-06EC-45E1-9F03-07203CCB8D4E}"/>
          </ac:spMkLst>
        </pc:spChg>
      </pc:sldChg>
      <pc:sldChg chg="modSp mod">
        <pc:chgData name="Mohammad Dakhilallah Mohammad Alahmadi" userId="9b436a58-7297-423f-8410-66c59c69358a" providerId="ADAL" clId="{99290E80-E5F4-4768-A6E4-651D14271D09}" dt="2023-10-07T23:54:00.142" v="40" actId="14100"/>
        <pc:sldMkLst>
          <pc:docMk/>
          <pc:sldMk cId="251095777" sldId="415"/>
        </pc:sldMkLst>
        <pc:spChg chg="mod">
          <ac:chgData name="Mohammad Dakhilallah Mohammad Alahmadi" userId="9b436a58-7297-423f-8410-66c59c69358a" providerId="ADAL" clId="{99290E80-E5F4-4768-A6E4-651D14271D09}" dt="2023-10-07T23:54:00.142" v="40" actId="14100"/>
          <ac:spMkLst>
            <pc:docMk/>
            <pc:sldMk cId="251095777" sldId="415"/>
            <ac:spMk id="2" creationId="{455384C6-5D79-EE28-6E40-A76C3233A6F3}"/>
          </ac:spMkLst>
        </pc:spChg>
      </pc:sldChg>
      <pc:sldChg chg="delSp modSp mod">
        <pc:chgData name="Mohammad Dakhilallah Mohammad Alahmadi" userId="9b436a58-7297-423f-8410-66c59c69358a" providerId="ADAL" clId="{99290E80-E5F4-4768-A6E4-651D14271D09}" dt="2023-10-07T23:44:35.113" v="38" actId="1035"/>
        <pc:sldMkLst>
          <pc:docMk/>
          <pc:sldMk cId="3810758988" sldId="421"/>
        </pc:sldMkLst>
        <pc:spChg chg="del">
          <ac:chgData name="Mohammad Dakhilallah Mohammad Alahmadi" userId="9b436a58-7297-423f-8410-66c59c69358a" providerId="ADAL" clId="{99290E80-E5F4-4768-A6E4-651D14271D09}" dt="2023-10-07T23:44:29.018" v="2" actId="478"/>
          <ac:spMkLst>
            <pc:docMk/>
            <pc:sldMk cId="3810758988" sldId="421"/>
            <ac:spMk id="14" creationId="{1CDFA99F-296F-402E-9EDE-6794AB63BF9A}"/>
          </ac:spMkLst>
        </pc:spChg>
        <pc:grpChg chg="mod">
          <ac:chgData name="Mohammad Dakhilallah Mohammad Alahmadi" userId="9b436a58-7297-423f-8410-66c59c69358a" providerId="ADAL" clId="{99290E80-E5F4-4768-A6E4-651D14271D09}" dt="2023-10-07T23:44:35.113" v="38" actId="1035"/>
          <ac:grpSpMkLst>
            <pc:docMk/>
            <pc:sldMk cId="3810758988" sldId="421"/>
            <ac:grpSpMk id="9" creationId="{7E076914-B476-72CD-26E2-6889DE20E00D}"/>
          </ac:grpSpMkLst>
        </pc:grpChg>
      </pc:sldChg>
      <pc:sldChg chg="modNotesTx">
        <pc:chgData name="Mohammad Dakhilallah Mohammad Alahmadi" userId="9b436a58-7297-423f-8410-66c59c69358a" providerId="ADAL" clId="{99290E80-E5F4-4768-A6E4-651D14271D09}" dt="2023-10-07T23:57:01.499" v="45"/>
        <pc:sldMkLst>
          <pc:docMk/>
          <pc:sldMk cId="91697656" sldId="466"/>
        </pc:sldMkLst>
      </pc:sldChg>
      <pc:sldChg chg="modSp mod">
        <pc:chgData name="Mohammad Dakhilallah Mohammad Alahmadi" userId="9b436a58-7297-423f-8410-66c59c69358a" providerId="ADAL" clId="{99290E80-E5F4-4768-A6E4-651D14271D09}" dt="2023-10-08T00:02:07.317" v="56" actId="207"/>
        <pc:sldMkLst>
          <pc:docMk/>
          <pc:sldMk cId="3455685527" sldId="476"/>
        </pc:sldMkLst>
        <pc:spChg chg="mod">
          <ac:chgData name="Mohammad Dakhilallah Mohammad Alahmadi" userId="9b436a58-7297-423f-8410-66c59c69358a" providerId="ADAL" clId="{99290E80-E5F4-4768-A6E4-651D14271D09}" dt="2023-10-08T00:02:07.317" v="56" actId="207"/>
          <ac:spMkLst>
            <pc:docMk/>
            <pc:sldMk cId="3455685527" sldId="476"/>
            <ac:spMk id="3" creationId="{FA656E32-1156-FEA0-19B6-F14CFAE5A804}"/>
          </ac:spMkLst>
        </pc:spChg>
      </pc:sldChg>
      <pc:sldChg chg="modSp mod">
        <pc:chgData name="Mohammad Dakhilallah Mohammad Alahmadi" userId="9b436a58-7297-423f-8410-66c59c69358a" providerId="ADAL" clId="{99290E80-E5F4-4768-A6E4-651D14271D09}" dt="2023-10-07T23:59:02.727" v="46" actId="20577"/>
        <pc:sldMkLst>
          <pc:docMk/>
          <pc:sldMk cId="3564204740" sldId="478"/>
        </pc:sldMkLst>
        <pc:spChg chg="mod">
          <ac:chgData name="Mohammad Dakhilallah Mohammad Alahmadi" userId="9b436a58-7297-423f-8410-66c59c69358a" providerId="ADAL" clId="{99290E80-E5F4-4768-A6E4-651D14271D09}" dt="2023-10-07T23:59:02.727" v="46" actId="20577"/>
          <ac:spMkLst>
            <pc:docMk/>
            <pc:sldMk cId="3564204740" sldId="478"/>
            <ac:spMk id="3" creationId="{DB3D9BB7-FBC7-F6B2-79E8-90C59783FD3A}"/>
          </ac:spMkLst>
        </pc:spChg>
      </pc:sldChg>
      <pc:sldChg chg="modSp mod">
        <pc:chgData name="Mohammad Dakhilallah Mohammad Alahmadi" userId="9b436a58-7297-423f-8410-66c59c69358a" providerId="ADAL" clId="{99290E80-E5F4-4768-A6E4-651D14271D09}" dt="2023-10-07T23:59:54.850" v="49" actId="20577"/>
        <pc:sldMkLst>
          <pc:docMk/>
          <pc:sldMk cId="2235681136" sldId="479"/>
        </pc:sldMkLst>
        <pc:spChg chg="mod">
          <ac:chgData name="Mohammad Dakhilallah Mohammad Alahmadi" userId="9b436a58-7297-423f-8410-66c59c69358a" providerId="ADAL" clId="{99290E80-E5F4-4768-A6E4-651D14271D09}" dt="2023-10-07T23:59:54.850" v="49" actId="20577"/>
          <ac:spMkLst>
            <pc:docMk/>
            <pc:sldMk cId="2235681136" sldId="479"/>
            <ac:spMk id="4" creationId="{B1BC2153-6AF3-EA2E-E171-0239D5DEA6CB}"/>
          </ac:spMkLst>
        </pc:spChg>
      </pc:sldChg>
      <pc:sldChg chg="modSp mod">
        <pc:chgData name="Mohammad Dakhilallah Mohammad Alahmadi" userId="9b436a58-7297-423f-8410-66c59c69358a" providerId="ADAL" clId="{99290E80-E5F4-4768-A6E4-651D14271D09}" dt="2023-10-08T00:01:24.589" v="54" actId="1038"/>
        <pc:sldMkLst>
          <pc:docMk/>
          <pc:sldMk cId="12798721" sldId="480"/>
        </pc:sldMkLst>
        <pc:spChg chg="mod">
          <ac:chgData name="Mohammad Dakhilallah Mohammad Alahmadi" userId="9b436a58-7297-423f-8410-66c59c69358a" providerId="ADAL" clId="{99290E80-E5F4-4768-A6E4-651D14271D09}" dt="2023-10-08T00:01:24.589" v="54" actId="1038"/>
          <ac:spMkLst>
            <pc:docMk/>
            <pc:sldMk cId="12798721" sldId="480"/>
            <ac:spMk id="2" creationId="{781203C0-5885-6DB4-8854-C8FB028DFFB5}"/>
          </ac:spMkLst>
        </pc:spChg>
      </pc:sldChg>
    </pc:docChg>
  </pc:docChgLst>
  <pc:docChgLst>
    <pc:chgData name="Mohammad Dakhilallah Mohammad Alahmadi" userId="S::04100753@uj.edu.sa::9b436a58-7297-423f-8410-66c59c69358a" providerId="AD" clId="Web-{5EE0DC3F-91F2-9843-0C72-058DD259811A}"/>
    <pc:docChg chg="delSld modSection">
      <pc:chgData name="Mohammad Dakhilallah Mohammad Alahmadi" userId="S::04100753@uj.edu.sa::9b436a58-7297-423f-8410-66c59c69358a" providerId="AD" clId="Web-{5EE0DC3F-91F2-9843-0C72-058DD259811A}" dt="2023-08-26T14:12:51.220" v="0"/>
      <pc:docMkLst>
        <pc:docMk/>
      </pc:docMkLst>
      <pc:sldChg chg="del">
        <pc:chgData name="Mohammad Dakhilallah Mohammad Alahmadi" userId="S::04100753@uj.edu.sa::9b436a58-7297-423f-8410-66c59c69358a" providerId="AD" clId="Web-{5EE0DC3F-91F2-9843-0C72-058DD259811A}" dt="2023-08-26T14:12:51.220" v="0"/>
        <pc:sldMkLst>
          <pc:docMk/>
          <pc:sldMk cId="2586610191" sldId="4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9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Assertions are primarily used for debugging and verifying assumptions during development.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Error handling and exceptions are used to manage unexpected or exceptional situations during runtime and maintain program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96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10/8/2023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10/8/2023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10/8/2023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10/8/2023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4.1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Defensive Programming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Defensive Programming (Part 1 of 3)</a:t>
            </a:r>
          </a:p>
          <a:p>
            <a:pPr lvl="1">
              <a:buClr>
                <a:srgbClr val="0070C0"/>
              </a:buClr>
            </a:pPr>
            <a:r>
              <a:rPr lang="en-US" dirty="0">
                <a:solidFill>
                  <a:schemeClr val="tx1"/>
                </a:solidFill>
              </a:rPr>
              <a:t>Protecting Your Program from Invalid Inputs</a:t>
            </a:r>
          </a:p>
          <a:p>
            <a:pPr lvl="1">
              <a:buClr>
                <a:srgbClr val="0070C0"/>
              </a:buClr>
            </a:pPr>
            <a:r>
              <a:rPr lang="en-US" dirty="0">
                <a:solidFill>
                  <a:schemeClr val="tx1"/>
                </a:solidFill>
              </a:rPr>
              <a:t>Assertions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F36F8B7B-5D25-67FC-5E00-34712B55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8438" y="4299568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loud Callout 7">
            <a:extLst>
              <a:ext uri="{FF2B5EF4-FFF2-40B4-BE49-F238E27FC236}">
                <a16:creationId xmlns:a16="http://schemas.microsoft.com/office/drawing/2014/main" id="{850ABF91-5BBB-26E9-2D5F-11B4B0277781}"/>
              </a:ext>
            </a:extLst>
          </p:cNvPr>
          <p:cNvSpPr/>
          <p:nvPr/>
        </p:nvSpPr>
        <p:spPr>
          <a:xfrm>
            <a:off x="241300" y="1095993"/>
            <a:ext cx="8305800" cy="1752600"/>
          </a:xfrm>
          <a:prstGeom prst="cloudCallout">
            <a:avLst>
              <a:gd name="adj1" fmla="val 15221"/>
              <a:gd name="adj2" fmla="val 1224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Defensive Programming?</a:t>
            </a:r>
          </a:p>
        </p:txBody>
      </p:sp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What is Defensive Programming?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F5F65FB-8AAF-3223-7AFE-902437145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19" y="1295400"/>
            <a:ext cx="4889500" cy="3621088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C3E3FB4-279E-DA97-9F5A-9423C980B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16" y="1251349"/>
            <a:ext cx="3713184" cy="4395787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7E076914-B476-72CD-26E2-6889DE20E00D}"/>
              </a:ext>
            </a:extLst>
          </p:cNvPr>
          <p:cNvGrpSpPr>
            <a:grpSpLocks/>
          </p:cNvGrpSpPr>
          <p:nvPr/>
        </p:nvGrpSpPr>
        <p:grpSpPr bwMode="auto">
          <a:xfrm>
            <a:off x="3725840" y="5124098"/>
            <a:ext cx="1287463" cy="1220788"/>
            <a:chOff x="4874" y="2599"/>
            <a:chExt cx="811" cy="769"/>
          </a:xfrm>
        </p:grpSpPr>
        <p:grpSp>
          <p:nvGrpSpPr>
            <p:cNvPr id="10" name="Group 16">
              <a:extLst>
                <a:ext uri="{FF2B5EF4-FFF2-40B4-BE49-F238E27FC236}">
                  <a16:creationId xmlns:a16="http://schemas.microsoft.com/office/drawing/2014/main" id="{AA9A5831-B7E4-D02C-E330-D7CEEF6D7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599"/>
              <a:ext cx="811" cy="577"/>
              <a:chOff x="4807" y="3216"/>
              <a:chExt cx="811" cy="577"/>
            </a:xfrm>
          </p:grpSpPr>
          <p:grpSp>
            <p:nvGrpSpPr>
              <p:cNvPr id="15" name="Group 17">
                <a:extLst>
                  <a:ext uri="{FF2B5EF4-FFF2-40B4-BE49-F238E27FC236}">
                    <a16:creationId xmlns:a16="http://schemas.microsoft.com/office/drawing/2014/main" id="{EB42D967-4EB6-F52B-9D7F-4542BE742D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3" y="3216"/>
                <a:ext cx="625" cy="522"/>
                <a:chOff x="4993" y="3216"/>
                <a:chExt cx="625" cy="522"/>
              </a:xfrm>
            </p:grpSpPr>
            <p:grpSp>
              <p:nvGrpSpPr>
                <p:cNvPr id="48" name="Group 18">
                  <a:extLst>
                    <a:ext uri="{FF2B5EF4-FFF2-40B4-BE49-F238E27FC236}">
                      <a16:creationId xmlns:a16="http://schemas.microsoft.com/office/drawing/2014/main" id="{A52E1939-DDAC-5BE6-7D0A-3D99BFBE9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3" y="3216"/>
                  <a:ext cx="625" cy="522"/>
                  <a:chOff x="4993" y="3216"/>
                  <a:chExt cx="625" cy="522"/>
                </a:xfrm>
              </p:grpSpPr>
              <p:grpSp>
                <p:nvGrpSpPr>
                  <p:cNvPr id="57" name="Group 19">
                    <a:extLst>
                      <a:ext uri="{FF2B5EF4-FFF2-40B4-BE49-F238E27FC236}">
                        <a16:creationId xmlns:a16="http://schemas.microsoft.com/office/drawing/2014/main" id="{8FCA3906-7222-838C-740C-2C621A23ED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93" y="3511"/>
                    <a:ext cx="625" cy="227"/>
                    <a:chOff x="4993" y="3511"/>
                    <a:chExt cx="625" cy="227"/>
                  </a:xfrm>
                </p:grpSpPr>
                <p:sp>
                  <p:nvSpPr>
                    <p:cNvPr id="63" name="Freeform 20">
                      <a:extLst>
                        <a:ext uri="{FF2B5EF4-FFF2-40B4-BE49-F238E27FC236}">
                          <a16:creationId xmlns:a16="http://schemas.microsoft.com/office/drawing/2014/main" id="{7DDC6611-A6F0-86FF-12F1-0D6664B58F4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93" y="3511"/>
                      <a:ext cx="356" cy="227"/>
                    </a:xfrm>
                    <a:custGeom>
                      <a:avLst/>
                      <a:gdLst/>
                      <a:ahLst/>
                      <a:cxnLst>
                        <a:cxn ang="0">
                          <a:pos x="355" y="68"/>
                        </a:cxn>
                        <a:cxn ang="0">
                          <a:pos x="355" y="226"/>
                        </a:cxn>
                        <a:cxn ang="0">
                          <a:pos x="0" y="110"/>
                        </a:cxn>
                        <a:cxn ang="0">
                          <a:pos x="0" y="0"/>
                        </a:cxn>
                        <a:cxn ang="0">
                          <a:pos x="355" y="68"/>
                        </a:cxn>
                      </a:cxnLst>
                      <a:rect l="0" t="0" r="r" b="b"/>
                      <a:pathLst>
                        <a:path w="356" h="227">
                          <a:moveTo>
                            <a:pt x="355" y="68"/>
                          </a:moveTo>
                          <a:lnTo>
                            <a:pt x="355" y="226"/>
                          </a:lnTo>
                          <a:lnTo>
                            <a:pt x="0" y="110"/>
                          </a:lnTo>
                          <a:lnTo>
                            <a:pt x="0" y="0"/>
                          </a:lnTo>
                          <a:lnTo>
                            <a:pt x="355" y="68"/>
                          </a:lnTo>
                        </a:path>
                      </a:pathLst>
                    </a:custGeom>
                    <a:solidFill>
                      <a:srgbClr val="A0A0A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16" name="Freeform 21">
                      <a:extLst>
                        <a:ext uri="{FF2B5EF4-FFF2-40B4-BE49-F238E27FC236}">
                          <a16:creationId xmlns:a16="http://schemas.microsoft.com/office/drawing/2014/main" id="{6E5DC379-2A70-FE82-02B1-70BFAC054C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48" y="3564"/>
                      <a:ext cx="270" cy="17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"/>
                        </a:cxn>
                        <a:cxn ang="0">
                          <a:pos x="0" y="173"/>
                        </a:cxn>
                        <a:cxn ang="0">
                          <a:pos x="269" y="133"/>
                        </a:cxn>
                        <a:cxn ang="0">
                          <a:pos x="269" y="0"/>
                        </a:cxn>
                        <a:cxn ang="0">
                          <a:pos x="0" y="15"/>
                        </a:cxn>
                      </a:cxnLst>
                      <a:rect l="0" t="0" r="r" b="b"/>
                      <a:pathLst>
                        <a:path w="270" h="174">
                          <a:moveTo>
                            <a:pt x="0" y="15"/>
                          </a:moveTo>
                          <a:lnTo>
                            <a:pt x="0" y="173"/>
                          </a:lnTo>
                          <a:lnTo>
                            <a:pt x="269" y="133"/>
                          </a:lnTo>
                          <a:lnTo>
                            <a:pt x="269" y="0"/>
                          </a:lnTo>
                          <a:lnTo>
                            <a:pt x="0" y="15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217" name="Freeform 22">
                      <a:extLst>
                        <a:ext uri="{FF2B5EF4-FFF2-40B4-BE49-F238E27FC236}">
                          <a16:creationId xmlns:a16="http://schemas.microsoft.com/office/drawing/2014/main" id="{7B55A995-26BA-E01B-7417-76E36FDBB67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993" y="3511"/>
                      <a:ext cx="625" cy="71"/>
                    </a:xfrm>
                    <a:custGeom>
                      <a:avLst/>
                      <a:gdLst/>
                      <a:ahLst/>
                      <a:cxnLst>
                        <a:cxn ang="0">
                          <a:pos x="624" y="53"/>
                        </a:cxn>
                        <a:cxn ang="0">
                          <a:pos x="353" y="70"/>
                        </a:cxn>
                        <a:cxn ang="0">
                          <a:pos x="0" y="0"/>
                        </a:cxn>
                        <a:cxn ang="0">
                          <a:pos x="258" y="0"/>
                        </a:cxn>
                        <a:cxn ang="0">
                          <a:pos x="624" y="53"/>
                        </a:cxn>
                      </a:cxnLst>
                      <a:rect l="0" t="0" r="r" b="b"/>
                      <a:pathLst>
                        <a:path w="625" h="71">
                          <a:moveTo>
                            <a:pt x="624" y="53"/>
                          </a:moveTo>
                          <a:lnTo>
                            <a:pt x="353" y="70"/>
                          </a:lnTo>
                          <a:lnTo>
                            <a:pt x="0" y="0"/>
                          </a:lnTo>
                          <a:lnTo>
                            <a:pt x="258" y="0"/>
                          </a:lnTo>
                          <a:lnTo>
                            <a:pt x="624" y="53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8" name="Freeform 23">
                    <a:extLst>
                      <a:ext uri="{FF2B5EF4-FFF2-40B4-BE49-F238E27FC236}">
                        <a16:creationId xmlns:a16="http://schemas.microsoft.com/office/drawing/2014/main" id="{B42657AF-80ED-1F06-8BBC-6849782C47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188" y="3492"/>
                    <a:ext cx="226" cy="66"/>
                  </a:xfrm>
                  <a:custGeom>
                    <a:avLst/>
                    <a:gdLst/>
                    <a:ahLst/>
                    <a:cxnLst>
                      <a:cxn ang="0">
                        <a:pos x="225" y="36"/>
                      </a:cxn>
                      <a:cxn ang="0">
                        <a:pos x="225" y="57"/>
                      </a:cxn>
                      <a:cxn ang="0">
                        <a:pos x="121" y="65"/>
                      </a:cxn>
                      <a:cxn ang="0">
                        <a:pos x="0" y="42"/>
                      </a:cxn>
                      <a:cxn ang="0">
                        <a:pos x="0" y="0"/>
                      </a:cxn>
                      <a:cxn ang="0">
                        <a:pos x="225" y="36"/>
                      </a:cxn>
                    </a:cxnLst>
                    <a:rect l="0" t="0" r="r" b="b"/>
                    <a:pathLst>
                      <a:path w="226" h="66">
                        <a:moveTo>
                          <a:pt x="225" y="36"/>
                        </a:moveTo>
                        <a:lnTo>
                          <a:pt x="225" y="57"/>
                        </a:lnTo>
                        <a:lnTo>
                          <a:pt x="121" y="65"/>
                        </a:lnTo>
                        <a:lnTo>
                          <a:pt x="0" y="42"/>
                        </a:lnTo>
                        <a:lnTo>
                          <a:pt x="0" y="0"/>
                        </a:lnTo>
                        <a:lnTo>
                          <a:pt x="225" y="36"/>
                        </a:lnTo>
                      </a:path>
                    </a:pathLst>
                  </a:custGeom>
                  <a:solidFill>
                    <a:srgbClr val="606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59" name="Group 24">
                    <a:extLst>
                      <a:ext uri="{FF2B5EF4-FFF2-40B4-BE49-F238E27FC236}">
                        <a16:creationId xmlns:a16="http://schemas.microsoft.com/office/drawing/2014/main" id="{45AEA91A-9343-B6A4-034E-EACB2F73A3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064" y="3216"/>
                    <a:ext cx="505" cy="326"/>
                    <a:chOff x="5064" y="3216"/>
                    <a:chExt cx="505" cy="326"/>
                  </a:xfrm>
                </p:grpSpPr>
                <p:sp>
                  <p:nvSpPr>
                    <p:cNvPr id="60" name="Freeform 25">
                      <a:extLst>
                        <a:ext uri="{FF2B5EF4-FFF2-40B4-BE49-F238E27FC236}">
                          <a16:creationId xmlns:a16="http://schemas.microsoft.com/office/drawing/2014/main" id="{1C5465A9-D94A-B8C0-11DC-C359DA2AA56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64" y="3216"/>
                      <a:ext cx="288" cy="318"/>
                    </a:xfrm>
                    <a:custGeom>
                      <a:avLst/>
                      <a:gdLst/>
                      <a:ahLst/>
                      <a:cxnLst>
                        <a:cxn ang="0">
                          <a:pos x="246" y="317"/>
                        </a:cxn>
                        <a:cxn ang="0">
                          <a:pos x="287" y="9"/>
                        </a:cxn>
                        <a:cxn ang="0">
                          <a:pos x="40" y="0"/>
                        </a:cxn>
                        <a:cxn ang="0">
                          <a:pos x="0" y="273"/>
                        </a:cxn>
                        <a:cxn ang="0">
                          <a:pos x="246" y="317"/>
                        </a:cxn>
                      </a:cxnLst>
                      <a:rect l="0" t="0" r="r" b="b"/>
                      <a:pathLst>
                        <a:path w="288" h="318">
                          <a:moveTo>
                            <a:pt x="246" y="317"/>
                          </a:moveTo>
                          <a:lnTo>
                            <a:pt x="287" y="9"/>
                          </a:lnTo>
                          <a:lnTo>
                            <a:pt x="40" y="0"/>
                          </a:lnTo>
                          <a:lnTo>
                            <a:pt x="0" y="273"/>
                          </a:lnTo>
                          <a:lnTo>
                            <a:pt x="246" y="317"/>
                          </a:lnTo>
                        </a:path>
                      </a:pathLst>
                    </a:custGeom>
                    <a:solidFill>
                      <a:srgbClr val="A0A0A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" name="Freeform 26">
                      <a:extLst>
                        <a:ext uri="{FF2B5EF4-FFF2-40B4-BE49-F238E27FC236}">
                          <a16:creationId xmlns:a16="http://schemas.microsoft.com/office/drawing/2014/main" id="{A1290F82-2F9E-7195-20B8-A8E984AB87E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312" y="3228"/>
                      <a:ext cx="257" cy="314"/>
                    </a:xfrm>
                    <a:custGeom>
                      <a:avLst/>
                      <a:gdLst/>
                      <a:ahLst/>
                      <a:cxnLst>
                        <a:cxn ang="0">
                          <a:pos x="40" y="0"/>
                        </a:cxn>
                        <a:cxn ang="0">
                          <a:pos x="256" y="68"/>
                        </a:cxn>
                        <a:cxn ang="0">
                          <a:pos x="226" y="313"/>
                        </a:cxn>
                        <a:cxn ang="0">
                          <a:pos x="0" y="305"/>
                        </a:cxn>
                        <a:cxn ang="0">
                          <a:pos x="40" y="0"/>
                        </a:cxn>
                      </a:cxnLst>
                      <a:rect l="0" t="0" r="r" b="b"/>
                      <a:pathLst>
                        <a:path w="257" h="314">
                          <a:moveTo>
                            <a:pt x="40" y="0"/>
                          </a:moveTo>
                          <a:lnTo>
                            <a:pt x="256" y="68"/>
                          </a:lnTo>
                          <a:lnTo>
                            <a:pt x="226" y="313"/>
                          </a:lnTo>
                          <a:lnTo>
                            <a:pt x="0" y="305"/>
                          </a:lnTo>
                          <a:lnTo>
                            <a:pt x="4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" name="Freeform 27">
                      <a:extLst>
                        <a:ext uri="{FF2B5EF4-FFF2-40B4-BE49-F238E27FC236}">
                          <a16:creationId xmlns:a16="http://schemas.microsoft.com/office/drawing/2014/main" id="{A1053A2C-B663-FB16-A0B6-A6A4B653C3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97" y="3251"/>
                      <a:ext cx="207" cy="238"/>
                    </a:xfrm>
                    <a:custGeom>
                      <a:avLst/>
                      <a:gdLst/>
                      <a:ahLst/>
                      <a:cxnLst>
                        <a:cxn ang="0">
                          <a:pos x="206" y="9"/>
                        </a:cxn>
                        <a:cxn ang="0">
                          <a:pos x="178" y="237"/>
                        </a:cxn>
                        <a:cxn ang="0">
                          <a:pos x="0" y="209"/>
                        </a:cxn>
                        <a:cxn ang="0">
                          <a:pos x="30" y="0"/>
                        </a:cxn>
                        <a:cxn ang="0">
                          <a:pos x="206" y="9"/>
                        </a:cxn>
                      </a:cxnLst>
                      <a:rect l="0" t="0" r="r" b="b"/>
                      <a:pathLst>
                        <a:path w="207" h="238">
                          <a:moveTo>
                            <a:pt x="206" y="9"/>
                          </a:moveTo>
                          <a:lnTo>
                            <a:pt x="178" y="237"/>
                          </a:lnTo>
                          <a:lnTo>
                            <a:pt x="0" y="209"/>
                          </a:lnTo>
                          <a:lnTo>
                            <a:pt x="30" y="0"/>
                          </a:lnTo>
                          <a:lnTo>
                            <a:pt x="206" y="9"/>
                          </a:lnTo>
                        </a:path>
                      </a:pathLst>
                    </a:custGeom>
                    <a:solidFill>
                      <a:srgbClr val="00C0C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49" name="Group 28">
                  <a:extLst>
                    <a:ext uri="{FF2B5EF4-FFF2-40B4-BE49-F238E27FC236}">
                      <a16:creationId xmlns:a16="http://schemas.microsoft.com/office/drawing/2014/main" id="{33F15E69-D201-B611-BDD6-99A6537C1B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19" y="3533"/>
                  <a:ext cx="204" cy="152"/>
                  <a:chOff x="5019" y="3533"/>
                  <a:chExt cx="204" cy="152"/>
                </a:xfrm>
              </p:grpSpPr>
              <p:sp>
                <p:nvSpPr>
                  <p:cNvPr id="50" name="Freeform 29">
                    <a:extLst>
                      <a:ext uri="{FF2B5EF4-FFF2-40B4-BE49-F238E27FC236}">
                        <a16:creationId xmlns:a16="http://schemas.microsoft.com/office/drawing/2014/main" id="{E5184A07-DA78-FF16-AC92-79CD4122C53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9" y="3533"/>
                    <a:ext cx="204" cy="152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03" y="46"/>
                      </a:cxn>
                      <a:cxn ang="0">
                        <a:pos x="203" y="151"/>
                      </a:cxn>
                      <a:cxn ang="0">
                        <a:pos x="0" y="8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04" h="152">
                        <a:moveTo>
                          <a:pt x="0" y="0"/>
                        </a:moveTo>
                        <a:lnTo>
                          <a:pt x="203" y="46"/>
                        </a:lnTo>
                        <a:lnTo>
                          <a:pt x="203" y="151"/>
                        </a:lnTo>
                        <a:lnTo>
                          <a:pt x="0" y="8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40404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1" name="Line 30">
                    <a:extLst>
                      <a:ext uri="{FF2B5EF4-FFF2-40B4-BE49-F238E27FC236}">
                        <a16:creationId xmlns:a16="http://schemas.microsoft.com/office/drawing/2014/main" id="{E027FF73-DDD9-B2E9-6AD2-3BB563C562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37" y="3570"/>
                    <a:ext cx="51" cy="12"/>
                  </a:xfrm>
                  <a:prstGeom prst="line">
                    <a:avLst/>
                  </a:prstGeom>
                  <a:noFill/>
                  <a:ln w="508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Line 31">
                    <a:extLst>
                      <a:ext uri="{FF2B5EF4-FFF2-40B4-BE49-F238E27FC236}">
                        <a16:creationId xmlns:a16="http://schemas.microsoft.com/office/drawing/2014/main" id="{C145745F-2823-DF55-34B4-204F963D0A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18" y="3591"/>
                    <a:ext cx="70" cy="16"/>
                  </a:xfrm>
                  <a:prstGeom prst="line">
                    <a:avLst/>
                  </a:prstGeom>
                  <a:noFill/>
                  <a:ln w="508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3" name="Line 32">
                    <a:extLst>
                      <a:ext uri="{FF2B5EF4-FFF2-40B4-BE49-F238E27FC236}">
                        <a16:creationId xmlns:a16="http://schemas.microsoft.com/office/drawing/2014/main" id="{2EE667A7-CA2C-844F-B881-E0624B62E5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04" y="3554"/>
                    <a:ext cx="0" cy="9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4" name="Line 33">
                    <a:extLst>
                      <a:ext uri="{FF2B5EF4-FFF2-40B4-BE49-F238E27FC236}">
                        <a16:creationId xmlns:a16="http://schemas.microsoft.com/office/drawing/2014/main" id="{13CC41A3-32F7-0DF3-35D8-31B77951C1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02" y="3576"/>
                    <a:ext cx="0" cy="102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5" name="Line 34">
                    <a:extLst>
                      <a:ext uri="{FF2B5EF4-FFF2-40B4-BE49-F238E27FC236}">
                        <a16:creationId xmlns:a16="http://schemas.microsoft.com/office/drawing/2014/main" id="{5496BC72-8FCA-A68D-7C34-BCB17631EB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20" y="3576"/>
                    <a:ext cx="181" cy="4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6" name="Line 35">
                    <a:extLst>
                      <a:ext uri="{FF2B5EF4-FFF2-40B4-BE49-F238E27FC236}">
                        <a16:creationId xmlns:a16="http://schemas.microsoft.com/office/drawing/2014/main" id="{A55D1ABE-CCCB-D287-15E1-06116337CA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20" y="3564"/>
                    <a:ext cx="181" cy="4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6" name="Group 36">
                <a:extLst>
                  <a:ext uri="{FF2B5EF4-FFF2-40B4-BE49-F238E27FC236}">
                    <a16:creationId xmlns:a16="http://schemas.microsoft.com/office/drawing/2014/main" id="{04A1C063-5B43-F4BD-63C5-0CDCB12B6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07" y="3539"/>
                <a:ext cx="490" cy="254"/>
                <a:chOff x="4807" y="3539"/>
                <a:chExt cx="490" cy="254"/>
              </a:xfrm>
            </p:grpSpPr>
            <p:grpSp>
              <p:nvGrpSpPr>
                <p:cNvPr id="17" name="Group 37">
                  <a:extLst>
                    <a:ext uri="{FF2B5EF4-FFF2-40B4-BE49-F238E27FC236}">
                      <a16:creationId xmlns:a16="http://schemas.microsoft.com/office/drawing/2014/main" id="{E3B0A120-B9BA-2A6D-AD32-42F83213CC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4" y="3678"/>
                  <a:ext cx="80" cy="56"/>
                  <a:chOff x="5184" y="3678"/>
                  <a:chExt cx="80" cy="56"/>
                </a:xfrm>
              </p:grpSpPr>
              <p:sp>
                <p:nvSpPr>
                  <p:cNvPr id="46" name="Freeform 38">
                    <a:extLst>
                      <a:ext uri="{FF2B5EF4-FFF2-40B4-BE49-F238E27FC236}">
                        <a16:creationId xmlns:a16="http://schemas.microsoft.com/office/drawing/2014/main" id="{6E4A0737-6D3E-9E68-A6F8-55EBC6CFD6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40" y="3678"/>
                    <a:ext cx="24" cy="56"/>
                  </a:xfrm>
                  <a:custGeom>
                    <a:avLst/>
                    <a:gdLst/>
                    <a:ahLst/>
                    <a:cxnLst>
                      <a:cxn ang="0">
                        <a:pos x="18" y="0"/>
                      </a:cxn>
                      <a:cxn ang="0">
                        <a:pos x="23" y="53"/>
                      </a:cxn>
                      <a:cxn ang="0">
                        <a:pos x="7" y="55"/>
                      </a:cxn>
                      <a:cxn ang="0">
                        <a:pos x="0" y="1"/>
                      </a:cxn>
                      <a:cxn ang="0">
                        <a:pos x="18" y="0"/>
                      </a:cxn>
                    </a:cxnLst>
                    <a:rect l="0" t="0" r="r" b="b"/>
                    <a:pathLst>
                      <a:path w="24" h="56">
                        <a:moveTo>
                          <a:pt x="18" y="0"/>
                        </a:moveTo>
                        <a:lnTo>
                          <a:pt x="23" y="53"/>
                        </a:lnTo>
                        <a:lnTo>
                          <a:pt x="7" y="55"/>
                        </a:lnTo>
                        <a:lnTo>
                          <a:pt x="0" y="1"/>
                        </a:lnTo>
                        <a:lnTo>
                          <a:pt x="18" y="0"/>
                        </a:lnTo>
                      </a:path>
                    </a:pathLst>
                  </a:custGeom>
                  <a:solidFill>
                    <a:srgbClr val="606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39">
                    <a:extLst>
                      <a:ext uri="{FF2B5EF4-FFF2-40B4-BE49-F238E27FC236}">
                        <a16:creationId xmlns:a16="http://schemas.microsoft.com/office/drawing/2014/main" id="{B181F7F0-4FB1-4FC9-E9BB-42C56FD548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184" y="3684"/>
                    <a:ext cx="64" cy="50"/>
                  </a:xfrm>
                  <a:custGeom>
                    <a:avLst/>
                    <a:gdLst/>
                    <a:ahLst/>
                    <a:cxnLst>
                      <a:cxn ang="0">
                        <a:pos x="58" y="1"/>
                      </a:cxn>
                      <a:cxn ang="0">
                        <a:pos x="63" y="49"/>
                      </a:cxn>
                      <a:cxn ang="0">
                        <a:pos x="0" y="24"/>
                      </a:cxn>
                      <a:cxn ang="0">
                        <a:pos x="24" y="17"/>
                      </a:cxn>
                      <a:cxn ang="0">
                        <a:pos x="47" y="28"/>
                      </a:cxn>
                      <a:cxn ang="0">
                        <a:pos x="41" y="0"/>
                      </a:cxn>
                      <a:cxn ang="0">
                        <a:pos x="58" y="1"/>
                      </a:cxn>
                    </a:cxnLst>
                    <a:rect l="0" t="0" r="r" b="b"/>
                    <a:pathLst>
                      <a:path w="64" h="50">
                        <a:moveTo>
                          <a:pt x="58" y="1"/>
                        </a:moveTo>
                        <a:lnTo>
                          <a:pt x="63" y="49"/>
                        </a:lnTo>
                        <a:lnTo>
                          <a:pt x="0" y="24"/>
                        </a:lnTo>
                        <a:lnTo>
                          <a:pt x="24" y="17"/>
                        </a:lnTo>
                        <a:lnTo>
                          <a:pt x="47" y="28"/>
                        </a:lnTo>
                        <a:lnTo>
                          <a:pt x="41" y="0"/>
                        </a:lnTo>
                        <a:lnTo>
                          <a:pt x="58" y="1"/>
                        </a:lnTo>
                      </a:path>
                    </a:pathLst>
                  </a:custGeom>
                  <a:solidFill>
                    <a:srgbClr val="40404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8" name="Group 40">
                  <a:extLst>
                    <a:ext uri="{FF2B5EF4-FFF2-40B4-BE49-F238E27FC236}">
                      <a16:creationId xmlns:a16="http://schemas.microsoft.com/office/drawing/2014/main" id="{415F6B87-125E-D164-58F7-24E4656EAE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07" y="3539"/>
                  <a:ext cx="490" cy="254"/>
                  <a:chOff x="4807" y="3539"/>
                  <a:chExt cx="490" cy="254"/>
                </a:xfrm>
              </p:grpSpPr>
              <p:sp>
                <p:nvSpPr>
                  <p:cNvPr id="19" name="Freeform 41">
                    <a:extLst>
                      <a:ext uri="{FF2B5EF4-FFF2-40B4-BE49-F238E27FC236}">
                        <a16:creationId xmlns:a16="http://schemas.microsoft.com/office/drawing/2014/main" id="{F4B9412E-0A84-DF63-7467-E0801BE3D3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9" y="3539"/>
                    <a:ext cx="477" cy="224"/>
                  </a:xfrm>
                  <a:custGeom>
                    <a:avLst/>
                    <a:gdLst/>
                    <a:ahLst/>
                    <a:cxnLst>
                      <a:cxn ang="0">
                        <a:pos x="476" y="96"/>
                      </a:cxn>
                      <a:cxn ang="0">
                        <a:pos x="249" y="223"/>
                      </a:cxn>
                      <a:cxn ang="0">
                        <a:pos x="0" y="98"/>
                      </a:cxn>
                      <a:cxn ang="0">
                        <a:pos x="190" y="0"/>
                      </a:cxn>
                      <a:cxn ang="0">
                        <a:pos x="476" y="96"/>
                      </a:cxn>
                    </a:cxnLst>
                    <a:rect l="0" t="0" r="r" b="b"/>
                    <a:pathLst>
                      <a:path w="477" h="224">
                        <a:moveTo>
                          <a:pt x="476" y="96"/>
                        </a:moveTo>
                        <a:lnTo>
                          <a:pt x="249" y="223"/>
                        </a:lnTo>
                        <a:lnTo>
                          <a:pt x="0" y="98"/>
                        </a:lnTo>
                        <a:lnTo>
                          <a:pt x="190" y="0"/>
                        </a:lnTo>
                        <a:lnTo>
                          <a:pt x="476" y="96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" name="Freeform 42">
                    <a:extLst>
                      <a:ext uri="{FF2B5EF4-FFF2-40B4-BE49-F238E27FC236}">
                        <a16:creationId xmlns:a16="http://schemas.microsoft.com/office/drawing/2014/main" id="{1BB12A7E-5E5E-47A4-F7EC-7B2D861D62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57" y="3631"/>
                    <a:ext cx="240" cy="161"/>
                  </a:xfrm>
                  <a:custGeom>
                    <a:avLst/>
                    <a:gdLst/>
                    <a:ahLst/>
                    <a:cxnLst>
                      <a:cxn ang="0">
                        <a:pos x="228" y="0"/>
                      </a:cxn>
                      <a:cxn ang="0">
                        <a:pos x="0" y="134"/>
                      </a:cxn>
                      <a:cxn ang="0">
                        <a:pos x="7" y="160"/>
                      </a:cxn>
                      <a:cxn ang="0">
                        <a:pos x="239" y="25"/>
                      </a:cxn>
                      <a:cxn ang="0">
                        <a:pos x="228" y="0"/>
                      </a:cxn>
                    </a:cxnLst>
                    <a:rect l="0" t="0" r="r" b="b"/>
                    <a:pathLst>
                      <a:path w="240" h="161">
                        <a:moveTo>
                          <a:pt x="228" y="0"/>
                        </a:moveTo>
                        <a:lnTo>
                          <a:pt x="0" y="134"/>
                        </a:lnTo>
                        <a:lnTo>
                          <a:pt x="7" y="160"/>
                        </a:lnTo>
                        <a:lnTo>
                          <a:pt x="239" y="25"/>
                        </a:lnTo>
                        <a:lnTo>
                          <a:pt x="228" y="0"/>
                        </a:lnTo>
                      </a:path>
                    </a:pathLst>
                  </a:custGeom>
                  <a:solidFill>
                    <a:srgbClr val="606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43">
                    <a:extLst>
                      <a:ext uri="{FF2B5EF4-FFF2-40B4-BE49-F238E27FC236}">
                        <a16:creationId xmlns:a16="http://schemas.microsoft.com/office/drawing/2014/main" id="{FF9CDA25-A6F5-15C7-2AEF-8F7925557E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07" y="3638"/>
                    <a:ext cx="258" cy="155"/>
                  </a:xfrm>
                  <a:custGeom>
                    <a:avLst/>
                    <a:gdLst/>
                    <a:ahLst/>
                    <a:cxnLst>
                      <a:cxn ang="0">
                        <a:pos x="257" y="154"/>
                      </a:cxn>
                      <a:cxn ang="0">
                        <a:pos x="249" y="126"/>
                      </a:cxn>
                      <a:cxn ang="0">
                        <a:pos x="0" y="0"/>
                      </a:cxn>
                      <a:cxn ang="0">
                        <a:pos x="10" y="22"/>
                      </a:cxn>
                      <a:cxn ang="0">
                        <a:pos x="257" y="154"/>
                      </a:cxn>
                    </a:cxnLst>
                    <a:rect l="0" t="0" r="r" b="b"/>
                    <a:pathLst>
                      <a:path w="258" h="155">
                        <a:moveTo>
                          <a:pt x="257" y="154"/>
                        </a:moveTo>
                        <a:lnTo>
                          <a:pt x="249" y="126"/>
                        </a:lnTo>
                        <a:lnTo>
                          <a:pt x="0" y="0"/>
                        </a:lnTo>
                        <a:lnTo>
                          <a:pt x="10" y="22"/>
                        </a:lnTo>
                        <a:lnTo>
                          <a:pt x="257" y="154"/>
                        </a:lnTo>
                      </a:path>
                    </a:pathLst>
                  </a:custGeom>
                  <a:solidFill>
                    <a:srgbClr val="40404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44">
                    <a:extLst>
                      <a:ext uri="{FF2B5EF4-FFF2-40B4-BE49-F238E27FC236}">
                        <a16:creationId xmlns:a16="http://schemas.microsoft.com/office/drawing/2014/main" id="{D3FA6C9D-B1DF-05A2-2E02-5B16DD0C56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0" y="3647"/>
                    <a:ext cx="193" cy="94"/>
                  </a:xfrm>
                  <a:custGeom>
                    <a:avLst/>
                    <a:gdLst/>
                    <a:ahLst/>
                    <a:cxnLst>
                      <a:cxn ang="0">
                        <a:pos x="192" y="23"/>
                      </a:cxn>
                      <a:cxn ang="0">
                        <a:pos x="123" y="0"/>
                      </a:cxn>
                      <a:cxn ang="0">
                        <a:pos x="0" y="63"/>
                      </a:cxn>
                      <a:cxn ang="0">
                        <a:pos x="63" y="93"/>
                      </a:cxn>
                      <a:cxn ang="0">
                        <a:pos x="192" y="23"/>
                      </a:cxn>
                    </a:cxnLst>
                    <a:rect l="0" t="0" r="r" b="b"/>
                    <a:pathLst>
                      <a:path w="193" h="94">
                        <a:moveTo>
                          <a:pt x="192" y="23"/>
                        </a:moveTo>
                        <a:lnTo>
                          <a:pt x="123" y="0"/>
                        </a:lnTo>
                        <a:lnTo>
                          <a:pt x="0" y="63"/>
                        </a:lnTo>
                        <a:lnTo>
                          <a:pt x="63" y="93"/>
                        </a:lnTo>
                        <a:lnTo>
                          <a:pt x="192" y="23"/>
                        </a:lnTo>
                      </a:path>
                    </a:pathLst>
                  </a:custGeom>
                  <a:solidFill>
                    <a:srgbClr val="A0A0A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45">
                    <a:extLst>
                      <a:ext uri="{FF2B5EF4-FFF2-40B4-BE49-F238E27FC236}">
                        <a16:creationId xmlns:a16="http://schemas.microsoft.com/office/drawing/2014/main" id="{E8D7F48E-5B43-2C0B-7C99-5BF733A7D1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31" y="3575"/>
                    <a:ext cx="282" cy="130"/>
                  </a:xfrm>
                  <a:custGeom>
                    <a:avLst/>
                    <a:gdLst/>
                    <a:ahLst/>
                    <a:cxnLst>
                      <a:cxn ang="0">
                        <a:pos x="281" y="63"/>
                      </a:cxn>
                      <a:cxn ang="0">
                        <a:pos x="157" y="129"/>
                      </a:cxn>
                      <a:cxn ang="0">
                        <a:pos x="0" y="55"/>
                      </a:cxn>
                      <a:cxn ang="0">
                        <a:pos x="113" y="0"/>
                      </a:cxn>
                      <a:cxn ang="0">
                        <a:pos x="281" y="63"/>
                      </a:cxn>
                    </a:cxnLst>
                    <a:rect l="0" t="0" r="r" b="b"/>
                    <a:pathLst>
                      <a:path w="282" h="130">
                        <a:moveTo>
                          <a:pt x="281" y="63"/>
                        </a:moveTo>
                        <a:lnTo>
                          <a:pt x="157" y="129"/>
                        </a:lnTo>
                        <a:lnTo>
                          <a:pt x="0" y="55"/>
                        </a:lnTo>
                        <a:lnTo>
                          <a:pt x="113" y="0"/>
                        </a:lnTo>
                        <a:lnTo>
                          <a:pt x="281" y="63"/>
                        </a:lnTo>
                      </a:path>
                    </a:pathLst>
                  </a:custGeom>
                  <a:solidFill>
                    <a:srgbClr val="A0A0A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46">
                    <a:extLst>
                      <a:ext uri="{FF2B5EF4-FFF2-40B4-BE49-F238E27FC236}">
                        <a16:creationId xmlns:a16="http://schemas.microsoft.com/office/drawing/2014/main" id="{706F7A2E-346D-B6DE-73B8-76C0E145BE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52" y="3545"/>
                    <a:ext cx="310" cy="118"/>
                  </a:xfrm>
                  <a:custGeom>
                    <a:avLst/>
                    <a:gdLst/>
                    <a:ahLst/>
                    <a:cxnLst>
                      <a:cxn ang="0">
                        <a:pos x="245" y="117"/>
                      </a:cxn>
                      <a:cxn ang="0">
                        <a:pos x="309" y="84"/>
                      </a:cxn>
                      <a:cxn ang="0">
                        <a:pos x="50" y="0"/>
                      </a:cxn>
                      <a:cxn ang="0">
                        <a:pos x="0" y="24"/>
                      </a:cxn>
                      <a:cxn ang="0">
                        <a:pos x="245" y="117"/>
                      </a:cxn>
                    </a:cxnLst>
                    <a:rect l="0" t="0" r="r" b="b"/>
                    <a:pathLst>
                      <a:path w="310" h="118">
                        <a:moveTo>
                          <a:pt x="245" y="117"/>
                        </a:moveTo>
                        <a:lnTo>
                          <a:pt x="309" y="84"/>
                        </a:lnTo>
                        <a:lnTo>
                          <a:pt x="50" y="0"/>
                        </a:lnTo>
                        <a:lnTo>
                          <a:pt x="0" y="24"/>
                        </a:lnTo>
                        <a:lnTo>
                          <a:pt x="245" y="117"/>
                        </a:lnTo>
                      </a:path>
                    </a:pathLst>
                  </a:custGeom>
                  <a:solidFill>
                    <a:srgbClr val="A0A0A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5" name="Line 47">
                    <a:extLst>
                      <a:ext uri="{FF2B5EF4-FFF2-40B4-BE49-F238E27FC236}">
                        <a16:creationId xmlns:a16="http://schemas.microsoft.com/office/drawing/2014/main" id="{FD7CAD11-583B-1A4B-821A-3FF2EA99B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87" y="3554"/>
                    <a:ext cx="268" cy="93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Line 48">
                    <a:extLst>
                      <a:ext uri="{FF2B5EF4-FFF2-40B4-BE49-F238E27FC236}">
                        <a16:creationId xmlns:a16="http://schemas.microsoft.com/office/drawing/2014/main" id="{75C46D52-1226-7FD7-B7F9-417412EFF5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75" y="3560"/>
                    <a:ext cx="256" cy="93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Line 49">
                    <a:extLst>
                      <a:ext uri="{FF2B5EF4-FFF2-40B4-BE49-F238E27FC236}">
                        <a16:creationId xmlns:a16="http://schemas.microsoft.com/office/drawing/2014/main" id="{6B028B97-1E93-34C0-8B1F-4BD43BA55E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65" y="3565"/>
                    <a:ext cx="250" cy="97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Line 50">
                    <a:extLst>
                      <a:ext uri="{FF2B5EF4-FFF2-40B4-BE49-F238E27FC236}">
                        <a16:creationId xmlns:a16="http://schemas.microsoft.com/office/drawing/2014/main" id="{C858DE53-45A8-32AE-4B48-FB99C5AFA9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32" y="3582"/>
                    <a:ext cx="247" cy="101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Line 51">
                    <a:extLst>
                      <a:ext uri="{FF2B5EF4-FFF2-40B4-BE49-F238E27FC236}">
                        <a16:creationId xmlns:a16="http://schemas.microsoft.com/office/drawing/2014/main" id="{B0D85260-DF36-FBB7-3791-DECD7E4B96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11" y="3594"/>
                    <a:ext cx="247" cy="100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Line 52">
                    <a:extLst>
                      <a:ext uri="{FF2B5EF4-FFF2-40B4-BE49-F238E27FC236}">
                        <a16:creationId xmlns:a16="http://schemas.microsoft.com/office/drawing/2014/main" id="{F68824F0-22F4-53DA-4533-0C0AF9E03C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909" y="3607"/>
                    <a:ext cx="218" cy="94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Line 53">
                    <a:extLst>
                      <a:ext uri="{FF2B5EF4-FFF2-40B4-BE49-F238E27FC236}">
                        <a16:creationId xmlns:a16="http://schemas.microsoft.com/office/drawing/2014/main" id="{B7207006-E5F1-B9FC-DD62-ABA35F2476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94" y="3618"/>
                    <a:ext cx="211" cy="94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Line 54">
                    <a:extLst>
                      <a:ext uri="{FF2B5EF4-FFF2-40B4-BE49-F238E27FC236}">
                        <a16:creationId xmlns:a16="http://schemas.microsoft.com/office/drawing/2014/main" id="{DD048E82-40F2-82D5-E904-D2866E19AF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74" y="3629"/>
                    <a:ext cx="206" cy="96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Line 55">
                    <a:extLst>
                      <a:ext uri="{FF2B5EF4-FFF2-40B4-BE49-F238E27FC236}">
                        <a16:creationId xmlns:a16="http://schemas.microsoft.com/office/drawing/2014/main" id="{0F592528-69F9-5B15-1595-DEEF79A7B4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4" y="3662"/>
                    <a:ext cx="130" cy="75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Line 56">
                    <a:extLst>
                      <a:ext uri="{FF2B5EF4-FFF2-40B4-BE49-F238E27FC236}">
                        <a16:creationId xmlns:a16="http://schemas.microsoft.com/office/drawing/2014/main" id="{A4579AAC-DD6A-55E4-957F-294D3312BB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21" y="3653"/>
                    <a:ext cx="126" cy="72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Line 57">
                    <a:extLst>
                      <a:ext uri="{FF2B5EF4-FFF2-40B4-BE49-F238E27FC236}">
                        <a16:creationId xmlns:a16="http://schemas.microsoft.com/office/drawing/2014/main" id="{5BC01626-10D7-EDDE-AD6D-A05114B6E9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67" y="3630"/>
                    <a:ext cx="125" cy="67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Line 58">
                    <a:extLst>
                      <a:ext uri="{FF2B5EF4-FFF2-40B4-BE49-F238E27FC236}">
                        <a16:creationId xmlns:a16="http://schemas.microsoft.com/office/drawing/2014/main" id="{4056EB49-6C92-2AD1-2C54-EB34A2DB65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41" y="3620"/>
                    <a:ext cx="121" cy="65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Line 59">
                    <a:extLst>
                      <a:ext uri="{FF2B5EF4-FFF2-40B4-BE49-F238E27FC236}">
                        <a16:creationId xmlns:a16="http://schemas.microsoft.com/office/drawing/2014/main" id="{B8244615-8E6F-050A-C785-42354D3F12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14" y="3607"/>
                    <a:ext cx="118" cy="70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Line 60">
                    <a:extLst>
                      <a:ext uri="{FF2B5EF4-FFF2-40B4-BE49-F238E27FC236}">
                        <a16:creationId xmlns:a16="http://schemas.microsoft.com/office/drawing/2014/main" id="{F9A8611E-8FF8-F6AE-B04E-BAD904E3DF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91" y="3597"/>
                    <a:ext cx="116" cy="65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" name="Line 61">
                    <a:extLst>
                      <a:ext uri="{FF2B5EF4-FFF2-40B4-BE49-F238E27FC236}">
                        <a16:creationId xmlns:a16="http://schemas.microsoft.com/office/drawing/2014/main" id="{11D202A7-713F-DA8C-5B28-7E90384D43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864" y="3588"/>
                    <a:ext cx="119" cy="61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Line 62">
                    <a:extLst>
                      <a:ext uri="{FF2B5EF4-FFF2-40B4-BE49-F238E27FC236}">
                        <a16:creationId xmlns:a16="http://schemas.microsoft.com/office/drawing/2014/main" id="{09F59B8F-F618-B244-1875-CF3B7641B8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68" y="3619"/>
                    <a:ext cx="59" cy="36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2AC8C7FA-C542-1EE0-5011-4E396A518F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29" y="3608"/>
                    <a:ext cx="61" cy="35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Line 64">
                    <a:extLst>
                      <a:ext uri="{FF2B5EF4-FFF2-40B4-BE49-F238E27FC236}">
                        <a16:creationId xmlns:a16="http://schemas.microsoft.com/office/drawing/2014/main" id="{83856308-32B5-414F-5488-AF8DB53C79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92" y="3596"/>
                    <a:ext cx="62" cy="32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Line 65">
                    <a:extLst>
                      <a:ext uri="{FF2B5EF4-FFF2-40B4-BE49-F238E27FC236}">
                        <a16:creationId xmlns:a16="http://schemas.microsoft.com/office/drawing/2014/main" id="{FB97F5E3-CC4D-2620-5A3C-BDE3A3A28F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58" y="3583"/>
                    <a:ext cx="59" cy="30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Line 66">
                    <a:extLst>
                      <a:ext uri="{FF2B5EF4-FFF2-40B4-BE49-F238E27FC236}">
                        <a16:creationId xmlns:a16="http://schemas.microsoft.com/office/drawing/2014/main" id="{386AF8D9-9E5B-5B1B-77A6-0635E003D6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24" y="3570"/>
                    <a:ext cx="55" cy="31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Line 67">
                    <a:extLst>
                      <a:ext uri="{FF2B5EF4-FFF2-40B4-BE49-F238E27FC236}">
                        <a16:creationId xmlns:a16="http://schemas.microsoft.com/office/drawing/2014/main" id="{39FE8D92-DC7C-1DFD-0971-16C109D46D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86" y="3557"/>
                    <a:ext cx="52" cy="30"/>
                  </a:xfrm>
                  <a:prstGeom prst="line">
                    <a:avLst/>
                  </a:prstGeom>
                  <a:noFill/>
                  <a:ln w="25400">
                    <a:solidFill>
                      <a:srgbClr val="80808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1" name="Group 68">
              <a:extLst>
                <a:ext uri="{FF2B5EF4-FFF2-40B4-BE49-F238E27FC236}">
                  <a16:creationId xmlns:a16="http://schemas.microsoft.com/office/drawing/2014/main" id="{BF74C5E6-2102-8A83-9361-DF799F5F0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7" y="2825"/>
              <a:ext cx="332" cy="543"/>
              <a:chOff x="5267" y="2825"/>
              <a:chExt cx="332" cy="543"/>
            </a:xfrm>
          </p:grpSpPr>
          <p:graphicFrame>
            <p:nvGraphicFramePr>
              <p:cNvPr id="12" name="Object 69">
                <a:extLst>
                  <a:ext uri="{FF2B5EF4-FFF2-40B4-BE49-F238E27FC236}">
                    <a16:creationId xmlns:a16="http://schemas.microsoft.com/office/drawing/2014/main" id="{4C844660-7B6D-1925-2C42-6EDB6F8460E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267" y="2825"/>
              <a:ext cx="332" cy="4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Microsoft ClipArt Gallery" r:id="rId6" imgW="527040" imgH="720720" progId="">
                      <p:embed/>
                    </p:oleObj>
                  </mc:Choice>
                  <mc:Fallback>
                    <p:oleObj name="Microsoft ClipArt Gallery" r:id="rId6" imgW="527040" imgH="720720" progId="">
                      <p:embed/>
                      <p:pic>
                        <p:nvPicPr>
                          <p:cNvPr id="12" name="Object 69">
                            <a:extLst>
                              <a:ext uri="{FF2B5EF4-FFF2-40B4-BE49-F238E27FC236}">
                                <a16:creationId xmlns:a16="http://schemas.microsoft.com/office/drawing/2014/main" id="{4C844660-7B6D-1925-2C42-6EDB6F8460E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7" y="2825"/>
                            <a:ext cx="332" cy="4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Rectangle 70">
                <a:extLst>
                  <a:ext uri="{FF2B5EF4-FFF2-40B4-BE49-F238E27FC236}">
                    <a16:creationId xmlns:a16="http://schemas.microsoft.com/office/drawing/2014/main" id="{2A77F2BB-F2E8-83FA-84C9-58559C854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06" y="3271"/>
                <a:ext cx="138" cy="97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What is Defensive Programming?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455384C6-5D79-EE28-6E40-A76C3233A6F3}"/>
              </a:ext>
            </a:extLst>
          </p:cNvPr>
          <p:cNvSpPr/>
          <p:nvPr/>
        </p:nvSpPr>
        <p:spPr>
          <a:xfrm>
            <a:off x="4673600" y="903112"/>
            <a:ext cx="4372216" cy="1393185"/>
          </a:xfrm>
          <a:prstGeom prst="cloudCallout">
            <a:avLst>
              <a:gd name="adj1" fmla="val 17479"/>
              <a:gd name="adj2" fmla="val 11339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Protecting Your Program from Invalid Inputs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2FBFD385-B2E6-E7D5-0790-7CD5C4E85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5344" y="3267561"/>
            <a:ext cx="1718656" cy="2283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3B0B2F06-5C82-8CC9-E779-1294A89D9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4" y="903112"/>
            <a:ext cx="4229100" cy="5646737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04D8E9D-5633-15ED-3883-177CC696E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39312" y="2358849"/>
            <a:ext cx="224790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D35A0BE8-0B5B-39F1-DECF-7D6D4B840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45000" y="3267561"/>
            <a:ext cx="294322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D09B0CC-E2D4-37D0-607D-A86560A92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45000" y="4873449"/>
            <a:ext cx="24765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Protecting Your Program from Invalid Inputs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0E0FD1AA-7AF0-F9C4-FFA6-54C6AA04A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780" y="1206324"/>
            <a:ext cx="7162800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Protecting Your Program from Invalid Inputs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E06B53AF-2DC5-8CA9-2E99-A16C222BE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1930400"/>
            <a:ext cx="8788400" cy="1498600"/>
          </a:xfrm>
          <a:prstGeom prst="rect">
            <a:avLst/>
          </a:prstGeom>
          <a:solidFill>
            <a:srgbClr val="DEEBF7"/>
          </a:solidFill>
          <a:ln w="9525">
            <a:noFill/>
            <a:miter lim="800000"/>
            <a:headEnd/>
            <a:tailEnd/>
          </a:ln>
        </p:spPr>
        <p:txBody>
          <a:bodyPr wrap="square" lIns="0" tIns="21590" rIns="0" bIns="0">
            <a:spAutoFit/>
          </a:bodyPr>
          <a:lstStyle/>
          <a:p>
            <a:pPr marL="163513" algn="ctr">
              <a:spcBef>
                <a:spcPts val="175"/>
              </a:spcBef>
            </a:pPr>
            <a:r>
              <a:rPr lang="en-US" sz="3200" dirty="0">
                <a:latin typeface="Carlito"/>
                <a:ea typeface="Carlito"/>
                <a:cs typeface="Carlito"/>
              </a:rPr>
              <a:t>For production software, garbage in, garbage out  isn’t good enough. A good program never puts  out garbage, regardless of what it takes in.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7FEA33D1-1DA5-C5A2-B556-AA7112F74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638" y="3940175"/>
            <a:ext cx="8649927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152ECC-1088-022D-A813-EFADFC9A2F66}"/>
              </a:ext>
            </a:extLst>
          </p:cNvPr>
          <p:cNvSpPr/>
          <p:nvPr/>
        </p:nvSpPr>
        <p:spPr>
          <a:xfrm>
            <a:off x="6337301" y="4749800"/>
            <a:ext cx="19811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1- Assertions</a:t>
            </a:r>
          </a:p>
          <a:p>
            <a:r>
              <a:rPr lang="en-US" b="1" dirty="0"/>
              <a:t>2- Error handling</a:t>
            </a:r>
          </a:p>
          <a:p>
            <a:r>
              <a:rPr lang="en-US" b="1" dirty="0"/>
              <a:t>3- Exceptions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Assertions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7BD3904-531C-80E3-917B-8D6F339B4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47" y="2431939"/>
            <a:ext cx="8086152" cy="11366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7145" rIns="0" bIns="0">
            <a:spAutoFit/>
          </a:bodyPr>
          <a:lstStyle/>
          <a:p>
            <a:pPr marL="260350" algn="ctr">
              <a:lnSpc>
                <a:spcPct val="101000"/>
              </a:lnSpc>
              <a:spcBef>
                <a:spcPts val="138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When an assertion is true, that means everything is operating as expected. When it’s false, that means it has detected an unexpected error in the code.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B3A3C02-A56D-B206-E0A1-C0A2D568F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47" y="4094052"/>
            <a:ext cx="8179905" cy="881062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19685" rIns="0" bIns="0">
            <a:spAutoFit/>
          </a:bodyPr>
          <a:lstStyle/>
          <a:p>
            <a:pPr marL="177800" algn="ctr">
              <a:spcBef>
                <a:spcPts val="150"/>
              </a:spcBef>
            </a:pPr>
            <a:r>
              <a:rPr lang="en-US" sz="2800" dirty="0">
                <a:latin typeface="Carlito"/>
                <a:ea typeface="Carlito"/>
                <a:cs typeface="Carlito"/>
              </a:rPr>
              <a:t>Assertions are especially useful in large, complicated programs and in high-reliability programs.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72E8FF8-4C5F-217D-6807-DA2CECC63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47" y="1401652"/>
            <a:ext cx="8578353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2901950" indent="-2889250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An assertion is code that’s used during development—usually a routine or macro—that allows a program to check itself as it runs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Assertions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5022F8F4-160B-568E-0117-A7FA5EF7A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1401652"/>
            <a:ext cx="8661400" cy="1136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7780" rIns="0" bIns="0">
            <a:spAutoFit/>
          </a:bodyPr>
          <a:lstStyle/>
          <a:p>
            <a:pPr marL="396875" indent="-71438" algn="ctr">
              <a:lnSpc>
                <a:spcPct val="101000"/>
              </a:lnSpc>
              <a:spcBef>
                <a:spcPts val="138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An assertion usually takes two arguments</a:t>
            </a:r>
            <a:r>
              <a:rPr lang="en-US" sz="2400" b="1" dirty="0">
                <a:latin typeface="Carlito"/>
                <a:ea typeface="Carlito"/>
                <a:cs typeface="Carlito"/>
              </a:rPr>
              <a:t>: </a:t>
            </a:r>
            <a:r>
              <a:rPr lang="en-US" sz="2400" dirty="0">
                <a:latin typeface="Carlito"/>
                <a:ea typeface="Carlito"/>
                <a:cs typeface="Carlito"/>
              </a:rPr>
              <a:t>a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Boolean expression </a:t>
            </a:r>
            <a:r>
              <a:rPr lang="en-US" sz="2400" dirty="0">
                <a:latin typeface="Carlito"/>
                <a:ea typeface="Carlito"/>
                <a:cs typeface="Carlito"/>
              </a:rPr>
              <a:t>that describes the assumption that’s supposed to be true, and a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message </a:t>
            </a:r>
            <a:r>
              <a:rPr lang="en-US" sz="2400" dirty="0">
                <a:latin typeface="Carlito"/>
                <a:ea typeface="Carlito"/>
                <a:cs typeface="Carlito"/>
              </a:rPr>
              <a:t>to display if it isn’t.</a:t>
            </a: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17B03725-30F1-B673-ACFE-CDFA76D2466C}"/>
              </a:ext>
            </a:extLst>
          </p:cNvPr>
          <p:cNvGrpSpPr>
            <a:grpSpLocks/>
          </p:cNvGrpSpPr>
          <p:nvPr/>
        </p:nvGrpSpPr>
        <p:grpSpPr bwMode="auto">
          <a:xfrm>
            <a:off x="68263" y="2925652"/>
            <a:ext cx="8831741" cy="3522663"/>
            <a:chOff x="160068" y="2937611"/>
            <a:chExt cx="11771323" cy="35225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645501B-9C0F-BF55-9885-46DEF46CE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68" y="2937611"/>
              <a:ext cx="6951625" cy="3522565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C1D0015-17CB-C8AD-50D4-2AA93FC62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7564" y="2954196"/>
              <a:ext cx="5373827" cy="2176653"/>
            </a:xfrm>
            <a:prstGeom prst="rect">
              <a:avLst/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Assertions: </a:t>
            </a:r>
            <a:r>
              <a:rPr lang="en-US" sz="2800" dirty="0">
                <a:solidFill>
                  <a:schemeClr val="tx1"/>
                </a:solidFill>
              </a:rPr>
              <a:t>Guidelines for Using Assertions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ADE0687-7681-7E09-6786-A3B140EC02D9}"/>
              </a:ext>
            </a:extLst>
          </p:cNvPr>
          <p:cNvSpPr txBox="1">
            <a:spLocks/>
          </p:cNvSpPr>
          <p:nvPr/>
        </p:nvSpPr>
        <p:spPr>
          <a:xfrm>
            <a:off x="435428" y="3429000"/>
            <a:ext cx="8273143" cy="282999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indent="0" algn="ctr">
              <a:lnSpc>
                <a:spcPct val="101000"/>
              </a:lnSpc>
              <a:spcBef>
                <a:spcPts val="75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rlito"/>
                <a:ea typeface="Carlito"/>
                <a:cs typeface="Carlito"/>
              </a:rPr>
              <a:t>Assertions check for conditions that should never occur. </a:t>
            </a:r>
          </a:p>
          <a:p>
            <a:pPr marL="9525" indent="0" algn="ctr">
              <a:lnSpc>
                <a:spcPct val="101000"/>
              </a:lnSpc>
              <a:spcBef>
                <a:spcPts val="75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rlito"/>
                <a:ea typeface="Carlito"/>
                <a:cs typeface="Carlito"/>
              </a:rPr>
              <a:t>Error-handling code checks for off-nominal circumstances that might not occur very often, but that have been anticipated by the programmer who wrote the code and that need to be handled by the production code.</a:t>
            </a:r>
          </a:p>
          <a:p>
            <a:pPr marL="9525" indent="0" algn="ctr">
              <a:lnSpc>
                <a:spcPct val="101000"/>
              </a:lnSpc>
              <a:spcBef>
                <a:spcPts val="75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Carlito"/>
                <a:ea typeface="Carlito"/>
                <a:cs typeface="Carlito"/>
              </a:rPr>
              <a:t>Error handling typically checks for bad input data; assertions check for bugs in the code.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D8BBCBD5-0C2B-95EC-8070-74B50E56C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1608138"/>
            <a:ext cx="8801100" cy="13192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4604" rIns="0" bIns="0">
            <a:spAutoFit/>
          </a:bodyPr>
          <a:lstStyle/>
          <a:p>
            <a:pPr marL="715963" indent="-477838" algn="ctr">
              <a:lnSpc>
                <a:spcPct val="101000"/>
              </a:lnSpc>
              <a:spcBef>
                <a:spcPts val="113"/>
              </a:spcBef>
            </a:pPr>
            <a:r>
              <a:rPr lang="en-US" sz="28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Use error-handling code for conditions you expect to occur; use assertions for conditions that should never occur</a:t>
            </a:r>
            <a:endParaRPr lang="en-US" sz="28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Assertions</a:t>
            </a:r>
            <a:r>
              <a:rPr lang="en-US" sz="6600" b="1" dirty="0">
                <a:solidFill>
                  <a:schemeClr val="tx1"/>
                </a:solidFill>
              </a:rPr>
              <a:t>: </a:t>
            </a:r>
            <a:r>
              <a:rPr lang="en-US" sz="3100" dirty="0">
                <a:solidFill>
                  <a:schemeClr val="tx1"/>
                </a:solidFill>
              </a:rPr>
              <a:t>Guidelines for Using Assertions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8A6E191-9FAA-3A69-DF57-A3EF618E1772}"/>
              </a:ext>
            </a:extLst>
          </p:cNvPr>
          <p:cNvSpPr txBox="1"/>
          <p:nvPr/>
        </p:nvSpPr>
        <p:spPr>
          <a:xfrm>
            <a:off x="450850" y="1573213"/>
            <a:ext cx="8242300" cy="450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83185" algn="ctr">
              <a:spcBef>
                <a:spcPts val="160"/>
              </a:spcBef>
              <a:defRPr/>
            </a:pPr>
            <a:r>
              <a:rPr sz="2800" b="1" spc="-25" dirty="0">
                <a:solidFill>
                  <a:srgbClr val="C00000"/>
                </a:solidFill>
                <a:latin typeface="Carlito"/>
                <a:cs typeface="Carlito"/>
              </a:rPr>
              <a:t>Avoid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putting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executable </a:t>
            </a:r>
            <a:r>
              <a:rPr sz="2800" b="1" spc="-10" dirty="0">
                <a:solidFill>
                  <a:srgbClr val="C00000"/>
                </a:solidFill>
                <a:latin typeface="Carlito"/>
                <a:cs typeface="Carlito"/>
              </a:rPr>
              <a:t>code </a:t>
            </a:r>
            <a:r>
              <a:rPr sz="2800" b="1" spc="-15" dirty="0">
                <a:solidFill>
                  <a:srgbClr val="C00000"/>
                </a:solidFill>
                <a:latin typeface="Carlito"/>
                <a:cs typeface="Carlito"/>
              </a:rPr>
              <a:t>into</a:t>
            </a:r>
            <a:r>
              <a:rPr sz="2800" b="1" spc="6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rlito"/>
                <a:cs typeface="Carlito"/>
              </a:rPr>
              <a:t>assertions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B38492-9CC9-2437-3611-6839EA040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2103438"/>
            <a:ext cx="852805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2690813" indent="-2678113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Putting code into an assertion raises the possibility that the compiler will eliminate the code  when you turn off the assertions.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217496A-E2BF-81EF-2821-73E633185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3292475"/>
            <a:ext cx="6570662" cy="98266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250E18C-5CB9-0AB8-6C71-68182B14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4838700"/>
            <a:ext cx="6542087" cy="13081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0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Assertions: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Guidelines for Using Assertions</a:t>
            </a:r>
            <a:endParaRPr lang="en-US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696C988-EE6F-C2C4-4E9B-AA273DA47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33513"/>
            <a:ext cx="8826500" cy="884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4604" rIns="0" bIns="0">
            <a:spAutoFit/>
          </a:bodyPr>
          <a:lstStyle/>
          <a:p>
            <a:pPr marL="3959225" indent="-3297238">
              <a:lnSpc>
                <a:spcPct val="101000"/>
              </a:lnSpc>
              <a:spcBef>
                <a:spcPts val="113"/>
              </a:spcBef>
            </a:pPr>
            <a:r>
              <a:rPr lang="en-US" sz="2800" b="1" dirty="0">
                <a:solidFill>
                  <a:srgbClr val="C00000"/>
                </a:solidFill>
                <a:latin typeface="Carlito"/>
                <a:ea typeface="Carlito"/>
                <a:cs typeface="Carlito"/>
              </a:rPr>
              <a:t>Do not use assertions for argument checking in public methods</a:t>
            </a:r>
            <a:endParaRPr lang="en-US" sz="2800" dirty="0">
              <a:latin typeface="Carlito"/>
              <a:ea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B3D9BB7-FBC7-F6B2-79E8-90C59783F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1" y="2559050"/>
            <a:ext cx="88265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773113" indent="-762000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Argument checking is typically part of the published specifications (or contract) of a method, and these specifications must be obeyed whether assertions are enabled or disabled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24F8E46A-788D-98F5-3806-9DFAECD5A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3938" y="3457575"/>
            <a:ext cx="7423087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6420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Assertions: </a:t>
            </a:r>
            <a:r>
              <a:rPr lang="en-US" sz="3100" dirty="0">
                <a:solidFill>
                  <a:schemeClr val="tx1"/>
                </a:solidFill>
                <a:latin typeface="+mn-lt"/>
              </a:rPr>
              <a:t>Guidelines for Using Assertions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E9ABDC-0F15-5B21-9D22-BEA348283A77}"/>
              </a:ext>
            </a:extLst>
          </p:cNvPr>
          <p:cNvSpPr txBox="1"/>
          <p:nvPr/>
        </p:nvSpPr>
        <p:spPr>
          <a:xfrm>
            <a:off x="685800" y="1339850"/>
            <a:ext cx="8115300" cy="7588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>
            <a:spAutoFit/>
          </a:bodyPr>
          <a:lstStyle/>
          <a:p>
            <a:pPr marL="290195" algn="ctr">
              <a:spcBef>
                <a:spcPts val="160"/>
              </a:spcBef>
              <a:defRPr/>
            </a:pPr>
            <a:r>
              <a:rPr sz="2400" b="1" spc="-5" dirty="0">
                <a:solidFill>
                  <a:srgbClr val="C00000"/>
                </a:solidFill>
                <a:latin typeface="Carlito"/>
                <a:cs typeface="Carlito"/>
              </a:rPr>
              <a:t>Use assertions </a:t>
            </a:r>
            <a:r>
              <a:rPr sz="2400" b="1" spc="-15" dirty="0">
                <a:solidFill>
                  <a:srgbClr val="C00000"/>
                </a:solidFill>
                <a:latin typeface="Carlito"/>
                <a:cs typeface="Carlito"/>
              </a:rPr>
              <a:t>to </a:t>
            </a:r>
            <a:r>
              <a:rPr sz="2400" b="1" spc="-10" dirty="0">
                <a:solidFill>
                  <a:srgbClr val="C00000"/>
                </a:solidFill>
                <a:latin typeface="Carlito"/>
                <a:cs typeface="Carlito"/>
              </a:rPr>
              <a:t>document </a:t>
            </a:r>
            <a:r>
              <a:rPr sz="2400" b="1" dirty="0">
                <a:solidFill>
                  <a:srgbClr val="C00000"/>
                </a:solidFill>
                <a:latin typeface="Carlito"/>
                <a:cs typeface="Carlito"/>
              </a:rPr>
              <a:t>and </a:t>
            </a:r>
            <a:r>
              <a:rPr sz="2400" b="1" spc="-5" dirty="0">
                <a:solidFill>
                  <a:srgbClr val="C00000"/>
                </a:solidFill>
                <a:latin typeface="Carlito"/>
                <a:cs typeface="Carlito"/>
              </a:rPr>
              <a:t>verify </a:t>
            </a:r>
            <a:r>
              <a:rPr sz="2400" b="1" spc="-10" dirty="0">
                <a:solidFill>
                  <a:srgbClr val="C00000"/>
                </a:solidFill>
                <a:latin typeface="Carlito"/>
                <a:cs typeface="Carlito"/>
              </a:rPr>
              <a:t>preconditions </a:t>
            </a:r>
            <a:r>
              <a:rPr sz="2400" b="1" dirty="0">
                <a:solidFill>
                  <a:srgbClr val="C00000"/>
                </a:solidFill>
                <a:latin typeface="Carlito"/>
                <a:cs typeface="Carlito"/>
              </a:rPr>
              <a:t>and</a:t>
            </a:r>
            <a:r>
              <a:rPr sz="2400" b="1" spc="7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rlito"/>
                <a:cs typeface="Carlito"/>
              </a:rPr>
              <a:t>postconditions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BC2153-6AF3-EA2E-E171-0239D5DEA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60" y="2653352"/>
            <a:ext cx="4127609" cy="171983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5560" rIns="0" bIns="0">
            <a:spAutoFit/>
          </a:bodyPr>
          <a:lstStyle/>
          <a:p>
            <a:pPr marL="131763">
              <a:lnSpc>
                <a:spcPct val="99000"/>
              </a:lnSpc>
              <a:spcBef>
                <a:spcPts val="275"/>
              </a:spcBef>
            </a:pPr>
            <a:r>
              <a:rPr lang="en-US" b="1" i="1" dirty="0">
                <a:latin typeface="Carlito"/>
                <a:ea typeface="Carlito"/>
                <a:cs typeface="Carlito"/>
              </a:rPr>
              <a:t>Preconditions </a:t>
            </a:r>
            <a:r>
              <a:rPr lang="en-US" dirty="0">
                <a:latin typeface="Carlito"/>
                <a:ea typeface="Carlito"/>
                <a:cs typeface="Carlito"/>
              </a:rPr>
              <a:t>are the properties that the client code of a routine or class promises will be true before it calls the routine or instantiates the object. </a:t>
            </a:r>
          </a:p>
          <a:p>
            <a:pPr marL="131763">
              <a:lnSpc>
                <a:spcPct val="99000"/>
              </a:lnSpc>
              <a:spcBef>
                <a:spcPts val="27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Preconditions are the client code’s  obligations to the code it calls</a:t>
            </a:r>
            <a:r>
              <a:rPr lang="en-US" dirty="0">
                <a:latin typeface="Carlito"/>
                <a:ea typeface="Carlito"/>
                <a:cs typeface="Carlito"/>
              </a:rPr>
              <a:t>.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E72AD9A-7020-8BB1-32B6-C4AB316EC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48200"/>
            <a:ext cx="4127609" cy="1417638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2384" rIns="0" bIns="0">
            <a:spAutoFit/>
          </a:bodyPr>
          <a:lstStyle/>
          <a:p>
            <a:pPr marL="179388" indent="-3175">
              <a:spcBef>
                <a:spcPts val="250"/>
              </a:spcBef>
            </a:pPr>
            <a:r>
              <a:rPr lang="en-US" b="1" i="1" dirty="0" err="1">
                <a:latin typeface="Carlito"/>
                <a:ea typeface="Carlito"/>
                <a:cs typeface="Carlito"/>
              </a:rPr>
              <a:t>Postconditions</a:t>
            </a:r>
            <a:r>
              <a:rPr lang="en-US" b="1" i="1" dirty="0">
                <a:latin typeface="Carlito"/>
                <a:ea typeface="Carlito"/>
                <a:cs typeface="Carlito"/>
              </a:rPr>
              <a:t> </a:t>
            </a:r>
            <a:r>
              <a:rPr lang="en-US" dirty="0">
                <a:latin typeface="Carlito"/>
                <a:ea typeface="Carlito"/>
                <a:cs typeface="Carlito"/>
              </a:rPr>
              <a:t>are the properties that the routine or class promises will be true when it concludes executing. </a:t>
            </a:r>
            <a:r>
              <a:rPr lang="en-US" i="1" dirty="0" err="1">
                <a:latin typeface="Carlito"/>
                <a:ea typeface="Carlito"/>
                <a:cs typeface="Carlito"/>
              </a:rPr>
              <a:t>Postconditions</a:t>
            </a:r>
            <a:r>
              <a:rPr lang="en-US" i="1" dirty="0">
                <a:latin typeface="Carlito"/>
                <a:ea typeface="Carlito"/>
                <a:cs typeface="Carlito"/>
              </a:rPr>
              <a:t> are the routine’s or class’s obligations to the code that uses it</a:t>
            </a:r>
            <a:r>
              <a:rPr lang="en-US" dirty="0">
                <a:latin typeface="Carlito"/>
                <a:ea typeface="Carlito"/>
                <a:cs typeface="Carlito"/>
              </a:rPr>
              <a:t>.</a:t>
            </a: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A1D9903A-C2BD-47CB-BB79-92828600428E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2662651"/>
            <a:ext cx="4190281" cy="3421062"/>
            <a:chOff x="5740971" y="1621155"/>
            <a:chExt cx="5531485" cy="3420110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B4689BF-E317-CCF5-7F29-90779484B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971" y="1621155"/>
              <a:ext cx="5530871" cy="2133600"/>
            </a:xfrm>
            <a:prstGeom prst="rect">
              <a:avLst/>
            </a:pr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6C3ACBB-B203-E557-DFE7-CF13712A2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971" y="3669118"/>
              <a:ext cx="5499099" cy="1371600"/>
            </a:xfrm>
            <a:prstGeom prst="rect">
              <a:avLst/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5681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Assertions: </a:t>
            </a:r>
            <a:r>
              <a:rPr lang="en-US" sz="3100" dirty="0">
                <a:solidFill>
                  <a:schemeClr val="tx1"/>
                </a:solidFill>
                <a:latin typeface="+mn-lt"/>
              </a:rPr>
              <a:t>Guidelines for Using Assertions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81203C0-5885-6DB4-8854-C8FB028DFFB5}"/>
              </a:ext>
            </a:extLst>
          </p:cNvPr>
          <p:cNvSpPr txBox="1"/>
          <p:nvPr/>
        </p:nvSpPr>
        <p:spPr>
          <a:xfrm>
            <a:off x="268732" y="1154778"/>
            <a:ext cx="8661400" cy="3905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20320" rIns="0" bIns="0">
            <a:spAutoFit/>
          </a:bodyPr>
          <a:lstStyle/>
          <a:p>
            <a:pPr marL="181610">
              <a:spcBef>
                <a:spcPts val="160"/>
              </a:spcBef>
              <a:defRPr/>
            </a:pPr>
            <a:r>
              <a:rPr sz="2400" b="1" spc="-15" dirty="0">
                <a:solidFill>
                  <a:srgbClr val="C00000"/>
                </a:solidFill>
                <a:latin typeface="Carlito"/>
                <a:cs typeface="Carlito"/>
              </a:rPr>
              <a:t>For </a:t>
            </a:r>
            <a:r>
              <a:rPr sz="2400" b="1" spc="-5" dirty="0">
                <a:solidFill>
                  <a:srgbClr val="C00000"/>
                </a:solidFill>
                <a:latin typeface="Carlito"/>
                <a:cs typeface="Carlito"/>
              </a:rPr>
              <a:t>highly </a:t>
            </a:r>
            <a:r>
              <a:rPr sz="2400" b="1" spc="-20" dirty="0">
                <a:solidFill>
                  <a:srgbClr val="C00000"/>
                </a:solidFill>
                <a:latin typeface="Carlito"/>
                <a:cs typeface="Carlito"/>
              </a:rPr>
              <a:t>robust </a:t>
            </a:r>
            <a:r>
              <a:rPr sz="2400" b="1" spc="-10" dirty="0">
                <a:solidFill>
                  <a:srgbClr val="C00000"/>
                </a:solidFill>
                <a:latin typeface="Carlito"/>
                <a:cs typeface="Carlito"/>
              </a:rPr>
              <a:t>code, </a:t>
            </a:r>
            <a:r>
              <a:rPr sz="2400" b="1" spc="-5" dirty="0">
                <a:solidFill>
                  <a:srgbClr val="C00000"/>
                </a:solidFill>
                <a:latin typeface="Carlito"/>
                <a:cs typeface="Carlito"/>
              </a:rPr>
              <a:t>assert </a:t>
            </a:r>
            <a:r>
              <a:rPr sz="2400" b="1" dirty="0">
                <a:solidFill>
                  <a:srgbClr val="C00000"/>
                </a:solidFill>
                <a:latin typeface="Carlito"/>
                <a:cs typeface="Carlito"/>
              </a:rPr>
              <a:t>and then </a:t>
            </a:r>
            <a:r>
              <a:rPr sz="2400" b="1" spc="-5" dirty="0">
                <a:solidFill>
                  <a:srgbClr val="C00000"/>
                </a:solidFill>
                <a:latin typeface="Carlito"/>
                <a:cs typeface="Carlito"/>
              </a:rPr>
              <a:t>handle </a:t>
            </a:r>
            <a:r>
              <a:rPr sz="2400" b="1" dirty="0">
                <a:solidFill>
                  <a:srgbClr val="C00000"/>
                </a:solidFill>
                <a:latin typeface="Carlito"/>
                <a:cs typeface="Carlito"/>
              </a:rPr>
              <a:t>the </a:t>
            </a:r>
            <a:r>
              <a:rPr sz="2400" b="1" spc="-10" dirty="0">
                <a:solidFill>
                  <a:srgbClr val="C00000"/>
                </a:solidFill>
                <a:latin typeface="Carlito"/>
                <a:cs typeface="Carlito"/>
              </a:rPr>
              <a:t>error</a:t>
            </a:r>
            <a:r>
              <a:rPr sz="2400" b="1" spc="114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rlito"/>
                <a:cs typeface="Carlito"/>
              </a:rPr>
              <a:t>anyway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A0DD5A0-937E-21B0-F7B7-6CE2A54DB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837" y="1893392"/>
            <a:ext cx="6369964" cy="4634408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Chapter 8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cs typeface="Calibri"/>
              </a:rPr>
              <a:t>Any questions? ​</a:t>
            </a:r>
          </a:p>
          <a:p>
            <a:pPr algn="ctr"/>
            <a:r>
              <a:rPr lang="en-US" sz="3600" dirty="0"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1238</TotalTime>
  <Words>552</Words>
  <Application>Microsoft Office PowerPoint</Application>
  <PresentationFormat>On-screen Show (4:3)</PresentationFormat>
  <Paragraphs>74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Calibri Light</vt:lpstr>
      <vt:lpstr>Carlito</vt:lpstr>
      <vt:lpstr>Eurostile</vt:lpstr>
      <vt:lpstr>Söhne</vt:lpstr>
      <vt:lpstr>Times New Roman</vt:lpstr>
      <vt:lpstr>Wingdings</vt:lpstr>
      <vt:lpstr>Wingdings 2</vt:lpstr>
      <vt:lpstr>Wingdings 3</vt:lpstr>
      <vt:lpstr>Theme CPIT 110</vt:lpstr>
      <vt:lpstr>Custom Design</vt:lpstr>
      <vt:lpstr>Microsoft ClipArt Gallery</vt:lpstr>
      <vt:lpstr>Chapter  4.1 Defensive Programming</vt:lpstr>
      <vt:lpstr>Outline</vt:lpstr>
      <vt:lpstr>PowerPoint Presentation</vt:lpstr>
      <vt:lpstr>What is Defensive Programming?</vt:lpstr>
      <vt:lpstr>What is Defensive Programming?</vt:lpstr>
      <vt:lpstr>Protecting Your Program from Invalid Inputs</vt:lpstr>
      <vt:lpstr>Protecting Your Program from Invalid Inputs</vt:lpstr>
      <vt:lpstr>Assertions</vt:lpstr>
      <vt:lpstr>Assertions</vt:lpstr>
      <vt:lpstr>Assertions: Guidelines for Using Assertions</vt:lpstr>
      <vt:lpstr>Assertions: Guidelines for Using Assertions</vt:lpstr>
      <vt:lpstr>Assertions: Guidelines for Using Assertions</vt:lpstr>
      <vt:lpstr>Assertions: Guidelines for Using Assertions</vt:lpstr>
      <vt:lpstr>Assertions: Guidelines for Using Assertions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29</cp:revision>
  <dcterms:created xsi:type="dcterms:W3CDTF">2019-06-07T16:06:41Z</dcterms:created>
  <dcterms:modified xsi:type="dcterms:W3CDTF">2023-10-08T00:02:12Z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