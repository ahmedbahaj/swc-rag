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4"/>
    <p:sldMasterId id="2147483757" r:id="rId5"/>
  </p:sldMasterIdLst>
  <p:notesMasterIdLst>
    <p:notesMasterId r:id="rId18"/>
  </p:notesMasterIdLst>
  <p:sldIdLst>
    <p:sldId id="330" r:id="rId6"/>
    <p:sldId id="419" r:id="rId7"/>
    <p:sldId id="420" r:id="rId8"/>
    <p:sldId id="421" r:id="rId9"/>
    <p:sldId id="415" r:id="rId10"/>
    <p:sldId id="465" r:id="rId11"/>
    <p:sldId id="466" r:id="rId12"/>
    <p:sldId id="467" r:id="rId13"/>
    <p:sldId id="468" r:id="rId14"/>
    <p:sldId id="469" r:id="rId15"/>
    <p:sldId id="476" r:id="rId16"/>
    <p:sldId id="413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" id="{EB54229A-E673-4F50-937B-310B31E2AF04}">
          <p14:sldIdLst>
            <p14:sldId id="330"/>
            <p14:sldId id="419"/>
            <p14:sldId id="420"/>
            <p14:sldId id="421"/>
            <p14:sldId id="415"/>
            <p14:sldId id="465"/>
            <p14:sldId id="466"/>
            <p14:sldId id="467"/>
            <p14:sldId id="468"/>
            <p14:sldId id="469"/>
            <p14:sldId id="476"/>
            <p14:sldId id="4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CDEA"/>
    <a:srgbClr val="0A4B67"/>
    <a:srgbClr val="88A6B1"/>
    <a:srgbClr val="565351"/>
    <a:srgbClr val="767270"/>
    <a:srgbClr val="FFFFD1"/>
    <a:srgbClr val="6E96A2"/>
    <a:srgbClr val="6B9F25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1231" autoAdjust="0"/>
    <p:restoredTop sz="94719"/>
  </p:normalViewPr>
  <p:slideViewPr>
    <p:cSldViewPr snapToGrid="0">
      <p:cViewPr varScale="1">
        <p:scale>
          <a:sx n="105" d="100"/>
          <a:sy n="105" d="100"/>
        </p:scale>
        <p:origin x="13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Dakhilallah Mohammad Alahmadi" userId="S::04100753@uj.edu.sa::9b436a58-7297-423f-8410-66c59c69358a" providerId="AD" clId="Web-{5B52637E-CDD0-C74C-D9DD-70053C1B655E}"/>
    <pc:docChg chg="delSld modSection">
      <pc:chgData name="Mohammad Dakhilallah Mohammad Alahmadi" userId="S::04100753@uj.edu.sa::9b436a58-7297-423f-8410-66c59c69358a" providerId="AD" clId="Web-{5B52637E-CDD0-C74C-D9DD-70053C1B655E}" dt="2023-08-26T14:13:28.961" v="0"/>
      <pc:docMkLst>
        <pc:docMk/>
      </pc:docMkLst>
      <pc:sldChg chg="del">
        <pc:chgData name="Mohammad Dakhilallah Mohammad Alahmadi" userId="S::04100753@uj.edu.sa::9b436a58-7297-423f-8410-66c59c69358a" providerId="AD" clId="Web-{5B52637E-CDD0-C74C-D9DD-70053C1B655E}" dt="2023-08-26T14:13:28.961" v="0"/>
        <pc:sldMkLst>
          <pc:docMk/>
          <pc:sldMk cId="2586610191" sldId="423"/>
        </pc:sldMkLst>
      </pc:sldChg>
    </pc:docChg>
  </pc:docChgLst>
  <pc:docChgLst>
    <pc:chgData name="Mohammad Dakhilallah Mohammad Alahmadi" userId="9b436a58-7297-423f-8410-66c59c69358a" providerId="ADAL" clId="{373C1634-083D-47B3-B3DC-95D1EC76621C}"/>
    <pc:docChg chg="custSel modSld">
      <pc:chgData name="Mohammad Dakhilallah Mohammad Alahmadi" userId="9b436a58-7297-423f-8410-66c59c69358a" providerId="ADAL" clId="{373C1634-083D-47B3-B3DC-95D1EC76621C}" dt="2023-10-08T00:06:27.477" v="66" actId="207"/>
      <pc:docMkLst>
        <pc:docMk/>
      </pc:docMkLst>
      <pc:sldChg chg="modSp mod">
        <pc:chgData name="Mohammad Dakhilallah Mohammad Alahmadi" userId="9b436a58-7297-423f-8410-66c59c69358a" providerId="ADAL" clId="{373C1634-083D-47B3-B3DC-95D1EC76621C}" dt="2023-10-08T00:06:27.477" v="66" actId="207"/>
        <pc:sldMkLst>
          <pc:docMk/>
          <pc:sldMk cId="2615860504" sldId="413"/>
        </pc:sldMkLst>
        <pc:spChg chg="mod">
          <ac:chgData name="Mohammad Dakhilallah Mohammad Alahmadi" userId="9b436a58-7297-423f-8410-66c59c69358a" providerId="ADAL" clId="{373C1634-083D-47B3-B3DC-95D1EC76621C}" dt="2023-10-08T00:06:27.477" v="66" actId="207"/>
          <ac:spMkLst>
            <pc:docMk/>
            <pc:sldMk cId="2615860504" sldId="413"/>
            <ac:spMk id="4" creationId="{88C360D8-06EC-45E1-9F03-07203CCB8D4E}"/>
          </ac:spMkLst>
        </pc:spChg>
      </pc:sldChg>
      <pc:sldChg chg="modSp mod">
        <pc:chgData name="Mohammad Dakhilallah Mohammad Alahmadi" userId="9b436a58-7297-423f-8410-66c59c69358a" providerId="ADAL" clId="{373C1634-083D-47B3-B3DC-95D1EC76621C}" dt="2023-10-08T00:03:56.881" v="42" actId="1036"/>
        <pc:sldMkLst>
          <pc:docMk/>
          <pc:sldMk cId="251095777" sldId="415"/>
        </pc:sldMkLst>
        <pc:spChg chg="mod">
          <ac:chgData name="Mohammad Dakhilallah Mohammad Alahmadi" userId="9b436a58-7297-423f-8410-66c59c69358a" providerId="ADAL" clId="{373C1634-083D-47B3-B3DC-95D1EC76621C}" dt="2023-10-08T00:03:56.881" v="42" actId="1036"/>
          <ac:spMkLst>
            <pc:docMk/>
            <pc:sldMk cId="251095777" sldId="415"/>
            <ac:spMk id="3" creationId="{790E5D31-3516-13C1-6317-45116358F134}"/>
          </ac:spMkLst>
        </pc:spChg>
      </pc:sldChg>
      <pc:sldChg chg="modSp mod">
        <pc:chgData name="Mohammad Dakhilallah Mohammad Alahmadi" userId="9b436a58-7297-423f-8410-66c59c69358a" providerId="ADAL" clId="{373C1634-083D-47B3-B3DC-95D1EC76621C}" dt="2023-10-08T00:02:55.772" v="11" actId="1035"/>
        <pc:sldMkLst>
          <pc:docMk/>
          <pc:sldMk cId="3810758988" sldId="421"/>
        </pc:sldMkLst>
        <pc:spChg chg="mod">
          <ac:chgData name="Mohammad Dakhilallah Mohammad Alahmadi" userId="9b436a58-7297-423f-8410-66c59c69358a" providerId="ADAL" clId="{373C1634-083D-47B3-B3DC-95D1EC76621C}" dt="2023-10-08T00:02:55.772" v="11" actId="1035"/>
          <ac:spMkLst>
            <pc:docMk/>
            <pc:sldMk cId="3810758988" sldId="421"/>
            <ac:spMk id="2" creationId="{3C404A58-B101-8C6F-4D95-0D5A15180C16}"/>
          </ac:spMkLst>
        </pc:spChg>
      </pc:sldChg>
      <pc:sldChg chg="modSp mod">
        <pc:chgData name="Mohammad Dakhilallah Mohammad Alahmadi" userId="9b436a58-7297-423f-8410-66c59c69358a" providerId="ADAL" clId="{373C1634-083D-47B3-B3DC-95D1EC76621C}" dt="2023-10-08T00:04:27.920" v="63" actId="1036"/>
        <pc:sldMkLst>
          <pc:docMk/>
          <pc:sldMk cId="268952856" sldId="465"/>
        </pc:sldMkLst>
        <pc:spChg chg="mod">
          <ac:chgData name="Mohammad Dakhilallah Mohammad Alahmadi" userId="9b436a58-7297-423f-8410-66c59c69358a" providerId="ADAL" clId="{373C1634-083D-47B3-B3DC-95D1EC76621C}" dt="2023-10-08T00:04:27.920" v="63" actId="1036"/>
          <ac:spMkLst>
            <pc:docMk/>
            <pc:sldMk cId="268952856" sldId="465"/>
            <ac:spMk id="2" creationId="{ABF27ABD-EFA0-A9CD-5B47-2AC6B93F88AC}"/>
          </ac:spMkLst>
        </pc:spChg>
      </pc:sldChg>
      <pc:sldChg chg="modSp mod">
        <pc:chgData name="Mohammad Dakhilallah Mohammad Alahmadi" userId="9b436a58-7297-423f-8410-66c59c69358a" providerId="ADAL" clId="{373C1634-083D-47B3-B3DC-95D1EC76621C}" dt="2023-10-08T00:06:07.043" v="64" actId="33524"/>
        <pc:sldMkLst>
          <pc:docMk/>
          <pc:sldMk cId="3107751706" sldId="469"/>
        </pc:sldMkLst>
        <pc:spChg chg="mod">
          <ac:chgData name="Mohammad Dakhilallah Mohammad Alahmadi" userId="9b436a58-7297-423f-8410-66c59c69358a" providerId="ADAL" clId="{373C1634-083D-47B3-B3DC-95D1EC76621C}" dt="2023-10-08T00:06:07.043" v="64" actId="33524"/>
          <ac:spMkLst>
            <pc:docMk/>
            <pc:sldMk cId="3107751706" sldId="469"/>
            <ac:spMk id="4" creationId="{03345CCB-9A0C-520D-56D7-9FD90D8FA028}"/>
          </ac:spMkLst>
        </pc:spChg>
      </pc:sldChg>
      <pc:sldChg chg="modSp mod">
        <pc:chgData name="Mohammad Dakhilallah Mohammad Alahmadi" userId="9b436a58-7297-423f-8410-66c59c69358a" providerId="ADAL" clId="{373C1634-083D-47B3-B3DC-95D1EC76621C}" dt="2023-10-08T00:06:25.303" v="65" actId="207"/>
        <pc:sldMkLst>
          <pc:docMk/>
          <pc:sldMk cId="3455685527" sldId="476"/>
        </pc:sldMkLst>
        <pc:spChg chg="mod">
          <ac:chgData name="Mohammad Dakhilallah Mohammad Alahmadi" userId="9b436a58-7297-423f-8410-66c59c69358a" providerId="ADAL" clId="{373C1634-083D-47B3-B3DC-95D1EC76621C}" dt="2023-10-08T00:06:25.303" v="65" actId="207"/>
          <ac:spMkLst>
            <pc:docMk/>
            <pc:sldMk cId="3455685527" sldId="476"/>
            <ac:spMk id="3" creationId="{FA656E32-1156-FEA0-19B6-F14CFAE5A80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C8B844-FEB7-40E9-8905-10D1181F788D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48F4A1-044F-45DC-A6AA-9EC3247C3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48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C9B6E0E-3217-4A19-A07B-3D01EE0387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FDB8EE8-7C53-490C-9686-35338E0B09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/>
              <a:t>Last Update: 22/8/2019</a:t>
            </a:r>
          </a:p>
          <a:p>
            <a:r>
              <a:rPr lang="en-US" altLang="en-US"/>
              <a:t>Version 1.0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740" y="3183624"/>
            <a:ext cx="8380520" cy="1922733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8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740" y="5236867"/>
            <a:ext cx="838052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none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22961" y="6646272"/>
            <a:ext cx="1854203" cy="187517"/>
          </a:xfrm>
        </p:spPr>
        <p:txBody>
          <a:bodyPr/>
          <a:lstStyle/>
          <a:p>
            <a:fld id="{03C5C922-B9DD-9745-A816-802923AFBE71}" type="datetime1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646272"/>
            <a:ext cx="3617103" cy="187517"/>
          </a:xfrm>
        </p:spPr>
        <p:txBody>
          <a:bodyPr/>
          <a:lstStyle>
            <a:lvl1pPr>
              <a:defRPr cap="none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381740" y="5106357"/>
            <a:ext cx="8380520" cy="18289"/>
          </a:xfrm>
          <a:prstGeom prst="line">
            <a:avLst/>
          </a:prstGeom>
          <a:ln w="38100">
            <a:solidFill>
              <a:srgbClr val="84CDE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1AE1EE2-4846-41F9-AC6B-D9834B0B3586}"/>
              </a:ext>
            </a:extLst>
          </p:cNvPr>
          <p:cNvCxnSpPr>
            <a:cxnSpLocks/>
          </p:cNvCxnSpPr>
          <p:nvPr/>
        </p:nvCxnSpPr>
        <p:spPr>
          <a:xfrm flipV="1">
            <a:off x="9129643" y="1"/>
            <a:ext cx="12147" cy="6874767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1AE4F96-0037-4F43-91BD-25588C022845}"/>
              </a:ext>
            </a:extLst>
          </p:cNvPr>
          <p:cNvSpPr/>
          <p:nvPr userDrawn="1"/>
        </p:nvSpPr>
        <p:spPr>
          <a:xfrm>
            <a:off x="-14359" y="6646273"/>
            <a:ext cx="9144000" cy="237744"/>
          </a:xfrm>
          <a:prstGeom prst="rect">
            <a:avLst/>
          </a:prstGeom>
          <a:solidFill>
            <a:srgbClr val="0A4B67"/>
          </a:solidFill>
          <a:ln>
            <a:solidFill>
              <a:srgbClr val="0A4B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BF5B4F-FC83-4FAA-82F0-2510D3F32F49}"/>
              </a:ext>
            </a:extLst>
          </p:cNvPr>
          <p:cNvSpPr/>
          <p:nvPr userDrawn="1"/>
        </p:nvSpPr>
        <p:spPr>
          <a:xfrm>
            <a:off x="-26504" y="6546958"/>
            <a:ext cx="9144001" cy="103220"/>
          </a:xfrm>
          <a:prstGeom prst="rect">
            <a:avLst/>
          </a:prstGeom>
          <a:solidFill>
            <a:srgbClr val="84CDEA"/>
          </a:solidFill>
          <a:ln>
            <a:solidFill>
              <a:srgbClr val="84C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0B8816-EFF8-4E7C-AEC1-987D4EE648F1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5932" y="0"/>
            <a:ext cx="3809" cy="6857997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B5B64A5-A6D5-4050-BAC4-E246829DF430}"/>
              </a:ext>
            </a:extLst>
          </p:cNvPr>
          <p:cNvCxnSpPr>
            <a:cxnSpLocks/>
          </p:cNvCxnSpPr>
          <p:nvPr userDrawn="1"/>
        </p:nvCxnSpPr>
        <p:spPr>
          <a:xfrm flipV="1">
            <a:off x="-32436" y="8261"/>
            <a:ext cx="9235440" cy="1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1" name="Picture 30" descr="Logo&#10;&#10;Description automatically generated">
            <a:extLst>
              <a:ext uri="{FF2B5EF4-FFF2-40B4-BE49-F238E27FC236}">
                <a16:creationId xmlns:a16="http://schemas.microsoft.com/office/drawing/2014/main" id="{370668AB-6B94-4243-A6A5-4EDC87C8B50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04824" y="46971"/>
            <a:ext cx="3278818" cy="231973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723C23A-9829-0C47-85AC-FD590BD245D5}"/>
              </a:ext>
            </a:extLst>
          </p:cNvPr>
          <p:cNvSpPr txBox="1"/>
          <p:nvPr userDrawn="1"/>
        </p:nvSpPr>
        <p:spPr>
          <a:xfrm>
            <a:off x="185737" y="852895"/>
            <a:ext cx="3278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COLLAGE OF COMPUTER</a:t>
            </a:r>
          </a:p>
          <a:p>
            <a:pPr marL="0" algn="ctr" defTabSz="914400" rtl="1" eaLnBrk="1" latinLnBrk="0" hangingPunct="1"/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 SCIENCE &amp; ENGINEERING 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22341BA-F8B4-5440-8DF5-89AF9CF24FED}"/>
              </a:ext>
            </a:extLst>
          </p:cNvPr>
          <p:cNvCxnSpPr>
            <a:cxnSpLocks/>
          </p:cNvCxnSpPr>
          <p:nvPr userDrawn="1"/>
        </p:nvCxnSpPr>
        <p:spPr>
          <a:xfrm flipV="1">
            <a:off x="375762" y="1574983"/>
            <a:ext cx="2926080" cy="468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369ACA3-551E-D542-BD71-4881E6644B70}"/>
              </a:ext>
            </a:extLst>
          </p:cNvPr>
          <p:cNvSpPr txBox="1"/>
          <p:nvPr userDrawn="1"/>
        </p:nvSpPr>
        <p:spPr>
          <a:xfrm>
            <a:off x="-785970" y="1579097"/>
            <a:ext cx="50720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en-US" sz="1300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UNIVERSITY OF JEDDAH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2639E4-89B5-1D49-B470-747E56896B62}"/>
              </a:ext>
            </a:extLst>
          </p:cNvPr>
          <p:cNvSpPr txBox="1"/>
          <p:nvPr userDrawn="1"/>
        </p:nvSpPr>
        <p:spPr>
          <a:xfrm>
            <a:off x="5679447" y="865829"/>
            <a:ext cx="3278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ar-SA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كــلـــية عــلــــــــــوم </a:t>
            </a:r>
          </a:p>
          <a:p>
            <a:pPr marL="0" algn="ctr" defTabSz="914400" rtl="1" eaLnBrk="1" latinLnBrk="0" hangingPunct="1"/>
            <a:r>
              <a:rPr lang="ar-SA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و هـنــدســـة الحـــــــاســــب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Eurostile" panose="020B0504020202050204" pitchFamily="34" charset="77"/>
              <a:ea typeface="Malgun Gothic" panose="020B0503020000020004" pitchFamily="34" charset="-127"/>
              <a:cs typeface="Bangla Sangam MN" panose="020000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F4847C-B76C-6846-8360-9D2AD3FA67B2}"/>
              </a:ext>
            </a:extLst>
          </p:cNvPr>
          <p:cNvSpPr txBox="1"/>
          <p:nvPr userDrawn="1"/>
        </p:nvSpPr>
        <p:spPr>
          <a:xfrm>
            <a:off x="4782824" y="1579097"/>
            <a:ext cx="50720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ar-SA" sz="1300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جــــامعـــة جــــــــــــــدة </a:t>
            </a:r>
            <a:endParaRPr lang="en-US" sz="1300">
              <a:solidFill>
                <a:schemeClr val="tx1">
                  <a:lumMod val="65000"/>
                  <a:lumOff val="35000"/>
                </a:schemeClr>
              </a:solidFill>
              <a:latin typeface="Eurostile" panose="020B0504020202050204" pitchFamily="34" charset="77"/>
              <a:ea typeface="Malgun Gothic" panose="020B0503020000020004" pitchFamily="34" charset="-127"/>
              <a:cs typeface="Bangla Sangam MN" panose="02000000000000000000" pitchFamily="2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3D420C2-74C6-E448-ABF8-408E3C156421}"/>
              </a:ext>
            </a:extLst>
          </p:cNvPr>
          <p:cNvCxnSpPr>
            <a:cxnSpLocks/>
          </p:cNvCxnSpPr>
          <p:nvPr userDrawn="1"/>
        </p:nvCxnSpPr>
        <p:spPr>
          <a:xfrm>
            <a:off x="5770786" y="1573715"/>
            <a:ext cx="301752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83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56535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B66AD-B9AD-6E48-A7F8-A3C7D94EDF8F}" type="datetime1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>
              <a:buClr>
                <a:srgbClr val="84CDEA"/>
              </a:buClr>
              <a:defRPr sz="2600">
                <a:solidFill>
                  <a:srgbClr val="565351"/>
                </a:solidFill>
              </a:defRPr>
            </a:lvl1pPr>
            <a:lvl2pPr>
              <a:buClr>
                <a:srgbClr val="565351"/>
              </a:buClr>
              <a:defRPr>
                <a:solidFill>
                  <a:srgbClr val="565351"/>
                </a:solidFill>
              </a:defRPr>
            </a:lvl2pPr>
            <a:lvl3pPr marL="73152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3pPr>
            <a:lvl4pPr marL="91440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4pPr>
            <a:lvl5pPr marL="109728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4559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56535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ECC06-C7D4-1747-9BAC-5ADF6973C413}" type="datetime1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>
              <a:buClr>
                <a:srgbClr val="88A6B1"/>
              </a:buClr>
              <a:defRPr sz="2600">
                <a:solidFill>
                  <a:srgbClr val="88A6B1"/>
                </a:solidFill>
              </a:defRPr>
            </a:lvl1pPr>
            <a:lvl2pPr>
              <a:buClr>
                <a:srgbClr val="88A6B1"/>
              </a:buClr>
              <a:defRPr>
                <a:solidFill>
                  <a:srgbClr val="88A6B1"/>
                </a:solidFill>
              </a:defRPr>
            </a:lvl2pPr>
            <a:lvl3pPr marL="73152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3pPr>
            <a:lvl4pPr marL="91440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4pPr>
            <a:lvl5pPr marL="109728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9183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6C63C-7E12-D040-9BFC-CED05FF7D470}" type="datetime1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4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>
            <a:lvl1pPr>
              <a:buClr>
                <a:srgbClr val="84CDEA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>
            <a:lvl1pPr>
              <a:buClr>
                <a:srgbClr val="84CDEA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987DC-EF00-9844-8C8C-DB85411C810C}" type="datetime1">
              <a:rPr lang="en-US" smtClean="0"/>
              <a:t>10/8/2023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88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5C23F-C598-3F49-9FE3-6071741BE353}" type="datetime1">
              <a:rPr lang="en-US" smtClean="0"/>
              <a:t>10/8/2023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33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6BD12-5D01-AB4B-A157-4C071A505070}" type="datetime1">
              <a:rPr lang="en-US" smtClean="0"/>
              <a:t>10/8/2023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58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D1259-9E66-E241-B0DB-D3144AF5C20E}" type="datetime1">
              <a:rPr lang="en-US" smtClean="0"/>
              <a:t>10/8/2023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2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9F509-0EC8-5246-80F7-C95CE727AFCC}" type="datetime1">
              <a:rPr lang="en-US" smtClean="0"/>
              <a:t>10/8/2023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215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rgbClr val="0A4B67"/>
          </a:solidFill>
          <a:ln>
            <a:solidFill>
              <a:srgbClr val="84C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rgbClr val="84C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6CBA62D3-B106-3146-B5B5-E66A18E804C2}" type="datetime1">
              <a:rPr lang="en-US" smtClean="0"/>
              <a:t>10/8/2023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31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8B15B-E63B-A741-9DEA-9AA37D2B7DBF}" type="datetime1">
              <a:rPr lang="en-US" smtClean="0"/>
              <a:t>10/8/2023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510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89117-AA99-A343-9D72-6FCA37B5BE17}" type="datetime1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78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144E2-60F2-DF46-A244-D7B3522DD83D}" type="datetime1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673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5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C5D66-23E7-0C4F-8B0A-A1C9C050780A}" type="datetime1">
              <a:rPr lang="en-US" smtClean="0"/>
              <a:t>10/8/2023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5914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CB30-1A6D-2E42-BCC5-3E80F21AA084}" type="datetime1">
              <a:rPr lang="en-US" smtClean="0"/>
              <a:t>10/8/2023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647" y="-15240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187854B-FEC4-4BF8-A3DE-39B0F5014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3200">
                <a:solidFill>
                  <a:schemeClr val="tx2"/>
                </a:solidFill>
                <a:latin typeface="+mj-lt"/>
              </a:defRPr>
            </a:lvl1pPr>
            <a:lvl2pPr marL="54864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+mj-lt"/>
              </a:defRPr>
            </a:lvl2pPr>
            <a:lvl3pPr marL="73152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3pPr>
            <a:lvl4pPr marL="91440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4pPr>
            <a:lvl5pPr marL="109728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03021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9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CBF6-F73E-B844-90B5-BA38F3F93D1B}" type="datetime1">
              <a:rPr lang="en-US" smtClean="0"/>
              <a:t>10/8/2023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3D2542-5A33-4E2C-863D-145C356406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647" y="-15240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299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CE842-8249-8A43-8E1B-D93301EA5234}" type="datetime1">
              <a:rPr lang="en-US" smtClean="0"/>
              <a:t>10/8/2023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9EAA3A6-8930-4E04-BD7A-70348C3D3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1pPr>
            <a:lvl2pPr marL="54864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2pPr>
            <a:lvl3pPr marL="73152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3pPr>
            <a:lvl4pPr marL="91440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4pPr>
            <a:lvl5pPr marL="109728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98352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6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75E8-E6D9-3E42-B3C2-280D09D847BE}" type="datetime1">
              <a:rPr lang="en-US" smtClean="0"/>
              <a:t>10/8/2023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FE125C-DA19-42DA-8C07-FA8039F51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238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7F6D-1FE4-8A49-840F-5919ACFA3FD0}" type="datetime1">
              <a:rPr lang="en-US" smtClean="0"/>
              <a:t>10/8/2023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8729288-CC54-4647-B966-CF553EF13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1pPr>
            <a:lvl2pPr marL="54864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2pPr>
            <a:lvl3pPr marL="73152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3pPr>
            <a:lvl4pPr marL="91440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4pPr>
            <a:lvl5pPr marL="109728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83427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7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A0CE7-1A78-B749-A181-0CB124262D26}" type="datetime1">
              <a:rPr lang="en-US" smtClean="0"/>
              <a:t>10/8/2023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FF6332-602A-4C2A-BD1E-7565ECDF5B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4360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EB7BC-403A-8A44-A663-FD167E87AE44}" type="datetime1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0665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5E94D-AB62-E84E-A49C-DD6A8F51C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548DE-348F-0D44-8485-97F299E58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26162-1B8D-B748-8A10-BD7FD12FE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7B2BE-DDF3-6D43-A226-4CE36737DFF8}" type="datetime1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D9D1D-9864-8648-83E4-1D8B62B21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507A0-C8CD-5445-9AEE-B23C377C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908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B906-B07C-7D41-AC4D-750B959C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D5779-8D81-7849-8E67-83ECBF60F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AA4F1-7B19-0240-B7F8-1BDF7D63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A88B-F2DD-3743-8F57-25E5E92043B0}" type="datetime1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14F5D-4D50-5A4A-91C9-B5B4F1451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2065B-EF6D-5B4A-8E62-EAFF67B71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0125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BE47D-172F-034A-8698-73581C856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A576A-13DD-034D-9029-CC506C79F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4F2D7-B746-2842-8F52-519E07CF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A15C4-E8CB-C04F-BC65-CB0837703214}" type="datetime1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E68B1-5017-E64D-9D8C-C1341A22E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262E6-3D1E-2D4B-B7BC-0A7197BAA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49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806B-ED8B-CC4E-A51A-6CDCADC96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99E7B-D87E-CA4D-A578-EBDC0C47E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F5550-A328-154E-8FA0-3793746FB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4ED10-64BB-9144-9B71-07151AB5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89F18-38DA-0947-9593-25D4010703FB}" type="datetime1">
              <a:rPr lang="en-US" smtClean="0"/>
              <a:t>10/8/2023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7A753-FB3D-094E-A536-0484A8BE2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A6079-FE42-C140-9B28-ED67471AE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708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784D0-75F5-CD41-9AEF-CB198A0D9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D959F-E739-F542-8EBA-7BBF7E5A3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65DF34-2D6B-454C-BFDA-F81C29E78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58768-2FB0-D847-83EE-654C76812F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A27B69-16F8-C048-9335-D0E599CA2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E98362-01EA-604E-BA80-BC012B7FA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A19EE-DABD-FF45-9B3D-868C2008B2F5}" type="datetime1">
              <a:rPr lang="en-US" smtClean="0"/>
              <a:t>10/8/2023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58B9EA-23BB-BD43-AE55-BD94F3A70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7FEF2B-07B5-9C42-B58D-B5FF51C49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2097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ACC87-431B-E24A-86AB-554B550FA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6090D8-3391-5741-87F5-2BCDB8997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8DD7-86D3-9543-A3F5-DCAC5C3EC996}" type="datetime1">
              <a:rPr lang="en-US" smtClean="0"/>
              <a:t>10/8/2023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09D265-B6E2-2540-8068-45F6C7B8A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30A8C-D91D-2A49-8733-39D5374D6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768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29DEDE-71EE-4448-AE52-7A3240E24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38251-72EC-7341-947D-39CD70D3F6EE}" type="datetime1">
              <a:rPr lang="en-US" smtClean="0"/>
              <a:t>10/8/2023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1F8A0A-B7DA-2E41-ADC9-3BA00052C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DFF72-3DFA-5443-B19A-D882B4A1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6097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9B2A5-8463-0E45-B968-09BB46EEE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92249-8B24-044B-B428-FDF532694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5850F-41D2-C244-BE67-588A22885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A0BA6-7607-1841-ADE7-A7EE86263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151BF-94DA-6647-804B-F9A617163AF7}" type="datetime1">
              <a:rPr lang="en-US" smtClean="0"/>
              <a:t>10/8/2023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E0F34D-E7B8-8F4E-B279-A9B4F7996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003CD8-B992-1746-AD26-32A76C362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867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28A51-10EF-1E4E-B3AE-97D9690F5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7A29CC-C524-664A-B04C-24A0F0002B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77383-80F2-974A-95B0-54EE043F0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4A7CE-0B2C-F846-AE0D-E9A65F195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5CF65-8B95-E947-B306-AD8B9AFCD0C6}" type="datetime1">
              <a:rPr lang="en-US" smtClean="0"/>
              <a:t>10/8/2023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00DF7-CAE7-4544-99A8-D2AFF7BC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AF912A-35AA-5340-A6DD-8CF8567A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0032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B558E-261E-0D48-AAEC-0159545C5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54A8B-8EB9-5C42-9CFC-A1CD5690D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FD7EA-1D89-9B45-8E3B-F3D971FCC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326F1-4A6C-904D-BBF5-55A97190C62E}" type="datetime1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2F157-B4BF-0D4E-B227-367844B9F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C4DCA-8C92-2F4C-A77F-2E1AE3CFF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632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138E10-25D9-0841-B84C-B3D5BD26BE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76578-CBA7-4146-881E-E79B34110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4126B-1DBB-F445-849E-8DB3041D5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2DA29-4527-5B4B-81DE-1DA58A1FF0D8}" type="datetime1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0BA6C-D326-CC45-B516-B35C216BC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96C6D-88A9-424F-B97B-5F788E3BD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943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646272"/>
            <a:ext cx="9144001" cy="220605"/>
          </a:xfrm>
          <a:prstGeom prst="rect">
            <a:avLst/>
          </a:prstGeom>
          <a:solidFill>
            <a:srgbClr val="0A4B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604458"/>
            <a:ext cx="9144001" cy="45719"/>
          </a:xfrm>
          <a:prstGeom prst="rect">
            <a:avLst/>
          </a:prstGeom>
          <a:solidFill>
            <a:srgbClr val="84C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1292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646272"/>
            <a:ext cx="1854203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446D974-CBC7-EE4D-B60D-B7706E54EFC8}" type="datetime1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646272"/>
            <a:ext cx="3617103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cap="none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646272"/>
            <a:ext cx="984019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1">
                <a:solidFill>
                  <a:schemeClr val="bg1"/>
                </a:solidFill>
              </a:defRPr>
            </a:lvl1pPr>
          </a:lstStyle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099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50" r:id="rId14"/>
    <p:sldLayoutId id="2147483751" r:id="rId15"/>
    <p:sldLayoutId id="2147483752" r:id="rId16"/>
    <p:sldLayoutId id="2147483753" r:id="rId17"/>
    <p:sldLayoutId id="2147483754" r:id="rId18"/>
    <p:sldLayoutId id="2147483755" r:id="rId19"/>
    <p:sldLayoutId id="2147483756" r:id="rId20"/>
    <p:sldLayoutId id="2147483689" r:id="rId21"/>
  </p:sldLayoutIdLst>
  <p:hf hdr="0" ftr="0" dt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400" b="0" kern="1200" spc="-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74320" algn="justLow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274320" algn="justLow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731520" indent="-274320" algn="justLow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14400" indent="-27432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97280" indent="-27432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F2B942-B92A-2E45-8EC0-57867F6F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A5CF6-438F-FE41-AE0D-B759171B0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DD81B-544C-D244-83E4-4E486AE7E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89413-073D-8B47-B309-030A36FC1175}" type="datetime1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8B353-9F5D-7C4C-9D19-B7C6D6F6A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C5F08-BBA1-684A-BFC9-EF43E5A8A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71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F092033-53A0-4557-BC8C-EDF7C4004F5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solidFill>
                  <a:schemeClr val="tx1"/>
                </a:solidFill>
              </a:rPr>
              <a:t>Chapter  4.2</a:t>
            </a:r>
            <a:br>
              <a:rPr lang="en-US" altLang="en-US" b="1" dirty="0">
                <a:solidFill>
                  <a:schemeClr val="tx1"/>
                </a:solidFill>
                <a:cs typeface="Calibri Light"/>
              </a:rPr>
            </a:br>
            <a:r>
              <a:rPr lang="en-US" altLang="en-US" b="1" dirty="0">
                <a:solidFill>
                  <a:schemeClr val="tx1"/>
                </a:solidFill>
              </a:rPr>
              <a:t>Defensive Programming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4099" name="Subtitle 3">
            <a:extLst>
              <a:ext uri="{FF2B5EF4-FFF2-40B4-BE49-F238E27FC236}">
                <a16:creationId xmlns:a16="http://schemas.microsoft.com/office/drawing/2014/main" id="{B6B8808F-B611-4A7E-94DA-CDF020C7794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6E96A2"/>
                </a:solidFill>
              </a:rPr>
              <a:t>CCSW 325 (Software Construction)</a:t>
            </a:r>
          </a:p>
        </p:txBody>
      </p:sp>
      <p:sp>
        <p:nvSpPr>
          <p:cNvPr id="4101" name="Rectangle 6">
            <a:extLst>
              <a:ext uri="{FF2B5EF4-FFF2-40B4-BE49-F238E27FC236}">
                <a16:creationId xmlns:a16="http://schemas.microsoft.com/office/drawing/2014/main" id="{AEE57C53-6C77-4FD6-9666-64A46DD29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763" y="2057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102" name="Rectangle 1029">
            <a:extLst>
              <a:ext uri="{FF2B5EF4-FFF2-40B4-BE49-F238E27FC236}">
                <a16:creationId xmlns:a16="http://schemas.microsoft.com/office/drawing/2014/main" id="{94F01EDA-3993-4F5B-8338-A155D7163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5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103" name="Rectangle 1031">
            <a:extLst>
              <a:ext uri="{FF2B5EF4-FFF2-40B4-BE49-F238E27FC236}">
                <a16:creationId xmlns:a16="http://schemas.microsoft.com/office/drawing/2014/main" id="{D4B57B18-3F97-4D1E-AA13-041A7DDAE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63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F2176-6175-6A4D-84ED-59A2EE053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Outline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2</a:t>
            </a:fld>
            <a:endParaRPr lang="en-US" sz="7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DBD703-CB40-13F3-AF07-698E2629F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829" y="1234281"/>
            <a:ext cx="8418285" cy="4389437"/>
          </a:xfrm>
        </p:spPr>
        <p:txBody>
          <a:bodyPr/>
          <a:lstStyle/>
          <a:p>
            <a:r>
              <a:rPr lang="en-US" sz="2800" dirty="0"/>
              <a:t>Defensive Programming (Part 2 of 3)</a:t>
            </a:r>
          </a:p>
          <a:p>
            <a:pPr lvl="1">
              <a:buClr>
                <a:srgbClr val="0070C0"/>
              </a:buClr>
            </a:pPr>
            <a:r>
              <a:rPr lang="en-US" dirty="0"/>
              <a:t>Error-Handling Techniques</a:t>
            </a:r>
          </a:p>
        </p:txBody>
      </p:sp>
    </p:spTree>
    <p:extLst>
      <p:ext uri="{BB962C8B-B14F-4D97-AF65-F5344CB8AC3E}">
        <p14:creationId xmlns:p14="http://schemas.microsoft.com/office/powerpoint/2010/main" val="1660404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Error-Handling Techniques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3</a:t>
            </a:fld>
            <a:endParaRPr lang="en-US" sz="70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A99DEACF-28B4-8119-C37A-EC588BB9BB41}"/>
              </a:ext>
            </a:extLst>
          </p:cNvPr>
          <p:cNvSpPr txBox="1"/>
          <p:nvPr/>
        </p:nvSpPr>
        <p:spPr>
          <a:xfrm>
            <a:off x="2590800" y="1125362"/>
            <a:ext cx="4114800" cy="451406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20320" rIns="0" bIns="0">
            <a:spAutoFit/>
          </a:bodyPr>
          <a:lstStyle/>
          <a:p>
            <a:pPr marL="135255" algn="ctr">
              <a:spcBef>
                <a:spcPts val="160"/>
              </a:spcBef>
              <a:defRPr/>
            </a:pPr>
            <a:r>
              <a:rPr lang="en-US" sz="2800" b="1" spc="-15" dirty="0">
                <a:solidFill>
                  <a:srgbClr val="C00000"/>
                </a:solidFill>
                <a:latin typeface="Carlito"/>
                <a:cs typeface="Carlito"/>
              </a:rPr>
              <a:t>E</a:t>
            </a:r>
            <a:r>
              <a:rPr sz="2800" b="1" spc="-10" dirty="0">
                <a:solidFill>
                  <a:srgbClr val="C00000"/>
                </a:solidFill>
                <a:latin typeface="Carlito"/>
                <a:cs typeface="Carlito"/>
              </a:rPr>
              <a:t>rror message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877F9746-45D7-BE03-1D48-8C121B7F9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1931812"/>
            <a:ext cx="9067800" cy="877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20955" rIns="0" bIns="0">
            <a:spAutoFit/>
          </a:bodyPr>
          <a:lstStyle/>
          <a:p>
            <a:pPr marL="104775" algn="ctr">
              <a:spcBef>
                <a:spcPts val="163"/>
              </a:spcBef>
            </a:pPr>
            <a:r>
              <a:rPr lang="en-US" b="1" dirty="0">
                <a:latin typeface="Carlito"/>
                <a:ea typeface="Carlito"/>
                <a:cs typeface="Carlito"/>
              </a:rPr>
              <a:t>Display an error message wherever the error is encountered</a:t>
            </a:r>
          </a:p>
          <a:p>
            <a:pPr marL="104775" algn="ctr">
              <a:spcBef>
                <a:spcPts val="163"/>
              </a:spcBef>
            </a:pPr>
            <a:r>
              <a:rPr lang="en-US" i="1" dirty="0">
                <a:latin typeface="Carlito"/>
                <a:ea typeface="Carlito"/>
                <a:cs typeface="Carlito"/>
              </a:rPr>
              <a:t>Beware of telling a potential attacker of the system too much. Attackers sometimes use error messages to discover how to attack a system.</a:t>
            </a:r>
          </a:p>
        </p:txBody>
      </p:sp>
      <p:pic>
        <p:nvPicPr>
          <p:cNvPr id="6" name="Picture 9" descr="How to do Ajax form validation with inline error messages – without using a  plugin | Michael Soriano">
            <a:extLst>
              <a:ext uri="{FF2B5EF4-FFF2-40B4-BE49-F238E27FC236}">
                <a16:creationId xmlns:a16="http://schemas.microsoft.com/office/drawing/2014/main" id="{69769B36-3933-AC15-1D05-68B01EF4F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3112912"/>
            <a:ext cx="5486400" cy="321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97704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Error-Handling Techniques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4</a:t>
            </a:fld>
            <a:endParaRPr lang="en-US" sz="70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3C404A58-B101-8C6F-4D95-0D5A15180C16}"/>
              </a:ext>
            </a:extLst>
          </p:cNvPr>
          <p:cNvSpPr txBox="1"/>
          <p:nvPr/>
        </p:nvSpPr>
        <p:spPr>
          <a:xfrm>
            <a:off x="2447440" y="1166299"/>
            <a:ext cx="4572000" cy="4508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lIns="0" tIns="20320" rIns="0" bIns="0">
            <a:spAutoFit/>
          </a:bodyPr>
          <a:lstStyle/>
          <a:p>
            <a:pPr marL="172085" algn="ctr">
              <a:spcBef>
                <a:spcPts val="160"/>
              </a:spcBef>
              <a:defRPr/>
            </a:pPr>
            <a:r>
              <a:rPr sz="2800" b="1" spc="-15" dirty="0">
                <a:solidFill>
                  <a:srgbClr val="C00000"/>
                </a:solidFill>
                <a:latin typeface="Carlito"/>
                <a:cs typeface="Carlito"/>
              </a:rPr>
              <a:t>Return </a:t>
            </a:r>
            <a:r>
              <a:rPr sz="2800" b="1" dirty="0">
                <a:solidFill>
                  <a:srgbClr val="C00000"/>
                </a:solidFill>
                <a:latin typeface="Carlito"/>
                <a:cs typeface="Carlito"/>
              </a:rPr>
              <a:t>a </a:t>
            </a:r>
            <a:r>
              <a:rPr sz="2800" b="1" spc="-10" dirty="0">
                <a:solidFill>
                  <a:srgbClr val="C00000"/>
                </a:solidFill>
                <a:latin typeface="Carlito"/>
                <a:cs typeface="Carlito"/>
              </a:rPr>
              <a:t>neutral value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D8A4665C-8606-A32F-B042-801ED42DC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440" y="1958652"/>
            <a:ext cx="8305800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26670" rIns="0" bIns="0">
            <a:spAutoFit/>
          </a:bodyPr>
          <a:lstStyle/>
          <a:p>
            <a:pPr marL="1563688" indent="-1550988">
              <a:lnSpc>
                <a:spcPts val="2113"/>
              </a:lnSpc>
              <a:spcBef>
                <a:spcPts val="213"/>
              </a:spcBef>
            </a:pPr>
            <a:r>
              <a:rPr lang="en-US" i="1">
                <a:latin typeface="Carlito"/>
                <a:ea typeface="Carlito"/>
                <a:cs typeface="Carlito"/>
              </a:rPr>
              <a:t>Sometimes the best response to bad data is to continue operating and simply  return a value that’s known to be harmless.</a:t>
            </a:r>
            <a:endParaRPr lang="en-US">
              <a:latin typeface="Carlito"/>
              <a:ea typeface="Carlito"/>
              <a:cs typeface="Carlito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E00B92F6-5941-5393-EA3B-010BBA04E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040" y="2746052"/>
            <a:ext cx="8382000" cy="1425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33020" rIns="0" bIns="0">
            <a:spAutoFit/>
          </a:bodyPr>
          <a:lstStyle/>
          <a:p>
            <a:pPr marL="376238" indent="-285750">
              <a:lnSpc>
                <a:spcPts val="2125"/>
              </a:lnSpc>
              <a:spcBef>
                <a:spcPts val="263"/>
              </a:spcBef>
              <a:buFont typeface="Arial" pitchFamily="34" charset="0"/>
              <a:buChar char="•"/>
              <a:tabLst>
                <a:tab pos="376238" algn="l"/>
              </a:tabLst>
            </a:pPr>
            <a:r>
              <a:rPr lang="en-US">
                <a:latin typeface="Carlito"/>
                <a:ea typeface="Carlito"/>
                <a:cs typeface="Carlito"/>
              </a:rPr>
              <a:t>A numeric computation might return 0.</a:t>
            </a:r>
          </a:p>
          <a:p>
            <a:pPr marL="376238" indent="-285750">
              <a:lnSpc>
                <a:spcPts val="2125"/>
              </a:lnSpc>
              <a:buFont typeface="Arial" pitchFamily="34" charset="0"/>
              <a:buChar char="•"/>
              <a:tabLst>
                <a:tab pos="376238" algn="l"/>
              </a:tabLst>
            </a:pPr>
            <a:r>
              <a:rPr lang="en-US">
                <a:latin typeface="Carlito"/>
                <a:ea typeface="Carlito"/>
                <a:cs typeface="Carlito"/>
              </a:rPr>
              <a:t>A string operation might return an empty string, or a pointer operation might return an empty pointer.</a:t>
            </a:r>
          </a:p>
          <a:p>
            <a:pPr marL="376238" indent="-285750">
              <a:lnSpc>
                <a:spcPts val="2088"/>
              </a:lnSpc>
              <a:spcBef>
                <a:spcPts val="175"/>
              </a:spcBef>
              <a:buFont typeface="Arial" pitchFamily="34" charset="0"/>
              <a:buChar char="•"/>
              <a:tabLst>
                <a:tab pos="376238" algn="l"/>
              </a:tabLst>
            </a:pPr>
            <a:r>
              <a:rPr lang="en-US">
                <a:latin typeface="Carlito"/>
                <a:ea typeface="Carlito"/>
                <a:cs typeface="Carlito"/>
              </a:rPr>
              <a:t>A drawing routine that gets a bad input value for color in a video game might  use the default background or foreground color.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BBD1F95-E3F3-5046-7F88-D5DF385DD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8240" y="4336727"/>
            <a:ext cx="2578100" cy="212090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219" name="Rectangle 8">
            <a:extLst>
              <a:ext uri="{FF2B5EF4-FFF2-40B4-BE49-F238E27FC236}">
                <a16:creationId xmlns:a16="http://schemas.microsoft.com/office/drawing/2014/main" id="{7718D636-47FE-702C-2D7E-6A9CD5E9D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0640" y="4781227"/>
            <a:ext cx="3352800" cy="1200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A drawing routine that displays x-ray data for cancer patients, however, would not want to</a:t>
            </a:r>
          </a:p>
          <a:p>
            <a:r>
              <a:rPr lang="en-US"/>
              <a:t>display a “neutral value.”</a:t>
            </a:r>
          </a:p>
        </p:txBody>
      </p:sp>
    </p:spTree>
    <p:extLst>
      <p:ext uri="{BB962C8B-B14F-4D97-AF65-F5344CB8AC3E}">
        <p14:creationId xmlns:p14="http://schemas.microsoft.com/office/powerpoint/2010/main" val="3810758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Error-Handling Techniques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  <a:p>
            <a:pPr marL="9144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5</a:t>
            </a:fld>
            <a:endParaRPr lang="en-US" sz="7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90E5D31-3516-13C1-6317-45116358F134}"/>
              </a:ext>
            </a:extLst>
          </p:cNvPr>
          <p:cNvSpPr txBox="1"/>
          <p:nvPr/>
        </p:nvSpPr>
        <p:spPr>
          <a:xfrm>
            <a:off x="1695947" y="1240639"/>
            <a:ext cx="6019800" cy="4508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lIns="0" tIns="20320" rIns="0" bIns="0">
            <a:spAutoFit/>
          </a:bodyPr>
          <a:lstStyle/>
          <a:p>
            <a:pPr marL="91440" algn="ctr">
              <a:spcBef>
                <a:spcPts val="160"/>
              </a:spcBef>
              <a:defRPr/>
            </a:pPr>
            <a:r>
              <a:rPr sz="2800" b="1" spc="-15" dirty="0">
                <a:solidFill>
                  <a:srgbClr val="C00000"/>
                </a:solidFill>
                <a:latin typeface="Carlito"/>
                <a:cs typeface="Carlito"/>
              </a:rPr>
              <a:t>Substitute </a:t>
            </a:r>
            <a:r>
              <a:rPr sz="2800" b="1" spc="-5" dirty="0">
                <a:solidFill>
                  <a:srgbClr val="C00000"/>
                </a:solidFill>
                <a:latin typeface="Carlito"/>
                <a:cs typeface="Carlito"/>
              </a:rPr>
              <a:t>the </a:t>
            </a:r>
            <a:r>
              <a:rPr sz="2800" b="1" spc="-10" dirty="0">
                <a:solidFill>
                  <a:srgbClr val="C00000"/>
                </a:solidFill>
                <a:latin typeface="Carlito"/>
                <a:cs typeface="Carlito"/>
              </a:rPr>
              <a:t>closest </a:t>
            </a:r>
            <a:r>
              <a:rPr sz="2800" b="1" spc="-15" dirty="0">
                <a:solidFill>
                  <a:srgbClr val="C00000"/>
                </a:solidFill>
                <a:latin typeface="Carlito"/>
                <a:cs typeface="Carlito"/>
              </a:rPr>
              <a:t>legal</a:t>
            </a:r>
            <a:r>
              <a:rPr sz="2800" b="1" spc="5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800" b="1" spc="-15" dirty="0">
                <a:solidFill>
                  <a:srgbClr val="C00000"/>
                </a:solidFill>
                <a:latin typeface="Carlito"/>
                <a:cs typeface="Carlito"/>
              </a:rPr>
              <a:t>value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F9F66B1-D520-855D-7B2F-BA2AAADCC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147" y="2140180"/>
            <a:ext cx="8153400" cy="29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26670" rIns="0" bIns="0">
            <a:spAutoFit/>
          </a:bodyPr>
          <a:lstStyle/>
          <a:p>
            <a:pPr marL="333375" indent="-320675" algn="ctr">
              <a:lnSpc>
                <a:spcPts val="2113"/>
              </a:lnSpc>
              <a:spcBef>
                <a:spcPts val="213"/>
              </a:spcBef>
            </a:pPr>
            <a:r>
              <a:rPr lang="en-US" i="1">
                <a:latin typeface="Carlito"/>
                <a:ea typeface="Carlito"/>
                <a:cs typeface="Carlito"/>
              </a:rPr>
              <a:t>In some cases, you might choose to return the closest legal value. </a:t>
            </a:r>
            <a:endParaRPr lang="en-US">
              <a:latin typeface="Carlito"/>
              <a:ea typeface="Carlito"/>
              <a:cs typeface="Carlito"/>
            </a:endParaRP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410A924B-2E5E-916E-6903-EF154C855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60" y="3575605"/>
            <a:ext cx="3906838" cy="16811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34925" rIns="0" bIns="0">
            <a:spAutoFit/>
          </a:bodyPr>
          <a:lstStyle/>
          <a:p>
            <a:pPr marL="90488">
              <a:lnSpc>
                <a:spcPct val="99000"/>
              </a:lnSpc>
              <a:spcBef>
                <a:spcPts val="275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Cars use this approach to error handling whenever going back. Since a speedometer doesn’t show negative speeds, when it simply shows a speed of 0—the closest legal value.</a:t>
            </a:r>
          </a:p>
        </p:txBody>
      </p:sp>
      <p:pic>
        <p:nvPicPr>
          <p:cNvPr id="12" name="Picture 10" descr="Surveillance Detection Primer - Online Seminar - LaSorsa &amp; Associates -  Executive Protection - Training - Consulting - Investigations">
            <a:extLst>
              <a:ext uri="{FF2B5EF4-FFF2-40B4-BE49-F238E27FC236}">
                <a16:creationId xmlns:a16="http://schemas.microsoft.com/office/drawing/2014/main" id="{4F4BA663-E571-EC27-D689-8A3C7BC24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40197" y="2838670"/>
            <a:ext cx="4542081" cy="3025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1095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Error-Handling Techniques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6</a:t>
            </a:fld>
            <a:endParaRPr lang="en-US" sz="70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ABF27ABD-EFA0-A9CD-5B47-2AC6B93F88AC}"/>
              </a:ext>
            </a:extLst>
          </p:cNvPr>
          <p:cNvSpPr txBox="1"/>
          <p:nvPr/>
        </p:nvSpPr>
        <p:spPr>
          <a:xfrm>
            <a:off x="1447800" y="1215056"/>
            <a:ext cx="6629400" cy="4508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lIns="0" tIns="20320" rIns="0" bIns="0">
            <a:spAutoFit/>
          </a:bodyPr>
          <a:lstStyle/>
          <a:p>
            <a:pPr marL="91440">
              <a:spcBef>
                <a:spcPts val="160"/>
              </a:spcBef>
              <a:defRPr/>
            </a:pPr>
            <a:r>
              <a:rPr sz="2800" b="1" spc="-15" dirty="0">
                <a:solidFill>
                  <a:srgbClr val="C00000"/>
                </a:solidFill>
                <a:latin typeface="Carlito"/>
                <a:cs typeface="Carlito"/>
              </a:rPr>
              <a:t>Substitute </a:t>
            </a:r>
            <a:r>
              <a:rPr sz="2800" b="1" spc="-5" dirty="0">
                <a:solidFill>
                  <a:srgbClr val="C00000"/>
                </a:solidFill>
                <a:latin typeface="Carlito"/>
                <a:cs typeface="Carlito"/>
              </a:rPr>
              <a:t>the </a:t>
            </a:r>
            <a:r>
              <a:rPr sz="2800" b="1" spc="-15" dirty="0">
                <a:solidFill>
                  <a:srgbClr val="C00000"/>
                </a:solidFill>
                <a:latin typeface="Carlito"/>
                <a:cs typeface="Carlito"/>
              </a:rPr>
              <a:t>next </a:t>
            </a:r>
            <a:r>
              <a:rPr sz="2800" b="1" spc="-5" dirty="0">
                <a:solidFill>
                  <a:srgbClr val="C00000"/>
                </a:solidFill>
                <a:latin typeface="Carlito"/>
                <a:cs typeface="Carlito"/>
              </a:rPr>
              <a:t>piece of </a:t>
            </a:r>
            <a:r>
              <a:rPr sz="2800" b="1" spc="-15" dirty="0">
                <a:solidFill>
                  <a:srgbClr val="C00000"/>
                </a:solidFill>
                <a:latin typeface="Carlito"/>
                <a:cs typeface="Carlito"/>
              </a:rPr>
              <a:t>valid</a:t>
            </a:r>
            <a:r>
              <a:rPr sz="2800" b="1" spc="7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800" b="1" spc="-15" dirty="0">
                <a:solidFill>
                  <a:srgbClr val="C00000"/>
                </a:solidFill>
                <a:latin typeface="Carlito"/>
                <a:cs typeface="Carlito"/>
              </a:rPr>
              <a:t>data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BDC799E-58D2-E301-BBBD-FC3A5986B4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986581"/>
            <a:ext cx="8610600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26670" rIns="0" bIns="0">
            <a:spAutoFit/>
          </a:bodyPr>
          <a:lstStyle/>
          <a:p>
            <a:pPr marL="2809875" indent="-2797175">
              <a:lnSpc>
                <a:spcPts val="2113"/>
              </a:lnSpc>
              <a:spcBef>
                <a:spcPts val="213"/>
              </a:spcBef>
            </a:pPr>
            <a:r>
              <a:rPr lang="en-US" i="1">
                <a:latin typeface="Carlito"/>
                <a:ea typeface="Carlito"/>
                <a:cs typeface="Carlito"/>
              </a:rPr>
              <a:t>When processing a stream of data, some circumstances call for simply returning the next valid data.</a:t>
            </a:r>
            <a:endParaRPr lang="en-US">
              <a:latin typeface="Carlito"/>
              <a:ea typeface="Carlito"/>
              <a:cs typeface="Carlito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90006FBE-105A-E448-FCF6-FE840D9C27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848719"/>
            <a:ext cx="4364038" cy="11414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32384" rIns="0" bIns="0">
            <a:spAutoFit/>
          </a:bodyPr>
          <a:lstStyle/>
          <a:p>
            <a:pPr marL="90488">
              <a:spcBef>
                <a:spcPts val="250"/>
              </a:spcBef>
            </a:pPr>
            <a:r>
              <a:rPr lang="en-US">
                <a:latin typeface="Carlito"/>
                <a:ea typeface="Carlito"/>
                <a:cs typeface="Carlito"/>
              </a:rPr>
              <a:t>If you’re reading records from a database  and encounter a corrupted record, you  might simply continue reading until you  find a valid record.</a:t>
            </a:r>
          </a:p>
        </p:txBody>
      </p:sp>
      <p:pic>
        <p:nvPicPr>
          <p:cNvPr id="7" name="Picture 13">
            <a:extLst>
              <a:ext uri="{FF2B5EF4-FFF2-40B4-BE49-F238E27FC236}">
                <a16:creationId xmlns:a16="http://schemas.microsoft.com/office/drawing/2014/main" id="{E4A1430F-24F0-F305-2B50-BFFC2EC7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95825" y="2780331"/>
            <a:ext cx="4295775" cy="322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8952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Autofit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Error-Handling Techniques</a:t>
            </a:r>
            <a:endParaRPr lang="en-US" sz="40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7</a:t>
            </a:fld>
            <a:endParaRPr lang="en-US" sz="70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FC4408AD-C376-2319-05D0-5524439ECD33}"/>
              </a:ext>
            </a:extLst>
          </p:cNvPr>
          <p:cNvSpPr txBox="1"/>
          <p:nvPr/>
        </p:nvSpPr>
        <p:spPr>
          <a:xfrm>
            <a:off x="914400" y="1422770"/>
            <a:ext cx="7629300" cy="451406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20320" rIns="0" bIns="0">
            <a:spAutoFit/>
          </a:bodyPr>
          <a:lstStyle/>
          <a:p>
            <a:pPr marL="90805">
              <a:spcBef>
                <a:spcPts val="160"/>
              </a:spcBef>
              <a:defRPr/>
            </a:pPr>
            <a:r>
              <a:rPr sz="2800" b="1" spc="-15" dirty="0">
                <a:solidFill>
                  <a:srgbClr val="C00000"/>
                </a:solidFill>
                <a:latin typeface="Carlito"/>
                <a:cs typeface="Carlito"/>
              </a:rPr>
              <a:t>Return </a:t>
            </a:r>
            <a:r>
              <a:rPr sz="2800" b="1" spc="-5" dirty="0">
                <a:solidFill>
                  <a:srgbClr val="C00000"/>
                </a:solidFill>
                <a:latin typeface="Carlito"/>
                <a:cs typeface="Carlito"/>
              </a:rPr>
              <a:t>the same </a:t>
            </a:r>
            <a:r>
              <a:rPr sz="2800" b="1" spc="-10" dirty="0">
                <a:solidFill>
                  <a:srgbClr val="C00000"/>
                </a:solidFill>
                <a:latin typeface="Carlito"/>
                <a:cs typeface="Carlito"/>
              </a:rPr>
              <a:t>answer </a:t>
            </a:r>
            <a:r>
              <a:rPr sz="2800" b="1" dirty="0">
                <a:solidFill>
                  <a:srgbClr val="C00000"/>
                </a:solidFill>
                <a:latin typeface="Carlito"/>
                <a:cs typeface="Carlito"/>
              </a:rPr>
              <a:t>as </a:t>
            </a:r>
            <a:r>
              <a:rPr sz="2800" b="1" spc="-5" dirty="0">
                <a:solidFill>
                  <a:srgbClr val="C00000"/>
                </a:solidFill>
                <a:latin typeface="Carlito"/>
                <a:cs typeface="Carlito"/>
              </a:rPr>
              <a:t>the </a:t>
            </a:r>
            <a:r>
              <a:rPr sz="2800" b="1" spc="-10" dirty="0">
                <a:solidFill>
                  <a:srgbClr val="C00000"/>
                </a:solidFill>
                <a:latin typeface="Carlito"/>
                <a:cs typeface="Carlito"/>
              </a:rPr>
              <a:t>previous</a:t>
            </a:r>
            <a:r>
              <a:rPr sz="2800" b="1" spc="5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Carlito"/>
                <a:cs typeface="Carlito"/>
              </a:rPr>
              <a:t>time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9A90E105-C63F-7679-2C43-E5F1DA54F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867186"/>
            <a:ext cx="4401519" cy="2719116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68E4C4-C486-D8D7-93D4-1EFFA8308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567966"/>
            <a:ext cx="3961367" cy="14773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/>
              <a:t>if you’re authorizing transactions at a cash machine, you probably wouldn’t want to use the “same answer as last time”—that would be the previous user’s bank account number!</a:t>
            </a:r>
          </a:p>
        </p:txBody>
      </p:sp>
    </p:spTree>
    <p:extLst>
      <p:ext uri="{BB962C8B-B14F-4D97-AF65-F5344CB8AC3E}">
        <p14:creationId xmlns:p14="http://schemas.microsoft.com/office/powerpoint/2010/main" val="91697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Error-Handling Techniques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  <a:p>
            <a:pPr marL="9144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8</a:t>
            </a:fld>
            <a:endParaRPr lang="en-US" sz="7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21810D2-8807-DF08-FBDA-26141658E846}"/>
              </a:ext>
            </a:extLst>
          </p:cNvPr>
          <p:cNvSpPr txBox="1"/>
          <p:nvPr/>
        </p:nvSpPr>
        <p:spPr>
          <a:xfrm>
            <a:off x="1862744" y="1383330"/>
            <a:ext cx="5562600" cy="4508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lIns="0" tIns="20320" rIns="0" bIns="0">
            <a:spAutoFit/>
          </a:bodyPr>
          <a:lstStyle/>
          <a:p>
            <a:pPr marL="91440">
              <a:spcBef>
                <a:spcPts val="160"/>
              </a:spcBef>
              <a:defRPr/>
            </a:pPr>
            <a:r>
              <a:rPr sz="2800" b="1" spc="-5" dirty="0">
                <a:solidFill>
                  <a:srgbClr val="C00000"/>
                </a:solidFill>
                <a:latin typeface="Carlito"/>
                <a:cs typeface="Carlito"/>
              </a:rPr>
              <a:t>Log </a:t>
            </a:r>
            <a:r>
              <a:rPr sz="2800" b="1" dirty="0">
                <a:solidFill>
                  <a:srgbClr val="C00000"/>
                </a:solidFill>
                <a:latin typeface="Carlito"/>
                <a:cs typeface="Carlito"/>
              </a:rPr>
              <a:t>a </a:t>
            </a:r>
            <a:r>
              <a:rPr sz="2800" b="1" spc="-10" dirty="0">
                <a:solidFill>
                  <a:srgbClr val="C00000"/>
                </a:solidFill>
                <a:latin typeface="Carlito"/>
                <a:cs typeface="Carlito"/>
              </a:rPr>
              <a:t>warning message </a:t>
            </a:r>
            <a:r>
              <a:rPr sz="2800" b="1" spc="-15" dirty="0">
                <a:solidFill>
                  <a:srgbClr val="C00000"/>
                </a:solidFill>
                <a:latin typeface="Carlito"/>
                <a:cs typeface="Carlito"/>
              </a:rPr>
              <a:t>to </a:t>
            </a:r>
            <a:r>
              <a:rPr sz="2800" b="1" dirty="0">
                <a:solidFill>
                  <a:srgbClr val="C00000"/>
                </a:solidFill>
                <a:latin typeface="Carlito"/>
                <a:cs typeface="Carlito"/>
              </a:rPr>
              <a:t>a</a:t>
            </a:r>
            <a:r>
              <a:rPr sz="2800" b="1" spc="4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Carlito"/>
                <a:cs typeface="Carlito"/>
              </a:rPr>
              <a:t>file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2886CB9-5F33-2021-25EC-E06A9D6DD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1" y="2134137"/>
            <a:ext cx="8229600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26670" rIns="0" bIns="0">
            <a:spAutoFit/>
          </a:bodyPr>
          <a:lstStyle/>
          <a:p>
            <a:pPr marL="2366963" indent="-2354263">
              <a:lnSpc>
                <a:spcPts val="2113"/>
              </a:lnSpc>
              <a:spcBef>
                <a:spcPts val="213"/>
              </a:spcBef>
            </a:pPr>
            <a:r>
              <a:rPr lang="en-US" i="1" dirty="0">
                <a:latin typeface="Carlito"/>
                <a:ea typeface="Carlito"/>
                <a:cs typeface="Carlito"/>
              </a:rPr>
              <a:t>When bad data is detected, you might choose to log a warning message to a file and then continue on.</a:t>
            </a:r>
            <a:endParaRPr lang="en-US" dirty="0">
              <a:latin typeface="Carlito"/>
              <a:ea typeface="Carlito"/>
              <a:cs typeface="Carlito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7CD8499-E723-7367-DE20-E2956935C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865" y="3041919"/>
            <a:ext cx="4038600" cy="14176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32384" rIns="0" bIns="0">
            <a:spAutoFit/>
          </a:bodyPr>
          <a:lstStyle/>
          <a:p>
            <a:pPr marL="90488">
              <a:spcBef>
                <a:spcPts val="250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This approach can be used in conjunction  with other techniques like substituting the  closest legal value or substituting the next piece of valid data.</a:t>
            </a: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5DA04031-3413-FBEB-5343-E5E859870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865" y="4762808"/>
            <a:ext cx="4059238" cy="11414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32384" rIns="0" bIns="0">
            <a:spAutoFit/>
          </a:bodyPr>
          <a:lstStyle/>
          <a:p>
            <a:pPr marL="90488">
              <a:spcBef>
                <a:spcPts val="250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If you use a log, consider whether you can safely make it publicly available or whether you need to encrypt it or protect it some other way.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F1D8F9-44E7-BCE9-5257-CC7885E93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59180" y="2999244"/>
            <a:ext cx="4387312" cy="324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1756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Error-Handling Techniques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  <a:p>
            <a:pPr marL="9144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9</a:t>
            </a:fld>
            <a:endParaRPr lang="en-US" sz="7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2B81479-A86B-B93A-5564-5A3028643ADA}"/>
              </a:ext>
            </a:extLst>
          </p:cNvPr>
          <p:cNvSpPr txBox="1"/>
          <p:nvPr/>
        </p:nvSpPr>
        <p:spPr>
          <a:xfrm>
            <a:off x="3509842" y="1403941"/>
            <a:ext cx="2098675" cy="4508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lIns="0" tIns="20320" rIns="0" bIns="0">
            <a:spAutoFit/>
          </a:bodyPr>
          <a:lstStyle/>
          <a:p>
            <a:pPr marL="99060" algn="ctr">
              <a:spcBef>
                <a:spcPts val="160"/>
              </a:spcBef>
              <a:defRPr/>
            </a:pPr>
            <a:r>
              <a:rPr sz="2800" b="1" spc="-10" dirty="0">
                <a:solidFill>
                  <a:srgbClr val="C00000"/>
                </a:solidFill>
                <a:latin typeface="Carlito"/>
                <a:cs typeface="Carlito"/>
              </a:rPr>
              <a:t>Shut</a:t>
            </a:r>
            <a:r>
              <a:rPr lang="en-US" sz="2800" b="1" spc="-1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Carlito"/>
                <a:cs typeface="Carlito"/>
              </a:rPr>
              <a:t>down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D380400A-4A74-E101-746C-891F09EA36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692" y="1978320"/>
            <a:ext cx="8153400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26670" rIns="0" bIns="0">
            <a:spAutoFit/>
          </a:bodyPr>
          <a:lstStyle/>
          <a:p>
            <a:pPr marL="2309813" indent="-2297113">
              <a:lnSpc>
                <a:spcPts val="2113"/>
              </a:lnSpc>
              <a:spcBef>
                <a:spcPts val="213"/>
              </a:spcBef>
            </a:pPr>
            <a:r>
              <a:rPr lang="en-US" i="1" dirty="0">
                <a:latin typeface="Carlito"/>
                <a:ea typeface="Carlito"/>
                <a:cs typeface="Carlito"/>
              </a:rPr>
              <a:t>Some systems shut down whenever they detect an error. This approach is useful in safety-critical applications.</a:t>
            </a:r>
            <a:endParaRPr lang="en-US" dirty="0">
              <a:latin typeface="Carlito"/>
              <a:ea typeface="Carlito"/>
              <a:cs typeface="Carlito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D6D50247-D322-F681-BAB4-E0FB39BD1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667000"/>
            <a:ext cx="4640492" cy="3694113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A1BE1831-0DA1-72D9-F775-1C5FD586F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779838"/>
            <a:ext cx="4114800" cy="14779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Software that controls radiation equipment for treating cancer patients receives bad input data for the radiation dosage, shutting down is the best option.</a:t>
            </a:r>
          </a:p>
        </p:txBody>
      </p:sp>
    </p:spTree>
    <p:extLst>
      <p:ext uri="{BB962C8B-B14F-4D97-AF65-F5344CB8AC3E}">
        <p14:creationId xmlns:p14="http://schemas.microsoft.com/office/powerpoint/2010/main" val="4288430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 fontScale="90000"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Error-Handling Techniques:</a:t>
            </a:r>
            <a:r>
              <a:rPr lang="en-US" sz="2700" dirty="0">
                <a:solidFill>
                  <a:schemeClr val="tx1"/>
                </a:solidFill>
              </a:rPr>
              <a:t> Correctness vs. Robustness</a:t>
            </a:r>
            <a:endParaRPr lang="en-US" sz="27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10</a:t>
            </a:fld>
            <a:endParaRPr lang="en-US" sz="7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E0D3CE9-1126-FB8A-C36B-B755AC2773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676400"/>
            <a:ext cx="8515027" cy="566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28575" rIns="0" bIns="0">
            <a:spAutoFit/>
          </a:bodyPr>
          <a:lstStyle/>
          <a:p>
            <a:pPr marL="12700" algn="just">
              <a:lnSpc>
                <a:spcPts val="2088"/>
              </a:lnSpc>
              <a:spcBef>
                <a:spcPts val="225"/>
              </a:spcBef>
            </a:pPr>
            <a:r>
              <a:rPr lang="en-US" b="1" i="1" dirty="0">
                <a:latin typeface="Carlito"/>
                <a:ea typeface="Carlito"/>
                <a:cs typeface="Carlito"/>
              </a:rPr>
              <a:t>Correctness </a:t>
            </a:r>
            <a:r>
              <a:rPr lang="en-US" dirty="0">
                <a:latin typeface="Carlito"/>
                <a:ea typeface="Carlito"/>
                <a:cs typeface="Carlito"/>
              </a:rPr>
              <a:t>means never returning an inaccurate result; returning no result is better than returning an inaccurate result.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3345CCB-9A0C-520D-56D7-9FD90D8FA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2565400"/>
            <a:ext cx="5638800" cy="863600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lIns="0" tIns="31750" rIns="0" bIns="0">
            <a:spAutoFit/>
          </a:bodyPr>
          <a:lstStyle/>
          <a:p>
            <a:pPr marL="115888" indent="-1588" algn="ctr">
              <a:spcBef>
                <a:spcPts val="250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Safety-critical applications tend to favor correctness to robustness. It is better to return no result than to return a wrong result. e.g., the  radiation machine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C2D3388B-E66C-2D78-B970-702C014F0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918075"/>
            <a:ext cx="5181600" cy="857250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lIns="0" tIns="34290" rIns="0" bIns="0">
            <a:spAutoFit/>
          </a:bodyPr>
          <a:lstStyle/>
          <a:p>
            <a:pPr marL="211138" algn="ctr">
              <a:lnSpc>
                <a:spcPct val="99000"/>
              </a:lnSpc>
              <a:spcBef>
                <a:spcPts val="275"/>
              </a:spcBef>
            </a:pPr>
            <a:r>
              <a:rPr lang="en-US">
                <a:latin typeface="Carlito"/>
                <a:ea typeface="Carlito"/>
                <a:cs typeface="Carlito"/>
              </a:rPr>
              <a:t>Consumer applications tend to favor robustness  to correctness. Any result whatsoever is usually  better than the software shutting down.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36FB2CAA-12E9-6215-AEA3-3F7EF85EF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038600"/>
            <a:ext cx="851502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2700" algn="just">
              <a:lnSpc>
                <a:spcPct val="99000"/>
              </a:lnSpc>
              <a:spcBef>
                <a:spcPts val="800"/>
              </a:spcBef>
            </a:pPr>
            <a:r>
              <a:rPr lang="en-US" b="1" i="1" dirty="0">
                <a:latin typeface="Carlito"/>
                <a:ea typeface="Carlito"/>
                <a:cs typeface="Carlito"/>
              </a:rPr>
              <a:t>Robustness </a:t>
            </a:r>
            <a:r>
              <a:rPr lang="en-US" dirty="0">
                <a:latin typeface="Carlito"/>
                <a:ea typeface="Carlito"/>
                <a:cs typeface="Carlito"/>
              </a:rPr>
              <a:t>means always trying to do something that will allow the software to keep operating, even if that leads to results that are inaccurate sometimes.</a:t>
            </a:r>
          </a:p>
        </p:txBody>
      </p:sp>
    </p:spTree>
    <p:extLst>
      <p:ext uri="{BB962C8B-B14F-4D97-AF65-F5344CB8AC3E}">
        <p14:creationId xmlns:p14="http://schemas.microsoft.com/office/powerpoint/2010/main" val="3107751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+mn-lt"/>
              </a:rPr>
              <a:t>Reading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11</a:t>
            </a:fld>
            <a:endParaRPr lang="en-US" sz="700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A656E32-1156-FEA0-19B6-F14CFAE5A8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6120" y="1400727"/>
            <a:ext cx="8496839" cy="3429000"/>
          </a:xfrm>
        </p:spPr>
        <p:txBody>
          <a:bodyPr/>
          <a:lstStyle/>
          <a:p>
            <a:pPr marL="548640" lvl="1" indent="-274320" eaLnBrk="1" fontAlgn="auto" hangingPunct="1">
              <a:spcAft>
                <a:spcPts val="0"/>
              </a:spcAft>
              <a:buClr>
                <a:srgbClr val="0070C0"/>
              </a:buClr>
              <a:buFont typeface="Wingdings 3"/>
              <a:buChar char=""/>
              <a:defRPr/>
            </a:pPr>
            <a:r>
              <a:rPr lang="en-US" sz="2000" dirty="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rPr>
              <a:t>Code Complete: A Practical Handbook of Software Construction, 2</a:t>
            </a:r>
            <a:r>
              <a:rPr lang="en-US" sz="2000" baseline="30000" dirty="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rPr>
              <a:t>nd</a:t>
            </a:r>
            <a:r>
              <a:rPr lang="en-US" sz="2000" dirty="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rPr>
              <a:t> Edition, Steve McConnell. </a:t>
            </a:r>
          </a:p>
          <a:p>
            <a:pPr marL="823277" lvl="2" indent="-274320" eaLnBrk="1" fontAlgn="auto" hangingPunct="1">
              <a:spcAft>
                <a:spcPts val="0"/>
              </a:spcAft>
              <a:buClr>
                <a:srgbClr val="0070C0"/>
              </a:buClr>
              <a:buFont typeface="Wingdings 3"/>
              <a:buChar char=""/>
              <a:defRPr/>
            </a:pPr>
            <a:r>
              <a:rPr lang="en-US" sz="1700" dirty="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rPr>
              <a:t>Chapter 8</a:t>
            </a:r>
          </a:p>
          <a:p>
            <a:pPr marL="533400" lvl="1" indent="-533400" eaLnBrk="1" hangingPunct="1">
              <a:lnSpc>
                <a:spcPct val="115000"/>
              </a:lnSpc>
              <a:spcBef>
                <a:spcPct val="40000"/>
              </a:spcBef>
              <a:buClr>
                <a:srgbClr val="0BD0D9"/>
              </a:buClr>
              <a:buSzPct val="95000"/>
              <a:buFont typeface="Wingdings 2" pitchFamily="18" charset="2"/>
              <a:buNone/>
              <a:defRPr/>
            </a:pPr>
            <a:endParaRPr lang="en-NZ" altLang="en-US" dirty="0">
              <a:solidFill>
                <a:schemeClr val="tx1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A4C1AEE-513E-5F44-2B1B-675D0D4D3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47167" y="2186758"/>
            <a:ext cx="417195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55685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12</a:t>
            </a:fld>
            <a:endParaRPr lang="en-US" sz="7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C360D8-06EC-45E1-9F03-07203CCB8D4E}"/>
              </a:ext>
            </a:extLst>
          </p:cNvPr>
          <p:cNvSpPr txBox="1"/>
          <p:nvPr/>
        </p:nvSpPr>
        <p:spPr>
          <a:xfrm>
            <a:off x="1721224" y="2286000"/>
            <a:ext cx="570155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cs typeface="Calibri"/>
              </a:rPr>
              <a:t>Any questions? ​</a:t>
            </a:r>
          </a:p>
          <a:p>
            <a:pPr algn="ctr"/>
            <a:r>
              <a:rPr lang="en-US" sz="3600" dirty="0">
                <a:cs typeface="Calibri"/>
              </a:rPr>
              <a:t>Please feel free to raise your hands and ask.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0711CCF-C1F4-43F6-B9FC-0A5338AB8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508" y="675881"/>
            <a:ext cx="1299457" cy="128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6050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CPIT 110">
  <a:themeElements>
    <a:clrScheme name="Custom 1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A2B7C0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CPIT 110" id="{8B30B5B8-1EAF-4AD4-A47C-55C6155E0564}" vid="{0F986C0D-D438-41BC-BADF-01C576FE679B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91684B4F51014982BED21342ACE24F" ma:contentTypeVersion="12" ma:contentTypeDescription="Create a new document." ma:contentTypeScope="" ma:versionID="a6d97c19bf0848d1afa7cfd1ece83864">
  <xsd:schema xmlns:xsd="http://www.w3.org/2001/XMLSchema" xmlns:xs="http://www.w3.org/2001/XMLSchema" xmlns:p="http://schemas.microsoft.com/office/2006/metadata/properties" xmlns:ns2="d55b910c-306d-4260-bef9-52053e20f3ad" xmlns:ns3="9c7ea19a-b04b-43f3-b15e-cde561b15e5b" targetNamespace="http://schemas.microsoft.com/office/2006/metadata/properties" ma:root="true" ma:fieldsID="c0bbd26d2dc288229e6760ed0810afc6" ns2:_="" ns3:_="">
    <xsd:import namespace="d55b910c-306d-4260-bef9-52053e20f3ad"/>
    <xsd:import namespace="9c7ea19a-b04b-43f3-b15e-cde561b15e5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5b910c-306d-4260-bef9-52053e20f3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7ea19a-b04b-43f3-b15e-cde561b15e5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198D305-912F-4EDA-B366-83F8180D3B01}">
  <ds:schemaRefs>
    <ds:schemaRef ds:uri="9c7ea19a-b04b-43f3-b15e-cde561b15e5b"/>
    <ds:schemaRef ds:uri="d55b910c-306d-4260-bef9-52053e20f3a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D0BDFD9-B336-410C-8C70-E8CCE7AD7C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02E0C92-AC64-42CA-94F8-4CA15E127DA0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 CPIT 110</Template>
  <TotalTime>1229</TotalTime>
  <Words>598</Words>
  <Application>Microsoft Office PowerPoint</Application>
  <PresentationFormat>On-screen Show (4:3)</PresentationFormat>
  <Paragraphs>68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Arial</vt:lpstr>
      <vt:lpstr>Calibri</vt:lpstr>
      <vt:lpstr>Calibri Light</vt:lpstr>
      <vt:lpstr>Carlito</vt:lpstr>
      <vt:lpstr>Eurostile</vt:lpstr>
      <vt:lpstr>Times New Roman</vt:lpstr>
      <vt:lpstr>Wingdings</vt:lpstr>
      <vt:lpstr>Wingdings 2</vt:lpstr>
      <vt:lpstr>Wingdings 3</vt:lpstr>
      <vt:lpstr>Theme CPIT 110</vt:lpstr>
      <vt:lpstr>Custom Design</vt:lpstr>
      <vt:lpstr>Chapter  4.2 Defensive Programming</vt:lpstr>
      <vt:lpstr>Outline</vt:lpstr>
      <vt:lpstr>Error-Handling Techniques</vt:lpstr>
      <vt:lpstr>Error-Handling Techniques</vt:lpstr>
      <vt:lpstr>Error-Handling Techniques</vt:lpstr>
      <vt:lpstr>Error-Handling Techniques</vt:lpstr>
      <vt:lpstr>Error-Handling Techniques</vt:lpstr>
      <vt:lpstr>Error-Handling Techniques</vt:lpstr>
      <vt:lpstr>Error-Handling Techniques</vt:lpstr>
      <vt:lpstr>Error-Handling Techniques: Correctness vs. Robustness</vt:lpstr>
      <vt:lpstr>Reading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  Introduction to Problem-Solving</dc:title>
  <dc:creator>Ahmad Tayeb;ajtayeb@kau.edu.sa</dc:creator>
  <cp:lastModifiedBy>Mohammad Dakhilallah Mohammad Alahmadi</cp:lastModifiedBy>
  <cp:revision>32</cp:revision>
  <dcterms:created xsi:type="dcterms:W3CDTF">2019-06-07T16:06:41Z</dcterms:created>
  <dcterms:modified xsi:type="dcterms:W3CDTF">2023-10-08T00:06:28Z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0x0101007D91684B4F51014982BED21342ACE24F</vt:lpwstr>
  </property>
</Properties>
</file>