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5" r:id="rId4"/>
    <p:sldMasterId id="2147483757" r:id="rId5"/>
  </p:sldMasterIdLst>
  <p:notesMasterIdLst>
    <p:notesMasterId r:id="rId23"/>
  </p:notesMasterIdLst>
  <p:sldIdLst>
    <p:sldId id="330" r:id="rId6"/>
    <p:sldId id="432" r:id="rId7"/>
    <p:sldId id="333" r:id="rId8"/>
    <p:sldId id="416" r:id="rId9"/>
    <p:sldId id="417" r:id="rId10"/>
    <p:sldId id="419" r:id="rId11"/>
    <p:sldId id="420" r:id="rId12"/>
    <p:sldId id="421" r:id="rId13"/>
    <p:sldId id="415" r:id="rId14"/>
    <p:sldId id="434" r:id="rId15"/>
    <p:sldId id="435" r:id="rId16"/>
    <p:sldId id="436" r:id="rId17"/>
    <p:sldId id="437" r:id="rId18"/>
    <p:sldId id="438" r:id="rId19"/>
    <p:sldId id="439" r:id="rId20"/>
    <p:sldId id="424" r:id="rId21"/>
    <p:sldId id="413"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hapter" id="{EB54229A-E673-4F50-937B-310B31E2AF04}">
          <p14:sldIdLst>
            <p14:sldId id="330"/>
            <p14:sldId id="432"/>
            <p14:sldId id="333"/>
            <p14:sldId id="416"/>
            <p14:sldId id="417"/>
            <p14:sldId id="419"/>
            <p14:sldId id="420"/>
            <p14:sldId id="421"/>
            <p14:sldId id="415"/>
            <p14:sldId id="434"/>
            <p14:sldId id="435"/>
            <p14:sldId id="436"/>
            <p14:sldId id="437"/>
            <p14:sldId id="438"/>
            <p14:sldId id="439"/>
            <p14:sldId id="424"/>
            <p14:sldId id="41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4CDEA"/>
    <a:srgbClr val="0A4B67"/>
    <a:srgbClr val="88A6B1"/>
    <a:srgbClr val="565351"/>
    <a:srgbClr val="767270"/>
    <a:srgbClr val="FFFFD1"/>
    <a:srgbClr val="6E96A2"/>
    <a:srgbClr val="6B9F25"/>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078" autoAdjust="0"/>
    <p:restoredTop sz="94607"/>
  </p:normalViewPr>
  <p:slideViewPr>
    <p:cSldViewPr snapToGrid="0">
      <p:cViewPr varScale="1">
        <p:scale>
          <a:sx n="104" d="100"/>
          <a:sy n="104" d="100"/>
        </p:scale>
        <p:origin x="2256"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ad Dakhilallah Mohammad Alahmadi" userId="9b436a58-7297-423f-8410-66c59c69358a" providerId="ADAL" clId="{746026C9-6E14-4464-AB9D-5E2BBAD7D49A}"/>
    <pc:docChg chg="delSld modSection">
      <pc:chgData name="Mohammad Dakhilallah Mohammad Alahmadi" userId="9b436a58-7297-423f-8410-66c59c69358a" providerId="ADAL" clId="{746026C9-6E14-4464-AB9D-5E2BBAD7D49A}" dt="2023-09-24T12:53:39.051" v="0" actId="47"/>
      <pc:docMkLst>
        <pc:docMk/>
      </pc:docMkLst>
      <pc:sldChg chg="del">
        <pc:chgData name="Mohammad Dakhilallah Mohammad Alahmadi" userId="9b436a58-7297-423f-8410-66c59c69358a" providerId="ADAL" clId="{746026C9-6E14-4464-AB9D-5E2BBAD7D49A}" dt="2023-09-24T12:53:39.051" v="0" actId="47"/>
        <pc:sldMkLst>
          <pc:docMk/>
          <pc:sldMk cId="2586610191" sldId="423"/>
        </pc:sldMkLst>
      </pc:sldChg>
    </pc:docChg>
  </pc:docChgLst>
  <pc:docChgLst>
    <pc:chgData clId="Web-{1CBC146C-5ED7-0FB3-2C6A-1AD52114AD86}"/>
    <pc:docChg chg="delSld modSection">
      <pc:chgData name="" userId="" providerId="" clId="Web-{1CBC146C-5ED7-0FB3-2C6A-1AD52114AD86}" dt="2023-08-25T12:12:45.247" v="1"/>
      <pc:docMkLst>
        <pc:docMk/>
      </pc:docMkLst>
      <pc:sldChg chg="del">
        <pc:chgData name="" userId="" providerId="" clId="Web-{1CBC146C-5ED7-0FB3-2C6A-1AD52114AD86}" dt="2023-08-25T12:12:45.247" v="1"/>
        <pc:sldMkLst>
          <pc:docMk/>
          <pc:sldMk cId="1251082562" sldId="431"/>
        </pc:sldMkLst>
      </pc:sldChg>
      <pc:sldChg chg="del">
        <pc:chgData name="" userId="" providerId="" clId="Web-{1CBC146C-5ED7-0FB3-2C6A-1AD52114AD86}" dt="2023-08-25T12:12:41.981" v="0"/>
        <pc:sldMkLst>
          <pc:docMk/>
          <pc:sldMk cId="202596297" sldId="43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C8B844-FEB7-40E9-8905-10D1181F788D}" type="datetimeFigureOut">
              <a:rPr lang="en-US" smtClean="0"/>
              <a:t>9/24/2023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48F4A1-044F-45DC-A6AA-9EC3247C362C}" type="slidenum">
              <a:rPr lang="en-US" smtClean="0"/>
              <a:t>‹#›</a:t>
            </a:fld>
            <a:endParaRPr lang="en-US"/>
          </a:p>
        </p:txBody>
      </p:sp>
    </p:spTree>
    <p:extLst>
      <p:ext uri="{BB962C8B-B14F-4D97-AF65-F5344CB8AC3E}">
        <p14:creationId xmlns:p14="http://schemas.microsoft.com/office/powerpoint/2010/main" val="29901485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AC9B6E0E-3217-4A19-A07B-3D01EE03876A}"/>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5123" name="Rectangle 3">
            <a:extLst>
              <a:ext uri="{FF2B5EF4-FFF2-40B4-BE49-F238E27FC236}">
                <a16:creationId xmlns:a16="http://schemas.microsoft.com/office/drawing/2014/main" id="{1FDB8EE8-7C53-490C-9686-35338E0B09CB}"/>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a:t>Last Update: 22/8/2019</a:t>
            </a:r>
          </a:p>
          <a:p>
            <a:r>
              <a:rPr lang="en-US" altLang="en-US"/>
              <a:t>Version 1.0</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81740" y="3183624"/>
            <a:ext cx="8380520" cy="1922733"/>
          </a:xfrm>
        </p:spPr>
        <p:txBody>
          <a:bodyPr anchor="b">
            <a:normAutofit/>
          </a:bodyPr>
          <a:lstStyle>
            <a:lvl1pPr algn="l">
              <a:lnSpc>
                <a:spcPct val="85000"/>
              </a:lnSpc>
              <a:defRPr sz="4800" spc="-50" baseline="0">
                <a:solidFill>
                  <a:schemeClr val="tx1">
                    <a:lumMod val="85000"/>
                    <a:lumOff val="15000"/>
                  </a:schemeClr>
                </a:solidFill>
              </a:defRPr>
            </a:lvl1pPr>
          </a:lstStyle>
          <a:p>
            <a:r>
              <a:rPr lang="en-US"/>
              <a:t>Click to edit Master title style</a:t>
            </a:r>
          </a:p>
        </p:txBody>
      </p:sp>
      <p:sp>
        <p:nvSpPr>
          <p:cNvPr id="3" name="Subtitle 2"/>
          <p:cNvSpPr>
            <a:spLocks noGrp="1"/>
          </p:cNvSpPr>
          <p:nvPr>
            <p:ph type="subTitle" idx="1" hasCustomPrompt="1"/>
          </p:nvPr>
        </p:nvSpPr>
        <p:spPr>
          <a:xfrm>
            <a:off x="381740" y="5236867"/>
            <a:ext cx="8380520" cy="1143000"/>
          </a:xfrm>
        </p:spPr>
        <p:txBody>
          <a:bodyPr lIns="91440" rIns="91440">
            <a:normAutofit/>
          </a:bodyPr>
          <a:lstStyle>
            <a:lvl1pPr marL="0" indent="0" algn="l">
              <a:buNone/>
              <a:defRPr sz="2400" cap="none"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sp>
        <p:nvSpPr>
          <p:cNvPr id="4" name="Date Placeholder 3"/>
          <p:cNvSpPr>
            <a:spLocks noGrp="1"/>
          </p:cNvSpPr>
          <p:nvPr>
            <p:ph type="dt" sz="half" idx="10"/>
          </p:nvPr>
        </p:nvSpPr>
        <p:spPr>
          <a:xfrm>
            <a:off x="822961" y="6646272"/>
            <a:ext cx="1854203" cy="187517"/>
          </a:xfrm>
        </p:spPr>
        <p:txBody>
          <a:bodyPr/>
          <a:lstStyle/>
          <a:p>
            <a:fld id="{03C5C922-B9DD-9745-A816-802923AFBE71}" type="datetime1">
              <a:rPr lang="en-US" smtClean="0"/>
              <a:t>9/24/2023</a:t>
            </a:fld>
            <a:endParaRPr lang="en-US"/>
          </a:p>
        </p:txBody>
      </p:sp>
      <p:sp>
        <p:nvSpPr>
          <p:cNvPr id="5" name="Footer Placeholder 4"/>
          <p:cNvSpPr>
            <a:spLocks noGrp="1"/>
          </p:cNvSpPr>
          <p:nvPr>
            <p:ph type="ftr" sz="quarter" idx="11"/>
          </p:nvPr>
        </p:nvSpPr>
        <p:spPr>
          <a:xfrm>
            <a:off x="2764639" y="6646272"/>
            <a:ext cx="3617103" cy="187517"/>
          </a:xfrm>
        </p:spPr>
        <p:txBody>
          <a:bodyPr/>
          <a:lstStyle>
            <a:lvl1pPr>
              <a:defRPr cap="none"/>
            </a:lvl1pPr>
          </a:lstStyle>
          <a:p>
            <a:endParaRPr lang="en-US"/>
          </a:p>
        </p:txBody>
      </p:sp>
      <p:sp>
        <p:nvSpPr>
          <p:cNvPr id="6" name="Slide Number Placeholder 5"/>
          <p:cNvSpPr>
            <a:spLocks noGrp="1"/>
          </p:cNvSpPr>
          <p:nvPr>
            <p:ph type="sldNum" sz="quarter" idx="12"/>
          </p:nvPr>
        </p:nvSpPr>
        <p:spPr>
          <a:xfrm>
            <a:off x="7425344" y="6646272"/>
            <a:ext cx="984019" cy="187517"/>
          </a:xfrm>
        </p:spPr>
        <p:txBody>
          <a:bodyPr/>
          <a:lstStyle>
            <a:lvl1pPr>
              <a:defRPr b="1">
                <a:solidFill>
                  <a:schemeClr val="bg1"/>
                </a:solidFill>
              </a:defRPr>
            </a:lvl1pPr>
          </a:lstStyle>
          <a:p>
            <a:fld id="{9C8A9BBF-D171-497A-B4A2-0767A13C4597}" type="slidenum">
              <a:rPr lang="en-US" smtClean="0"/>
              <a:pPr/>
              <a:t>‹#›</a:t>
            </a:fld>
            <a:endParaRPr lang="en-US"/>
          </a:p>
        </p:txBody>
      </p:sp>
      <p:cxnSp>
        <p:nvCxnSpPr>
          <p:cNvPr id="9" name="Straight Connector 8"/>
          <p:cNvCxnSpPr>
            <a:cxnSpLocks/>
          </p:cNvCxnSpPr>
          <p:nvPr/>
        </p:nvCxnSpPr>
        <p:spPr>
          <a:xfrm flipV="1">
            <a:off x="381740" y="5106357"/>
            <a:ext cx="8380520" cy="18289"/>
          </a:xfrm>
          <a:prstGeom prst="line">
            <a:avLst/>
          </a:prstGeom>
          <a:ln w="38100">
            <a:solidFill>
              <a:srgbClr val="84CDEA"/>
            </a:solidFill>
          </a:ln>
        </p:spPr>
        <p:style>
          <a:lnRef idx="1">
            <a:schemeClr val="accent2"/>
          </a:lnRef>
          <a:fillRef idx="0">
            <a:schemeClr val="accent2"/>
          </a:fillRef>
          <a:effectRef idx="0">
            <a:schemeClr val="accent2"/>
          </a:effectRef>
          <a:fontRef idx="minor">
            <a:schemeClr val="tx1"/>
          </a:fontRef>
        </p:style>
      </p:cxnSp>
      <p:cxnSp>
        <p:nvCxnSpPr>
          <p:cNvPr id="23" name="Straight Connector 22">
            <a:extLst>
              <a:ext uri="{FF2B5EF4-FFF2-40B4-BE49-F238E27FC236}">
                <a16:creationId xmlns:a16="http://schemas.microsoft.com/office/drawing/2014/main" id="{11AE1EE2-4846-41F9-AC6B-D9834B0B3586}"/>
              </a:ext>
            </a:extLst>
          </p:cNvPr>
          <p:cNvCxnSpPr>
            <a:cxnSpLocks/>
          </p:cNvCxnSpPr>
          <p:nvPr/>
        </p:nvCxnSpPr>
        <p:spPr>
          <a:xfrm flipV="1">
            <a:off x="9129643" y="1"/>
            <a:ext cx="12147" cy="6874767"/>
          </a:xfrm>
          <a:prstGeom prst="line">
            <a:avLst/>
          </a:prstGeom>
          <a:ln w="76200">
            <a:solidFill>
              <a:srgbClr val="0A4B67"/>
            </a:solidFill>
          </a:ln>
        </p:spPr>
        <p:style>
          <a:lnRef idx="1">
            <a:schemeClr val="accent2"/>
          </a:lnRef>
          <a:fillRef idx="0">
            <a:schemeClr val="accent2"/>
          </a:fillRef>
          <a:effectRef idx="0">
            <a:schemeClr val="accent2"/>
          </a:effectRef>
          <a:fontRef idx="minor">
            <a:schemeClr val="tx1"/>
          </a:fontRef>
        </p:style>
      </p:cxnSp>
      <p:sp>
        <p:nvSpPr>
          <p:cNvPr id="14" name="Rectangle 13">
            <a:extLst>
              <a:ext uri="{FF2B5EF4-FFF2-40B4-BE49-F238E27FC236}">
                <a16:creationId xmlns:a16="http://schemas.microsoft.com/office/drawing/2014/main" id="{11AE4F96-0037-4F43-91BD-25588C022845}"/>
              </a:ext>
            </a:extLst>
          </p:cNvPr>
          <p:cNvSpPr/>
          <p:nvPr userDrawn="1"/>
        </p:nvSpPr>
        <p:spPr>
          <a:xfrm>
            <a:off x="-14359" y="6646273"/>
            <a:ext cx="9144000" cy="237744"/>
          </a:xfrm>
          <a:prstGeom prst="rect">
            <a:avLst/>
          </a:prstGeom>
          <a:solidFill>
            <a:srgbClr val="0A4B67"/>
          </a:solidFill>
          <a:ln>
            <a:solidFill>
              <a:srgbClr val="0A4B67"/>
            </a:solid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a:extLst>
              <a:ext uri="{FF2B5EF4-FFF2-40B4-BE49-F238E27FC236}">
                <a16:creationId xmlns:a16="http://schemas.microsoft.com/office/drawing/2014/main" id="{C3BF5B4F-FC83-4FAA-82F0-2510D3F32F49}"/>
              </a:ext>
            </a:extLst>
          </p:cNvPr>
          <p:cNvSpPr/>
          <p:nvPr userDrawn="1"/>
        </p:nvSpPr>
        <p:spPr>
          <a:xfrm>
            <a:off x="-26504" y="6546958"/>
            <a:ext cx="9144001" cy="103220"/>
          </a:xfrm>
          <a:prstGeom prst="rect">
            <a:avLst/>
          </a:prstGeom>
          <a:solidFill>
            <a:srgbClr val="84CDEA"/>
          </a:solidFill>
          <a:ln>
            <a:solidFill>
              <a:srgbClr val="84CDEA"/>
            </a:solidFill>
          </a:ln>
        </p:spPr>
        <p:style>
          <a:lnRef idx="2">
            <a:schemeClr val="accent1">
              <a:shade val="50000"/>
            </a:schemeClr>
          </a:lnRef>
          <a:fillRef idx="1">
            <a:schemeClr val="accent1"/>
          </a:fillRef>
          <a:effectRef idx="0">
            <a:schemeClr val="accent1"/>
          </a:effectRef>
          <a:fontRef idx="minor">
            <a:schemeClr val="lt1"/>
          </a:fontRef>
        </p:style>
      </p:sp>
      <p:cxnSp>
        <p:nvCxnSpPr>
          <p:cNvPr id="18" name="Straight Connector 17">
            <a:extLst>
              <a:ext uri="{FF2B5EF4-FFF2-40B4-BE49-F238E27FC236}">
                <a16:creationId xmlns:a16="http://schemas.microsoft.com/office/drawing/2014/main" id="{5F0B8816-EFF8-4E7C-AEC1-987D4EE648F1}"/>
              </a:ext>
            </a:extLst>
          </p:cNvPr>
          <p:cNvCxnSpPr>
            <a:cxnSpLocks/>
          </p:cNvCxnSpPr>
          <p:nvPr userDrawn="1"/>
        </p:nvCxnSpPr>
        <p:spPr>
          <a:xfrm flipH="1" flipV="1">
            <a:off x="-5932" y="0"/>
            <a:ext cx="3809" cy="6857997"/>
          </a:xfrm>
          <a:prstGeom prst="line">
            <a:avLst/>
          </a:prstGeom>
          <a:ln w="76200">
            <a:solidFill>
              <a:srgbClr val="0A4B67"/>
            </a:solidFill>
          </a:ln>
        </p:spPr>
        <p:style>
          <a:lnRef idx="1">
            <a:schemeClr val="accent2"/>
          </a:lnRef>
          <a:fillRef idx="0">
            <a:schemeClr val="accent2"/>
          </a:fillRef>
          <a:effectRef idx="0">
            <a:schemeClr val="accent2"/>
          </a:effectRef>
          <a:fontRef idx="minor">
            <a:schemeClr val="tx1"/>
          </a:fontRef>
        </p:style>
      </p:cxnSp>
      <p:cxnSp>
        <p:nvCxnSpPr>
          <p:cNvPr id="21" name="Straight Connector 20">
            <a:extLst>
              <a:ext uri="{FF2B5EF4-FFF2-40B4-BE49-F238E27FC236}">
                <a16:creationId xmlns:a16="http://schemas.microsoft.com/office/drawing/2014/main" id="{2B5B64A5-A6D5-4050-BAC4-E246829DF430}"/>
              </a:ext>
            </a:extLst>
          </p:cNvPr>
          <p:cNvCxnSpPr>
            <a:cxnSpLocks/>
          </p:cNvCxnSpPr>
          <p:nvPr userDrawn="1"/>
        </p:nvCxnSpPr>
        <p:spPr>
          <a:xfrm flipV="1">
            <a:off x="-32436" y="8261"/>
            <a:ext cx="9235440" cy="1"/>
          </a:xfrm>
          <a:prstGeom prst="line">
            <a:avLst/>
          </a:prstGeom>
          <a:ln w="76200">
            <a:solidFill>
              <a:srgbClr val="0A4B67"/>
            </a:solidFill>
          </a:ln>
        </p:spPr>
        <p:style>
          <a:lnRef idx="1">
            <a:schemeClr val="accent2"/>
          </a:lnRef>
          <a:fillRef idx="0">
            <a:schemeClr val="accent2"/>
          </a:fillRef>
          <a:effectRef idx="0">
            <a:schemeClr val="accent2"/>
          </a:effectRef>
          <a:fontRef idx="minor">
            <a:schemeClr val="tx1"/>
          </a:fontRef>
        </p:style>
      </p:cxnSp>
      <p:pic>
        <p:nvPicPr>
          <p:cNvPr id="31" name="Picture 30" descr="Logo&#10;&#10;Description automatically generated">
            <a:extLst>
              <a:ext uri="{FF2B5EF4-FFF2-40B4-BE49-F238E27FC236}">
                <a16:creationId xmlns:a16="http://schemas.microsoft.com/office/drawing/2014/main" id="{370668AB-6B94-4243-A6A5-4EDC87C8B508}"/>
              </a:ext>
            </a:extLst>
          </p:cNvPr>
          <p:cNvPicPr>
            <a:picLocks noChangeAspect="1"/>
          </p:cNvPicPr>
          <p:nvPr userDrawn="1"/>
        </p:nvPicPr>
        <p:blipFill>
          <a:blip r:embed="rId3"/>
          <a:stretch>
            <a:fillRect/>
          </a:stretch>
        </p:blipFill>
        <p:spPr>
          <a:xfrm>
            <a:off x="3004824" y="46971"/>
            <a:ext cx="3278818" cy="2319734"/>
          </a:xfrm>
          <a:prstGeom prst="rect">
            <a:avLst/>
          </a:prstGeom>
        </p:spPr>
      </p:pic>
      <p:sp>
        <p:nvSpPr>
          <p:cNvPr id="32" name="TextBox 31">
            <a:extLst>
              <a:ext uri="{FF2B5EF4-FFF2-40B4-BE49-F238E27FC236}">
                <a16:creationId xmlns:a16="http://schemas.microsoft.com/office/drawing/2014/main" id="{A723C23A-9829-0C47-85AC-FD590BD245D5}"/>
              </a:ext>
            </a:extLst>
          </p:cNvPr>
          <p:cNvSpPr txBox="1"/>
          <p:nvPr userDrawn="1"/>
        </p:nvSpPr>
        <p:spPr>
          <a:xfrm>
            <a:off x="185737" y="852895"/>
            <a:ext cx="3278818" cy="707886"/>
          </a:xfrm>
          <a:prstGeom prst="rect">
            <a:avLst/>
          </a:prstGeom>
          <a:noFill/>
        </p:spPr>
        <p:txBody>
          <a:bodyPr wrap="square" rtlCol="0">
            <a:spAutoFit/>
          </a:bodyPr>
          <a:lstStyle/>
          <a:p>
            <a:pPr marL="0" algn="ctr" defTabSz="914400" rtl="1" eaLnBrk="1" latinLnBrk="0" hangingPunct="1"/>
            <a:r>
              <a:rPr lang="en-US" sz="2000" b="1">
                <a:solidFill>
                  <a:schemeClr val="tx1">
                    <a:lumMod val="65000"/>
                    <a:lumOff val="35000"/>
                  </a:schemeClr>
                </a:solidFill>
                <a:latin typeface="Eurostile" panose="020B0504020202050204" pitchFamily="34" charset="77"/>
                <a:ea typeface="Malgun Gothic" panose="020B0503020000020004" pitchFamily="34" charset="-127"/>
                <a:cs typeface="Bangla Sangam MN" panose="02000000000000000000" pitchFamily="2" charset="0"/>
              </a:rPr>
              <a:t>COLLAGE OF COMPUTER</a:t>
            </a:r>
          </a:p>
          <a:p>
            <a:pPr marL="0" algn="ctr" defTabSz="914400" rtl="1" eaLnBrk="1" latinLnBrk="0" hangingPunct="1"/>
            <a:r>
              <a:rPr lang="en-US" sz="2000" b="1">
                <a:solidFill>
                  <a:schemeClr val="tx1">
                    <a:lumMod val="65000"/>
                    <a:lumOff val="35000"/>
                  </a:schemeClr>
                </a:solidFill>
                <a:latin typeface="Eurostile" panose="020B0504020202050204" pitchFamily="34" charset="77"/>
                <a:ea typeface="Malgun Gothic" panose="020B0503020000020004" pitchFamily="34" charset="-127"/>
                <a:cs typeface="Bangla Sangam MN" panose="02000000000000000000" pitchFamily="2" charset="0"/>
              </a:rPr>
              <a:t> SCIENCE &amp; ENGINEERING </a:t>
            </a:r>
          </a:p>
        </p:txBody>
      </p:sp>
      <p:cxnSp>
        <p:nvCxnSpPr>
          <p:cNvPr id="33" name="Straight Connector 32">
            <a:extLst>
              <a:ext uri="{FF2B5EF4-FFF2-40B4-BE49-F238E27FC236}">
                <a16:creationId xmlns:a16="http://schemas.microsoft.com/office/drawing/2014/main" id="{322341BA-F8B4-5440-8DF5-89AF9CF24FED}"/>
              </a:ext>
            </a:extLst>
          </p:cNvPr>
          <p:cNvCxnSpPr>
            <a:cxnSpLocks/>
          </p:cNvCxnSpPr>
          <p:nvPr userDrawn="1"/>
        </p:nvCxnSpPr>
        <p:spPr>
          <a:xfrm flipV="1">
            <a:off x="375762" y="1574983"/>
            <a:ext cx="2926080" cy="4683"/>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3369ACA3-551E-D542-BD71-4881E6644B70}"/>
              </a:ext>
            </a:extLst>
          </p:cNvPr>
          <p:cNvSpPr txBox="1"/>
          <p:nvPr userDrawn="1"/>
        </p:nvSpPr>
        <p:spPr>
          <a:xfrm>
            <a:off x="-785970" y="1579097"/>
            <a:ext cx="5072063" cy="292388"/>
          </a:xfrm>
          <a:prstGeom prst="rect">
            <a:avLst/>
          </a:prstGeom>
          <a:noFill/>
        </p:spPr>
        <p:txBody>
          <a:bodyPr wrap="square" rtlCol="0">
            <a:spAutoFit/>
          </a:bodyPr>
          <a:lstStyle/>
          <a:p>
            <a:pPr marL="0" algn="ctr" defTabSz="914400" rtl="1" eaLnBrk="1" latinLnBrk="0" hangingPunct="1"/>
            <a:r>
              <a:rPr lang="en-US" sz="1300">
                <a:solidFill>
                  <a:schemeClr val="tx1">
                    <a:lumMod val="65000"/>
                    <a:lumOff val="35000"/>
                  </a:schemeClr>
                </a:solidFill>
                <a:latin typeface="Eurostile" panose="020B0504020202050204" pitchFamily="34" charset="77"/>
                <a:ea typeface="Malgun Gothic" panose="020B0503020000020004" pitchFamily="34" charset="-127"/>
                <a:cs typeface="Bangla Sangam MN" panose="02000000000000000000" pitchFamily="2" charset="0"/>
              </a:rPr>
              <a:t>UNIVERSITY OF JEDDAH</a:t>
            </a:r>
          </a:p>
        </p:txBody>
      </p:sp>
      <p:sp>
        <p:nvSpPr>
          <p:cNvPr id="35" name="TextBox 34">
            <a:extLst>
              <a:ext uri="{FF2B5EF4-FFF2-40B4-BE49-F238E27FC236}">
                <a16:creationId xmlns:a16="http://schemas.microsoft.com/office/drawing/2014/main" id="{E72639E4-89B5-1D49-B470-747E56896B62}"/>
              </a:ext>
            </a:extLst>
          </p:cNvPr>
          <p:cNvSpPr txBox="1"/>
          <p:nvPr userDrawn="1"/>
        </p:nvSpPr>
        <p:spPr>
          <a:xfrm>
            <a:off x="5679447" y="865829"/>
            <a:ext cx="3278818" cy="707886"/>
          </a:xfrm>
          <a:prstGeom prst="rect">
            <a:avLst/>
          </a:prstGeom>
          <a:noFill/>
        </p:spPr>
        <p:txBody>
          <a:bodyPr wrap="square" rtlCol="0">
            <a:spAutoFit/>
          </a:bodyPr>
          <a:lstStyle/>
          <a:p>
            <a:pPr marL="0" algn="ctr" defTabSz="914400" rtl="1" eaLnBrk="1" latinLnBrk="0" hangingPunct="1"/>
            <a:r>
              <a:rPr lang="ar-SA" sz="2000" b="1">
                <a:solidFill>
                  <a:schemeClr val="tx1">
                    <a:lumMod val="65000"/>
                    <a:lumOff val="35000"/>
                  </a:schemeClr>
                </a:solidFill>
                <a:latin typeface="Eurostile" panose="020B0504020202050204" pitchFamily="34" charset="77"/>
                <a:ea typeface="Malgun Gothic" panose="020B0503020000020004" pitchFamily="34" charset="-127"/>
                <a:cs typeface="Bangla Sangam MN" panose="02000000000000000000" pitchFamily="2" charset="0"/>
              </a:rPr>
              <a:t>كــلـــية عــلــــــــــوم </a:t>
            </a:r>
          </a:p>
          <a:p>
            <a:pPr marL="0" algn="ctr" defTabSz="914400" rtl="1" eaLnBrk="1" latinLnBrk="0" hangingPunct="1"/>
            <a:r>
              <a:rPr lang="ar-SA" sz="2000" b="1">
                <a:solidFill>
                  <a:schemeClr val="tx1">
                    <a:lumMod val="65000"/>
                    <a:lumOff val="35000"/>
                  </a:schemeClr>
                </a:solidFill>
                <a:latin typeface="Eurostile" panose="020B0504020202050204" pitchFamily="34" charset="77"/>
                <a:ea typeface="Malgun Gothic" panose="020B0503020000020004" pitchFamily="34" charset="-127"/>
                <a:cs typeface="Bangla Sangam MN" panose="02000000000000000000" pitchFamily="2" charset="0"/>
              </a:rPr>
              <a:t>و هـنــدســـة الحـــــــاســــب</a:t>
            </a:r>
            <a:endParaRPr lang="en-US" sz="2000" b="1">
              <a:solidFill>
                <a:schemeClr val="tx1">
                  <a:lumMod val="65000"/>
                  <a:lumOff val="35000"/>
                </a:schemeClr>
              </a:solidFill>
              <a:latin typeface="Eurostile" panose="020B0504020202050204" pitchFamily="34" charset="77"/>
              <a:ea typeface="Malgun Gothic" panose="020B0503020000020004" pitchFamily="34" charset="-127"/>
              <a:cs typeface="Bangla Sangam MN" panose="02000000000000000000" pitchFamily="2" charset="0"/>
            </a:endParaRPr>
          </a:p>
        </p:txBody>
      </p:sp>
      <p:sp>
        <p:nvSpPr>
          <p:cNvPr id="36" name="TextBox 35">
            <a:extLst>
              <a:ext uri="{FF2B5EF4-FFF2-40B4-BE49-F238E27FC236}">
                <a16:creationId xmlns:a16="http://schemas.microsoft.com/office/drawing/2014/main" id="{36F4847C-B76C-6846-8360-9D2AD3FA67B2}"/>
              </a:ext>
            </a:extLst>
          </p:cNvPr>
          <p:cNvSpPr txBox="1"/>
          <p:nvPr userDrawn="1"/>
        </p:nvSpPr>
        <p:spPr>
          <a:xfrm>
            <a:off x="4782824" y="1579097"/>
            <a:ext cx="5072063" cy="292388"/>
          </a:xfrm>
          <a:prstGeom prst="rect">
            <a:avLst/>
          </a:prstGeom>
          <a:noFill/>
        </p:spPr>
        <p:txBody>
          <a:bodyPr wrap="square" rtlCol="0">
            <a:spAutoFit/>
          </a:bodyPr>
          <a:lstStyle/>
          <a:p>
            <a:pPr marL="0" algn="ctr" defTabSz="914400" rtl="1" eaLnBrk="1" latinLnBrk="0" hangingPunct="1"/>
            <a:r>
              <a:rPr lang="ar-SA" sz="1300">
                <a:solidFill>
                  <a:schemeClr val="tx1">
                    <a:lumMod val="65000"/>
                    <a:lumOff val="35000"/>
                  </a:schemeClr>
                </a:solidFill>
                <a:latin typeface="Eurostile" panose="020B0504020202050204" pitchFamily="34" charset="77"/>
                <a:ea typeface="Malgun Gothic" panose="020B0503020000020004" pitchFamily="34" charset="-127"/>
                <a:cs typeface="Bangla Sangam MN" panose="02000000000000000000" pitchFamily="2" charset="0"/>
              </a:rPr>
              <a:t>جــــامعـــة جــــــــــــــدة </a:t>
            </a:r>
            <a:endParaRPr lang="en-US" sz="1300">
              <a:solidFill>
                <a:schemeClr val="tx1">
                  <a:lumMod val="65000"/>
                  <a:lumOff val="35000"/>
                </a:schemeClr>
              </a:solidFill>
              <a:latin typeface="Eurostile" panose="020B0504020202050204" pitchFamily="34" charset="77"/>
              <a:ea typeface="Malgun Gothic" panose="020B0503020000020004" pitchFamily="34" charset="-127"/>
              <a:cs typeface="Bangla Sangam MN" panose="02000000000000000000" pitchFamily="2" charset="0"/>
            </a:endParaRPr>
          </a:p>
        </p:txBody>
      </p:sp>
      <p:cxnSp>
        <p:nvCxnSpPr>
          <p:cNvPr id="37" name="Straight Connector 36">
            <a:extLst>
              <a:ext uri="{FF2B5EF4-FFF2-40B4-BE49-F238E27FC236}">
                <a16:creationId xmlns:a16="http://schemas.microsoft.com/office/drawing/2014/main" id="{73D420C2-74C6-E448-ABF8-408E3C156421}"/>
              </a:ext>
            </a:extLst>
          </p:cNvPr>
          <p:cNvCxnSpPr>
            <a:cxnSpLocks/>
          </p:cNvCxnSpPr>
          <p:nvPr userDrawn="1"/>
        </p:nvCxnSpPr>
        <p:spPr>
          <a:xfrm>
            <a:off x="5770786" y="1573715"/>
            <a:ext cx="3017520"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48300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a:solidFill>
                  <a:srgbClr val="565351"/>
                </a:solidFill>
              </a:defRPr>
            </a:lvl1pPr>
          </a:lstStyle>
          <a:p>
            <a:r>
              <a:rPr lang="en-US"/>
              <a:t>Click to edit Master title style</a:t>
            </a:r>
          </a:p>
        </p:txBody>
      </p:sp>
      <p:sp>
        <p:nvSpPr>
          <p:cNvPr id="4" name="Date Placeholder 3"/>
          <p:cNvSpPr>
            <a:spLocks noGrp="1"/>
          </p:cNvSpPr>
          <p:nvPr>
            <p:ph type="dt" sz="half" idx="10"/>
          </p:nvPr>
        </p:nvSpPr>
        <p:spPr/>
        <p:txBody>
          <a:bodyPr/>
          <a:lstStyle/>
          <a:p>
            <a:fld id="{428B66AD-B9AD-6E48-A7F8-A3C7D94EDF8F}" type="datetime1">
              <a:rPr lang="en-US" smtClean="0"/>
              <a:t>9/24/2023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8A9BBF-D171-497A-B4A2-0767A13C4597}" type="slidenum">
              <a:rPr lang="en-US" smtClean="0"/>
              <a:t>‹#›</a:t>
            </a:fld>
            <a:endParaRPr lang="en-US"/>
          </a:p>
        </p:txBody>
      </p:sp>
      <p:sp>
        <p:nvSpPr>
          <p:cNvPr id="7" name="Text Placeholder 2">
            <a:extLst>
              <a:ext uri="{FF2B5EF4-FFF2-40B4-BE49-F238E27FC236}">
                <a16:creationId xmlns:a16="http://schemas.microsoft.com/office/drawing/2014/main" id="{4B906D8A-B7C9-46FF-BD54-732332428F5A}"/>
              </a:ext>
            </a:extLst>
          </p:cNvPr>
          <p:cNvSpPr>
            <a:spLocks noGrp="1"/>
          </p:cNvSpPr>
          <p:nvPr>
            <p:ph idx="1"/>
          </p:nvPr>
        </p:nvSpPr>
        <p:spPr>
          <a:xfrm>
            <a:off x="146305" y="1441107"/>
            <a:ext cx="8851392" cy="5130263"/>
          </a:xfrm>
          <a:prstGeom prst="rect">
            <a:avLst/>
          </a:prstGeom>
        </p:spPr>
        <p:txBody>
          <a:bodyPr vert="horz" lIns="0" tIns="45720" rIns="0" bIns="45720" rtlCol="0">
            <a:normAutofit/>
          </a:bodyPr>
          <a:lstStyle>
            <a:lvl1pPr>
              <a:buClr>
                <a:srgbClr val="84CDEA"/>
              </a:buClr>
              <a:defRPr sz="2600">
                <a:solidFill>
                  <a:srgbClr val="565351"/>
                </a:solidFill>
              </a:defRPr>
            </a:lvl1pPr>
            <a:lvl2pPr>
              <a:buClr>
                <a:srgbClr val="565351"/>
              </a:buClr>
              <a:defRPr>
                <a:solidFill>
                  <a:srgbClr val="565351"/>
                </a:solidFill>
              </a:defRPr>
            </a:lvl2pPr>
            <a:lvl3pPr marL="731520" indent="-274320">
              <a:buClr>
                <a:srgbClr val="565351"/>
              </a:buClr>
              <a:buFont typeface="Wingdings" panose="05000000000000000000" pitchFamily="2" charset="2"/>
              <a:buChar char="§"/>
              <a:defRPr sz="2000">
                <a:solidFill>
                  <a:srgbClr val="565351"/>
                </a:solidFill>
              </a:defRPr>
            </a:lvl3pPr>
            <a:lvl4pPr marL="914400" indent="-274320">
              <a:buClr>
                <a:srgbClr val="565351"/>
              </a:buClr>
              <a:buFont typeface="Wingdings" panose="05000000000000000000" pitchFamily="2" charset="2"/>
              <a:buChar char="§"/>
              <a:defRPr sz="2000">
                <a:solidFill>
                  <a:srgbClr val="565351"/>
                </a:solidFill>
              </a:defRPr>
            </a:lvl4pPr>
            <a:lvl5pPr marL="1097280" indent="-274320">
              <a:buClr>
                <a:srgbClr val="565351"/>
              </a:buClr>
              <a:buFont typeface="Wingdings" panose="05000000000000000000" pitchFamily="2" charset="2"/>
              <a:buChar char="§"/>
              <a:defRPr sz="2000">
                <a:solidFill>
                  <a:srgbClr val="56535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445598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Title and Content">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a:solidFill>
                  <a:srgbClr val="565351"/>
                </a:solidFill>
              </a:defRPr>
            </a:lvl1pPr>
          </a:lstStyle>
          <a:p>
            <a:r>
              <a:rPr lang="en-US"/>
              <a:t>Click to edit Master title style</a:t>
            </a:r>
          </a:p>
        </p:txBody>
      </p:sp>
      <p:sp>
        <p:nvSpPr>
          <p:cNvPr id="4" name="Date Placeholder 3"/>
          <p:cNvSpPr>
            <a:spLocks noGrp="1"/>
          </p:cNvSpPr>
          <p:nvPr>
            <p:ph type="dt" sz="half" idx="10"/>
          </p:nvPr>
        </p:nvSpPr>
        <p:spPr/>
        <p:txBody>
          <a:bodyPr/>
          <a:lstStyle/>
          <a:p>
            <a:fld id="{BBAECC06-C7D4-1747-9BAC-5ADF6973C413}" type="datetime1">
              <a:rPr lang="en-US" smtClean="0"/>
              <a:t>9/24/2023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8A9BBF-D171-497A-B4A2-0767A13C4597}" type="slidenum">
              <a:rPr lang="en-US" smtClean="0"/>
              <a:t>‹#›</a:t>
            </a:fld>
            <a:endParaRPr lang="en-US"/>
          </a:p>
        </p:txBody>
      </p:sp>
      <p:sp>
        <p:nvSpPr>
          <p:cNvPr id="7" name="Text Placeholder 2">
            <a:extLst>
              <a:ext uri="{FF2B5EF4-FFF2-40B4-BE49-F238E27FC236}">
                <a16:creationId xmlns:a16="http://schemas.microsoft.com/office/drawing/2014/main" id="{4B906D8A-B7C9-46FF-BD54-732332428F5A}"/>
              </a:ext>
            </a:extLst>
          </p:cNvPr>
          <p:cNvSpPr>
            <a:spLocks noGrp="1"/>
          </p:cNvSpPr>
          <p:nvPr>
            <p:ph idx="1"/>
          </p:nvPr>
        </p:nvSpPr>
        <p:spPr>
          <a:xfrm>
            <a:off x="146305" y="1441107"/>
            <a:ext cx="8851392" cy="5130263"/>
          </a:xfrm>
          <a:prstGeom prst="rect">
            <a:avLst/>
          </a:prstGeom>
        </p:spPr>
        <p:txBody>
          <a:bodyPr vert="horz" lIns="0" tIns="45720" rIns="0" bIns="45720" rtlCol="0">
            <a:normAutofit/>
          </a:bodyPr>
          <a:lstStyle>
            <a:lvl1pPr>
              <a:buClr>
                <a:srgbClr val="88A6B1"/>
              </a:buClr>
              <a:defRPr sz="2600">
                <a:solidFill>
                  <a:srgbClr val="88A6B1"/>
                </a:solidFill>
              </a:defRPr>
            </a:lvl1pPr>
            <a:lvl2pPr>
              <a:buClr>
                <a:srgbClr val="88A6B1"/>
              </a:buClr>
              <a:defRPr>
                <a:solidFill>
                  <a:srgbClr val="88A6B1"/>
                </a:solidFill>
              </a:defRPr>
            </a:lvl2pPr>
            <a:lvl3pPr marL="731520" indent="-274320">
              <a:buClr>
                <a:srgbClr val="88A6B1"/>
              </a:buClr>
              <a:buFont typeface="Wingdings" panose="05000000000000000000" pitchFamily="2" charset="2"/>
              <a:buChar char="§"/>
              <a:defRPr sz="2000">
                <a:solidFill>
                  <a:srgbClr val="88A6B1"/>
                </a:solidFill>
              </a:defRPr>
            </a:lvl3pPr>
            <a:lvl4pPr marL="914400" indent="-274320">
              <a:buClr>
                <a:srgbClr val="88A6B1"/>
              </a:buClr>
              <a:buFont typeface="Wingdings" panose="05000000000000000000" pitchFamily="2" charset="2"/>
              <a:buChar char="§"/>
              <a:defRPr sz="2000">
                <a:solidFill>
                  <a:srgbClr val="88A6B1"/>
                </a:solidFill>
              </a:defRPr>
            </a:lvl4pPr>
            <a:lvl5pPr marL="1097280" indent="-274320">
              <a:buClr>
                <a:srgbClr val="88A6B1"/>
              </a:buClr>
              <a:buFont typeface="Wingdings" panose="05000000000000000000" pitchFamily="2" charset="2"/>
              <a:buChar char="§"/>
              <a:defRPr sz="2000">
                <a:solidFill>
                  <a:srgbClr val="88A6B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391839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B16C63C-7E12-D040-9BFC-CED05FF7D470}" type="datetime1">
              <a:rPr lang="en-US" smtClean="0"/>
              <a:t>9/24/2023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8A9BBF-D171-497A-B4A2-0767A13C4597}"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746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p>
        </p:txBody>
      </p:sp>
      <p:sp>
        <p:nvSpPr>
          <p:cNvPr id="3" name="Content Placeholder 2"/>
          <p:cNvSpPr>
            <a:spLocks noGrp="1"/>
          </p:cNvSpPr>
          <p:nvPr>
            <p:ph sz="half" idx="1"/>
          </p:nvPr>
        </p:nvSpPr>
        <p:spPr>
          <a:xfrm>
            <a:off x="822960" y="1845734"/>
            <a:ext cx="3703320" cy="4023360"/>
          </a:xfrm>
        </p:spPr>
        <p:txBody>
          <a:bodyPr/>
          <a:lstStyle>
            <a:lvl1pPr>
              <a:buClr>
                <a:srgbClr val="84CDEA"/>
              </a:buCl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63440" y="1845735"/>
            <a:ext cx="3703320" cy="4023360"/>
          </a:xfrm>
        </p:spPr>
        <p:txBody>
          <a:bodyPr/>
          <a:lstStyle>
            <a:lvl1pPr>
              <a:buClr>
                <a:srgbClr val="84CDEA"/>
              </a:buCl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38987DC-EF00-9844-8C8C-DB85411C810C}" type="datetime1">
              <a:rPr lang="en-US" smtClean="0"/>
              <a:t>9/24/2023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8A9BBF-D171-497A-B4A2-0767A13C4597}" type="slidenum">
              <a:rPr lang="en-US" smtClean="0"/>
              <a:t>‹#›</a:t>
            </a:fld>
            <a:endParaRPr lang="en-US"/>
          </a:p>
        </p:txBody>
      </p:sp>
    </p:spTree>
    <p:extLst>
      <p:ext uri="{BB962C8B-B14F-4D97-AF65-F5344CB8AC3E}">
        <p14:creationId xmlns:p14="http://schemas.microsoft.com/office/powerpoint/2010/main" val="17452888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582334"/>
            <a:ext cx="370332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815C23F-C598-3F49-9FE3-6071741BE353}" type="datetime1">
              <a:rPr lang="en-US" smtClean="0"/>
              <a:t>9/24/2023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C8A9BBF-D171-497A-B4A2-0767A13C4597}" type="slidenum">
              <a:rPr lang="en-US" smtClean="0"/>
              <a:t>‹#›</a:t>
            </a:fld>
            <a:endParaRPr lang="en-US"/>
          </a:p>
        </p:txBody>
      </p:sp>
    </p:spTree>
    <p:extLst>
      <p:ext uri="{BB962C8B-B14F-4D97-AF65-F5344CB8AC3E}">
        <p14:creationId xmlns:p14="http://schemas.microsoft.com/office/powerpoint/2010/main" val="1192338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F66BD12-5D01-AB4B-A157-4C071A505070}" type="datetime1">
              <a:rPr lang="en-US" smtClean="0"/>
              <a:t>9/24/2023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8A9BBF-D171-497A-B4A2-0767A13C4597}" type="slidenum">
              <a:rPr lang="en-US" smtClean="0"/>
              <a:t>‹#›</a:t>
            </a:fld>
            <a:endParaRPr lang="en-US"/>
          </a:p>
        </p:txBody>
      </p:sp>
    </p:spTree>
    <p:extLst>
      <p:ext uri="{BB962C8B-B14F-4D97-AF65-F5344CB8AC3E}">
        <p14:creationId xmlns:p14="http://schemas.microsoft.com/office/powerpoint/2010/main" val="33991589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1_Title Only">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6304" y="115826"/>
            <a:ext cx="8851392" cy="6382628"/>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CD5D1259-9E66-E241-B0DB-D3144AF5C20E}" type="datetime1">
              <a:rPr lang="en-US" smtClean="0"/>
              <a:t>9/24/2023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8A9BBF-D171-497A-B4A2-0767A13C4597}" type="slidenum">
              <a:rPr lang="en-US" smtClean="0"/>
              <a:t>‹#›</a:t>
            </a:fld>
            <a:endParaRPr lang="en-US"/>
          </a:p>
        </p:txBody>
      </p:sp>
    </p:spTree>
    <p:extLst>
      <p:ext uri="{BB962C8B-B14F-4D97-AF65-F5344CB8AC3E}">
        <p14:creationId xmlns:p14="http://schemas.microsoft.com/office/powerpoint/2010/main" val="34756244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A59F509-0EC8-5246-80F7-C95CE727AFCC}" type="datetime1">
              <a:rPr lang="en-US" smtClean="0"/>
              <a:t>9/24/2023</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9C8A9BBF-D171-497A-B4A2-0767A13C4597}" type="slidenum">
              <a:rPr lang="en-US" smtClean="0"/>
              <a:t>‹#›</a:t>
            </a:fld>
            <a:endParaRPr lang="en-US"/>
          </a:p>
        </p:txBody>
      </p:sp>
    </p:spTree>
    <p:extLst>
      <p:ext uri="{BB962C8B-B14F-4D97-AF65-F5344CB8AC3E}">
        <p14:creationId xmlns:p14="http://schemas.microsoft.com/office/powerpoint/2010/main" val="29242152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rgbClr val="0A4B67"/>
          </a:solidFill>
          <a:ln>
            <a:solidFill>
              <a:srgbClr val="84CDEA"/>
            </a:solid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rgbClr val="84CDEA"/>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p>
        </p:txBody>
      </p:sp>
      <p:sp>
        <p:nvSpPr>
          <p:cNvPr id="3" name="Content Placeholder 2"/>
          <p:cNvSpPr>
            <a:spLocks noGrp="1"/>
          </p:cNvSpPr>
          <p:nvPr>
            <p:ph idx="1"/>
          </p:nvPr>
        </p:nvSpPr>
        <p:spPr>
          <a:xfrm>
            <a:off x="3600450" y="731520"/>
            <a:ext cx="486918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6CBA62D3-B106-3146-B5B5-E66A18E804C2}" type="datetime1">
              <a:rPr lang="en-US" smtClean="0"/>
              <a:t>9/24/2023</a:t>
            </a:fld>
            <a:endParaRPr lang="en-US"/>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9C8A9BBF-D171-497A-B4A2-0767A13C4597}" type="slidenum">
              <a:rPr lang="en-US" smtClean="0"/>
              <a:t>‹#›</a:t>
            </a:fld>
            <a:endParaRPr lang="en-US"/>
          </a:p>
        </p:txBody>
      </p:sp>
    </p:spTree>
    <p:extLst>
      <p:ext uri="{BB962C8B-B14F-4D97-AF65-F5344CB8AC3E}">
        <p14:creationId xmlns:p14="http://schemas.microsoft.com/office/powerpoint/2010/main" val="24445314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5234" cy="822960"/>
          </a:xfrm>
        </p:spPr>
        <p:txBody>
          <a:bodyPr tIns="0" bIns="0" anchor="b">
            <a:noAutofit/>
          </a:bodyPr>
          <a:lstStyle>
            <a:lvl1pPr>
              <a:defRPr sz="3600" b="0">
                <a:solidFill>
                  <a:srgbClr val="FFFFFF"/>
                </a:solidFill>
              </a:defRPr>
            </a:lvl1pPr>
          </a:lstStyle>
          <a:p>
            <a:r>
              <a:rPr lang="en-US"/>
              <a:t>Click to edit Master title style</a:t>
            </a:r>
          </a:p>
        </p:txBody>
      </p:sp>
      <p:sp>
        <p:nvSpPr>
          <p:cNvPr id="3" name="Picture Placeholder 2"/>
          <p:cNvSpPr>
            <a:spLocks noGrp="1" noChangeAspect="1"/>
          </p:cNvSpPr>
          <p:nvPr>
            <p:ph type="pic" idx="1"/>
          </p:nvPr>
        </p:nvSpPr>
        <p:spPr>
          <a:xfrm>
            <a:off x="12" y="0"/>
            <a:ext cx="9143989"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22960"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C08B15B-E63B-A741-9DEA-9AA37D2B7DBF}" type="datetime1">
              <a:rPr lang="en-US" smtClean="0"/>
              <a:t>9/24/2023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8A9BBF-D171-497A-B4A2-0767A13C4597}" type="slidenum">
              <a:rPr lang="en-US" smtClean="0"/>
              <a:t>‹#›</a:t>
            </a:fld>
            <a:endParaRPr lang="en-US"/>
          </a:p>
        </p:txBody>
      </p:sp>
    </p:spTree>
    <p:extLst>
      <p:ext uri="{BB962C8B-B14F-4D97-AF65-F5344CB8AC3E}">
        <p14:creationId xmlns:p14="http://schemas.microsoft.com/office/powerpoint/2010/main" val="41425106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9489117-AA99-A343-9D72-6FCA37B5BE17}" type="datetime1">
              <a:rPr lang="en-US" smtClean="0"/>
              <a:t>9/24/2023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8A9BBF-D171-497A-B4A2-0767A13C4597}" type="slidenum">
              <a:rPr lang="en-US" smtClean="0"/>
              <a:t>‹#›</a:t>
            </a:fld>
            <a:endParaRPr lang="en-US"/>
          </a:p>
        </p:txBody>
      </p:sp>
    </p:spTree>
    <p:extLst>
      <p:ext uri="{BB962C8B-B14F-4D97-AF65-F5344CB8AC3E}">
        <p14:creationId xmlns:p14="http://schemas.microsoft.com/office/powerpoint/2010/main" val="24794780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2302"/>
            <a:ext cx="1971675" cy="575989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412302"/>
            <a:ext cx="5800725"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52144E2-60F2-DF46-A244-D7B3522DD83D}" type="datetime1">
              <a:rPr lang="en-US" smtClean="0"/>
              <a:t>9/24/2023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8A9BBF-D171-497A-B4A2-0767A13C4597}" type="slidenum">
              <a:rPr lang="en-US" smtClean="0"/>
              <a:t>‹#›</a:t>
            </a:fld>
            <a:endParaRPr lang="en-US"/>
          </a:p>
        </p:txBody>
      </p:sp>
    </p:spTree>
    <p:extLst>
      <p:ext uri="{BB962C8B-B14F-4D97-AF65-F5344CB8AC3E}">
        <p14:creationId xmlns:p14="http://schemas.microsoft.com/office/powerpoint/2010/main" val="33386736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5_Title Only">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6304" y="115826"/>
            <a:ext cx="8851392" cy="6382628"/>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DB5C5D66-23E7-0C4F-8B0A-A1C9C050780A}" type="datetime1">
              <a:rPr lang="en-US" smtClean="0"/>
              <a:t>9/24/2023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8A9BBF-D171-497A-B4A2-0767A13C4597}" type="slidenum">
              <a:rPr lang="en-US" smtClean="0"/>
              <a:pPr/>
              <a:t>‹#›</a:t>
            </a:fld>
            <a:endParaRPr lang="en-US"/>
          </a:p>
        </p:txBody>
      </p:sp>
    </p:spTree>
    <p:extLst>
      <p:ext uri="{BB962C8B-B14F-4D97-AF65-F5344CB8AC3E}">
        <p14:creationId xmlns:p14="http://schemas.microsoft.com/office/powerpoint/2010/main" val="35435914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8_Title Only">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6304" y="685800"/>
            <a:ext cx="8851392" cy="1752600"/>
          </a:xfrm>
        </p:spPr>
        <p:txBody>
          <a:bodyPr/>
          <a:lstStyle>
            <a:lvl1pPr>
              <a:defRPr/>
            </a:lvl1pPr>
          </a:lstStyle>
          <a:p>
            <a:r>
              <a:rPr lang="en-US"/>
              <a:t>Click to edit Master title style</a:t>
            </a:r>
          </a:p>
        </p:txBody>
      </p:sp>
      <p:sp>
        <p:nvSpPr>
          <p:cNvPr id="3" name="Date Placeholder 2"/>
          <p:cNvSpPr>
            <a:spLocks noGrp="1"/>
          </p:cNvSpPr>
          <p:nvPr>
            <p:ph type="dt" sz="half" idx="10"/>
          </p:nvPr>
        </p:nvSpPr>
        <p:spPr/>
        <p:txBody>
          <a:bodyPr/>
          <a:lstStyle/>
          <a:p>
            <a:fld id="{87DCCB30-1A6D-2E42-BCC5-3E80F21AA084}" type="datetime1">
              <a:rPr lang="en-US" smtClean="0"/>
              <a:t>9/24/2023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8A9BBF-D171-497A-B4A2-0767A13C4597}" type="slidenum">
              <a:rPr lang="en-US" smtClean="0"/>
              <a:pPr/>
              <a:t>‹#›</a:t>
            </a:fld>
            <a:endParaRPr lang="en-US"/>
          </a:p>
        </p:txBody>
      </p:sp>
      <p:pic>
        <p:nvPicPr>
          <p:cNvPr id="8" name="Picture 7">
            <a:extLst>
              <a:ext uri="{FF2B5EF4-FFF2-40B4-BE49-F238E27FC236}">
                <a16:creationId xmlns:a16="http://schemas.microsoft.com/office/drawing/2014/main" id="{D4EDCBC7-11CC-42C8-9373-3147D84861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84647" y="-152400"/>
            <a:ext cx="1059353" cy="1059353"/>
          </a:xfrm>
          <a:prstGeom prst="rect">
            <a:avLst/>
          </a:prstGeom>
        </p:spPr>
      </p:pic>
      <p:sp>
        <p:nvSpPr>
          <p:cNvPr id="10" name="Text Placeholder 2">
            <a:extLst>
              <a:ext uri="{FF2B5EF4-FFF2-40B4-BE49-F238E27FC236}">
                <a16:creationId xmlns:a16="http://schemas.microsoft.com/office/drawing/2014/main" id="{6187854B-FEC4-4BF8-A3DE-39B0F5014508}"/>
              </a:ext>
            </a:extLst>
          </p:cNvPr>
          <p:cNvSpPr>
            <a:spLocks noGrp="1"/>
          </p:cNvSpPr>
          <p:nvPr>
            <p:ph idx="1"/>
          </p:nvPr>
        </p:nvSpPr>
        <p:spPr>
          <a:xfrm>
            <a:off x="146305" y="2438400"/>
            <a:ext cx="8851392" cy="4132970"/>
          </a:xfrm>
          <a:prstGeom prst="rect">
            <a:avLst/>
          </a:prstGeom>
        </p:spPr>
        <p:txBody>
          <a:bodyPr vert="horz" lIns="0" tIns="45720" rIns="0" bIns="45720" rtlCol="0">
            <a:normAutofit/>
          </a:bodyPr>
          <a:lstStyle>
            <a:lvl1pPr marL="365760" indent="-274320">
              <a:buClr>
                <a:schemeClr val="accent2"/>
              </a:buClr>
              <a:buFont typeface="Wingdings" panose="05000000000000000000" pitchFamily="2" charset="2"/>
              <a:buChar char="§"/>
              <a:defRPr sz="3200">
                <a:solidFill>
                  <a:schemeClr val="tx2"/>
                </a:solidFill>
                <a:latin typeface="+mj-lt"/>
              </a:defRPr>
            </a:lvl1pPr>
            <a:lvl2pPr marL="548640" indent="-274320">
              <a:buClr>
                <a:schemeClr val="accent2"/>
              </a:buClr>
              <a:buFont typeface="Wingdings" panose="05000000000000000000" pitchFamily="2" charset="2"/>
              <a:buChar char="§"/>
              <a:defRPr sz="2800">
                <a:solidFill>
                  <a:schemeClr val="tx2"/>
                </a:solidFill>
                <a:latin typeface="+mj-lt"/>
              </a:defRPr>
            </a:lvl2pPr>
            <a:lvl3pPr marL="731520" indent="-274320">
              <a:buClr>
                <a:schemeClr val="accent2"/>
              </a:buClr>
              <a:buFont typeface="Wingdings" panose="05000000000000000000" pitchFamily="2" charset="2"/>
              <a:buChar char="§"/>
              <a:defRPr sz="2000">
                <a:solidFill>
                  <a:schemeClr val="tx2"/>
                </a:solidFill>
                <a:latin typeface="+mj-lt"/>
              </a:defRPr>
            </a:lvl3pPr>
            <a:lvl4pPr marL="914400" indent="-274320">
              <a:buClr>
                <a:schemeClr val="accent2"/>
              </a:buClr>
              <a:buFont typeface="Wingdings" panose="05000000000000000000" pitchFamily="2" charset="2"/>
              <a:buChar char="§"/>
              <a:defRPr sz="2000">
                <a:solidFill>
                  <a:schemeClr val="tx2"/>
                </a:solidFill>
                <a:latin typeface="+mj-lt"/>
              </a:defRPr>
            </a:lvl4pPr>
            <a:lvl5pPr marL="1097280" indent="-274320">
              <a:buClr>
                <a:schemeClr val="accent2"/>
              </a:buClr>
              <a:buFont typeface="Wingdings" panose="05000000000000000000" pitchFamily="2" charset="2"/>
              <a:buChar char="§"/>
              <a:defRPr sz="2000">
                <a:solidFill>
                  <a:schemeClr val="tx2"/>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303021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9_Title Only">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6304" y="115826"/>
            <a:ext cx="8851392" cy="6382628"/>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E28DCBF6-F73E-B844-90B5-BA38F3F93D1B}" type="datetime1">
              <a:rPr lang="en-US" smtClean="0"/>
              <a:t>9/24/2023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8A9BBF-D171-497A-B4A2-0767A13C4597}" type="slidenum">
              <a:rPr lang="en-US" smtClean="0"/>
              <a:pPr/>
              <a:t>‹#›</a:t>
            </a:fld>
            <a:endParaRPr lang="en-US"/>
          </a:p>
        </p:txBody>
      </p:sp>
      <p:pic>
        <p:nvPicPr>
          <p:cNvPr id="6" name="Picture 5">
            <a:extLst>
              <a:ext uri="{FF2B5EF4-FFF2-40B4-BE49-F238E27FC236}">
                <a16:creationId xmlns:a16="http://schemas.microsoft.com/office/drawing/2014/main" id="{E83D2542-5A33-4E2C-863D-145C356406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84647" y="-152400"/>
            <a:ext cx="1059353" cy="1059353"/>
          </a:xfrm>
          <a:prstGeom prst="rect">
            <a:avLst/>
          </a:prstGeom>
        </p:spPr>
      </p:pic>
    </p:spTree>
    <p:extLst>
      <p:ext uri="{BB962C8B-B14F-4D97-AF65-F5344CB8AC3E}">
        <p14:creationId xmlns:p14="http://schemas.microsoft.com/office/powerpoint/2010/main" val="34172995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3_Title Only">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6304" y="685800"/>
            <a:ext cx="8851392" cy="1752600"/>
          </a:xfrm>
        </p:spPr>
        <p:txBody>
          <a:bodyPr/>
          <a:lstStyle>
            <a:lvl1pPr>
              <a:defRPr/>
            </a:lvl1pPr>
          </a:lstStyle>
          <a:p>
            <a:r>
              <a:rPr lang="en-US"/>
              <a:t>Click to edit Master title style</a:t>
            </a:r>
          </a:p>
        </p:txBody>
      </p:sp>
      <p:sp>
        <p:nvSpPr>
          <p:cNvPr id="3" name="Date Placeholder 2"/>
          <p:cNvSpPr>
            <a:spLocks noGrp="1"/>
          </p:cNvSpPr>
          <p:nvPr>
            <p:ph type="dt" sz="half" idx="10"/>
          </p:nvPr>
        </p:nvSpPr>
        <p:spPr/>
        <p:txBody>
          <a:bodyPr/>
          <a:lstStyle/>
          <a:p>
            <a:fld id="{7E5CE842-8249-8A43-8E1B-D93301EA5234}" type="datetime1">
              <a:rPr lang="en-US" smtClean="0"/>
              <a:t>9/24/2023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8A9BBF-D171-497A-B4A2-0767A13C4597}" type="slidenum">
              <a:rPr lang="en-US" smtClean="0"/>
              <a:pPr/>
              <a:t>‹#›</a:t>
            </a:fld>
            <a:endParaRPr lang="en-US"/>
          </a:p>
        </p:txBody>
      </p:sp>
      <p:pic>
        <p:nvPicPr>
          <p:cNvPr id="8" name="Picture 7">
            <a:extLst>
              <a:ext uri="{FF2B5EF4-FFF2-40B4-BE49-F238E27FC236}">
                <a16:creationId xmlns:a16="http://schemas.microsoft.com/office/drawing/2014/main" id="{D4EDCBC7-11CC-42C8-9373-3147D84861D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075030" y="0"/>
            <a:ext cx="1059353" cy="1059353"/>
          </a:xfrm>
          <a:prstGeom prst="rect">
            <a:avLst/>
          </a:prstGeom>
        </p:spPr>
      </p:pic>
      <p:sp>
        <p:nvSpPr>
          <p:cNvPr id="10" name="Text Placeholder 2">
            <a:extLst>
              <a:ext uri="{FF2B5EF4-FFF2-40B4-BE49-F238E27FC236}">
                <a16:creationId xmlns:a16="http://schemas.microsoft.com/office/drawing/2014/main" id="{29EAA3A6-8930-4E04-BD7A-70348C3D39E6}"/>
              </a:ext>
            </a:extLst>
          </p:cNvPr>
          <p:cNvSpPr>
            <a:spLocks noGrp="1"/>
          </p:cNvSpPr>
          <p:nvPr>
            <p:ph idx="1"/>
          </p:nvPr>
        </p:nvSpPr>
        <p:spPr>
          <a:xfrm>
            <a:off x="146305" y="2438400"/>
            <a:ext cx="8851392" cy="4132970"/>
          </a:xfrm>
          <a:prstGeom prst="rect">
            <a:avLst/>
          </a:prstGeom>
        </p:spPr>
        <p:txBody>
          <a:bodyPr vert="horz" lIns="0" tIns="45720" rIns="0" bIns="45720" rtlCol="0">
            <a:normAutofit/>
          </a:bodyPr>
          <a:lstStyle>
            <a:lvl1pPr marL="365760" indent="-274320">
              <a:buClr>
                <a:schemeClr val="accent2">
                  <a:lumMod val="75000"/>
                </a:schemeClr>
              </a:buClr>
              <a:buFont typeface="Wingdings" panose="05000000000000000000" pitchFamily="2" charset="2"/>
              <a:buChar char="v"/>
              <a:defRPr>
                <a:solidFill>
                  <a:schemeClr val="tx2"/>
                </a:solidFill>
              </a:defRPr>
            </a:lvl1pPr>
            <a:lvl2pPr marL="548640" indent="-274320">
              <a:buClr>
                <a:schemeClr val="accent2">
                  <a:lumMod val="75000"/>
                </a:schemeClr>
              </a:buClr>
              <a:buFont typeface="Wingdings" panose="05000000000000000000" pitchFamily="2" charset="2"/>
              <a:buChar char="v"/>
              <a:defRPr>
                <a:solidFill>
                  <a:schemeClr val="tx2"/>
                </a:solidFill>
              </a:defRPr>
            </a:lvl2pPr>
            <a:lvl3pPr marL="731520" indent="-274320">
              <a:buClr>
                <a:schemeClr val="accent2">
                  <a:lumMod val="75000"/>
                </a:schemeClr>
              </a:buClr>
              <a:buFont typeface="Wingdings" panose="05000000000000000000" pitchFamily="2" charset="2"/>
              <a:buChar char="v"/>
              <a:defRPr>
                <a:solidFill>
                  <a:schemeClr val="tx2"/>
                </a:solidFill>
              </a:defRPr>
            </a:lvl3pPr>
            <a:lvl4pPr marL="914400" indent="-274320">
              <a:buClr>
                <a:schemeClr val="accent2">
                  <a:lumMod val="75000"/>
                </a:schemeClr>
              </a:buClr>
              <a:buFont typeface="Wingdings" panose="05000000000000000000" pitchFamily="2" charset="2"/>
              <a:buChar char="v"/>
              <a:defRPr>
                <a:solidFill>
                  <a:schemeClr val="tx2"/>
                </a:solidFill>
              </a:defRPr>
            </a:lvl4pPr>
            <a:lvl5pPr marL="1097280" indent="-274320">
              <a:buClr>
                <a:schemeClr val="accent2">
                  <a:lumMod val="75000"/>
                </a:schemeClr>
              </a:buClr>
              <a:buFont typeface="Wingdings" panose="05000000000000000000" pitchFamily="2" charset="2"/>
              <a:buChar char="v"/>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0983524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6_Title Only">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6304" y="115826"/>
            <a:ext cx="8851392" cy="6382628"/>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D4AD75E8-E6D9-3E42-B3C2-280D09D847BE}" type="datetime1">
              <a:rPr lang="en-US" smtClean="0"/>
              <a:t>9/24/2023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8A9BBF-D171-497A-B4A2-0767A13C4597}" type="slidenum">
              <a:rPr lang="en-US" smtClean="0"/>
              <a:pPr/>
              <a:t>‹#›</a:t>
            </a:fld>
            <a:endParaRPr lang="en-US"/>
          </a:p>
        </p:txBody>
      </p:sp>
      <p:pic>
        <p:nvPicPr>
          <p:cNvPr id="6" name="Picture 5">
            <a:extLst>
              <a:ext uri="{FF2B5EF4-FFF2-40B4-BE49-F238E27FC236}">
                <a16:creationId xmlns:a16="http://schemas.microsoft.com/office/drawing/2014/main" id="{92FE125C-DA19-42DA-8C07-FA8039F5119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075030" y="0"/>
            <a:ext cx="1059353" cy="1059353"/>
          </a:xfrm>
          <a:prstGeom prst="rect">
            <a:avLst/>
          </a:prstGeom>
        </p:spPr>
      </p:pic>
    </p:spTree>
    <p:extLst>
      <p:ext uri="{BB962C8B-B14F-4D97-AF65-F5344CB8AC3E}">
        <p14:creationId xmlns:p14="http://schemas.microsoft.com/office/powerpoint/2010/main" val="7442238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4_Title Only">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6304" y="685800"/>
            <a:ext cx="8851392" cy="1752600"/>
          </a:xfrm>
        </p:spPr>
        <p:txBody>
          <a:bodyPr/>
          <a:lstStyle>
            <a:lvl1pPr>
              <a:defRPr/>
            </a:lvl1pPr>
          </a:lstStyle>
          <a:p>
            <a:r>
              <a:rPr lang="en-US"/>
              <a:t>Click to edit Master title style</a:t>
            </a:r>
          </a:p>
        </p:txBody>
      </p:sp>
      <p:sp>
        <p:nvSpPr>
          <p:cNvPr id="3" name="Date Placeholder 2"/>
          <p:cNvSpPr>
            <a:spLocks noGrp="1"/>
          </p:cNvSpPr>
          <p:nvPr>
            <p:ph type="dt" sz="half" idx="10"/>
          </p:nvPr>
        </p:nvSpPr>
        <p:spPr/>
        <p:txBody>
          <a:bodyPr/>
          <a:lstStyle/>
          <a:p>
            <a:fld id="{79107F6D-1FE4-8A49-840F-5919ACFA3FD0}" type="datetime1">
              <a:rPr lang="en-US" smtClean="0"/>
              <a:t>9/24/2023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8A9BBF-D171-497A-B4A2-0767A13C4597}" type="slidenum">
              <a:rPr lang="en-US" smtClean="0"/>
              <a:pPr/>
              <a:t>‹#›</a:t>
            </a:fld>
            <a:endParaRPr lang="en-US"/>
          </a:p>
        </p:txBody>
      </p:sp>
      <p:pic>
        <p:nvPicPr>
          <p:cNvPr id="8" name="Picture 7">
            <a:extLst>
              <a:ext uri="{FF2B5EF4-FFF2-40B4-BE49-F238E27FC236}">
                <a16:creationId xmlns:a16="http://schemas.microsoft.com/office/drawing/2014/main" id="{D4EDCBC7-11CC-42C8-9373-3147D84861D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075030" y="0"/>
            <a:ext cx="1059353" cy="1059353"/>
          </a:xfrm>
          <a:prstGeom prst="rect">
            <a:avLst/>
          </a:prstGeom>
        </p:spPr>
      </p:pic>
      <p:sp>
        <p:nvSpPr>
          <p:cNvPr id="10" name="Text Placeholder 2">
            <a:extLst>
              <a:ext uri="{FF2B5EF4-FFF2-40B4-BE49-F238E27FC236}">
                <a16:creationId xmlns:a16="http://schemas.microsoft.com/office/drawing/2014/main" id="{98729288-CC54-4647-B966-CF553EF13B92}"/>
              </a:ext>
            </a:extLst>
          </p:cNvPr>
          <p:cNvSpPr>
            <a:spLocks noGrp="1"/>
          </p:cNvSpPr>
          <p:nvPr>
            <p:ph idx="1"/>
          </p:nvPr>
        </p:nvSpPr>
        <p:spPr>
          <a:xfrm>
            <a:off x="146305" y="2438400"/>
            <a:ext cx="8851392" cy="4132970"/>
          </a:xfrm>
          <a:prstGeom prst="rect">
            <a:avLst/>
          </a:prstGeom>
        </p:spPr>
        <p:txBody>
          <a:bodyPr vert="horz" lIns="0" tIns="45720" rIns="0" bIns="45720" rtlCol="0">
            <a:normAutofit/>
          </a:bodyPr>
          <a:lstStyle>
            <a:lvl1pPr marL="365760" indent="-274320">
              <a:buClr>
                <a:schemeClr val="accent2">
                  <a:lumMod val="75000"/>
                </a:schemeClr>
              </a:buClr>
              <a:buFont typeface="Wingdings" panose="05000000000000000000" pitchFamily="2" charset="2"/>
              <a:buChar char="v"/>
              <a:defRPr>
                <a:solidFill>
                  <a:schemeClr val="tx2"/>
                </a:solidFill>
              </a:defRPr>
            </a:lvl1pPr>
            <a:lvl2pPr marL="548640" indent="-274320">
              <a:buClr>
                <a:schemeClr val="accent2">
                  <a:lumMod val="75000"/>
                </a:schemeClr>
              </a:buClr>
              <a:buFont typeface="Wingdings" panose="05000000000000000000" pitchFamily="2" charset="2"/>
              <a:buChar char="v"/>
              <a:defRPr>
                <a:solidFill>
                  <a:schemeClr val="tx2"/>
                </a:solidFill>
              </a:defRPr>
            </a:lvl2pPr>
            <a:lvl3pPr marL="731520" indent="-274320">
              <a:buClr>
                <a:schemeClr val="accent2">
                  <a:lumMod val="75000"/>
                </a:schemeClr>
              </a:buClr>
              <a:buFont typeface="Wingdings" panose="05000000000000000000" pitchFamily="2" charset="2"/>
              <a:buChar char="v"/>
              <a:defRPr>
                <a:solidFill>
                  <a:schemeClr val="tx2"/>
                </a:solidFill>
              </a:defRPr>
            </a:lvl3pPr>
            <a:lvl4pPr marL="914400" indent="-274320">
              <a:buClr>
                <a:schemeClr val="accent2">
                  <a:lumMod val="75000"/>
                </a:schemeClr>
              </a:buClr>
              <a:buFont typeface="Wingdings" panose="05000000000000000000" pitchFamily="2" charset="2"/>
              <a:buChar char="v"/>
              <a:defRPr>
                <a:solidFill>
                  <a:schemeClr val="tx2"/>
                </a:solidFill>
              </a:defRPr>
            </a:lvl4pPr>
            <a:lvl5pPr marL="1097280" indent="-274320">
              <a:buClr>
                <a:schemeClr val="accent2">
                  <a:lumMod val="75000"/>
                </a:schemeClr>
              </a:buClr>
              <a:buFont typeface="Wingdings" panose="05000000000000000000" pitchFamily="2" charset="2"/>
              <a:buChar char="v"/>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6834271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7_Title Only">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6304" y="115826"/>
            <a:ext cx="8851392" cy="6382628"/>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78A0CE7-1A78-B749-A181-0CB124262D26}" type="datetime1">
              <a:rPr lang="en-US" smtClean="0"/>
              <a:t>9/24/2023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8A9BBF-D171-497A-B4A2-0767A13C4597}" type="slidenum">
              <a:rPr lang="en-US" smtClean="0"/>
              <a:pPr/>
              <a:t>‹#›</a:t>
            </a:fld>
            <a:endParaRPr lang="en-US"/>
          </a:p>
        </p:txBody>
      </p:sp>
      <p:pic>
        <p:nvPicPr>
          <p:cNvPr id="6" name="Picture 5">
            <a:extLst>
              <a:ext uri="{FF2B5EF4-FFF2-40B4-BE49-F238E27FC236}">
                <a16:creationId xmlns:a16="http://schemas.microsoft.com/office/drawing/2014/main" id="{39FF6332-602A-4C2A-BD1E-7565ECDF5B6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075030" y="0"/>
            <a:ext cx="1059353" cy="1059353"/>
          </a:xfrm>
          <a:prstGeom prst="rect">
            <a:avLst/>
          </a:prstGeom>
        </p:spPr>
      </p:pic>
    </p:spTree>
    <p:extLst>
      <p:ext uri="{BB962C8B-B14F-4D97-AF65-F5344CB8AC3E}">
        <p14:creationId xmlns:p14="http://schemas.microsoft.com/office/powerpoint/2010/main" val="181243601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a:lvl1pPr>
          </a:lstStyle>
          <a:p>
            <a:r>
              <a:rPr lang="en-US"/>
              <a:t>Click to edit Master title style</a:t>
            </a:r>
          </a:p>
        </p:txBody>
      </p:sp>
      <p:sp>
        <p:nvSpPr>
          <p:cNvPr id="4" name="Date Placeholder 3"/>
          <p:cNvSpPr>
            <a:spLocks noGrp="1"/>
          </p:cNvSpPr>
          <p:nvPr>
            <p:ph type="dt" sz="half" idx="10"/>
          </p:nvPr>
        </p:nvSpPr>
        <p:spPr/>
        <p:txBody>
          <a:bodyPr/>
          <a:lstStyle/>
          <a:p>
            <a:fld id="{D78EB7BC-403A-8A44-A663-FD167E87AE44}" type="datetime1">
              <a:rPr lang="en-US" smtClean="0"/>
              <a:t>9/24/2023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8A9BBF-D171-497A-B4A2-0767A13C4597}" type="slidenum">
              <a:rPr lang="en-US" smtClean="0"/>
              <a:t>‹#›</a:t>
            </a:fld>
            <a:endParaRPr lang="en-US"/>
          </a:p>
        </p:txBody>
      </p:sp>
      <p:sp>
        <p:nvSpPr>
          <p:cNvPr id="7" name="Text Placeholder 2">
            <a:extLst>
              <a:ext uri="{FF2B5EF4-FFF2-40B4-BE49-F238E27FC236}">
                <a16:creationId xmlns:a16="http://schemas.microsoft.com/office/drawing/2014/main" id="{4B906D8A-B7C9-46FF-BD54-732332428F5A}"/>
              </a:ext>
            </a:extLst>
          </p:cNvPr>
          <p:cNvSpPr>
            <a:spLocks noGrp="1"/>
          </p:cNvSpPr>
          <p:nvPr>
            <p:ph idx="1"/>
          </p:nvPr>
        </p:nvSpPr>
        <p:spPr>
          <a:xfrm>
            <a:off x="146305" y="1441107"/>
            <a:ext cx="8851392" cy="5130263"/>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10665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5E94D-AB62-E84E-A49C-DD6A8F51C491}"/>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26548DE-348F-0D44-8485-97F299E5886B}"/>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4E26162-1B8D-B748-8A10-BD7FD12FEF3C}"/>
              </a:ext>
            </a:extLst>
          </p:cNvPr>
          <p:cNvSpPr>
            <a:spLocks noGrp="1"/>
          </p:cNvSpPr>
          <p:nvPr>
            <p:ph type="dt" sz="half" idx="10"/>
          </p:nvPr>
        </p:nvSpPr>
        <p:spPr/>
        <p:txBody>
          <a:bodyPr/>
          <a:lstStyle/>
          <a:p>
            <a:fld id="{82D7B2BE-DDF3-6D43-A226-4CE36737DFF8}" type="datetime1">
              <a:rPr lang="en-US" smtClean="0"/>
              <a:t>9/24/2023</a:t>
            </a:fld>
            <a:endParaRPr lang="en-US"/>
          </a:p>
        </p:txBody>
      </p:sp>
      <p:sp>
        <p:nvSpPr>
          <p:cNvPr id="5" name="Footer Placeholder 4">
            <a:extLst>
              <a:ext uri="{FF2B5EF4-FFF2-40B4-BE49-F238E27FC236}">
                <a16:creationId xmlns:a16="http://schemas.microsoft.com/office/drawing/2014/main" id="{976D9D1D-9864-8648-83E4-1D8B62B213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6507A0-C8CD-5445-9AEE-B23C377C4F0B}"/>
              </a:ext>
            </a:extLst>
          </p:cNvPr>
          <p:cNvSpPr>
            <a:spLocks noGrp="1"/>
          </p:cNvSpPr>
          <p:nvPr>
            <p:ph type="sldNum" sz="quarter" idx="12"/>
          </p:nvPr>
        </p:nvSpPr>
        <p:spPr/>
        <p:txBody>
          <a:bodyPr/>
          <a:lstStyle/>
          <a:p>
            <a:fld id="{57D5DC26-60E4-8E43-A906-D21F61161A83}" type="slidenum">
              <a:rPr lang="en-US" smtClean="0"/>
              <a:t>‹#›</a:t>
            </a:fld>
            <a:endParaRPr lang="en-US"/>
          </a:p>
        </p:txBody>
      </p:sp>
    </p:spTree>
    <p:extLst>
      <p:ext uri="{BB962C8B-B14F-4D97-AF65-F5344CB8AC3E}">
        <p14:creationId xmlns:p14="http://schemas.microsoft.com/office/powerpoint/2010/main" val="317579084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8B906-B07C-7D41-AC4D-750B959C9AA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DDD5779-8D81-7849-8E67-83ECBF60F34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38AA4F1-7B19-0240-B7F8-1BDF7D6347D9}"/>
              </a:ext>
            </a:extLst>
          </p:cNvPr>
          <p:cNvSpPr>
            <a:spLocks noGrp="1"/>
          </p:cNvSpPr>
          <p:nvPr>
            <p:ph type="dt" sz="half" idx="10"/>
          </p:nvPr>
        </p:nvSpPr>
        <p:spPr/>
        <p:txBody>
          <a:bodyPr/>
          <a:lstStyle/>
          <a:p>
            <a:fld id="{DB27A88B-F2DD-3743-8F57-25E5E92043B0}" type="datetime1">
              <a:rPr lang="en-US" smtClean="0"/>
              <a:t>9/24/2023</a:t>
            </a:fld>
            <a:endParaRPr lang="en-US"/>
          </a:p>
        </p:txBody>
      </p:sp>
      <p:sp>
        <p:nvSpPr>
          <p:cNvPr id="5" name="Footer Placeholder 4">
            <a:extLst>
              <a:ext uri="{FF2B5EF4-FFF2-40B4-BE49-F238E27FC236}">
                <a16:creationId xmlns:a16="http://schemas.microsoft.com/office/drawing/2014/main" id="{E5414F5D-4D50-5A4A-91C9-B5B4F14511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22065B-EF6D-5B4A-8E62-EAFF67B71788}"/>
              </a:ext>
            </a:extLst>
          </p:cNvPr>
          <p:cNvSpPr>
            <a:spLocks noGrp="1"/>
          </p:cNvSpPr>
          <p:nvPr>
            <p:ph type="sldNum" sz="quarter" idx="12"/>
          </p:nvPr>
        </p:nvSpPr>
        <p:spPr/>
        <p:txBody>
          <a:bodyPr/>
          <a:lstStyle/>
          <a:p>
            <a:fld id="{57D5DC26-60E4-8E43-A906-D21F61161A83}" type="slidenum">
              <a:rPr lang="en-US" smtClean="0"/>
              <a:t>‹#›</a:t>
            </a:fld>
            <a:endParaRPr lang="en-US"/>
          </a:p>
        </p:txBody>
      </p:sp>
    </p:spTree>
    <p:extLst>
      <p:ext uri="{BB962C8B-B14F-4D97-AF65-F5344CB8AC3E}">
        <p14:creationId xmlns:p14="http://schemas.microsoft.com/office/powerpoint/2010/main" val="372001253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BE47D-172F-034A-8698-73581C856F4B}"/>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E3A576A-13DD-034D-9029-CC506C79F0FA}"/>
              </a:ext>
            </a:extLst>
          </p:cNvPr>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614F2D7-B746-2842-8F52-519E07CFBA07}"/>
              </a:ext>
            </a:extLst>
          </p:cNvPr>
          <p:cNvSpPr>
            <a:spLocks noGrp="1"/>
          </p:cNvSpPr>
          <p:nvPr>
            <p:ph type="dt" sz="half" idx="10"/>
          </p:nvPr>
        </p:nvSpPr>
        <p:spPr/>
        <p:txBody>
          <a:bodyPr/>
          <a:lstStyle/>
          <a:p>
            <a:fld id="{AEDA15C4-E8CB-C04F-BC65-CB0837703214}" type="datetime1">
              <a:rPr lang="en-US" smtClean="0"/>
              <a:t>9/24/2023</a:t>
            </a:fld>
            <a:endParaRPr lang="en-US"/>
          </a:p>
        </p:txBody>
      </p:sp>
      <p:sp>
        <p:nvSpPr>
          <p:cNvPr id="5" name="Footer Placeholder 4">
            <a:extLst>
              <a:ext uri="{FF2B5EF4-FFF2-40B4-BE49-F238E27FC236}">
                <a16:creationId xmlns:a16="http://schemas.microsoft.com/office/drawing/2014/main" id="{EF7E68B1-5017-E64D-9D8C-C1341A22E3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E262E6-3D1E-2D4B-B7BC-0A7197BAA872}"/>
              </a:ext>
            </a:extLst>
          </p:cNvPr>
          <p:cNvSpPr>
            <a:spLocks noGrp="1"/>
          </p:cNvSpPr>
          <p:nvPr>
            <p:ph type="sldNum" sz="quarter" idx="12"/>
          </p:nvPr>
        </p:nvSpPr>
        <p:spPr/>
        <p:txBody>
          <a:bodyPr/>
          <a:lstStyle/>
          <a:p>
            <a:fld id="{57D5DC26-60E4-8E43-A906-D21F61161A83}" type="slidenum">
              <a:rPr lang="en-US" smtClean="0"/>
              <a:t>‹#›</a:t>
            </a:fld>
            <a:endParaRPr lang="en-US"/>
          </a:p>
        </p:txBody>
      </p:sp>
    </p:spTree>
    <p:extLst>
      <p:ext uri="{BB962C8B-B14F-4D97-AF65-F5344CB8AC3E}">
        <p14:creationId xmlns:p14="http://schemas.microsoft.com/office/powerpoint/2010/main" val="357874992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4806B-ED8B-CC4E-A51A-6CDCADC9640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1299E7B-D87E-CA4D-A578-EBDC0C47E881}"/>
              </a:ext>
            </a:extLst>
          </p:cNvPr>
          <p:cNvSpPr>
            <a:spLocks noGrp="1"/>
          </p:cNvSpPr>
          <p:nvPr>
            <p:ph sz="half" idx="1"/>
          </p:nvPr>
        </p:nvSpPr>
        <p:spPr>
          <a:xfrm>
            <a:off x="62865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7F5550-A328-154E-8FA0-3793746FBC49}"/>
              </a:ext>
            </a:extLst>
          </p:cNvPr>
          <p:cNvSpPr>
            <a:spLocks noGrp="1"/>
          </p:cNvSpPr>
          <p:nvPr>
            <p:ph sz="half" idx="2"/>
          </p:nvPr>
        </p:nvSpPr>
        <p:spPr>
          <a:xfrm>
            <a:off x="464820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074ED10-64BB-9144-9B71-07151AB520AC}"/>
              </a:ext>
            </a:extLst>
          </p:cNvPr>
          <p:cNvSpPr>
            <a:spLocks noGrp="1"/>
          </p:cNvSpPr>
          <p:nvPr>
            <p:ph type="dt" sz="half" idx="10"/>
          </p:nvPr>
        </p:nvSpPr>
        <p:spPr/>
        <p:txBody>
          <a:bodyPr/>
          <a:lstStyle/>
          <a:p>
            <a:fld id="{85089F18-38DA-0947-9593-25D4010703FB}" type="datetime1">
              <a:rPr lang="en-US" smtClean="0"/>
              <a:t>9/24/2023</a:t>
            </a:fld>
            <a:endParaRPr lang="en-US"/>
          </a:p>
        </p:txBody>
      </p:sp>
      <p:sp>
        <p:nvSpPr>
          <p:cNvPr id="6" name="Footer Placeholder 5">
            <a:extLst>
              <a:ext uri="{FF2B5EF4-FFF2-40B4-BE49-F238E27FC236}">
                <a16:creationId xmlns:a16="http://schemas.microsoft.com/office/drawing/2014/main" id="{25A7A753-FB3D-094E-A536-0484A8BE2B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7AA6079-FE42-C140-9B28-ED67471AE867}"/>
              </a:ext>
            </a:extLst>
          </p:cNvPr>
          <p:cNvSpPr>
            <a:spLocks noGrp="1"/>
          </p:cNvSpPr>
          <p:nvPr>
            <p:ph type="sldNum" sz="quarter" idx="12"/>
          </p:nvPr>
        </p:nvSpPr>
        <p:spPr/>
        <p:txBody>
          <a:bodyPr/>
          <a:lstStyle/>
          <a:p>
            <a:fld id="{57D5DC26-60E4-8E43-A906-D21F61161A83}" type="slidenum">
              <a:rPr lang="en-US" smtClean="0"/>
              <a:t>‹#›</a:t>
            </a:fld>
            <a:endParaRPr lang="en-US"/>
          </a:p>
        </p:txBody>
      </p:sp>
    </p:spTree>
    <p:extLst>
      <p:ext uri="{BB962C8B-B14F-4D97-AF65-F5344CB8AC3E}">
        <p14:creationId xmlns:p14="http://schemas.microsoft.com/office/powerpoint/2010/main" val="385347088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784D0-75F5-CD41-9AEF-CB198A0D97E0}"/>
              </a:ext>
            </a:extLst>
          </p:cNvPr>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C7D959F-E739-F542-8EBA-7BBF7E5A363B}"/>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265DF34-2D6B-454C-BFDA-F81C29E7822E}"/>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2658768-2FB0-D847-83EE-654C76812F8C}"/>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BA27B69-16F8-C048-9335-D0E599CA22E3}"/>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BE98362-01EA-604E-BA80-BC012B7FAA68}"/>
              </a:ext>
            </a:extLst>
          </p:cNvPr>
          <p:cNvSpPr>
            <a:spLocks noGrp="1"/>
          </p:cNvSpPr>
          <p:nvPr>
            <p:ph type="dt" sz="half" idx="10"/>
          </p:nvPr>
        </p:nvSpPr>
        <p:spPr/>
        <p:txBody>
          <a:bodyPr/>
          <a:lstStyle/>
          <a:p>
            <a:fld id="{ED9A19EE-DABD-FF45-9B3D-868C2008B2F5}" type="datetime1">
              <a:rPr lang="en-US" smtClean="0"/>
              <a:t>9/24/2023</a:t>
            </a:fld>
            <a:endParaRPr lang="en-US"/>
          </a:p>
        </p:txBody>
      </p:sp>
      <p:sp>
        <p:nvSpPr>
          <p:cNvPr id="8" name="Footer Placeholder 7">
            <a:extLst>
              <a:ext uri="{FF2B5EF4-FFF2-40B4-BE49-F238E27FC236}">
                <a16:creationId xmlns:a16="http://schemas.microsoft.com/office/drawing/2014/main" id="{3D58B9EA-23BB-BD43-AE55-BD94F3A70B5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97FEF2B-07B5-9C42-B58D-B5FF51C49905}"/>
              </a:ext>
            </a:extLst>
          </p:cNvPr>
          <p:cNvSpPr>
            <a:spLocks noGrp="1"/>
          </p:cNvSpPr>
          <p:nvPr>
            <p:ph type="sldNum" sz="quarter" idx="12"/>
          </p:nvPr>
        </p:nvSpPr>
        <p:spPr/>
        <p:txBody>
          <a:bodyPr/>
          <a:lstStyle/>
          <a:p>
            <a:fld id="{57D5DC26-60E4-8E43-A906-D21F61161A83}" type="slidenum">
              <a:rPr lang="en-US" smtClean="0"/>
              <a:t>‹#›</a:t>
            </a:fld>
            <a:endParaRPr lang="en-US"/>
          </a:p>
        </p:txBody>
      </p:sp>
    </p:spTree>
    <p:extLst>
      <p:ext uri="{BB962C8B-B14F-4D97-AF65-F5344CB8AC3E}">
        <p14:creationId xmlns:p14="http://schemas.microsoft.com/office/powerpoint/2010/main" val="370120970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ACC87-431B-E24A-86AB-554B550FA5A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76090D8-3391-5741-87F5-2BCDB8997B8A}"/>
              </a:ext>
            </a:extLst>
          </p:cNvPr>
          <p:cNvSpPr>
            <a:spLocks noGrp="1"/>
          </p:cNvSpPr>
          <p:nvPr>
            <p:ph type="dt" sz="half" idx="10"/>
          </p:nvPr>
        </p:nvSpPr>
        <p:spPr/>
        <p:txBody>
          <a:bodyPr/>
          <a:lstStyle/>
          <a:p>
            <a:fld id="{E7C58DD7-86D3-9543-A3F5-DCAC5C3EC996}" type="datetime1">
              <a:rPr lang="en-US" smtClean="0"/>
              <a:t>9/24/2023</a:t>
            </a:fld>
            <a:endParaRPr lang="en-US"/>
          </a:p>
        </p:txBody>
      </p:sp>
      <p:sp>
        <p:nvSpPr>
          <p:cNvPr id="4" name="Footer Placeholder 3">
            <a:extLst>
              <a:ext uri="{FF2B5EF4-FFF2-40B4-BE49-F238E27FC236}">
                <a16:creationId xmlns:a16="http://schemas.microsoft.com/office/drawing/2014/main" id="{0B09D265-B6E2-2540-8068-45F6C7B8ADE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1A30A8C-D91D-2A49-8733-39D5374D66A5}"/>
              </a:ext>
            </a:extLst>
          </p:cNvPr>
          <p:cNvSpPr>
            <a:spLocks noGrp="1"/>
          </p:cNvSpPr>
          <p:nvPr>
            <p:ph type="sldNum" sz="quarter" idx="12"/>
          </p:nvPr>
        </p:nvSpPr>
        <p:spPr/>
        <p:txBody>
          <a:bodyPr/>
          <a:lstStyle/>
          <a:p>
            <a:fld id="{57D5DC26-60E4-8E43-A906-D21F61161A83}" type="slidenum">
              <a:rPr lang="en-US" smtClean="0"/>
              <a:t>‹#›</a:t>
            </a:fld>
            <a:endParaRPr lang="en-US"/>
          </a:p>
        </p:txBody>
      </p:sp>
    </p:spTree>
    <p:extLst>
      <p:ext uri="{BB962C8B-B14F-4D97-AF65-F5344CB8AC3E}">
        <p14:creationId xmlns:p14="http://schemas.microsoft.com/office/powerpoint/2010/main" val="379407686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29DEDE-71EE-4448-AE52-7A3240E2492C}"/>
              </a:ext>
            </a:extLst>
          </p:cNvPr>
          <p:cNvSpPr>
            <a:spLocks noGrp="1"/>
          </p:cNvSpPr>
          <p:nvPr>
            <p:ph type="dt" sz="half" idx="10"/>
          </p:nvPr>
        </p:nvSpPr>
        <p:spPr/>
        <p:txBody>
          <a:bodyPr/>
          <a:lstStyle/>
          <a:p>
            <a:fld id="{49838251-72EC-7341-947D-39CD70D3F6EE}" type="datetime1">
              <a:rPr lang="en-US" smtClean="0"/>
              <a:t>9/24/2023</a:t>
            </a:fld>
            <a:endParaRPr lang="en-US"/>
          </a:p>
        </p:txBody>
      </p:sp>
      <p:sp>
        <p:nvSpPr>
          <p:cNvPr id="3" name="Footer Placeholder 2">
            <a:extLst>
              <a:ext uri="{FF2B5EF4-FFF2-40B4-BE49-F238E27FC236}">
                <a16:creationId xmlns:a16="http://schemas.microsoft.com/office/drawing/2014/main" id="{421F8A0A-B7DA-2E41-ADC9-3BA00052CA6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CCDFF72-3DFA-5443-B19A-D882B4A1822B}"/>
              </a:ext>
            </a:extLst>
          </p:cNvPr>
          <p:cNvSpPr>
            <a:spLocks noGrp="1"/>
          </p:cNvSpPr>
          <p:nvPr>
            <p:ph type="sldNum" sz="quarter" idx="12"/>
          </p:nvPr>
        </p:nvSpPr>
        <p:spPr/>
        <p:txBody>
          <a:bodyPr/>
          <a:lstStyle/>
          <a:p>
            <a:fld id="{57D5DC26-60E4-8E43-A906-D21F61161A83}" type="slidenum">
              <a:rPr lang="en-US" smtClean="0"/>
              <a:t>‹#›</a:t>
            </a:fld>
            <a:endParaRPr lang="en-US"/>
          </a:p>
        </p:txBody>
      </p:sp>
    </p:spTree>
    <p:extLst>
      <p:ext uri="{BB962C8B-B14F-4D97-AF65-F5344CB8AC3E}">
        <p14:creationId xmlns:p14="http://schemas.microsoft.com/office/powerpoint/2010/main" val="320060972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9B2A5-8463-0E45-B968-09BB46EEE821}"/>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6192249-8B24-044B-B428-FDF53269423E}"/>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515850F-41D2-C244-BE67-588A22885AAA}"/>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0A0BA6-7607-1841-ADE7-A7EE8626370B}"/>
              </a:ext>
            </a:extLst>
          </p:cNvPr>
          <p:cNvSpPr>
            <a:spLocks noGrp="1"/>
          </p:cNvSpPr>
          <p:nvPr>
            <p:ph type="dt" sz="half" idx="10"/>
          </p:nvPr>
        </p:nvSpPr>
        <p:spPr/>
        <p:txBody>
          <a:bodyPr/>
          <a:lstStyle/>
          <a:p>
            <a:fld id="{9B2151BF-94DA-6647-804B-F9A617163AF7}" type="datetime1">
              <a:rPr lang="en-US" smtClean="0"/>
              <a:t>9/24/2023</a:t>
            </a:fld>
            <a:endParaRPr lang="en-US"/>
          </a:p>
        </p:txBody>
      </p:sp>
      <p:sp>
        <p:nvSpPr>
          <p:cNvPr id="6" name="Footer Placeholder 5">
            <a:extLst>
              <a:ext uri="{FF2B5EF4-FFF2-40B4-BE49-F238E27FC236}">
                <a16:creationId xmlns:a16="http://schemas.microsoft.com/office/drawing/2014/main" id="{DFE0F34D-E7B8-8F4E-B279-A9B4F79966B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2003CD8-B992-1746-AD26-32A76C362112}"/>
              </a:ext>
            </a:extLst>
          </p:cNvPr>
          <p:cNvSpPr>
            <a:spLocks noGrp="1"/>
          </p:cNvSpPr>
          <p:nvPr>
            <p:ph type="sldNum" sz="quarter" idx="12"/>
          </p:nvPr>
        </p:nvSpPr>
        <p:spPr/>
        <p:txBody>
          <a:bodyPr/>
          <a:lstStyle/>
          <a:p>
            <a:fld id="{57D5DC26-60E4-8E43-A906-D21F61161A83}" type="slidenum">
              <a:rPr lang="en-US" smtClean="0"/>
              <a:t>‹#›</a:t>
            </a:fld>
            <a:endParaRPr lang="en-US"/>
          </a:p>
        </p:txBody>
      </p:sp>
    </p:spTree>
    <p:extLst>
      <p:ext uri="{BB962C8B-B14F-4D97-AF65-F5344CB8AC3E}">
        <p14:creationId xmlns:p14="http://schemas.microsoft.com/office/powerpoint/2010/main" val="116408671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28A51-10EF-1E4E-B3AE-97D9690F5256}"/>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E7A29CC-C524-664A-B04C-24A0F0002BDD}"/>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B577383-80F2-974A-95B0-54EE043F0E6D}"/>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834A7CE-0B2C-F846-AE0D-E9A65F195F76}"/>
              </a:ext>
            </a:extLst>
          </p:cNvPr>
          <p:cNvSpPr>
            <a:spLocks noGrp="1"/>
          </p:cNvSpPr>
          <p:nvPr>
            <p:ph type="dt" sz="half" idx="10"/>
          </p:nvPr>
        </p:nvSpPr>
        <p:spPr/>
        <p:txBody>
          <a:bodyPr/>
          <a:lstStyle/>
          <a:p>
            <a:fld id="{F415CF65-8B95-E947-B306-AD8B9AFCD0C6}" type="datetime1">
              <a:rPr lang="en-US" smtClean="0"/>
              <a:t>9/24/2023</a:t>
            </a:fld>
            <a:endParaRPr lang="en-US"/>
          </a:p>
        </p:txBody>
      </p:sp>
      <p:sp>
        <p:nvSpPr>
          <p:cNvPr id="6" name="Footer Placeholder 5">
            <a:extLst>
              <a:ext uri="{FF2B5EF4-FFF2-40B4-BE49-F238E27FC236}">
                <a16:creationId xmlns:a16="http://schemas.microsoft.com/office/drawing/2014/main" id="{CE700DF7-CAE7-4544-99A8-D2AFF7BCDE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AF912A-35AA-5340-A6DD-8CF8567AE1D6}"/>
              </a:ext>
            </a:extLst>
          </p:cNvPr>
          <p:cNvSpPr>
            <a:spLocks noGrp="1"/>
          </p:cNvSpPr>
          <p:nvPr>
            <p:ph type="sldNum" sz="quarter" idx="12"/>
          </p:nvPr>
        </p:nvSpPr>
        <p:spPr/>
        <p:txBody>
          <a:bodyPr/>
          <a:lstStyle/>
          <a:p>
            <a:fld id="{57D5DC26-60E4-8E43-A906-D21F61161A83}" type="slidenum">
              <a:rPr lang="en-US" smtClean="0"/>
              <a:t>‹#›</a:t>
            </a:fld>
            <a:endParaRPr lang="en-US"/>
          </a:p>
        </p:txBody>
      </p:sp>
    </p:spTree>
    <p:extLst>
      <p:ext uri="{BB962C8B-B14F-4D97-AF65-F5344CB8AC3E}">
        <p14:creationId xmlns:p14="http://schemas.microsoft.com/office/powerpoint/2010/main" val="85200320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B558E-261E-0D48-AAEC-0159545C57C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0D54A8B-8EB9-5C42-9CFC-A1CD5690D0D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8FD7EA-1D89-9B45-8E3B-F3D971FCC324}"/>
              </a:ext>
            </a:extLst>
          </p:cNvPr>
          <p:cNvSpPr>
            <a:spLocks noGrp="1"/>
          </p:cNvSpPr>
          <p:nvPr>
            <p:ph type="dt" sz="half" idx="10"/>
          </p:nvPr>
        </p:nvSpPr>
        <p:spPr/>
        <p:txBody>
          <a:bodyPr/>
          <a:lstStyle/>
          <a:p>
            <a:fld id="{45E326F1-4A6C-904D-BBF5-55A97190C62E}" type="datetime1">
              <a:rPr lang="en-US" smtClean="0"/>
              <a:t>9/24/2023</a:t>
            </a:fld>
            <a:endParaRPr lang="en-US"/>
          </a:p>
        </p:txBody>
      </p:sp>
      <p:sp>
        <p:nvSpPr>
          <p:cNvPr id="5" name="Footer Placeholder 4">
            <a:extLst>
              <a:ext uri="{FF2B5EF4-FFF2-40B4-BE49-F238E27FC236}">
                <a16:creationId xmlns:a16="http://schemas.microsoft.com/office/drawing/2014/main" id="{6702F157-B4BF-0D4E-B227-367844B9FF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EC4DCA-8C92-2F4C-A77F-2E1AE3CFFFD2}"/>
              </a:ext>
            </a:extLst>
          </p:cNvPr>
          <p:cNvSpPr>
            <a:spLocks noGrp="1"/>
          </p:cNvSpPr>
          <p:nvPr>
            <p:ph type="sldNum" sz="quarter" idx="12"/>
          </p:nvPr>
        </p:nvSpPr>
        <p:spPr/>
        <p:txBody>
          <a:bodyPr/>
          <a:lstStyle/>
          <a:p>
            <a:fld id="{57D5DC26-60E4-8E43-A906-D21F61161A83}" type="slidenum">
              <a:rPr lang="en-US" smtClean="0"/>
              <a:t>‹#›</a:t>
            </a:fld>
            <a:endParaRPr lang="en-US"/>
          </a:p>
        </p:txBody>
      </p:sp>
    </p:spTree>
    <p:extLst>
      <p:ext uri="{BB962C8B-B14F-4D97-AF65-F5344CB8AC3E}">
        <p14:creationId xmlns:p14="http://schemas.microsoft.com/office/powerpoint/2010/main" val="369436322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6138E10-25D9-0841-B84C-B3D5BD26BEDC}"/>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3176578-CBA7-4146-881E-E79B341102C1}"/>
              </a:ext>
            </a:extLst>
          </p:cNvPr>
          <p:cNvSpPr>
            <a:spLocks noGrp="1"/>
          </p:cNvSpPr>
          <p:nvPr>
            <p:ph type="body" orient="vert" idx="1"/>
          </p:nvPr>
        </p:nvSpPr>
        <p:spPr>
          <a:xfrm>
            <a:off x="628650" y="365125"/>
            <a:ext cx="57626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64126B-1DBB-F445-849E-8DB3041D5DDF}"/>
              </a:ext>
            </a:extLst>
          </p:cNvPr>
          <p:cNvSpPr>
            <a:spLocks noGrp="1"/>
          </p:cNvSpPr>
          <p:nvPr>
            <p:ph type="dt" sz="half" idx="10"/>
          </p:nvPr>
        </p:nvSpPr>
        <p:spPr/>
        <p:txBody>
          <a:bodyPr/>
          <a:lstStyle/>
          <a:p>
            <a:fld id="{5D62DA29-4527-5B4B-81DE-1DA58A1FF0D8}" type="datetime1">
              <a:rPr lang="en-US" smtClean="0"/>
              <a:t>9/24/2023</a:t>
            </a:fld>
            <a:endParaRPr lang="en-US"/>
          </a:p>
        </p:txBody>
      </p:sp>
      <p:sp>
        <p:nvSpPr>
          <p:cNvPr id="5" name="Footer Placeholder 4">
            <a:extLst>
              <a:ext uri="{FF2B5EF4-FFF2-40B4-BE49-F238E27FC236}">
                <a16:creationId xmlns:a16="http://schemas.microsoft.com/office/drawing/2014/main" id="{9330BA6C-D326-CC45-B516-B35C216BCD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A96C6D-88A9-424F-B97B-5F788E3BD38B}"/>
              </a:ext>
            </a:extLst>
          </p:cNvPr>
          <p:cNvSpPr>
            <a:spLocks noGrp="1"/>
          </p:cNvSpPr>
          <p:nvPr>
            <p:ph type="sldNum" sz="quarter" idx="12"/>
          </p:nvPr>
        </p:nvSpPr>
        <p:spPr/>
        <p:txBody>
          <a:bodyPr/>
          <a:lstStyle/>
          <a:p>
            <a:fld id="{57D5DC26-60E4-8E43-A906-D21F61161A83}" type="slidenum">
              <a:rPr lang="en-US" smtClean="0"/>
              <a:t>‹#›</a:t>
            </a:fld>
            <a:endParaRPr lang="en-US"/>
          </a:p>
        </p:txBody>
      </p:sp>
    </p:spTree>
    <p:extLst>
      <p:ext uri="{BB962C8B-B14F-4D97-AF65-F5344CB8AC3E}">
        <p14:creationId xmlns:p14="http://schemas.microsoft.com/office/powerpoint/2010/main" val="9429434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9.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theme" Target="../theme/theme2.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6646272"/>
            <a:ext cx="9144001" cy="220605"/>
          </a:xfrm>
          <a:prstGeom prst="rect">
            <a:avLst/>
          </a:prstGeom>
          <a:solidFill>
            <a:srgbClr val="0A4B67"/>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0" y="6604458"/>
            <a:ext cx="9144001" cy="45719"/>
          </a:xfrm>
          <a:prstGeom prst="rect">
            <a:avLst/>
          </a:prstGeom>
          <a:solidFill>
            <a:srgbClr val="84CDEA"/>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46304" y="115826"/>
            <a:ext cx="8851392" cy="129234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46305" y="1441107"/>
            <a:ext cx="8851392" cy="5130263"/>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22961" y="6646272"/>
            <a:ext cx="1854203" cy="187517"/>
          </a:xfrm>
          <a:prstGeom prst="rect">
            <a:avLst/>
          </a:prstGeom>
        </p:spPr>
        <p:txBody>
          <a:bodyPr vert="horz" lIns="91440" tIns="45720" rIns="91440" bIns="45720" rtlCol="0" anchor="ctr"/>
          <a:lstStyle>
            <a:lvl1pPr algn="l">
              <a:defRPr sz="900">
                <a:solidFill>
                  <a:srgbClr val="FFFFFF"/>
                </a:solidFill>
              </a:defRPr>
            </a:lvl1pPr>
          </a:lstStyle>
          <a:p>
            <a:fld id="{5446D974-CBC7-EE4D-B60D-B7706E54EFC8}" type="datetime1">
              <a:rPr lang="en-US" smtClean="0"/>
              <a:t>9/24/2023</a:t>
            </a:fld>
            <a:endParaRPr lang="en-US"/>
          </a:p>
        </p:txBody>
      </p:sp>
      <p:sp>
        <p:nvSpPr>
          <p:cNvPr id="5" name="Footer Placeholder 4"/>
          <p:cNvSpPr>
            <a:spLocks noGrp="1"/>
          </p:cNvSpPr>
          <p:nvPr>
            <p:ph type="ftr" sz="quarter" idx="3"/>
          </p:nvPr>
        </p:nvSpPr>
        <p:spPr>
          <a:xfrm>
            <a:off x="2764639" y="6646272"/>
            <a:ext cx="3617103" cy="187517"/>
          </a:xfrm>
          <a:prstGeom prst="rect">
            <a:avLst/>
          </a:prstGeom>
        </p:spPr>
        <p:txBody>
          <a:bodyPr vert="horz" lIns="91440" tIns="45720" rIns="91440" bIns="45720" rtlCol="0" anchor="ctr"/>
          <a:lstStyle>
            <a:lvl1pPr algn="ctr">
              <a:defRPr sz="800" cap="none" baseline="0">
                <a:solidFill>
                  <a:srgbClr val="FFFFFF"/>
                </a:solidFill>
              </a:defRPr>
            </a:lvl1pPr>
          </a:lstStyle>
          <a:p>
            <a:endParaRPr lang="en-US"/>
          </a:p>
        </p:txBody>
      </p:sp>
      <p:sp>
        <p:nvSpPr>
          <p:cNvPr id="6" name="Slide Number Placeholder 5"/>
          <p:cNvSpPr>
            <a:spLocks noGrp="1"/>
          </p:cNvSpPr>
          <p:nvPr>
            <p:ph type="sldNum" sz="quarter" idx="4"/>
          </p:nvPr>
        </p:nvSpPr>
        <p:spPr>
          <a:xfrm>
            <a:off x="7425344" y="6646272"/>
            <a:ext cx="984019" cy="187517"/>
          </a:xfrm>
          <a:prstGeom prst="rect">
            <a:avLst/>
          </a:prstGeom>
        </p:spPr>
        <p:txBody>
          <a:bodyPr vert="horz" lIns="91440" tIns="45720" rIns="91440" bIns="45720" rtlCol="0" anchor="ctr"/>
          <a:lstStyle>
            <a:lvl1pPr algn="r">
              <a:defRPr sz="1050" b="1">
                <a:solidFill>
                  <a:schemeClr val="bg1"/>
                </a:solidFill>
              </a:defRPr>
            </a:lvl1pPr>
          </a:lstStyle>
          <a:p>
            <a:fld id="{9C8A9BBF-D171-497A-B4A2-0767A13C4597}" type="slidenum">
              <a:rPr lang="en-US" smtClean="0"/>
              <a:pPr/>
              <a:t>‹#›</a:t>
            </a:fld>
            <a:endParaRPr lang="en-US"/>
          </a:p>
        </p:txBody>
      </p:sp>
    </p:spTree>
    <p:extLst>
      <p:ext uri="{BB962C8B-B14F-4D97-AF65-F5344CB8AC3E}">
        <p14:creationId xmlns:p14="http://schemas.microsoft.com/office/powerpoint/2010/main" val="1568099172"/>
      </p:ext>
    </p:extLst>
  </p:cSld>
  <p:clrMap bg1="lt1" tx1="dk1" bg2="lt2" tx2="dk2" accent1="accent1" accent2="accent2" accent3="accent3" accent4="accent4" accent5="accent5" accent6="accent6" hlink="hlink" folHlink="folHlink"/>
  <p:sldLayoutIdLst>
    <p:sldLayoutId id="2147483736" r:id="rId1"/>
    <p:sldLayoutId id="2147483737" r:id="rId2"/>
    <p:sldLayoutId id="2147483738" r:id="rId3"/>
    <p:sldLayoutId id="2147483739" r:id="rId4"/>
    <p:sldLayoutId id="2147483740" r:id="rId5"/>
    <p:sldLayoutId id="2147483741" r:id="rId6"/>
    <p:sldLayoutId id="2147483742" r:id="rId7"/>
    <p:sldLayoutId id="2147483743" r:id="rId8"/>
    <p:sldLayoutId id="2147483744" r:id="rId9"/>
    <p:sldLayoutId id="2147483745" r:id="rId10"/>
    <p:sldLayoutId id="2147483746" r:id="rId11"/>
    <p:sldLayoutId id="2147483747" r:id="rId12"/>
    <p:sldLayoutId id="2147483748" r:id="rId13"/>
    <p:sldLayoutId id="2147483750" r:id="rId14"/>
    <p:sldLayoutId id="2147483751" r:id="rId15"/>
    <p:sldLayoutId id="2147483752" r:id="rId16"/>
    <p:sldLayoutId id="2147483753" r:id="rId17"/>
    <p:sldLayoutId id="2147483754" r:id="rId18"/>
    <p:sldLayoutId id="2147483755" r:id="rId19"/>
    <p:sldLayoutId id="2147483756" r:id="rId20"/>
    <p:sldLayoutId id="2147483689" r:id="rId21"/>
  </p:sldLayoutIdLst>
  <p:hf hdr="0" ftr="0" dt="0"/>
  <p:txStyles>
    <p:titleStyle>
      <a:lvl1pPr algn="ctr" defTabSz="914400" rtl="0" eaLnBrk="1" latinLnBrk="0" hangingPunct="1">
        <a:lnSpc>
          <a:spcPct val="85000"/>
        </a:lnSpc>
        <a:spcBef>
          <a:spcPct val="0"/>
        </a:spcBef>
        <a:buNone/>
        <a:defRPr sz="4400" b="0" kern="1200" spc="-50" baseline="0">
          <a:solidFill>
            <a:schemeClr val="tx2"/>
          </a:solidFill>
          <a:latin typeface="+mj-lt"/>
          <a:ea typeface="+mj-ea"/>
          <a:cs typeface="+mj-cs"/>
        </a:defRPr>
      </a:lvl1pPr>
    </p:titleStyle>
    <p:bodyStyle>
      <a:lvl1pPr marL="365760" indent="-274320" algn="justLow"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800" kern="1200">
          <a:solidFill>
            <a:schemeClr val="tx1">
              <a:lumMod val="75000"/>
              <a:lumOff val="25000"/>
            </a:schemeClr>
          </a:solidFill>
          <a:latin typeface="+mn-lt"/>
          <a:ea typeface="+mn-ea"/>
          <a:cs typeface="+mn-cs"/>
        </a:defRPr>
      </a:lvl1pPr>
      <a:lvl2pPr marL="548640" indent="-274320" algn="justLow" defTabSz="914400" rtl="0" eaLnBrk="1" latinLnBrk="0" hangingPunct="1">
        <a:lnSpc>
          <a:spcPct val="90000"/>
        </a:lnSpc>
        <a:spcBef>
          <a:spcPts val="200"/>
        </a:spcBef>
        <a:spcAft>
          <a:spcPts val="400"/>
        </a:spcAft>
        <a:buClr>
          <a:schemeClr val="accent1"/>
        </a:buClr>
        <a:buFont typeface="Calibri" pitchFamily="34" charset="0"/>
        <a:buChar char="◦"/>
        <a:defRPr sz="2400" kern="1200">
          <a:solidFill>
            <a:schemeClr val="tx1">
              <a:lumMod val="75000"/>
              <a:lumOff val="25000"/>
            </a:schemeClr>
          </a:solidFill>
          <a:latin typeface="+mn-lt"/>
          <a:ea typeface="+mn-ea"/>
          <a:cs typeface="+mn-cs"/>
        </a:defRPr>
      </a:lvl2pPr>
      <a:lvl3pPr marL="731520" indent="-274320" algn="justLow"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3pPr>
      <a:lvl4pPr marL="914400" indent="-27432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4pPr>
      <a:lvl5pPr marL="1097280" indent="-27432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6F2B942-B92A-2E45-8EC0-57867F6F01EB}"/>
              </a:ext>
            </a:extLst>
          </p:cNvPr>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A3A5CF6-438F-FE41-AE0D-B759171B0C61}"/>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ADD81B-544C-D244-83E4-4E486AE7EECA}"/>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1589413-073D-8B47-B309-030A36FC1175}" type="datetime1">
              <a:rPr lang="en-US" smtClean="0"/>
              <a:t>9/24/2023</a:t>
            </a:fld>
            <a:endParaRPr lang="en-US"/>
          </a:p>
        </p:txBody>
      </p:sp>
      <p:sp>
        <p:nvSpPr>
          <p:cNvPr id="5" name="Footer Placeholder 4">
            <a:extLst>
              <a:ext uri="{FF2B5EF4-FFF2-40B4-BE49-F238E27FC236}">
                <a16:creationId xmlns:a16="http://schemas.microsoft.com/office/drawing/2014/main" id="{10E8B353-9F5D-7C4C-9D19-B7C6D6F6A2A8}"/>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22C5F08-BBA1-684A-BFC9-EF43E5A8A4B9}"/>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7D5DC26-60E4-8E43-A906-D21F61161A83}" type="slidenum">
              <a:rPr lang="en-US" smtClean="0"/>
              <a:t>‹#›</a:t>
            </a:fld>
            <a:endParaRPr lang="en-US"/>
          </a:p>
        </p:txBody>
      </p:sp>
    </p:spTree>
    <p:extLst>
      <p:ext uri="{BB962C8B-B14F-4D97-AF65-F5344CB8AC3E}">
        <p14:creationId xmlns:p14="http://schemas.microsoft.com/office/powerpoint/2010/main" val="2407271112"/>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5.xml"/><Relationship Id="rId4" Type="http://schemas.openxmlformats.org/officeDocument/2006/relationships/image" Target="../media/image13.jpeg"/></Relationships>
</file>

<file path=ppt/slides/_rels/slide1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5F092033-53A0-4557-BC8C-EDF7C4004F50}"/>
              </a:ext>
            </a:extLst>
          </p:cNvPr>
          <p:cNvSpPr>
            <a:spLocks noGrp="1" noChangeArrowheads="1"/>
          </p:cNvSpPr>
          <p:nvPr>
            <p:ph type="ctrTitle"/>
          </p:nvPr>
        </p:nvSpPr>
        <p:spPr/>
        <p:txBody>
          <a:bodyPr>
            <a:normAutofit/>
          </a:bodyPr>
          <a:lstStyle/>
          <a:p>
            <a:r>
              <a:rPr lang="en-US" altLang="en-US" b="1" dirty="0">
                <a:solidFill>
                  <a:schemeClr val="tx1"/>
                </a:solidFill>
              </a:rPr>
              <a:t>Chapter  2.7</a:t>
            </a:r>
            <a:br>
              <a:rPr lang="en-US" altLang="en-US" b="1">
                <a:solidFill>
                  <a:schemeClr val="tx1"/>
                </a:solidFill>
                <a:cs typeface="Calibri Light"/>
              </a:rPr>
            </a:br>
            <a:r>
              <a:rPr lang="en-US" altLang="en-US" b="1">
                <a:solidFill>
                  <a:schemeClr val="tx1"/>
                </a:solidFill>
              </a:rPr>
              <a:t>Creating High-Quality Code</a:t>
            </a:r>
            <a:endParaRPr lang="en-US" altLang="en-US" dirty="0">
              <a:solidFill>
                <a:schemeClr val="tx1"/>
              </a:solidFill>
            </a:endParaRPr>
          </a:p>
        </p:txBody>
      </p:sp>
      <p:sp>
        <p:nvSpPr>
          <p:cNvPr id="4099" name="Subtitle 3">
            <a:extLst>
              <a:ext uri="{FF2B5EF4-FFF2-40B4-BE49-F238E27FC236}">
                <a16:creationId xmlns:a16="http://schemas.microsoft.com/office/drawing/2014/main" id="{B6B8808F-B611-4A7E-94DA-CDF020C7794F}"/>
              </a:ext>
            </a:extLst>
          </p:cNvPr>
          <p:cNvSpPr>
            <a:spLocks noGrp="1" noChangeArrowheads="1"/>
          </p:cNvSpPr>
          <p:nvPr>
            <p:ph type="subTitle" idx="1"/>
          </p:nvPr>
        </p:nvSpPr>
        <p:spPr/>
        <p:txBody>
          <a:bodyPr/>
          <a:lstStyle/>
          <a:p>
            <a:r>
              <a:rPr lang="en-US" altLang="en-US" b="1" dirty="0">
                <a:solidFill>
                  <a:srgbClr val="6E96A2"/>
                </a:solidFill>
              </a:rPr>
              <a:t>CCSW 325 (Software Construction)</a:t>
            </a:r>
          </a:p>
        </p:txBody>
      </p:sp>
      <p:sp>
        <p:nvSpPr>
          <p:cNvPr id="4101" name="Rectangle 6">
            <a:extLst>
              <a:ext uri="{FF2B5EF4-FFF2-40B4-BE49-F238E27FC236}">
                <a16:creationId xmlns:a16="http://schemas.microsoft.com/office/drawing/2014/main" id="{AEE57C53-6C77-4FD6-9666-64A46DD2907C}"/>
              </a:ext>
            </a:extLst>
          </p:cNvPr>
          <p:cNvSpPr>
            <a:spLocks noChangeArrowheads="1"/>
          </p:cNvSpPr>
          <p:nvPr/>
        </p:nvSpPr>
        <p:spPr bwMode="auto">
          <a:xfrm>
            <a:off x="3052763" y="2057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102" name="Rectangle 1029">
            <a:extLst>
              <a:ext uri="{FF2B5EF4-FFF2-40B4-BE49-F238E27FC236}">
                <a16:creationId xmlns:a16="http://schemas.microsoft.com/office/drawing/2014/main" id="{94F01EDA-3993-4F5B-8338-A155D71634A5}"/>
              </a:ext>
            </a:extLst>
          </p:cNvPr>
          <p:cNvSpPr>
            <a:spLocks noChangeArrowheads="1"/>
          </p:cNvSpPr>
          <p:nvPr/>
        </p:nvSpPr>
        <p:spPr bwMode="auto">
          <a:xfrm>
            <a:off x="0" y="2405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103" name="Rectangle 1031">
            <a:extLst>
              <a:ext uri="{FF2B5EF4-FFF2-40B4-BE49-F238E27FC236}">
                <a16:creationId xmlns:a16="http://schemas.microsoft.com/office/drawing/2014/main" id="{D4B57B18-3F97-4D1E-AA13-041A7DDAEFC6}"/>
              </a:ext>
            </a:extLst>
          </p:cNvPr>
          <p:cNvSpPr>
            <a:spLocks noChangeArrowheads="1"/>
          </p:cNvSpPr>
          <p:nvPr/>
        </p:nvSpPr>
        <p:spPr bwMode="auto">
          <a:xfrm>
            <a:off x="0" y="22637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 name="Slide Number Placeholder 2">
            <a:extLst>
              <a:ext uri="{FF2B5EF4-FFF2-40B4-BE49-F238E27FC236}">
                <a16:creationId xmlns:a16="http://schemas.microsoft.com/office/drawing/2014/main" id="{089F2176-6175-6A4D-84ED-59A2EE053491}"/>
              </a:ext>
            </a:extLst>
          </p:cNvPr>
          <p:cNvSpPr>
            <a:spLocks noGrp="1"/>
          </p:cNvSpPr>
          <p:nvPr>
            <p:ph type="sldNum" sz="quarter" idx="12"/>
          </p:nvPr>
        </p:nvSpPr>
        <p:spPr/>
        <p:txBody>
          <a:bodyPr/>
          <a:lstStyle/>
          <a:p>
            <a:fld id="{9C8A9BBF-D171-497A-B4A2-0767A13C4597}" type="slidenum">
              <a:rPr lang="en-US" smtClean="0"/>
              <a:p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40" y="-10590"/>
            <a:ext cx="9169639" cy="817280"/>
          </a:xfrm>
          <a:solidFill>
            <a:schemeClr val="accent6">
              <a:lumMod val="40000"/>
              <a:lumOff val="60000"/>
            </a:schemeClr>
          </a:solidFill>
        </p:spPr>
        <p:txBody>
          <a:bodyPr anchor="ctr">
            <a:normAutofit/>
          </a:bodyPr>
          <a:lstStyle/>
          <a:p>
            <a:pPr marL="12700">
              <a:spcBef>
                <a:spcPts val="100"/>
              </a:spcBef>
              <a:defRPr/>
            </a:pPr>
            <a:r>
              <a:rPr lang="en-US" sz="4400" b="1" dirty="0">
                <a:solidFill>
                  <a:schemeClr val="tx1"/>
                </a:solidFill>
                <a:latin typeface="+mn-lt"/>
              </a:rPr>
              <a:t>Outline</a:t>
            </a:r>
            <a:endParaRPr lang="en-US" sz="4400" b="1" dirty="0">
              <a:solidFill>
                <a:schemeClr val="tx1"/>
              </a:solidFill>
              <a:latin typeface="+mn-lt"/>
              <a:ea typeface="+mj-ea"/>
              <a:cs typeface="+mj-cs"/>
            </a:endParaRPr>
          </a:p>
        </p:txBody>
      </p:sp>
      <p:sp>
        <p:nvSpPr>
          <p:cNvPr id="9219" name="Content Placeholder 6"/>
          <p:cNvSpPr>
            <a:spLocks noGrp="1"/>
          </p:cNvSpPr>
          <p:nvPr>
            <p:ph sz="half" idx="1"/>
          </p:nvPr>
        </p:nvSpPr>
        <p:spPr>
          <a:xfrm>
            <a:off x="400547" y="1597255"/>
            <a:ext cx="7889837" cy="4454055"/>
          </a:xfrm>
        </p:spPr>
        <p:txBody>
          <a:bodyPr vert="horz" lIns="0" tIns="45720" rIns="0" bIns="45720" rtlCol="0" anchor="t">
            <a:normAutofit/>
          </a:bodyPr>
          <a:lstStyle/>
          <a:p>
            <a:endParaRPr lang="en-US" sz="2400" dirty="0">
              <a:solidFill>
                <a:srgbClr val="84CDEA"/>
              </a:solidFill>
              <a:cs typeface="Calibri"/>
            </a:endParaRPr>
          </a:p>
          <a:p>
            <a:pPr lvl="1">
              <a:buClr>
                <a:srgbClr val="99CB38"/>
              </a:buClr>
            </a:pPr>
            <a:endParaRPr lang="en-US" sz="2000" dirty="0">
              <a:solidFill>
                <a:srgbClr val="404040"/>
              </a:solidFill>
              <a:cs typeface="Calibri"/>
            </a:endParaRPr>
          </a:p>
          <a:p>
            <a:pPr lvl="1">
              <a:buClr>
                <a:srgbClr val="99CB38"/>
              </a:buClr>
            </a:pPr>
            <a:endParaRPr lang="en-US" sz="2000" dirty="0">
              <a:solidFill>
                <a:srgbClr val="404040"/>
              </a:solidFill>
              <a:cs typeface="Calibri"/>
            </a:endParaRPr>
          </a:p>
          <a:p>
            <a:pPr marL="91440" indent="0">
              <a:buNone/>
            </a:pPr>
            <a:endParaRPr lang="en-US" sz="2400" dirty="0">
              <a:solidFill>
                <a:srgbClr val="84CDEA"/>
              </a:solidFill>
              <a:cs typeface="Calibri"/>
            </a:endParaRPr>
          </a:p>
          <a:p>
            <a:pPr marL="91440" indent="0">
              <a:buNone/>
            </a:pPr>
            <a:endParaRPr lang="en-US" sz="2400" dirty="0">
              <a:cs typeface="Calibri"/>
            </a:endParaRPr>
          </a:p>
          <a:p>
            <a:endParaRPr lang="en-US" sz="2400" dirty="0">
              <a:cs typeface="Calibri"/>
            </a:endParaRPr>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2</a:t>
            </a:fld>
            <a:endParaRPr lang="en-US" sz="700"/>
          </a:p>
        </p:txBody>
      </p:sp>
      <p:sp>
        <p:nvSpPr>
          <p:cNvPr id="2" name="Content Placeholder 3">
            <a:extLst>
              <a:ext uri="{FF2B5EF4-FFF2-40B4-BE49-F238E27FC236}">
                <a16:creationId xmlns:a16="http://schemas.microsoft.com/office/drawing/2014/main" id="{882C841F-83CC-6554-A418-8F76BA16BB81}"/>
              </a:ext>
            </a:extLst>
          </p:cNvPr>
          <p:cNvSpPr txBox="1">
            <a:spLocks/>
          </p:cNvSpPr>
          <p:nvPr/>
        </p:nvSpPr>
        <p:spPr>
          <a:xfrm>
            <a:off x="400547" y="1234281"/>
            <a:ext cx="9615487" cy="4389437"/>
          </a:xfrm>
          <a:prstGeom prst="rect">
            <a:avLst/>
          </a:prstGeom>
        </p:spPr>
        <p:txBody>
          <a:bodyPr vert="horz" lIns="0" tIns="45720" rIns="0" bIns="45720" rtlCol="0">
            <a:normAutofit/>
          </a:bodyPr>
          <a:lstStyle>
            <a:lvl1pPr marL="365760" indent="-274320" algn="justLow" defTabSz="914400" rtl="0" eaLnBrk="1" latinLnBrk="0" hangingPunct="1">
              <a:lnSpc>
                <a:spcPct val="90000"/>
              </a:lnSpc>
              <a:spcBef>
                <a:spcPts val="1200"/>
              </a:spcBef>
              <a:spcAft>
                <a:spcPts val="200"/>
              </a:spcAft>
              <a:buClr>
                <a:srgbClr val="84CDEA"/>
              </a:buClr>
              <a:buSzPct val="100000"/>
              <a:buFont typeface="Arial" panose="020B0604020202020204" pitchFamily="34" charset="0"/>
              <a:buChar char="•"/>
              <a:defRPr sz="2800" kern="1200">
                <a:solidFill>
                  <a:schemeClr val="tx1">
                    <a:lumMod val="75000"/>
                    <a:lumOff val="25000"/>
                  </a:schemeClr>
                </a:solidFill>
                <a:latin typeface="+mn-lt"/>
                <a:ea typeface="+mn-ea"/>
                <a:cs typeface="+mn-cs"/>
              </a:defRPr>
            </a:lvl1pPr>
            <a:lvl2pPr marL="548640" indent="-274320" algn="justLow" defTabSz="914400" rtl="0" eaLnBrk="1" latinLnBrk="0" hangingPunct="1">
              <a:lnSpc>
                <a:spcPct val="90000"/>
              </a:lnSpc>
              <a:spcBef>
                <a:spcPts val="200"/>
              </a:spcBef>
              <a:spcAft>
                <a:spcPts val="400"/>
              </a:spcAft>
              <a:buClr>
                <a:schemeClr val="accent1"/>
              </a:buClr>
              <a:buFont typeface="Calibri" pitchFamily="34" charset="0"/>
              <a:buChar char="◦"/>
              <a:defRPr sz="2400" kern="1200">
                <a:solidFill>
                  <a:schemeClr val="tx1">
                    <a:lumMod val="75000"/>
                    <a:lumOff val="25000"/>
                  </a:schemeClr>
                </a:solidFill>
                <a:latin typeface="+mn-lt"/>
                <a:ea typeface="+mn-ea"/>
                <a:cs typeface="+mn-cs"/>
              </a:defRPr>
            </a:lvl2pPr>
            <a:lvl3pPr marL="731520" indent="-274320" algn="justLow"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3pPr>
            <a:lvl4pPr marL="914400" indent="-27432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4pPr>
            <a:lvl5pPr marL="1097280" indent="-27432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dirty="0"/>
              <a:t>High Quality Routines (Part 1 of 3)</a:t>
            </a:r>
          </a:p>
          <a:p>
            <a:pPr lvl="1">
              <a:buClr>
                <a:srgbClr val="0070C0"/>
              </a:buClr>
            </a:pPr>
            <a:r>
              <a:rPr lang="en-US" dirty="0"/>
              <a:t>What is routine?</a:t>
            </a:r>
          </a:p>
          <a:p>
            <a:pPr lvl="1">
              <a:buClr>
                <a:srgbClr val="0070C0"/>
              </a:buClr>
            </a:pPr>
            <a:r>
              <a:rPr lang="en-US" dirty="0"/>
              <a:t>Valid reasons to create a routine</a:t>
            </a:r>
          </a:p>
          <a:p>
            <a:pPr lvl="1">
              <a:buClr>
                <a:srgbClr val="0070C0"/>
              </a:buClr>
            </a:pPr>
            <a:r>
              <a:rPr lang="en-US" dirty="0"/>
              <a:t>Operations that seem too simple to put into routines</a:t>
            </a:r>
          </a:p>
        </p:txBody>
      </p:sp>
    </p:spTree>
    <p:extLst>
      <p:ext uri="{BB962C8B-B14F-4D97-AF65-F5344CB8AC3E}">
        <p14:creationId xmlns:p14="http://schemas.microsoft.com/office/powerpoint/2010/main" val="37851036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40" y="-10590"/>
            <a:ext cx="9169639" cy="817280"/>
          </a:xfrm>
          <a:solidFill>
            <a:schemeClr val="accent6">
              <a:lumMod val="40000"/>
              <a:lumOff val="60000"/>
            </a:schemeClr>
          </a:solidFill>
        </p:spPr>
        <p:txBody>
          <a:bodyPr anchor="ctr">
            <a:normAutofit/>
          </a:bodyPr>
          <a:lstStyle/>
          <a:p>
            <a:pPr marL="12700">
              <a:spcBef>
                <a:spcPts val="100"/>
              </a:spcBef>
              <a:defRPr/>
            </a:pPr>
            <a:r>
              <a:rPr lang="en-US" sz="4400" b="1" dirty="0">
                <a:solidFill>
                  <a:schemeClr val="tx1"/>
                </a:solidFill>
                <a:latin typeface="+mn-lt"/>
                <a:ea typeface="+mj-ea"/>
                <a:cs typeface="+mj-cs"/>
              </a:rPr>
              <a:t>What is a Routine?</a:t>
            </a:r>
          </a:p>
        </p:txBody>
      </p:sp>
      <p:sp>
        <p:nvSpPr>
          <p:cNvPr id="12" name="object 3">
            <a:extLst>
              <a:ext uri="{FF2B5EF4-FFF2-40B4-BE49-F238E27FC236}">
                <a16:creationId xmlns:a16="http://schemas.microsoft.com/office/drawing/2014/main" id="{01319BEB-7E4B-5880-CD85-2DA442AD933B}"/>
              </a:ext>
            </a:extLst>
          </p:cNvPr>
          <p:cNvSpPr txBox="1">
            <a:spLocks noChangeArrowheads="1"/>
          </p:cNvSpPr>
          <p:nvPr/>
        </p:nvSpPr>
        <p:spPr bwMode="auto">
          <a:xfrm>
            <a:off x="365964" y="2216989"/>
            <a:ext cx="8177213" cy="2625078"/>
          </a:xfrm>
          <a:prstGeom prst="rect">
            <a:avLst/>
          </a:prstGeom>
          <a:noFill/>
          <a:ln w="9525">
            <a:noFill/>
            <a:miter lim="800000"/>
            <a:headEnd/>
            <a:tailEnd/>
          </a:ln>
        </p:spPr>
        <p:txBody>
          <a:bodyPr lIns="0" tIns="13970" rIns="0" bIns="0">
            <a:spAutoFit/>
          </a:bodyPr>
          <a:lstStyle/>
          <a:p>
            <a:pPr marL="12700" algn="ctr">
              <a:spcBef>
                <a:spcPts val="113"/>
              </a:spcBef>
            </a:pPr>
            <a:r>
              <a:rPr lang="en-US" sz="2800" dirty="0">
                <a:latin typeface="Carlito"/>
                <a:ea typeface="Carlito"/>
                <a:cs typeface="Carlito"/>
              </a:rPr>
              <a:t>A </a:t>
            </a:r>
            <a:r>
              <a:rPr lang="en-US" sz="2800" b="1" dirty="0">
                <a:latin typeface="Carlito"/>
                <a:ea typeface="Carlito"/>
                <a:cs typeface="Carlito"/>
              </a:rPr>
              <a:t>routine </a:t>
            </a:r>
            <a:r>
              <a:rPr lang="en-US" sz="2800" dirty="0">
                <a:latin typeface="Carlito"/>
                <a:ea typeface="Carlito"/>
                <a:cs typeface="Carlito"/>
              </a:rPr>
              <a:t>is an individual method or procedure </a:t>
            </a:r>
            <a:r>
              <a:rPr lang="en-US" sz="2800" dirty="0" err="1">
                <a:latin typeface="Carlito"/>
                <a:ea typeface="Carlito"/>
                <a:cs typeface="Carlito"/>
              </a:rPr>
              <a:t>invocable</a:t>
            </a:r>
            <a:r>
              <a:rPr lang="en-US" sz="2800" dirty="0">
                <a:latin typeface="Carlito"/>
                <a:ea typeface="Carlito"/>
                <a:cs typeface="Carlito"/>
              </a:rPr>
              <a:t> for a single purpose. </a:t>
            </a:r>
          </a:p>
          <a:p>
            <a:pPr marL="12700" algn="ctr">
              <a:spcBef>
                <a:spcPts val="113"/>
              </a:spcBef>
            </a:pPr>
            <a:endParaRPr lang="en-US" sz="2800" dirty="0">
              <a:latin typeface="Carlito"/>
              <a:ea typeface="Carlito"/>
              <a:cs typeface="Carlito"/>
            </a:endParaRPr>
          </a:p>
          <a:p>
            <a:pPr marL="12700" algn="ctr">
              <a:spcBef>
                <a:spcPts val="113"/>
              </a:spcBef>
            </a:pPr>
            <a:r>
              <a:rPr lang="en-US" sz="2800" dirty="0">
                <a:latin typeface="Carlito"/>
                <a:ea typeface="Carlito"/>
                <a:cs typeface="Carlito"/>
              </a:rPr>
              <a:t>Examples include a </a:t>
            </a:r>
            <a:r>
              <a:rPr lang="en-US" sz="2800" b="1" dirty="0">
                <a:latin typeface="Carlito"/>
                <a:ea typeface="Carlito"/>
                <a:cs typeface="Carlito"/>
              </a:rPr>
              <a:t>function</a:t>
            </a:r>
            <a:r>
              <a:rPr lang="en-US" sz="2800" dirty="0">
                <a:latin typeface="Carlito"/>
                <a:ea typeface="Carlito"/>
                <a:cs typeface="Carlito"/>
              </a:rPr>
              <a:t> in C++, a </a:t>
            </a:r>
            <a:r>
              <a:rPr lang="en-US" sz="2800" b="1" dirty="0">
                <a:latin typeface="Carlito"/>
                <a:ea typeface="Carlito"/>
                <a:cs typeface="Carlito"/>
              </a:rPr>
              <a:t>method</a:t>
            </a:r>
            <a:r>
              <a:rPr lang="en-US" sz="2800" dirty="0">
                <a:latin typeface="Carlito"/>
                <a:ea typeface="Carlito"/>
                <a:cs typeface="Carlito"/>
              </a:rPr>
              <a:t> in Java, a  </a:t>
            </a:r>
            <a:r>
              <a:rPr lang="en-US" sz="2800" b="1" dirty="0">
                <a:latin typeface="Carlito"/>
                <a:ea typeface="Carlito"/>
                <a:cs typeface="Carlito"/>
              </a:rPr>
              <a:t>function</a:t>
            </a:r>
            <a:r>
              <a:rPr lang="en-US" sz="2800" dirty="0">
                <a:latin typeface="Carlito"/>
                <a:ea typeface="Carlito"/>
                <a:cs typeface="Carlito"/>
              </a:rPr>
              <a:t> or </a:t>
            </a:r>
            <a:r>
              <a:rPr lang="en-US" sz="2800" b="1" dirty="0">
                <a:latin typeface="Carlito"/>
                <a:ea typeface="Carlito"/>
                <a:cs typeface="Carlito"/>
              </a:rPr>
              <a:t>sub procedure </a:t>
            </a:r>
            <a:r>
              <a:rPr lang="en-US" sz="2800" dirty="0">
                <a:latin typeface="Carlito"/>
                <a:ea typeface="Carlito"/>
                <a:cs typeface="Carlito"/>
              </a:rPr>
              <a:t>in Microsoft Visual Basic</a:t>
            </a:r>
          </a:p>
        </p:txBody>
      </p:sp>
      <p:sp>
        <p:nvSpPr>
          <p:cNvPr id="13" name="Slide Number Placeholder 4">
            <a:extLst>
              <a:ext uri="{FF2B5EF4-FFF2-40B4-BE49-F238E27FC236}">
                <a16:creationId xmlns:a16="http://schemas.microsoft.com/office/drawing/2014/main" id="{D82E0FC7-5721-BD56-4EB3-117337753300}"/>
              </a:ext>
            </a:extLst>
          </p:cNvPr>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3</a:t>
            </a:fld>
            <a:endParaRPr lang="en-US" sz="7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39" y="-10830"/>
            <a:ext cx="9169639" cy="817280"/>
          </a:xfrm>
          <a:solidFill>
            <a:schemeClr val="accent6">
              <a:lumMod val="40000"/>
              <a:lumOff val="60000"/>
            </a:schemeClr>
          </a:solidFill>
        </p:spPr>
        <p:txBody>
          <a:bodyPr anchor="ctr">
            <a:normAutofit/>
          </a:bodyPr>
          <a:lstStyle/>
          <a:p>
            <a:r>
              <a:rPr lang="en-US" sz="4400" b="1" dirty="0">
                <a:solidFill>
                  <a:schemeClr val="tx1"/>
                </a:solidFill>
                <a:latin typeface="+mn-lt"/>
                <a:ea typeface="+mj-ea"/>
                <a:cs typeface="+mj-cs"/>
              </a:rPr>
              <a:t>What is a Routine?</a:t>
            </a:r>
            <a:endParaRPr lang="en-US" b="1" dirty="0">
              <a:solidFill>
                <a:schemeClr val="tx1"/>
              </a:solidFill>
              <a:latin typeface="+mn-lt"/>
            </a:endParaRPr>
          </a:p>
        </p:txBody>
      </p:sp>
      <p:sp>
        <p:nvSpPr>
          <p:cNvPr id="2" name="object 3">
            <a:extLst>
              <a:ext uri="{FF2B5EF4-FFF2-40B4-BE49-F238E27FC236}">
                <a16:creationId xmlns:a16="http://schemas.microsoft.com/office/drawing/2014/main" id="{804738E9-CBF4-821E-6AA9-E34D80FE8824}"/>
              </a:ext>
            </a:extLst>
          </p:cNvPr>
          <p:cNvSpPr>
            <a:spLocks noChangeArrowheads="1"/>
          </p:cNvSpPr>
          <p:nvPr/>
        </p:nvSpPr>
        <p:spPr bwMode="auto">
          <a:xfrm>
            <a:off x="1274642" y="1228545"/>
            <a:ext cx="6569075" cy="5219700"/>
          </a:xfrm>
          <a:prstGeom prst="rect">
            <a:avLst/>
          </a:prstGeom>
          <a:blipFill dpi="0" rotWithShape="1">
            <a:blip r:embed="rId2" cstate="print"/>
            <a:srcRect/>
            <a:stretch>
              <a:fillRect/>
            </a:stretch>
          </a:blipFill>
          <a:ln w="9525">
            <a:noFill/>
            <a:miter lim="800000"/>
            <a:headEnd/>
            <a:tailEnd/>
          </a:ln>
        </p:spPr>
        <p:txBody>
          <a:bodyPr lIns="0" tIns="0" rIns="0" bIns="0"/>
          <a:lstStyle/>
          <a:p>
            <a:endParaRPr lang="en-US"/>
          </a:p>
        </p:txBody>
      </p:sp>
      <p:sp>
        <p:nvSpPr>
          <p:cNvPr id="3" name="Slide Number Placeholder 4">
            <a:extLst>
              <a:ext uri="{FF2B5EF4-FFF2-40B4-BE49-F238E27FC236}">
                <a16:creationId xmlns:a16="http://schemas.microsoft.com/office/drawing/2014/main" id="{70A3CE7C-0372-9AA0-AABB-84D29E5B1C1B}"/>
              </a:ext>
            </a:extLst>
          </p:cNvPr>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4</a:t>
            </a:fld>
            <a:endParaRPr lang="en-US" sz="700"/>
          </a:p>
        </p:txBody>
      </p:sp>
    </p:spTree>
    <p:extLst>
      <p:ext uri="{BB962C8B-B14F-4D97-AF65-F5344CB8AC3E}">
        <p14:creationId xmlns:p14="http://schemas.microsoft.com/office/powerpoint/2010/main" val="10765530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40" y="-10590"/>
            <a:ext cx="9169639" cy="817280"/>
          </a:xfrm>
          <a:solidFill>
            <a:schemeClr val="accent6">
              <a:lumMod val="40000"/>
              <a:lumOff val="60000"/>
            </a:schemeClr>
          </a:solidFill>
        </p:spPr>
        <p:txBody>
          <a:bodyPr anchor="ctr">
            <a:normAutofit/>
          </a:bodyPr>
          <a:lstStyle/>
          <a:p>
            <a:r>
              <a:rPr lang="en-US" sz="4400" b="1" dirty="0">
                <a:solidFill>
                  <a:schemeClr val="tx1"/>
                </a:solidFill>
                <a:latin typeface="+mn-lt"/>
                <a:ea typeface="+mj-ea"/>
                <a:cs typeface="+mj-cs"/>
              </a:rPr>
              <a:t>What is a Routine?</a:t>
            </a:r>
            <a:endParaRPr lang="en-US" b="1" dirty="0">
              <a:solidFill>
                <a:schemeClr val="tx1"/>
              </a:solidFill>
              <a:latin typeface="+mn-lt"/>
            </a:endParaRPr>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5</a:t>
            </a:fld>
            <a:endParaRPr lang="en-US" sz="700"/>
          </a:p>
        </p:txBody>
      </p:sp>
      <p:sp>
        <p:nvSpPr>
          <p:cNvPr id="2" name="object 3">
            <a:extLst>
              <a:ext uri="{FF2B5EF4-FFF2-40B4-BE49-F238E27FC236}">
                <a16:creationId xmlns:a16="http://schemas.microsoft.com/office/drawing/2014/main" id="{786D459D-B26C-2D9F-1467-1841986999AB}"/>
              </a:ext>
            </a:extLst>
          </p:cNvPr>
          <p:cNvSpPr>
            <a:spLocks noChangeArrowheads="1"/>
          </p:cNvSpPr>
          <p:nvPr/>
        </p:nvSpPr>
        <p:spPr bwMode="auto">
          <a:xfrm>
            <a:off x="61793" y="852312"/>
            <a:ext cx="4024312" cy="3817938"/>
          </a:xfrm>
          <a:prstGeom prst="rect">
            <a:avLst/>
          </a:prstGeom>
          <a:blipFill dpi="0" rotWithShape="1">
            <a:blip r:embed="rId2" cstate="print"/>
            <a:srcRect/>
            <a:stretch>
              <a:fillRect/>
            </a:stretch>
          </a:blipFill>
          <a:ln w="9525">
            <a:noFill/>
            <a:miter lim="800000"/>
            <a:headEnd/>
            <a:tailEnd/>
          </a:ln>
        </p:spPr>
        <p:txBody>
          <a:bodyPr lIns="0" tIns="0" rIns="0" bIns="0"/>
          <a:lstStyle/>
          <a:p>
            <a:endParaRPr lang="en-US"/>
          </a:p>
        </p:txBody>
      </p:sp>
      <p:sp>
        <p:nvSpPr>
          <p:cNvPr id="3" name="object 4">
            <a:extLst>
              <a:ext uri="{FF2B5EF4-FFF2-40B4-BE49-F238E27FC236}">
                <a16:creationId xmlns:a16="http://schemas.microsoft.com/office/drawing/2014/main" id="{E9A60BDF-1AC2-53E9-CFCE-CAB7EC761534}"/>
              </a:ext>
            </a:extLst>
          </p:cNvPr>
          <p:cNvSpPr txBox="1"/>
          <p:nvPr/>
        </p:nvSpPr>
        <p:spPr>
          <a:xfrm>
            <a:off x="4171830" y="852312"/>
            <a:ext cx="4910377" cy="463550"/>
          </a:xfrm>
          <a:prstGeom prst="rect">
            <a:avLst/>
          </a:prstGeom>
          <a:solidFill>
            <a:srgbClr val="DEEBF7"/>
          </a:solidFill>
        </p:spPr>
        <p:txBody>
          <a:bodyPr wrap="square" lIns="0" tIns="32384" rIns="0" bIns="0">
            <a:spAutoFit/>
          </a:bodyPr>
          <a:lstStyle/>
          <a:p>
            <a:pPr marL="90805">
              <a:spcBef>
                <a:spcPts val="254"/>
              </a:spcBef>
              <a:defRPr/>
            </a:pPr>
            <a:r>
              <a:rPr sz="1400" dirty="0">
                <a:latin typeface="Carlito"/>
                <a:cs typeface="Carlito"/>
              </a:rPr>
              <a:t>The </a:t>
            </a:r>
            <a:r>
              <a:rPr sz="1400" spc="-5" dirty="0">
                <a:latin typeface="Carlito"/>
                <a:cs typeface="Carlito"/>
              </a:rPr>
              <a:t>routine </a:t>
            </a:r>
            <a:r>
              <a:rPr sz="1400" dirty="0">
                <a:latin typeface="Carlito"/>
                <a:cs typeface="Carlito"/>
              </a:rPr>
              <a:t>has a bad </a:t>
            </a:r>
            <a:r>
              <a:rPr sz="1400" spc="-5" dirty="0">
                <a:latin typeface="Carlito"/>
                <a:cs typeface="Carlito"/>
              </a:rPr>
              <a:t>name. </a:t>
            </a:r>
            <a:r>
              <a:rPr sz="1200" spc="114" dirty="0">
                <a:latin typeface="Arial"/>
                <a:cs typeface="Arial"/>
              </a:rPr>
              <a:t>HandleStuff() </a:t>
            </a:r>
            <a:r>
              <a:rPr sz="1400" spc="-5" dirty="0">
                <a:latin typeface="Carlito"/>
                <a:cs typeface="Carlito"/>
              </a:rPr>
              <a:t>tells </a:t>
            </a:r>
            <a:r>
              <a:rPr sz="1400" spc="-10" dirty="0">
                <a:latin typeface="Carlito"/>
                <a:cs typeface="Carlito"/>
              </a:rPr>
              <a:t>you </a:t>
            </a:r>
            <a:r>
              <a:rPr sz="1400" dirty="0">
                <a:latin typeface="Carlito"/>
                <a:cs typeface="Carlito"/>
              </a:rPr>
              <a:t>nothing about </a:t>
            </a:r>
            <a:r>
              <a:rPr sz="1400" spc="-5" dirty="0">
                <a:latin typeface="Carlito"/>
                <a:cs typeface="Carlito"/>
              </a:rPr>
              <a:t>what </a:t>
            </a:r>
            <a:r>
              <a:rPr sz="1400" dirty="0">
                <a:latin typeface="Carlito"/>
                <a:cs typeface="Carlito"/>
              </a:rPr>
              <a:t>the </a:t>
            </a:r>
            <a:r>
              <a:rPr sz="1400" spc="-5" dirty="0">
                <a:latin typeface="Carlito"/>
                <a:cs typeface="Carlito"/>
              </a:rPr>
              <a:t>routine</a:t>
            </a:r>
            <a:r>
              <a:rPr sz="1400" spc="-155" dirty="0">
                <a:latin typeface="Carlito"/>
                <a:cs typeface="Carlito"/>
              </a:rPr>
              <a:t> </a:t>
            </a:r>
            <a:r>
              <a:rPr sz="1400" spc="-5" dirty="0">
                <a:latin typeface="Carlito"/>
                <a:cs typeface="Carlito"/>
              </a:rPr>
              <a:t>does.</a:t>
            </a:r>
            <a:endParaRPr sz="1400" dirty="0">
              <a:latin typeface="Carlito"/>
              <a:cs typeface="Carlito"/>
            </a:endParaRPr>
          </a:p>
        </p:txBody>
      </p:sp>
      <p:sp>
        <p:nvSpPr>
          <p:cNvPr id="4" name="object 5">
            <a:extLst>
              <a:ext uri="{FF2B5EF4-FFF2-40B4-BE49-F238E27FC236}">
                <a16:creationId xmlns:a16="http://schemas.microsoft.com/office/drawing/2014/main" id="{34A883C7-6E42-C3C5-B440-4E54A8C2FAF3}"/>
              </a:ext>
            </a:extLst>
          </p:cNvPr>
          <p:cNvSpPr txBox="1"/>
          <p:nvPr/>
        </p:nvSpPr>
        <p:spPr>
          <a:xfrm>
            <a:off x="4171830" y="1357137"/>
            <a:ext cx="4910377" cy="247650"/>
          </a:xfrm>
          <a:prstGeom prst="rect">
            <a:avLst/>
          </a:prstGeom>
          <a:solidFill>
            <a:srgbClr val="DEEBF7"/>
          </a:solidFill>
        </p:spPr>
        <p:txBody>
          <a:bodyPr wrap="square" lIns="0" tIns="31750" rIns="0" bIns="0">
            <a:spAutoFit/>
          </a:bodyPr>
          <a:lstStyle/>
          <a:p>
            <a:pPr marL="130810">
              <a:spcBef>
                <a:spcPts val="250"/>
              </a:spcBef>
              <a:defRPr/>
            </a:pPr>
            <a:r>
              <a:rPr sz="1400" dirty="0">
                <a:latin typeface="Carlito"/>
                <a:cs typeface="Carlito"/>
              </a:rPr>
              <a:t>The </a:t>
            </a:r>
            <a:r>
              <a:rPr sz="1400" spc="-5" dirty="0">
                <a:latin typeface="Carlito"/>
                <a:cs typeface="Carlito"/>
              </a:rPr>
              <a:t>routine </a:t>
            </a:r>
            <a:r>
              <a:rPr sz="1400" dirty="0">
                <a:latin typeface="Carlito"/>
                <a:cs typeface="Carlito"/>
              </a:rPr>
              <a:t>isn’t</a:t>
            </a:r>
            <a:r>
              <a:rPr sz="1400" spc="-10" dirty="0">
                <a:latin typeface="Carlito"/>
                <a:cs typeface="Carlito"/>
              </a:rPr>
              <a:t> </a:t>
            </a:r>
            <a:r>
              <a:rPr sz="1400" spc="-5" dirty="0">
                <a:latin typeface="Carlito"/>
                <a:cs typeface="Carlito"/>
              </a:rPr>
              <a:t>documented.</a:t>
            </a:r>
            <a:endParaRPr sz="1400" dirty="0">
              <a:latin typeface="Carlito"/>
              <a:cs typeface="Carlito"/>
            </a:endParaRPr>
          </a:p>
        </p:txBody>
      </p:sp>
      <p:sp>
        <p:nvSpPr>
          <p:cNvPr id="6" name="object 6">
            <a:extLst>
              <a:ext uri="{FF2B5EF4-FFF2-40B4-BE49-F238E27FC236}">
                <a16:creationId xmlns:a16="http://schemas.microsoft.com/office/drawing/2014/main" id="{10FED360-15E9-4BBF-77B8-A5CDAB4437C5}"/>
              </a:ext>
            </a:extLst>
          </p:cNvPr>
          <p:cNvSpPr txBox="1">
            <a:spLocks noChangeArrowheads="1"/>
          </p:cNvSpPr>
          <p:nvPr/>
        </p:nvSpPr>
        <p:spPr bwMode="auto">
          <a:xfrm>
            <a:off x="4171830" y="1673050"/>
            <a:ext cx="4910377" cy="466725"/>
          </a:xfrm>
          <a:prstGeom prst="rect">
            <a:avLst/>
          </a:prstGeom>
          <a:solidFill>
            <a:srgbClr val="DEEBF7"/>
          </a:solidFill>
          <a:ln w="9525">
            <a:noFill/>
            <a:miter lim="800000"/>
            <a:headEnd/>
            <a:tailEnd/>
          </a:ln>
        </p:spPr>
        <p:txBody>
          <a:bodyPr wrap="square" lIns="0" tIns="34290" rIns="0" bIns="0">
            <a:spAutoFit/>
          </a:bodyPr>
          <a:lstStyle/>
          <a:p>
            <a:pPr marL="90488">
              <a:spcBef>
                <a:spcPts val="275"/>
              </a:spcBef>
            </a:pPr>
            <a:r>
              <a:rPr lang="en-US" sz="1400">
                <a:latin typeface="Carlito"/>
                <a:ea typeface="Carlito"/>
                <a:cs typeface="Carlito"/>
              </a:rPr>
              <a:t>The routine has a bad layout. The physical organization of the code on the page gives few  hints about its logical organization.</a:t>
            </a:r>
          </a:p>
        </p:txBody>
      </p:sp>
      <p:sp>
        <p:nvSpPr>
          <p:cNvPr id="8" name="object 7">
            <a:extLst>
              <a:ext uri="{FF2B5EF4-FFF2-40B4-BE49-F238E27FC236}">
                <a16:creationId xmlns:a16="http://schemas.microsoft.com/office/drawing/2014/main" id="{C400B977-B34B-D16A-2D6F-A77847AB6330}"/>
              </a:ext>
            </a:extLst>
          </p:cNvPr>
          <p:cNvSpPr txBox="1">
            <a:spLocks noChangeArrowheads="1"/>
          </p:cNvSpPr>
          <p:nvPr/>
        </p:nvSpPr>
        <p:spPr bwMode="auto">
          <a:xfrm>
            <a:off x="4171830" y="2223912"/>
            <a:ext cx="4910377" cy="463550"/>
          </a:xfrm>
          <a:prstGeom prst="rect">
            <a:avLst/>
          </a:prstGeom>
          <a:solidFill>
            <a:srgbClr val="DEEBF7"/>
          </a:solidFill>
          <a:ln w="9525">
            <a:noFill/>
            <a:miter lim="800000"/>
            <a:headEnd/>
            <a:tailEnd/>
          </a:ln>
        </p:spPr>
        <p:txBody>
          <a:bodyPr wrap="square" lIns="0" tIns="29209" rIns="0" bIns="0">
            <a:spAutoFit/>
          </a:bodyPr>
          <a:lstStyle/>
          <a:p>
            <a:pPr marL="90488">
              <a:lnSpc>
                <a:spcPct val="101000"/>
              </a:lnSpc>
              <a:spcBef>
                <a:spcPts val="225"/>
              </a:spcBef>
            </a:pPr>
            <a:r>
              <a:rPr lang="en-US" sz="1400">
                <a:latin typeface="Carlito"/>
                <a:ea typeface="Carlito"/>
                <a:cs typeface="Carlito"/>
              </a:rPr>
              <a:t>The routine’s input variable, </a:t>
            </a:r>
            <a:r>
              <a:rPr lang="en-US" sz="1200"/>
              <a:t>inputRec</a:t>
            </a:r>
            <a:r>
              <a:rPr lang="en-US" sz="1400">
                <a:latin typeface="Carlito"/>
                <a:ea typeface="Carlito"/>
                <a:cs typeface="Carlito"/>
              </a:rPr>
              <a:t>, is changed. If it’s an input variable, its value should  not be modified</a:t>
            </a:r>
          </a:p>
        </p:txBody>
      </p:sp>
      <p:sp>
        <p:nvSpPr>
          <p:cNvPr id="9" name="object 8">
            <a:extLst>
              <a:ext uri="{FF2B5EF4-FFF2-40B4-BE49-F238E27FC236}">
                <a16:creationId xmlns:a16="http://schemas.microsoft.com/office/drawing/2014/main" id="{F8000D80-7ABA-42B8-E0B3-AA8257CEAD22}"/>
              </a:ext>
            </a:extLst>
          </p:cNvPr>
          <p:cNvSpPr txBox="1">
            <a:spLocks noChangeArrowheads="1"/>
          </p:cNvSpPr>
          <p:nvPr/>
        </p:nvSpPr>
        <p:spPr bwMode="auto">
          <a:xfrm>
            <a:off x="4171830" y="2766837"/>
            <a:ext cx="4910377" cy="893643"/>
          </a:xfrm>
          <a:prstGeom prst="rect">
            <a:avLst/>
          </a:prstGeom>
          <a:solidFill>
            <a:srgbClr val="DEEBF7"/>
          </a:solidFill>
          <a:ln w="9525">
            <a:noFill/>
            <a:miter lim="800000"/>
            <a:headEnd/>
            <a:tailEnd/>
          </a:ln>
        </p:spPr>
        <p:txBody>
          <a:bodyPr wrap="square" lIns="0" tIns="29845" rIns="0" bIns="0">
            <a:spAutoFit/>
          </a:bodyPr>
          <a:lstStyle/>
          <a:p>
            <a:pPr marL="90488">
              <a:lnSpc>
                <a:spcPct val="101000"/>
              </a:lnSpc>
              <a:spcBef>
                <a:spcPts val="238"/>
              </a:spcBef>
            </a:pPr>
            <a:r>
              <a:rPr lang="en-US" sz="1400" dirty="0">
                <a:latin typeface="Carlito"/>
                <a:ea typeface="Carlito"/>
                <a:cs typeface="Carlito"/>
              </a:rPr>
              <a:t>The routine reads and writes global variables—it reads from </a:t>
            </a:r>
            <a:r>
              <a:rPr lang="en-US" sz="1200" dirty="0" err="1"/>
              <a:t>corpExpense</a:t>
            </a:r>
            <a:r>
              <a:rPr lang="en-US" sz="1200" dirty="0"/>
              <a:t> </a:t>
            </a:r>
            <a:r>
              <a:rPr lang="en-US" sz="1400" dirty="0">
                <a:latin typeface="Carlito"/>
                <a:ea typeface="Carlito"/>
                <a:cs typeface="Carlito"/>
              </a:rPr>
              <a:t>and writes to </a:t>
            </a:r>
            <a:r>
              <a:rPr lang="en-US" sz="1200" dirty="0"/>
              <a:t>profit </a:t>
            </a:r>
            <a:r>
              <a:rPr lang="en-US" sz="1400" dirty="0">
                <a:latin typeface="Carlito"/>
                <a:ea typeface="Carlito"/>
                <a:cs typeface="Carlito"/>
              </a:rPr>
              <a:t>. It should communicate with other routines more directly than by reading and  writing global variables.</a:t>
            </a:r>
          </a:p>
        </p:txBody>
      </p:sp>
      <p:sp>
        <p:nvSpPr>
          <p:cNvPr id="10" name="object 9">
            <a:extLst>
              <a:ext uri="{FF2B5EF4-FFF2-40B4-BE49-F238E27FC236}">
                <a16:creationId xmlns:a16="http://schemas.microsoft.com/office/drawing/2014/main" id="{2E153597-618E-E739-E726-D2AB922B0D48}"/>
              </a:ext>
            </a:extLst>
          </p:cNvPr>
          <p:cNvSpPr txBox="1">
            <a:spLocks noChangeArrowheads="1"/>
          </p:cNvSpPr>
          <p:nvPr/>
        </p:nvSpPr>
        <p:spPr bwMode="auto">
          <a:xfrm>
            <a:off x="4171830" y="3511375"/>
            <a:ext cx="4910377" cy="898525"/>
          </a:xfrm>
          <a:prstGeom prst="rect">
            <a:avLst/>
          </a:prstGeom>
          <a:solidFill>
            <a:srgbClr val="DEEBF7"/>
          </a:solidFill>
          <a:ln w="9525">
            <a:noFill/>
            <a:miter lim="800000"/>
            <a:headEnd/>
            <a:tailEnd/>
          </a:ln>
        </p:spPr>
        <p:txBody>
          <a:bodyPr wrap="square" lIns="0" tIns="28575" rIns="0" bIns="0">
            <a:spAutoFit/>
          </a:bodyPr>
          <a:lstStyle/>
          <a:p>
            <a:pPr marL="90488">
              <a:lnSpc>
                <a:spcPct val="101000"/>
              </a:lnSpc>
              <a:spcBef>
                <a:spcPts val="225"/>
              </a:spcBef>
            </a:pPr>
            <a:r>
              <a:rPr lang="en-US" sz="1400">
                <a:latin typeface="Carlito"/>
                <a:ea typeface="Carlito"/>
                <a:cs typeface="Carlito"/>
              </a:rPr>
              <a:t>The routine doesn’t have a single purpose. It initializes some variables, writes to a database,  does some calculations—none of which seem to be related to each other in any way. A  routine should have a single, clearly defined purpose.</a:t>
            </a:r>
          </a:p>
        </p:txBody>
      </p:sp>
      <p:sp>
        <p:nvSpPr>
          <p:cNvPr id="13" name="object 10">
            <a:extLst>
              <a:ext uri="{FF2B5EF4-FFF2-40B4-BE49-F238E27FC236}">
                <a16:creationId xmlns:a16="http://schemas.microsoft.com/office/drawing/2014/main" id="{A681C4DF-5A6A-1103-CC64-054B6650AFFD}"/>
              </a:ext>
            </a:extLst>
          </p:cNvPr>
          <p:cNvSpPr txBox="1"/>
          <p:nvPr/>
        </p:nvSpPr>
        <p:spPr>
          <a:xfrm>
            <a:off x="4171830" y="4484512"/>
            <a:ext cx="4910377" cy="681038"/>
          </a:xfrm>
          <a:prstGeom prst="rect">
            <a:avLst/>
          </a:prstGeom>
          <a:solidFill>
            <a:srgbClr val="DEEBF7"/>
          </a:solidFill>
        </p:spPr>
        <p:txBody>
          <a:bodyPr wrap="square" lIns="0" tIns="34290" rIns="0" bIns="0">
            <a:spAutoFit/>
          </a:bodyPr>
          <a:lstStyle/>
          <a:p>
            <a:pPr marL="90805">
              <a:spcBef>
                <a:spcPts val="270"/>
              </a:spcBef>
              <a:defRPr/>
            </a:pPr>
            <a:r>
              <a:rPr sz="1400" dirty="0">
                <a:latin typeface="Carlito"/>
                <a:cs typeface="Carlito"/>
              </a:rPr>
              <a:t>The </a:t>
            </a:r>
            <a:r>
              <a:rPr sz="1400" spc="-5" dirty="0">
                <a:latin typeface="Carlito"/>
                <a:cs typeface="Carlito"/>
              </a:rPr>
              <a:t>routine doesn’t </a:t>
            </a:r>
            <a:r>
              <a:rPr sz="1400" spc="-10" dirty="0">
                <a:latin typeface="Carlito"/>
                <a:cs typeface="Carlito"/>
              </a:rPr>
              <a:t>defend </a:t>
            </a:r>
            <a:r>
              <a:rPr sz="1400" dirty="0">
                <a:latin typeface="Carlito"/>
                <a:cs typeface="Carlito"/>
              </a:rPr>
              <a:t>itself </a:t>
            </a:r>
            <a:r>
              <a:rPr sz="1400" spc="-10" dirty="0">
                <a:latin typeface="Carlito"/>
                <a:cs typeface="Carlito"/>
              </a:rPr>
              <a:t>against </a:t>
            </a:r>
            <a:r>
              <a:rPr sz="1400" dirty="0">
                <a:latin typeface="Carlito"/>
                <a:cs typeface="Carlito"/>
              </a:rPr>
              <a:t>bad </a:t>
            </a:r>
            <a:r>
              <a:rPr sz="1400" spc="-5" dirty="0">
                <a:latin typeface="Carlito"/>
                <a:cs typeface="Carlito"/>
              </a:rPr>
              <a:t>data. If </a:t>
            </a:r>
            <a:r>
              <a:rPr sz="1200" spc="135" dirty="0">
                <a:latin typeface="Arial"/>
                <a:cs typeface="Arial"/>
              </a:rPr>
              <a:t>crntQtr </a:t>
            </a:r>
            <a:r>
              <a:rPr sz="1400" dirty="0">
                <a:latin typeface="Carlito"/>
                <a:cs typeface="Carlito"/>
              </a:rPr>
              <a:t>equals 0 , the</a:t>
            </a:r>
            <a:r>
              <a:rPr sz="1400" spc="135" dirty="0">
                <a:latin typeface="Carlito"/>
                <a:cs typeface="Carlito"/>
              </a:rPr>
              <a:t> </a:t>
            </a:r>
            <a:r>
              <a:rPr sz="1400" spc="-5" dirty="0">
                <a:latin typeface="Carlito"/>
                <a:cs typeface="Carlito"/>
              </a:rPr>
              <a:t>expression</a:t>
            </a:r>
            <a:endParaRPr sz="1400" dirty="0">
              <a:latin typeface="Carlito"/>
              <a:cs typeface="Carlito"/>
            </a:endParaRPr>
          </a:p>
          <a:p>
            <a:pPr marL="90805">
              <a:defRPr/>
            </a:pPr>
            <a:r>
              <a:rPr sz="1200" spc="15" dirty="0">
                <a:latin typeface="Arial"/>
                <a:cs typeface="Arial"/>
              </a:rPr>
              <a:t>ytdRevenue </a:t>
            </a:r>
            <a:r>
              <a:rPr sz="1400" dirty="0">
                <a:latin typeface="Carlito"/>
                <a:cs typeface="Carlito"/>
              </a:rPr>
              <a:t>* </a:t>
            </a:r>
            <a:r>
              <a:rPr sz="1400" spc="-5" dirty="0">
                <a:latin typeface="Carlito"/>
                <a:cs typeface="Carlito"/>
              </a:rPr>
              <a:t>4.0 </a:t>
            </a:r>
            <a:r>
              <a:rPr sz="1400" dirty="0">
                <a:latin typeface="Carlito"/>
                <a:cs typeface="Carlito"/>
              </a:rPr>
              <a:t>/ </a:t>
            </a:r>
            <a:r>
              <a:rPr sz="1400" spc="-5" dirty="0">
                <a:latin typeface="Carlito"/>
                <a:cs typeface="Carlito"/>
              </a:rPr>
              <a:t>(double) </a:t>
            </a:r>
            <a:r>
              <a:rPr sz="1200" spc="135" dirty="0">
                <a:latin typeface="Arial"/>
                <a:cs typeface="Arial"/>
              </a:rPr>
              <a:t>crntQtr </a:t>
            </a:r>
            <a:r>
              <a:rPr sz="1400" spc="-5" dirty="0">
                <a:latin typeface="Carlito"/>
                <a:cs typeface="Carlito"/>
              </a:rPr>
              <a:t>causes </a:t>
            </a:r>
            <a:r>
              <a:rPr sz="1400" dirty="0">
                <a:latin typeface="Carlito"/>
                <a:cs typeface="Carlito"/>
              </a:rPr>
              <a:t>a </a:t>
            </a:r>
            <a:r>
              <a:rPr sz="1400" spc="-10" dirty="0">
                <a:latin typeface="Carlito"/>
                <a:cs typeface="Carlito"/>
              </a:rPr>
              <a:t>divide-by-zero</a:t>
            </a:r>
            <a:r>
              <a:rPr sz="1400" spc="100" dirty="0">
                <a:latin typeface="Carlito"/>
                <a:cs typeface="Carlito"/>
              </a:rPr>
              <a:t> </a:t>
            </a:r>
            <a:r>
              <a:rPr sz="1400" spc="-30" dirty="0">
                <a:latin typeface="Carlito"/>
                <a:cs typeface="Carlito"/>
              </a:rPr>
              <a:t>error.</a:t>
            </a:r>
            <a:endParaRPr sz="1400" dirty="0">
              <a:latin typeface="Carlito"/>
              <a:cs typeface="Carlito"/>
            </a:endParaRPr>
          </a:p>
        </p:txBody>
      </p:sp>
      <p:sp>
        <p:nvSpPr>
          <p:cNvPr id="14" name="object 11">
            <a:extLst>
              <a:ext uri="{FF2B5EF4-FFF2-40B4-BE49-F238E27FC236}">
                <a16:creationId xmlns:a16="http://schemas.microsoft.com/office/drawing/2014/main" id="{B01B8939-68CF-EA8E-4364-E2464C9907B4}"/>
              </a:ext>
            </a:extLst>
          </p:cNvPr>
          <p:cNvSpPr txBox="1"/>
          <p:nvPr/>
        </p:nvSpPr>
        <p:spPr>
          <a:xfrm>
            <a:off x="4171830" y="5244925"/>
            <a:ext cx="4910377" cy="247650"/>
          </a:xfrm>
          <a:prstGeom prst="rect">
            <a:avLst/>
          </a:prstGeom>
          <a:solidFill>
            <a:srgbClr val="DEEBF7"/>
          </a:solidFill>
        </p:spPr>
        <p:txBody>
          <a:bodyPr wrap="square" lIns="0" tIns="31750" rIns="0" bIns="0">
            <a:spAutoFit/>
          </a:bodyPr>
          <a:lstStyle/>
          <a:p>
            <a:pPr marL="90805">
              <a:spcBef>
                <a:spcPts val="250"/>
              </a:spcBef>
              <a:defRPr/>
            </a:pPr>
            <a:r>
              <a:rPr sz="1400" dirty="0">
                <a:latin typeface="Carlito"/>
                <a:cs typeface="Carlito"/>
              </a:rPr>
              <a:t>The </a:t>
            </a:r>
            <a:r>
              <a:rPr sz="1400" spc="-5" dirty="0">
                <a:latin typeface="Carlito"/>
                <a:cs typeface="Carlito"/>
              </a:rPr>
              <a:t>routine </a:t>
            </a:r>
            <a:r>
              <a:rPr sz="1400" dirty="0">
                <a:latin typeface="Carlito"/>
                <a:cs typeface="Carlito"/>
              </a:rPr>
              <a:t>uses </a:t>
            </a:r>
            <a:r>
              <a:rPr sz="1400" spc="-10" dirty="0">
                <a:latin typeface="Carlito"/>
                <a:cs typeface="Carlito"/>
              </a:rPr>
              <a:t>several </a:t>
            </a:r>
            <a:r>
              <a:rPr sz="1400" spc="-5" dirty="0">
                <a:latin typeface="Carlito"/>
                <a:cs typeface="Carlito"/>
              </a:rPr>
              <a:t>magic numbers: </a:t>
            </a:r>
            <a:r>
              <a:rPr sz="1400" dirty="0">
                <a:latin typeface="Carlito"/>
                <a:cs typeface="Carlito"/>
              </a:rPr>
              <a:t>100 , </a:t>
            </a:r>
            <a:r>
              <a:rPr sz="1400" spc="-5" dirty="0">
                <a:latin typeface="Carlito"/>
                <a:cs typeface="Carlito"/>
              </a:rPr>
              <a:t>4.0, </a:t>
            </a:r>
            <a:r>
              <a:rPr sz="1400" dirty="0">
                <a:latin typeface="Carlito"/>
                <a:cs typeface="Carlito"/>
              </a:rPr>
              <a:t>12 , 2 , and 3</a:t>
            </a:r>
            <a:r>
              <a:rPr sz="1400" spc="-60" dirty="0">
                <a:latin typeface="Carlito"/>
                <a:cs typeface="Carlito"/>
              </a:rPr>
              <a:t> </a:t>
            </a:r>
            <a:r>
              <a:rPr sz="1400" dirty="0">
                <a:latin typeface="Carlito"/>
                <a:cs typeface="Carlito"/>
              </a:rPr>
              <a:t>.</a:t>
            </a:r>
          </a:p>
        </p:txBody>
      </p:sp>
      <p:sp>
        <p:nvSpPr>
          <p:cNvPr id="15" name="object 12">
            <a:extLst>
              <a:ext uri="{FF2B5EF4-FFF2-40B4-BE49-F238E27FC236}">
                <a16:creationId xmlns:a16="http://schemas.microsoft.com/office/drawing/2014/main" id="{CBBB972F-A23D-291D-9164-462CC2DC8089}"/>
              </a:ext>
            </a:extLst>
          </p:cNvPr>
          <p:cNvSpPr txBox="1">
            <a:spLocks noChangeArrowheads="1"/>
          </p:cNvSpPr>
          <p:nvPr/>
        </p:nvSpPr>
        <p:spPr bwMode="auto">
          <a:xfrm>
            <a:off x="4171830" y="5575125"/>
            <a:ext cx="4910377" cy="465137"/>
          </a:xfrm>
          <a:prstGeom prst="rect">
            <a:avLst/>
          </a:prstGeom>
          <a:solidFill>
            <a:srgbClr val="DEEBF7"/>
          </a:solidFill>
          <a:ln w="9525">
            <a:noFill/>
            <a:miter lim="800000"/>
            <a:headEnd/>
            <a:tailEnd/>
          </a:ln>
        </p:spPr>
        <p:txBody>
          <a:bodyPr wrap="square" lIns="0" tIns="34290" rIns="0" bIns="0">
            <a:spAutoFit/>
          </a:bodyPr>
          <a:lstStyle/>
          <a:p>
            <a:pPr marL="90488">
              <a:spcBef>
                <a:spcPts val="275"/>
              </a:spcBef>
            </a:pPr>
            <a:r>
              <a:rPr lang="en-US" sz="1400">
                <a:latin typeface="Carlito"/>
                <a:ea typeface="Carlito"/>
                <a:cs typeface="Carlito"/>
              </a:rPr>
              <a:t>Some of the routine’s parameters are unused: </a:t>
            </a:r>
            <a:r>
              <a:rPr lang="en-US" sz="1200"/>
              <a:t>screenX </a:t>
            </a:r>
            <a:r>
              <a:rPr lang="en-US" sz="1400">
                <a:latin typeface="Carlito"/>
                <a:ea typeface="Carlito"/>
                <a:cs typeface="Carlito"/>
              </a:rPr>
              <a:t>and </a:t>
            </a:r>
            <a:r>
              <a:rPr lang="en-US" sz="1200"/>
              <a:t>screenY </a:t>
            </a:r>
            <a:r>
              <a:rPr lang="en-US" sz="1400">
                <a:latin typeface="Carlito"/>
                <a:ea typeface="Carlito"/>
                <a:cs typeface="Carlito"/>
              </a:rPr>
              <a:t>are not referenced  within the routine.</a:t>
            </a:r>
          </a:p>
        </p:txBody>
      </p:sp>
      <p:sp>
        <p:nvSpPr>
          <p:cNvPr id="16" name="object 13">
            <a:extLst>
              <a:ext uri="{FF2B5EF4-FFF2-40B4-BE49-F238E27FC236}">
                <a16:creationId xmlns:a16="http://schemas.microsoft.com/office/drawing/2014/main" id="{4A2A73B6-8F7C-ACE4-E74A-7B2238396362}"/>
              </a:ext>
            </a:extLst>
          </p:cNvPr>
          <p:cNvSpPr txBox="1"/>
          <p:nvPr/>
        </p:nvSpPr>
        <p:spPr>
          <a:xfrm>
            <a:off x="61793" y="6138687"/>
            <a:ext cx="9020414" cy="461963"/>
          </a:xfrm>
          <a:prstGeom prst="rect">
            <a:avLst/>
          </a:prstGeom>
          <a:solidFill>
            <a:srgbClr val="DEEBF7"/>
          </a:solidFill>
        </p:spPr>
        <p:txBody>
          <a:bodyPr wrap="square" lIns="0" tIns="31115" rIns="0" bIns="0">
            <a:spAutoFit/>
          </a:bodyPr>
          <a:lstStyle/>
          <a:p>
            <a:pPr marL="90805">
              <a:spcBef>
                <a:spcPts val="245"/>
              </a:spcBef>
              <a:defRPr/>
            </a:pPr>
            <a:r>
              <a:rPr sz="1400" spc="-5" dirty="0">
                <a:latin typeface="Carlito"/>
                <a:cs typeface="Carlito"/>
              </a:rPr>
              <a:t>One of </a:t>
            </a:r>
            <a:r>
              <a:rPr sz="1400" dirty="0">
                <a:latin typeface="Carlito"/>
                <a:cs typeface="Carlito"/>
              </a:rPr>
              <a:t>the </a:t>
            </a:r>
            <a:r>
              <a:rPr sz="1400" spc="-15" dirty="0">
                <a:latin typeface="Carlito"/>
                <a:cs typeface="Carlito"/>
              </a:rPr>
              <a:t>routine’s </a:t>
            </a:r>
            <a:r>
              <a:rPr sz="1400" spc="-10" dirty="0">
                <a:latin typeface="Carlito"/>
                <a:cs typeface="Carlito"/>
              </a:rPr>
              <a:t>parameters </a:t>
            </a:r>
            <a:r>
              <a:rPr sz="1400" dirty="0">
                <a:latin typeface="Carlito"/>
                <a:cs typeface="Carlito"/>
              </a:rPr>
              <a:t>is passed </a:t>
            </a:r>
            <a:r>
              <a:rPr sz="1400" spc="-5" dirty="0">
                <a:latin typeface="Carlito"/>
                <a:cs typeface="Carlito"/>
              </a:rPr>
              <a:t>incorrectly: </a:t>
            </a:r>
            <a:r>
              <a:rPr sz="1200" spc="80" dirty="0">
                <a:latin typeface="Arial"/>
                <a:cs typeface="Arial"/>
              </a:rPr>
              <a:t>prevColor </a:t>
            </a:r>
            <a:r>
              <a:rPr sz="1400" dirty="0">
                <a:latin typeface="Carlito"/>
                <a:cs typeface="Carlito"/>
              </a:rPr>
              <a:t>is labeled as a </a:t>
            </a:r>
            <a:r>
              <a:rPr sz="1400" spc="-15" dirty="0">
                <a:latin typeface="Carlito"/>
                <a:cs typeface="Carlito"/>
              </a:rPr>
              <a:t>reference </a:t>
            </a:r>
            <a:r>
              <a:rPr sz="1400" spc="-10" dirty="0">
                <a:latin typeface="Carlito"/>
                <a:cs typeface="Carlito"/>
              </a:rPr>
              <a:t>parameter </a:t>
            </a:r>
            <a:r>
              <a:rPr sz="1400" spc="-5" dirty="0">
                <a:latin typeface="Carlito"/>
                <a:cs typeface="Carlito"/>
              </a:rPr>
              <a:t>(&amp;) even </a:t>
            </a:r>
            <a:r>
              <a:rPr sz="1400" dirty="0">
                <a:latin typeface="Carlito"/>
                <a:cs typeface="Carlito"/>
              </a:rPr>
              <a:t>though it isn’t assigned a </a:t>
            </a:r>
            <a:r>
              <a:rPr sz="1400" spc="-5" dirty="0">
                <a:latin typeface="Carlito"/>
                <a:cs typeface="Carlito"/>
              </a:rPr>
              <a:t>value </a:t>
            </a:r>
            <a:r>
              <a:rPr sz="1400" dirty="0">
                <a:latin typeface="Carlito"/>
                <a:cs typeface="Carlito"/>
              </a:rPr>
              <a:t>within the</a:t>
            </a:r>
            <a:r>
              <a:rPr sz="1400" spc="-140" dirty="0">
                <a:latin typeface="Carlito"/>
                <a:cs typeface="Carlito"/>
              </a:rPr>
              <a:t> </a:t>
            </a:r>
            <a:r>
              <a:rPr sz="1400" spc="-5" dirty="0">
                <a:latin typeface="Carlito"/>
                <a:cs typeface="Carlito"/>
              </a:rPr>
              <a:t>routine.</a:t>
            </a:r>
            <a:endParaRPr sz="1400">
              <a:latin typeface="Carlito"/>
              <a:cs typeface="Carlito"/>
            </a:endParaRPr>
          </a:p>
        </p:txBody>
      </p:sp>
      <p:sp>
        <p:nvSpPr>
          <p:cNvPr id="17" name="object 14">
            <a:extLst>
              <a:ext uri="{FF2B5EF4-FFF2-40B4-BE49-F238E27FC236}">
                <a16:creationId xmlns:a16="http://schemas.microsoft.com/office/drawing/2014/main" id="{84DECF54-3DC0-9252-7D29-DF2B782F9DC8}"/>
              </a:ext>
            </a:extLst>
          </p:cNvPr>
          <p:cNvSpPr txBox="1">
            <a:spLocks noChangeArrowheads="1"/>
          </p:cNvSpPr>
          <p:nvPr/>
        </p:nvSpPr>
        <p:spPr bwMode="auto">
          <a:xfrm>
            <a:off x="61793" y="4814712"/>
            <a:ext cx="4024312" cy="682625"/>
          </a:xfrm>
          <a:prstGeom prst="rect">
            <a:avLst/>
          </a:prstGeom>
          <a:solidFill>
            <a:srgbClr val="DEEBF7"/>
          </a:solidFill>
          <a:ln w="9525">
            <a:noFill/>
            <a:miter lim="800000"/>
            <a:headEnd/>
            <a:tailEnd/>
          </a:ln>
        </p:spPr>
        <p:txBody>
          <a:bodyPr lIns="0" tIns="29845" rIns="0" bIns="0">
            <a:spAutoFit/>
          </a:bodyPr>
          <a:lstStyle/>
          <a:p>
            <a:pPr marL="90488">
              <a:lnSpc>
                <a:spcPct val="101000"/>
              </a:lnSpc>
              <a:spcBef>
                <a:spcPts val="238"/>
              </a:spcBef>
            </a:pPr>
            <a:r>
              <a:rPr lang="en-US" sz="1400">
                <a:latin typeface="Carlito"/>
                <a:ea typeface="Carlito"/>
                <a:cs typeface="Carlito"/>
              </a:rPr>
              <a:t>The routine has too many parameters. The upper limit for an  understandable number of parameters is about 7</a:t>
            </a:r>
          </a:p>
        </p:txBody>
      </p:sp>
      <p:sp>
        <p:nvSpPr>
          <p:cNvPr id="18" name="object 15">
            <a:extLst>
              <a:ext uri="{FF2B5EF4-FFF2-40B4-BE49-F238E27FC236}">
                <a16:creationId xmlns:a16="http://schemas.microsoft.com/office/drawing/2014/main" id="{8BA303C6-BE3D-6801-7607-2FB0EA142E06}"/>
              </a:ext>
            </a:extLst>
          </p:cNvPr>
          <p:cNvSpPr txBox="1">
            <a:spLocks noChangeArrowheads="1"/>
          </p:cNvSpPr>
          <p:nvPr/>
        </p:nvSpPr>
        <p:spPr bwMode="auto">
          <a:xfrm>
            <a:off x="61793" y="5576712"/>
            <a:ext cx="4024312" cy="463550"/>
          </a:xfrm>
          <a:prstGeom prst="rect">
            <a:avLst/>
          </a:prstGeom>
          <a:solidFill>
            <a:srgbClr val="DEEBF7"/>
          </a:solidFill>
          <a:ln w="9525">
            <a:noFill/>
            <a:miter lim="800000"/>
            <a:headEnd/>
            <a:tailEnd/>
          </a:ln>
        </p:spPr>
        <p:txBody>
          <a:bodyPr lIns="0" tIns="28575" rIns="0" bIns="0">
            <a:spAutoFit/>
          </a:bodyPr>
          <a:lstStyle/>
          <a:p>
            <a:pPr marL="90488">
              <a:lnSpc>
                <a:spcPct val="101000"/>
              </a:lnSpc>
              <a:spcBef>
                <a:spcPts val="225"/>
              </a:spcBef>
            </a:pPr>
            <a:r>
              <a:rPr lang="en-US" sz="1400">
                <a:latin typeface="Carlito"/>
                <a:ea typeface="Carlito"/>
                <a:cs typeface="Carlito"/>
              </a:rPr>
              <a:t>The routine’s parameters are poorly ordered and are not  documented</a:t>
            </a:r>
          </a:p>
        </p:txBody>
      </p:sp>
    </p:spTree>
    <p:extLst>
      <p:ext uri="{BB962C8B-B14F-4D97-AF65-F5344CB8AC3E}">
        <p14:creationId xmlns:p14="http://schemas.microsoft.com/office/powerpoint/2010/main" val="40219996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40" y="-10590"/>
            <a:ext cx="9169639" cy="817280"/>
          </a:xfrm>
          <a:solidFill>
            <a:schemeClr val="accent6">
              <a:lumMod val="40000"/>
              <a:lumOff val="60000"/>
            </a:schemeClr>
          </a:solidFill>
        </p:spPr>
        <p:txBody>
          <a:bodyPr anchor="ctr">
            <a:normAutofit/>
          </a:bodyPr>
          <a:lstStyle/>
          <a:p>
            <a:r>
              <a:rPr lang="en-US" sz="4400" b="1" dirty="0">
                <a:solidFill>
                  <a:schemeClr val="tx1"/>
                </a:solidFill>
                <a:latin typeface="+mn-lt"/>
              </a:rPr>
              <a:t>Valid Reasons to Create a Routine</a:t>
            </a:r>
            <a:endParaRPr lang="en-US" b="1" dirty="0">
              <a:solidFill>
                <a:schemeClr val="tx1"/>
              </a:solidFill>
              <a:latin typeface="+mn-lt"/>
            </a:endParaRPr>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6</a:t>
            </a:fld>
            <a:endParaRPr lang="en-US" sz="700"/>
          </a:p>
        </p:txBody>
      </p:sp>
      <p:sp>
        <p:nvSpPr>
          <p:cNvPr id="3" name="object 3">
            <a:extLst>
              <a:ext uri="{FF2B5EF4-FFF2-40B4-BE49-F238E27FC236}">
                <a16:creationId xmlns:a16="http://schemas.microsoft.com/office/drawing/2014/main" id="{D1EA70CB-D4C3-1C9D-3B9D-0B08E609782A}"/>
              </a:ext>
            </a:extLst>
          </p:cNvPr>
          <p:cNvSpPr txBox="1"/>
          <p:nvPr/>
        </p:nvSpPr>
        <p:spPr>
          <a:xfrm>
            <a:off x="2478657" y="1558506"/>
            <a:ext cx="4060825" cy="514350"/>
          </a:xfrm>
          <a:prstGeom prst="rect">
            <a:avLst/>
          </a:prstGeom>
          <a:ln w="12700">
            <a:solidFill>
              <a:srgbClr val="000000"/>
            </a:solidFill>
          </a:ln>
        </p:spPr>
        <p:txBody>
          <a:bodyPr lIns="0" tIns="20955" rIns="0" bIns="0">
            <a:spAutoFit/>
          </a:bodyPr>
          <a:lstStyle/>
          <a:p>
            <a:pPr marL="200025">
              <a:spcBef>
                <a:spcPts val="165"/>
              </a:spcBef>
              <a:defRPr/>
            </a:pPr>
            <a:r>
              <a:rPr sz="3200" b="1" spc="-15" dirty="0">
                <a:latin typeface="Carlito"/>
                <a:cs typeface="Carlito"/>
              </a:rPr>
              <a:t>Reduce </a:t>
            </a:r>
            <a:r>
              <a:rPr sz="3200" b="1" spc="-10" dirty="0">
                <a:latin typeface="Carlito"/>
                <a:cs typeface="Carlito"/>
              </a:rPr>
              <a:t>Complexity</a:t>
            </a:r>
            <a:endParaRPr sz="3200" dirty="0">
              <a:latin typeface="Carlito"/>
              <a:cs typeface="Carlito"/>
            </a:endParaRPr>
          </a:p>
        </p:txBody>
      </p:sp>
      <p:sp>
        <p:nvSpPr>
          <p:cNvPr id="4" name="object 4">
            <a:extLst>
              <a:ext uri="{FF2B5EF4-FFF2-40B4-BE49-F238E27FC236}">
                <a16:creationId xmlns:a16="http://schemas.microsoft.com/office/drawing/2014/main" id="{183888D8-E439-AEC1-DA84-FC06BB5868A9}"/>
              </a:ext>
            </a:extLst>
          </p:cNvPr>
          <p:cNvSpPr txBox="1">
            <a:spLocks noChangeArrowheads="1"/>
          </p:cNvSpPr>
          <p:nvPr/>
        </p:nvSpPr>
        <p:spPr bwMode="auto">
          <a:xfrm>
            <a:off x="-416943" y="2360194"/>
            <a:ext cx="9829800" cy="593725"/>
          </a:xfrm>
          <a:prstGeom prst="rect">
            <a:avLst/>
          </a:prstGeom>
          <a:noFill/>
          <a:ln w="9525">
            <a:noFill/>
            <a:miter lim="800000"/>
            <a:headEnd/>
            <a:tailEnd/>
          </a:ln>
        </p:spPr>
        <p:txBody>
          <a:bodyPr lIns="0" tIns="28575" rIns="0" bIns="0">
            <a:spAutoFit/>
          </a:bodyPr>
          <a:lstStyle/>
          <a:p>
            <a:pPr marL="1236663" indent="-1223963" algn="ctr">
              <a:lnSpc>
                <a:spcPts val="2088"/>
              </a:lnSpc>
              <a:spcBef>
                <a:spcPts val="225"/>
              </a:spcBef>
            </a:pPr>
            <a:r>
              <a:rPr lang="en-US" i="1" dirty="0">
                <a:latin typeface="Carlito"/>
                <a:ea typeface="Carlito"/>
                <a:cs typeface="Carlito"/>
              </a:rPr>
              <a:t>The single most important reason to create a routine is to reduce a program’s complexity. </a:t>
            </a:r>
          </a:p>
          <a:p>
            <a:pPr marL="1236663" indent="-1223963" algn="ctr">
              <a:lnSpc>
                <a:spcPts val="2088"/>
              </a:lnSpc>
              <a:spcBef>
                <a:spcPts val="225"/>
              </a:spcBef>
            </a:pPr>
            <a:r>
              <a:rPr lang="en-US" i="1" dirty="0">
                <a:latin typeface="Carlito"/>
                <a:ea typeface="Carlito"/>
                <a:cs typeface="Carlito"/>
              </a:rPr>
              <a:t>Create a routine to hide information so that you won’t need to think about it.</a:t>
            </a:r>
            <a:endParaRPr lang="en-US" dirty="0">
              <a:latin typeface="Carlito"/>
              <a:ea typeface="Carlito"/>
              <a:cs typeface="Carlito"/>
            </a:endParaRPr>
          </a:p>
        </p:txBody>
      </p:sp>
      <p:sp>
        <p:nvSpPr>
          <p:cNvPr id="6" name="object 5">
            <a:extLst>
              <a:ext uri="{FF2B5EF4-FFF2-40B4-BE49-F238E27FC236}">
                <a16:creationId xmlns:a16="http://schemas.microsoft.com/office/drawing/2014/main" id="{6A6278C0-2919-29B3-0152-C0005612A391}"/>
              </a:ext>
            </a:extLst>
          </p:cNvPr>
          <p:cNvSpPr txBox="1">
            <a:spLocks noChangeArrowheads="1"/>
          </p:cNvSpPr>
          <p:nvPr/>
        </p:nvSpPr>
        <p:spPr bwMode="auto">
          <a:xfrm>
            <a:off x="2859657" y="3473031"/>
            <a:ext cx="3505200" cy="1133475"/>
          </a:xfrm>
          <a:prstGeom prst="rect">
            <a:avLst/>
          </a:prstGeom>
          <a:solidFill>
            <a:srgbClr val="DEEBF7"/>
          </a:solidFill>
          <a:ln w="12700">
            <a:solidFill>
              <a:srgbClr val="000000"/>
            </a:solidFill>
            <a:miter lim="800000"/>
            <a:headEnd/>
            <a:tailEnd/>
          </a:ln>
        </p:spPr>
        <p:txBody>
          <a:bodyPr lIns="0" tIns="36194" rIns="0" bIns="0">
            <a:spAutoFit/>
          </a:bodyPr>
          <a:lstStyle/>
          <a:p>
            <a:pPr marL="90488">
              <a:lnSpc>
                <a:spcPct val="99000"/>
              </a:lnSpc>
              <a:spcBef>
                <a:spcPts val="288"/>
              </a:spcBef>
            </a:pPr>
            <a:r>
              <a:rPr lang="en-US" dirty="0">
                <a:latin typeface="Carlito"/>
                <a:ea typeface="Carlito"/>
                <a:cs typeface="Carlito"/>
              </a:rPr>
              <a:t>Other reasons to create routines:  minimizing code size and improving  maintainability and correctness</a:t>
            </a:r>
          </a:p>
        </p:txBody>
      </p:sp>
    </p:spTree>
    <p:extLst>
      <p:ext uri="{BB962C8B-B14F-4D97-AF65-F5344CB8AC3E}">
        <p14:creationId xmlns:p14="http://schemas.microsoft.com/office/powerpoint/2010/main" val="16604042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40" y="-10590"/>
            <a:ext cx="9169639" cy="817280"/>
          </a:xfrm>
          <a:solidFill>
            <a:schemeClr val="accent6">
              <a:lumMod val="40000"/>
              <a:lumOff val="60000"/>
            </a:schemeClr>
          </a:solidFill>
        </p:spPr>
        <p:txBody>
          <a:bodyPr anchor="ctr">
            <a:normAutofit/>
          </a:bodyPr>
          <a:lstStyle/>
          <a:p>
            <a:r>
              <a:rPr lang="en-US" sz="4400" b="1" dirty="0">
                <a:solidFill>
                  <a:schemeClr val="tx1"/>
                </a:solidFill>
                <a:latin typeface="+mn-lt"/>
              </a:rPr>
              <a:t>Valid Reasons to Create a Routine</a:t>
            </a:r>
            <a:endParaRPr lang="en-US" b="1" dirty="0">
              <a:solidFill>
                <a:schemeClr val="tx1"/>
              </a:solidFill>
              <a:latin typeface="+mn-lt"/>
            </a:endParaRPr>
          </a:p>
        </p:txBody>
      </p:sp>
      <p:sp>
        <p:nvSpPr>
          <p:cNvPr id="2" name="object 3">
            <a:extLst>
              <a:ext uri="{FF2B5EF4-FFF2-40B4-BE49-F238E27FC236}">
                <a16:creationId xmlns:a16="http://schemas.microsoft.com/office/drawing/2014/main" id="{F309E20F-F0F5-7C24-FC4D-88CF019202CA}"/>
              </a:ext>
            </a:extLst>
          </p:cNvPr>
          <p:cNvSpPr txBox="1"/>
          <p:nvPr/>
        </p:nvSpPr>
        <p:spPr>
          <a:xfrm>
            <a:off x="376237" y="1490932"/>
            <a:ext cx="8391525" cy="1006475"/>
          </a:xfrm>
          <a:prstGeom prst="rect">
            <a:avLst/>
          </a:prstGeom>
          <a:ln w="12700">
            <a:solidFill>
              <a:srgbClr val="000000"/>
            </a:solidFill>
          </a:ln>
        </p:spPr>
        <p:txBody>
          <a:bodyPr lIns="0" tIns="20955" rIns="0" bIns="0">
            <a:spAutoFit/>
          </a:bodyPr>
          <a:lstStyle/>
          <a:p>
            <a:pPr marL="229870" algn="ctr">
              <a:spcBef>
                <a:spcPts val="165"/>
              </a:spcBef>
              <a:defRPr/>
            </a:pPr>
            <a:r>
              <a:rPr sz="3200" b="1" spc="-15" dirty="0">
                <a:latin typeface="Carlito"/>
                <a:cs typeface="Carlito"/>
              </a:rPr>
              <a:t>Introduce </a:t>
            </a:r>
            <a:r>
              <a:rPr sz="3200" b="1" spc="-5" dirty="0">
                <a:latin typeface="Carlito"/>
                <a:cs typeface="Carlito"/>
              </a:rPr>
              <a:t>an </a:t>
            </a:r>
            <a:r>
              <a:rPr sz="3200" b="1" spc="-15" dirty="0">
                <a:latin typeface="Carlito"/>
                <a:cs typeface="Carlito"/>
              </a:rPr>
              <a:t>intermediate, understandable</a:t>
            </a:r>
            <a:r>
              <a:rPr sz="3200" b="1" spc="65" dirty="0">
                <a:latin typeface="Carlito"/>
                <a:cs typeface="Carlito"/>
              </a:rPr>
              <a:t> </a:t>
            </a:r>
            <a:r>
              <a:rPr sz="3200" b="1" spc="-15" dirty="0">
                <a:latin typeface="Carlito"/>
                <a:cs typeface="Carlito"/>
              </a:rPr>
              <a:t>abstraction</a:t>
            </a:r>
            <a:endParaRPr sz="3200" dirty="0">
              <a:latin typeface="Carlito"/>
              <a:cs typeface="Carlito"/>
            </a:endParaRPr>
          </a:p>
        </p:txBody>
      </p:sp>
      <p:sp>
        <p:nvSpPr>
          <p:cNvPr id="3" name="object 4">
            <a:extLst>
              <a:ext uri="{FF2B5EF4-FFF2-40B4-BE49-F238E27FC236}">
                <a16:creationId xmlns:a16="http://schemas.microsoft.com/office/drawing/2014/main" id="{71B90A17-7650-BDE7-5C0B-C056A98E865A}"/>
              </a:ext>
            </a:extLst>
          </p:cNvPr>
          <p:cNvSpPr txBox="1"/>
          <p:nvPr/>
        </p:nvSpPr>
        <p:spPr>
          <a:xfrm>
            <a:off x="766762" y="2633932"/>
            <a:ext cx="7585075" cy="566738"/>
          </a:xfrm>
          <a:prstGeom prst="rect">
            <a:avLst/>
          </a:prstGeom>
        </p:spPr>
        <p:txBody>
          <a:bodyPr lIns="0" tIns="12700" rIns="0" bIns="0">
            <a:spAutoFit/>
          </a:bodyPr>
          <a:lstStyle/>
          <a:p>
            <a:pPr marL="12700" algn="ctr">
              <a:spcBef>
                <a:spcPts val="100"/>
              </a:spcBef>
              <a:defRPr/>
            </a:pPr>
            <a:r>
              <a:rPr i="1" spc="-10" dirty="0">
                <a:latin typeface="Carlito"/>
                <a:cs typeface="Carlito"/>
              </a:rPr>
              <a:t>Putting </a:t>
            </a:r>
            <a:r>
              <a:rPr i="1" dirty="0">
                <a:latin typeface="Carlito"/>
                <a:cs typeface="Carlito"/>
              </a:rPr>
              <a:t>a </a:t>
            </a:r>
            <a:r>
              <a:rPr i="1" spc="-5" dirty="0">
                <a:latin typeface="Carlito"/>
                <a:cs typeface="Carlito"/>
              </a:rPr>
              <a:t>section </a:t>
            </a:r>
            <a:r>
              <a:rPr i="1" dirty="0">
                <a:latin typeface="Carlito"/>
                <a:cs typeface="Carlito"/>
              </a:rPr>
              <a:t>of </a:t>
            </a:r>
            <a:r>
              <a:rPr i="1" spc="-5" dirty="0">
                <a:latin typeface="Carlito"/>
                <a:cs typeface="Carlito"/>
              </a:rPr>
              <a:t>code </a:t>
            </a:r>
            <a:r>
              <a:rPr i="1" spc="-15" dirty="0">
                <a:latin typeface="Carlito"/>
                <a:cs typeface="Carlito"/>
              </a:rPr>
              <a:t>into </a:t>
            </a:r>
            <a:r>
              <a:rPr i="1" dirty="0">
                <a:latin typeface="Carlito"/>
                <a:cs typeface="Carlito"/>
              </a:rPr>
              <a:t>a </a:t>
            </a:r>
            <a:r>
              <a:rPr i="1" spc="-5" dirty="0">
                <a:latin typeface="Carlito"/>
                <a:cs typeface="Carlito"/>
              </a:rPr>
              <a:t>well-named routine is one </a:t>
            </a:r>
            <a:r>
              <a:rPr i="1" dirty="0">
                <a:latin typeface="Carlito"/>
                <a:cs typeface="Carlito"/>
              </a:rPr>
              <a:t>of </a:t>
            </a:r>
            <a:r>
              <a:rPr i="1" spc="-5" dirty="0">
                <a:latin typeface="Carlito"/>
                <a:cs typeface="Carlito"/>
              </a:rPr>
              <a:t>the </a:t>
            </a:r>
            <a:r>
              <a:rPr i="1" spc="-10" dirty="0">
                <a:latin typeface="Carlito"/>
                <a:cs typeface="Carlito"/>
              </a:rPr>
              <a:t>best </a:t>
            </a:r>
            <a:r>
              <a:rPr i="1" spc="-5" dirty="0">
                <a:latin typeface="Carlito"/>
                <a:cs typeface="Carlito"/>
              </a:rPr>
              <a:t>ways </a:t>
            </a:r>
            <a:r>
              <a:rPr i="1" spc="-15" dirty="0">
                <a:latin typeface="Carlito"/>
                <a:cs typeface="Carlito"/>
              </a:rPr>
              <a:t>to </a:t>
            </a:r>
            <a:r>
              <a:rPr i="1" spc="-5" dirty="0">
                <a:latin typeface="Carlito"/>
                <a:cs typeface="Carlito"/>
              </a:rPr>
              <a:t>document its</a:t>
            </a:r>
            <a:r>
              <a:rPr i="1" spc="180" dirty="0">
                <a:latin typeface="Carlito"/>
                <a:cs typeface="Carlito"/>
              </a:rPr>
              <a:t> </a:t>
            </a:r>
            <a:r>
              <a:rPr i="1" spc="-5" dirty="0">
                <a:latin typeface="Carlito"/>
                <a:cs typeface="Carlito"/>
              </a:rPr>
              <a:t>purpose</a:t>
            </a:r>
            <a:endParaRPr dirty="0">
              <a:latin typeface="Carlito"/>
              <a:cs typeface="Carlito"/>
            </a:endParaRPr>
          </a:p>
        </p:txBody>
      </p:sp>
      <p:grpSp>
        <p:nvGrpSpPr>
          <p:cNvPr id="4" name="object 5">
            <a:extLst>
              <a:ext uri="{FF2B5EF4-FFF2-40B4-BE49-F238E27FC236}">
                <a16:creationId xmlns:a16="http://schemas.microsoft.com/office/drawing/2014/main" id="{521EC63F-0884-801C-CAC3-01C7D5954D08}"/>
              </a:ext>
            </a:extLst>
          </p:cNvPr>
          <p:cNvGrpSpPr>
            <a:grpSpLocks/>
          </p:cNvGrpSpPr>
          <p:nvPr/>
        </p:nvGrpSpPr>
        <p:grpSpPr bwMode="auto">
          <a:xfrm>
            <a:off x="152707" y="3440382"/>
            <a:ext cx="4057650" cy="2851150"/>
            <a:chOff x="828922" y="2620772"/>
            <a:chExt cx="4919345" cy="2851785"/>
          </a:xfrm>
        </p:grpSpPr>
        <p:sp>
          <p:nvSpPr>
            <p:cNvPr id="5" name="object 6">
              <a:extLst>
                <a:ext uri="{FF2B5EF4-FFF2-40B4-BE49-F238E27FC236}">
                  <a16:creationId xmlns:a16="http://schemas.microsoft.com/office/drawing/2014/main" id="{1C410DE0-107B-2152-FF78-A49C3727A1B4}"/>
                </a:ext>
              </a:extLst>
            </p:cNvPr>
            <p:cNvSpPr>
              <a:spLocks noChangeArrowheads="1"/>
            </p:cNvSpPr>
            <p:nvPr/>
          </p:nvSpPr>
          <p:spPr bwMode="auto">
            <a:xfrm>
              <a:off x="838447" y="2630309"/>
              <a:ext cx="4899748" cy="2811742"/>
            </a:xfrm>
            <a:prstGeom prst="rect">
              <a:avLst/>
            </a:prstGeom>
            <a:blipFill dpi="0" rotWithShape="1">
              <a:blip r:embed="rId2" cstate="print"/>
              <a:srcRect/>
              <a:stretch>
                <a:fillRect/>
              </a:stretch>
            </a:blipFill>
            <a:ln w="9525">
              <a:noFill/>
              <a:miter lim="800000"/>
              <a:headEnd/>
              <a:tailEnd/>
            </a:ln>
          </p:spPr>
          <p:txBody>
            <a:bodyPr lIns="0" tIns="0" rIns="0" bIns="0"/>
            <a:lstStyle/>
            <a:p>
              <a:endParaRPr lang="en-US"/>
            </a:p>
          </p:txBody>
        </p:sp>
        <p:sp>
          <p:nvSpPr>
            <p:cNvPr id="6" name="object 7">
              <a:extLst>
                <a:ext uri="{FF2B5EF4-FFF2-40B4-BE49-F238E27FC236}">
                  <a16:creationId xmlns:a16="http://schemas.microsoft.com/office/drawing/2014/main" id="{B770E9FB-AF2D-9F21-32B1-657F19A7714E}"/>
                </a:ext>
              </a:extLst>
            </p:cNvPr>
            <p:cNvSpPr>
              <a:spLocks/>
            </p:cNvSpPr>
            <p:nvPr/>
          </p:nvSpPr>
          <p:spPr bwMode="auto">
            <a:xfrm>
              <a:off x="833685" y="2625534"/>
              <a:ext cx="4909820" cy="2842260"/>
            </a:xfrm>
            <a:custGeom>
              <a:avLst/>
              <a:gdLst>
                <a:gd name="T0" fmla="*/ 0 w 4909820"/>
                <a:gd name="T1" fmla="*/ 0 h 2842260"/>
                <a:gd name="T2" fmla="*/ 4909284 w 4909820"/>
                <a:gd name="T3" fmla="*/ 0 h 2842260"/>
                <a:gd name="T4" fmla="*/ 4909284 w 4909820"/>
                <a:gd name="T5" fmla="*/ 2841874 h 2842260"/>
                <a:gd name="T6" fmla="*/ 0 w 4909820"/>
                <a:gd name="T7" fmla="*/ 2841874 h 2842260"/>
                <a:gd name="T8" fmla="*/ 0 w 4909820"/>
                <a:gd name="T9" fmla="*/ 0 h 2842260"/>
                <a:gd name="T10" fmla="*/ 0 60000 65536"/>
                <a:gd name="T11" fmla="*/ 0 60000 65536"/>
                <a:gd name="T12" fmla="*/ 0 60000 65536"/>
                <a:gd name="T13" fmla="*/ 0 60000 65536"/>
                <a:gd name="T14" fmla="*/ 0 60000 65536"/>
                <a:gd name="T15" fmla="*/ 0 w 4909820"/>
                <a:gd name="T16" fmla="*/ 0 h 2842260"/>
                <a:gd name="T17" fmla="*/ 4909820 w 4909820"/>
                <a:gd name="T18" fmla="*/ 2842260 h 2842260"/>
              </a:gdLst>
              <a:ahLst/>
              <a:cxnLst>
                <a:cxn ang="T10">
                  <a:pos x="T0" y="T1"/>
                </a:cxn>
                <a:cxn ang="T11">
                  <a:pos x="T2" y="T3"/>
                </a:cxn>
                <a:cxn ang="T12">
                  <a:pos x="T4" y="T5"/>
                </a:cxn>
                <a:cxn ang="T13">
                  <a:pos x="T6" y="T7"/>
                </a:cxn>
                <a:cxn ang="T14">
                  <a:pos x="T8" y="T9"/>
                </a:cxn>
              </a:cxnLst>
              <a:rect l="T15" t="T16" r="T17" b="T18"/>
              <a:pathLst>
                <a:path w="4909820" h="2842260">
                  <a:moveTo>
                    <a:pt x="0" y="0"/>
                  </a:moveTo>
                  <a:lnTo>
                    <a:pt x="4909285" y="0"/>
                  </a:lnTo>
                  <a:lnTo>
                    <a:pt x="4909285" y="2841874"/>
                  </a:lnTo>
                  <a:lnTo>
                    <a:pt x="0" y="2841874"/>
                  </a:lnTo>
                  <a:lnTo>
                    <a:pt x="0" y="0"/>
                  </a:lnTo>
                  <a:close/>
                </a:path>
              </a:pathLst>
            </a:custGeom>
            <a:noFill/>
            <a:ln w="9525">
              <a:solidFill>
                <a:srgbClr val="000000"/>
              </a:solidFill>
              <a:round/>
              <a:headEnd/>
              <a:tailEnd/>
            </a:ln>
          </p:spPr>
          <p:txBody>
            <a:bodyPr lIns="0" tIns="0" rIns="0" bIns="0"/>
            <a:lstStyle/>
            <a:p>
              <a:endParaRPr lang="en-US"/>
            </a:p>
          </p:txBody>
        </p:sp>
      </p:grpSp>
      <p:sp>
        <p:nvSpPr>
          <p:cNvPr id="7" name="object 8">
            <a:extLst>
              <a:ext uri="{FF2B5EF4-FFF2-40B4-BE49-F238E27FC236}">
                <a16:creationId xmlns:a16="http://schemas.microsoft.com/office/drawing/2014/main" id="{C101AF58-52DA-B214-4BD0-1FE9A4E6CDD9}"/>
              </a:ext>
            </a:extLst>
          </p:cNvPr>
          <p:cNvSpPr txBox="1"/>
          <p:nvPr/>
        </p:nvSpPr>
        <p:spPr>
          <a:xfrm>
            <a:off x="5118562" y="4586557"/>
            <a:ext cx="4025438" cy="310983"/>
          </a:xfrm>
          <a:prstGeom prst="rect">
            <a:avLst/>
          </a:prstGeom>
          <a:ln w="9525">
            <a:solidFill>
              <a:srgbClr val="000000"/>
            </a:solidFill>
          </a:ln>
        </p:spPr>
        <p:txBody>
          <a:bodyPr wrap="square" lIns="0" tIns="33655" rIns="0" bIns="0">
            <a:spAutoFit/>
          </a:bodyPr>
          <a:lstStyle/>
          <a:p>
            <a:pPr marL="90805">
              <a:spcBef>
                <a:spcPts val="265"/>
              </a:spcBef>
              <a:defRPr/>
            </a:pPr>
            <a:r>
              <a:rPr dirty="0">
                <a:latin typeface="DejaVu Sans Mono"/>
                <a:cs typeface="DejaVu Sans Mono"/>
              </a:rPr>
              <a:t>leafName = GetLeafName( node</a:t>
            </a:r>
            <a:r>
              <a:rPr spc="-60" dirty="0">
                <a:latin typeface="DejaVu Sans Mono"/>
                <a:cs typeface="DejaVu Sans Mono"/>
              </a:rPr>
              <a:t> </a:t>
            </a:r>
            <a:r>
              <a:rPr dirty="0">
                <a:latin typeface="DejaVu Sans Mono"/>
                <a:cs typeface="DejaVu Sans Mono"/>
              </a:rPr>
              <a:t>)</a:t>
            </a:r>
          </a:p>
        </p:txBody>
      </p:sp>
      <p:grpSp>
        <p:nvGrpSpPr>
          <p:cNvPr id="9" name="object 9">
            <a:extLst>
              <a:ext uri="{FF2B5EF4-FFF2-40B4-BE49-F238E27FC236}">
                <a16:creationId xmlns:a16="http://schemas.microsoft.com/office/drawing/2014/main" id="{FE2091AB-87A4-9A9E-88C4-BACB3627F627}"/>
              </a:ext>
            </a:extLst>
          </p:cNvPr>
          <p:cNvGrpSpPr>
            <a:grpSpLocks/>
          </p:cNvGrpSpPr>
          <p:nvPr/>
        </p:nvGrpSpPr>
        <p:grpSpPr bwMode="auto">
          <a:xfrm>
            <a:off x="4281734" y="4472257"/>
            <a:ext cx="787400" cy="596900"/>
            <a:chOff x="5907087" y="3653421"/>
            <a:chExt cx="955040" cy="596265"/>
          </a:xfrm>
        </p:grpSpPr>
        <p:sp>
          <p:nvSpPr>
            <p:cNvPr id="10" name="object 10">
              <a:extLst>
                <a:ext uri="{FF2B5EF4-FFF2-40B4-BE49-F238E27FC236}">
                  <a16:creationId xmlns:a16="http://schemas.microsoft.com/office/drawing/2014/main" id="{7E5156D4-44E4-63C2-6CEF-5A04FB223132}"/>
                </a:ext>
              </a:extLst>
            </p:cNvPr>
            <p:cNvSpPr>
              <a:spLocks/>
            </p:cNvSpPr>
            <p:nvPr/>
          </p:nvSpPr>
          <p:spPr bwMode="auto">
            <a:xfrm>
              <a:off x="5913437" y="3659771"/>
              <a:ext cx="942340" cy="583565"/>
            </a:xfrm>
            <a:custGeom>
              <a:avLst/>
              <a:gdLst>
                <a:gd name="T0" fmla="*/ 650367 w 942340"/>
                <a:gd name="T1" fmla="*/ 0 h 583564"/>
                <a:gd name="T2" fmla="*/ 650367 w 942340"/>
                <a:gd name="T3" fmla="*/ 145872 h 583564"/>
                <a:gd name="T4" fmla="*/ 0 w 942340"/>
                <a:gd name="T5" fmla="*/ 145872 h 583564"/>
                <a:gd name="T6" fmla="*/ 0 w 942340"/>
                <a:gd name="T7" fmla="*/ 437621 h 583564"/>
                <a:gd name="T8" fmla="*/ 650367 w 942340"/>
                <a:gd name="T9" fmla="*/ 437621 h 583564"/>
                <a:gd name="T10" fmla="*/ 650367 w 942340"/>
                <a:gd name="T11" fmla="*/ 583481 h 583564"/>
                <a:gd name="T12" fmla="*/ 942098 w 942340"/>
                <a:gd name="T13" fmla="*/ 291744 h 583564"/>
                <a:gd name="T14" fmla="*/ 650367 w 942340"/>
                <a:gd name="T15" fmla="*/ 0 h 583564"/>
                <a:gd name="T16" fmla="*/ 0 60000 65536"/>
                <a:gd name="T17" fmla="*/ 0 60000 65536"/>
                <a:gd name="T18" fmla="*/ 0 60000 65536"/>
                <a:gd name="T19" fmla="*/ 0 60000 65536"/>
                <a:gd name="T20" fmla="*/ 0 60000 65536"/>
                <a:gd name="T21" fmla="*/ 0 60000 65536"/>
                <a:gd name="T22" fmla="*/ 0 60000 65536"/>
                <a:gd name="T23" fmla="*/ 0 60000 65536"/>
                <a:gd name="T24" fmla="*/ 0 w 942340"/>
                <a:gd name="T25" fmla="*/ 0 h 583564"/>
                <a:gd name="T26" fmla="*/ 942340 w 942340"/>
                <a:gd name="T27" fmla="*/ 583564 h 58356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942340" h="583564">
                  <a:moveTo>
                    <a:pt x="650367" y="0"/>
                  </a:moveTo>
                  <a:lnTo>
                    <a:pt x="650367" y="145872"/>
                  </a:lnTo>
                  <a:lnTo>
                    <a:pt x="0" y="145872"/>
                  </a:lnTo>
                  <a:lnTo>
                    <a:pt x="0" y="437616"/>
                  </a:lnTo>
                  <a:lnTo>
                    <a:pt x="650367" y="437616"/>
                  </a:lnTo>
                  <a:lnTo>
                    <a:pt x="650367" y="583476"/>
                  </a:lnTo>
                  <a:lnTo>
                    <a:pt x="942098" y="291744"/>
                  </a:lnTo>
                  <a:lnTo>
                    <a:pt x="650367" y="0"/>
                  </a:lnTo>
                  <a:close/>
                </a:path>
              </a:pathLst>
            </a:custGeom>
            <a:solidFill>
              <a:srgbClr val="000000"/>
            </a:solidFill>
            <a:ln w="9525">
              <a:noFill/>
              <a:round/>
              <a:headEnd/>
              <a:tailEnd/>
            </a:ln>
          </p:spPr>
          <p:txBody>
            <a:bodyPr lIns="0" tIns="0" rIns="0" bIns="0"/>
            <a:lstStyle/>
            <a:p>
              <a:endParaRPr lang="en-US"/>
            </a:p>
          </p:txBody>
        </p:sp>
        <p:sp>
          <p:nvSpPr>
            <p:cNvPr id="11" name="object 11">
              <a:extLst>
                <a:ext uri="{FF2B5EF4-FFF2-40B4-BE49-F238E27FC236}">
                  <a16:creationId xmlns:a16="http://schemas.microsoft.com/office/drawing/2014/main" id="{EB3A2E60-753C-A17B-366B-86705920FCDC}"/>
                </a:ext>
              </a:extLst>
            </p:cNvPr>
            <p:cNvSpPr>
              <a:spLocks/>
            </p:cNvSpPr>
            <p:nvPr/>
          </p:nvSpPr>
          <p:spPr bwMode="auto">
            <a:xfrm>
              <a:off x="5913437" y="3659771"/>
              <a:ext cx="942340" cy="583565"/>
            </a:xfrm>
            <a:custGeom>
              <a:avLst/>
              <a:gdLst>
                <a:gd name="T0" fmla="*/ 0 w 942340"/>
                <a:gd name="T1" fmla="*/ 145870 h 583564"/>
                <a:gd name="T2" fmla="*/ 650370 w 942340"/>
                <a:gd name="T3" fmla="*/ 145870 h 583564"/>
                <a:gd name="T4" fmla="*/ 650370 w 942340"/>
                <a:gd name="T5" fmla="*/ 0 h 583564"/>
                <a:gd name="T6" fmla="*/ 942109 w 942340"/>
                <a:gd name="T7" fmla="*/ 291740 h 583564"/>
                <a:gd name="T8" fmla="*/ 650370 w 942340"/>
                <a:gd name="T9" fmla="*/ 583484 h 583564"/>
                <a:gd name="T10" fmla="*/ 650370 w 942340"/>
                <a:gd name="T11" fmla="*/ 437615 h 583564"/>
                <a:gd name="T12" fmla="*/ 0 w 942340"/>
                <a:gd name="T13" fmla="*/ 437615 h 583564"/>
                <a:gd name="T14" fmla="*/ 0 w 942340"/>
                <a:gd name="T15" fmla="*/ 145870 h 583564"/>
                <a:gd name="T16" fmla="*/ 0 60000 65536"/>
                <a:gd name="T17" fmla="*/ 0 60000 65536"/>
                <a:gd name="T18" fmla="*/ 0 60000 65536"/>
                <a:gd name="T19" fmla="*/ 0 60000 65536"/>
                <a:gd name="T20" fmla="*/ 0 60000 65536"/>
                <a:gd name="T21" fmla="*/ 0 60000 65536"/>
                <a:gd name="T22" fmla="*/ 0 60000 65536"/>
                <a:gd name="T23" fmla="*/ 0 60000 65536"/>
                <a:gd name="T24" fmla="*/ 0 w 942340"/>
                <a:gd name="T25" fmla="*/ 0 h 583564"/>
                <a:gd name="T26" fmla="*/ 942340 w 942340"/>
                <a:gd name="T27" fmla="*/ 583564 h 58356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942340" h="583564">
                  <a:moveTo>
                    <a:pt x="0" y="145870"/>
                  </a:moveTo>
                  <a:lnTo>
                    <a:pt x="650370" y="145870"/>
                  </a:lnTo>
                  <a:lnTo>
                    <a:pt x="650370" y="0"/>
                  </a:lnTo>
                  <a:lnTo>
                    <a:pt x="942109" y="291740"/>
                  </a:lnTo>
                  <a:lnTo>
                    <a:pt x="650370" y="583479"/>
                  </a:lnTo>
                  <a:lnTo>
                    <a:pt x="650370" y="437610"/>
                  </a:lnTo>
                  <a:lnTo>
                    <a:pt x="0" y="437610"/>
                  </a:lnTo>
                  <a:lnTo>
                    <a:pt x="0" y="145870"/>
                  </a:lnTo>
                  <a:close/>
                </a:path>
              </a:pathLst>
            </a:custGeom>
            <a:noFill/>
            <a:ln w="12700">
              <a:solidFill>
                <a:srgbClr val="000000"/>
              </a:solidFill>
              <a:round/>
              <a:headEnd/>
              <a:tailEnd/>
            </a:ln>
          </p:spPr>
          <p:txBody>
            <a:bodyPr lIns="0" tIns="0" rIns="0" bIns="0"/>
            <a:lstStyle/>
            <a:p>
              <a:endParaRPr lang="en-US"/>
            </a:p>
          </p:txBody>
        </p:sp>
      </p:grpSp>
      <p:sp>
        <p:nvSpPr>
          <p:cNvPr id="12" name="Slide Number Placeholder 4">
            <a:extLst>
              <a:ext uri="{FF2B5EF4-FFF2-40B4-BE49-F238E27FC236}">
                <a16:creationId xmlns:a16="http://schemas.microsoft.com/office/drawing/2014/main" id="{4BBA3121-67D5-1836-B76D-301F92A862F0}"/>
              </a:ext>
            </a:extLst>
          </p:cNvPr>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7</a:t>
            </a:fld>
            <a:endParaRPr lang="en-US" sz="700"/>
          </a:p>
        </p:txBody>
      </p:sp>
    </p:spTree>
    <p:extLst>
      <p:ext uri="{BB962C8B-B14F-4D97-AF65-F5344CB8AC3E}">
        <p14:creationId xmlns:p14="http://schemas.microsoft.com/office/powerpoint/2010/main" val="29977047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40" y="-10590"/>
            <a:ext cx="9169639" cy="817280"/>
          </a:xfrm>
          <a:solidFill>
            <a:schemeClr val="accent6">
              <a:lumMod val="40000"/>
              <a:lumOff val="60000"/>
            </a:schemeClr>
          </a:solidFill>
        </p:spPr>
        <p:txBody>
          <a:bodyPr anchor="ctr">
            <a:normAutofit/>
          </a:bodyPr>
          <a:lstStyle/>
          <a:p>
            <a:r>
              <a:rPr lang="en-US" sz="4400" b="1" dirty="0">
                <a:solidFill>
                  <a:schemeClr val="tx1"/>
                </a:solidFill>
                <a:latin typeface="+mn-lt"/>
              </a:rPr>
              <a:t>Valid Reasons to Create a Routine</a:t>
            </a:r>
            <a:endParaRPr lang="en-US" b="1" dirty="0">
              <a:solidFill>
                <a:schemeClr val="tx1"/>
              </a:solidFill>
              <a:latin typeface="+mn-lt"/>
            </a:endParaRPr>
          </a:p>
        </p:txBody>
      </p:sp>
      <p:sp>
        <p:nvSpPr>
          <p:cNvPr id="3" name="Slide Number Placeholder 4">
            <a:extLst>
              <a:ext uri="{FF2B5EF4-FFF2-40B4-BE49-F238E27FC236}">
                <a16:creationId xmlns:a16="http://schemas.microsoft.com/office/drawing/2014/main" id="{84EA118D-79B3-5B4C-A27C-92968333C6F0}"/>
              </a:ext>
            </a:extLst>
          </p:cNvPr>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8</a:t>
            </a:fld>
            <a:endParaRPr lang="en-US" sz="700"/>
          </a:p>
        </p:txBody>
      </p:sp>
      <p:sp>
        <p:nvSpPr>
          <p:cNvPr id="10" name="object 4">
            <a:extLst>
              <a:ext uri="{FF2B5EF4-FFF2-40B4-BE49-F238E27FC236}">
                <a16:creationId xmlns:a16="http://schemas.microsoft.com/office/drawing/2014/main" id="{DA9C4BE6-9DCA-0847-257C-8319C24953FE}"/>
              </a:ext>
            </a:extLst>
          </p:cNvPr>
          <p:cNvSpPr txBox="1">
            <a:spLocks noChangeArrowheads="1"/>
          </p:cNvSpPr>
          <p:nvPr/>
        </p:nvSpPr>
        <p:spPr bwMode="auto">
          <a:xfrm>
            <a:off x="844429" y="2291146"/>
            <a:ext cx="7429500" cy="836612"/>
          </a:xfrm>
          <a:prstGeom prst="rect">
            <a:avLst/>
          </a:prstGeom>
          <a:noFill/>
          <a:ln w="9525">
            <a:noFill/>
            <a:miter lim="800000"/>
            <a:headEnd/>
            <a:tailEnd/>
          </a:ln>
        </p:spPr>
        <p:txBody>
          <a:bodyPr lIns="0" tIns="28575" rIns="0" bIns="0">
            <a:spAutoFit/>
          </a:bodyPr>
          <a:lstStyle/>
          <a:p>
            <a:pPr marL="44450" indent="-31750" algn="ctr">
              <a:lnSpc>
                <a:spcPts val="2088"/>
              </a:lnSpc>
              <a:spcBef>
                <a:spcPts val="225"/>
              </a:spcBef>
            </a:pPr>
            <a:r>
              <a:rPr lang="en-US" i="1" dirty="0">
                <a:latin typeface="Carlito"/>
                <a:ea typeface="Carlito"/>
                <a:cs typeface="Carlito"/>
              </a:rPr>
              <a:t>Pointer operations tend to be hard to read and error prone. By isolating them in routines, you can  concentrate on the intent of the operation rather than on the mechanics of pointer manipulation</a:t>
            </a:r>
            <a:endParaRPr lang="en-US" dirty="0">
              <a:latin typeface="Carlito"/>
              <a:ea typeface="Carlito"/>
              <a:cs typeface="Carlito"/>
            </a:endParaRPr>
          </a:p>
        </p:txBody>
      </p:sp>
      <p:sp>
        <p:nvSpPr>
          <p:cNvPr id="11" name="object 5">
            <a:extLst>
              <a:ext uri="{FF2B5EF4-FFF2-40B4-BE49-F238E27FC236}">
                <a16:creationId xmlns:a16="http://schemas.microsoft.com/office/drawing/2014/main" id="{50E6DBEA-3FC3-D775-C618-D28200B08D95}"/>
              </a:ext>
            </a:extLst>
          </p:cNvPr>
          <p:cNvSpPr txBox="1">
            <a:spLocks noChangeArrowheads="1"/>
          </p:cNvSpPr>
          <p:nvPr/>
        </p:nvSpPr>
        <p:spPr bwMode="auto">
          <a:xfrm>
            <a:off x="237226" y="3564207"/>
            <a:ext cx="3733800" cy="2287806"/>
          </a:xfrm>
          <a:prstGeom prst="rect">
            <a:avLst/>
          </a:prstGeom>
          <a:solidFill>
            <a:srgbClr val="DEEBF7"/>
          </a:solidFill>
          <a:ln w="9525">
            <a:noFill/>
            <a:miter lim="800000"/>
            <a:headEnd/>
            <a:tailEnd/>
          </a:ln>
        </p:spPr>
        <p:txBody>
          <a:bodyPr wrap="square" lIns="0" tIns="33020" rIns="0" bIns="0">
            <a:spAutoFit/>
          </a:bodyPr>
          <a:lstStyle/>
          <a:p>
            <a:pPr marL="90488">
              <a:spcBef>
                <a:spcPts val="263"/>
              </a:spcBef>
            </a:pPr>
            <a:r>
              <a:rPr lang="en-US" i="1" dirty="0">
                <a:latin typeface="Carlito"/>
                <a:ea typeface="Carlito"/>
                <a:cs typeface="Carlito"/>
              </a:rPr>
              <a:t>if the operations are done in only one place, you can be more certain that the code is correct. </a:t>
            </a:r>
          </a:p>
          <a:p>
            <a:pPr marL="90488">
              <a:spcBef>
                <a:spcPts val="263"/>
              </a:spcBef>
            </a:pPr>
            <a:r>
              <a:rPr lang="en-US" i="1" dirty="0">
                <a:latin typeface="Carlito"/>
                <a:ea typeface="Carlito"/>
                <a:cs typeface="Carlito"/>
              </a:rPr>
              <a:t>If you find a better data type than pointers, you can change the program without traumatizing the code that would have used the pointers.</a:t>
            </a:r>
            <a:endParaRPr lang="en-US" dirty="0">
              <a:latin typeface="Carlito"/>
              <a:ea typeface="Carlito"/>
              <a:cs typeface="Carlito"/>
            </a:endParaRPr>
          </a:p>
        </p:txBody>
      </p:sp>
      <p:grpSp>
        <p:nvGrpSpPr>
          <p:cNvPr id="12" name="object 6">
            <a:extLst>
              <a:ext uri="{FF2B5EF4-FFF2-40B4-BE49-F238E27FC236}">
                <a16:creationId xmlns:a16="http://schemas.microsoft.com/office/drawing/2014/main" id="{353B4854-D9E3-26F2-0E3F-436F06F5248E}"/>
              </a:ext>
            </a:extLst>
          </p:cNvPr>
          <p:cNvGrpSpPr>
            <a:grpSpLocks/>
          </p:cNvGrpSpPr>
          <p:nvPr/>
        </p:nvGrpSpPr>
        <p:grpSpPr bwMode="auto">
          <a:xfrm>
            <a:off x="4258364" y="3303857"/>
            <a:ext cx="4059237" cy="2852738"/>
            <a:chOff x="5151539" y="2561399"/>
            <a:chExt cx="4919345" cy="2851785"/>
          </a:xfrm>
        </p:grpSpPr>
        <p:sp>
          <p:nvSpPr>
            <p:cNvPr id="13" name="object 7">
              <a:extLst>
                <a:ext uri="{FF2B5EF4-FFF2-40B4-BE49-F238E27FC236}">
                  <a16:creationId xmlns:a16="http://schemas.microsoft.com/office/drawing/2014/main" id="{7DA14465-2855-C68E-DC2C-629ED6DB56EE}"/>
                </a:ext>
              </a:extLst>
            </p:cNvPr>
            <p:cNvSpPr>
              <a:spLocks noChangeArrowheads="1"/>
            </p:cNvSpPr>
            <p:nvPr/>
          </p:nvSpPr>
          <p:spPr bwMode="auto">
            <a:xfrm>
              <a:off x="5161064" y="2570924"/>
              <a:ext cx="4899748" cy="2811742"/>
            </a:xfrm>
            <a:prstGeom prst="rect">
              <a:avLst/>
            </a:prstGeom>
            <a:blipFill dpi="0" rotWithShape="1">
              <a:blip r:embed="rId2" cstate="print"/>
              <a:srcRect/>
              <a:stretch>
                <a:fillRect/>
              </a:stretch>
            </a:blipFill>
            <a:ln w="9525">
              <a:noFill/>
              <a:miter lim="800000"/>
              <a:headEnd/>
              <a:tailEnd/>
            </a:ln>
          </p:spPr>
          <p:txBody>
            <a:bodyPr lIns="0" tIns="0" rIns="0" bIns="0"/>
            <a:lstStyle/>
            <a:p>
              <a:endParaRPr lang="en-US"/>
            </a:p>
          </p:txBody>
        </p:sp>
        <p:sp>
          <p:nvSpPr>
            <p:cNvPr id="14" name="object 8">
              <a:extLst>
                <a:ext uri="{FF2B5EF4-FFF2-40B4-BE49-F238E27FC236}">
                  <a16:creationId xmlns:a16="http://schemas.microsoft.com/office/drawing/2014/main" id="{D48EF6C9-B9FE-D57A-8194-EC2C047F6B36}"/>
                </a:ext>
              </a:extLst>
            </p:cNvPr>
            <p:cNvSpPr>
              <a:spLocks/>
            </p:cNvSpPr>
            <p:nvPr/>
          </p:nvSpPr>
          <p:spPr bwMode="auto">
            <a:xfrm>
              <a:off x="5156301" y="2566162"/>
              <a:ext cx="4909820" cy="2842260"/>
            </a:xfrm>
            <a:custGeom>
              <a:avLst/>
              <a:gdLst>
                <a:gd name="T0" fmla="*/ 0 w 4909820"/>
                <a:gd name="T1" fmla="*/ 0 h 2842260"/>
                <a:gd name="T2" fmla="*/ 4909284 w 4909820"/>
                <a:gd name="T3" fmla="*/ 0 h 2842260"/>
                <a:gd name="T4" fmla="*/ 4909284 w 4909820"/>
                <a:gd name="T5" fmla="*/ 2841874 h 2842260"/>
                <a:gd name="T6" fmla="*/ 0 w 4909820"/>
                <a:gd name="T7" fmla="*/ 2841874 h 2842260"/>
                <a:gd name="T8" fmla="*/ 0 w 4909820"/>
                <a:gd name="T9" fmla="*/ 0 h 2842260"/>
                <a:gd name="T10" fmla="*/ 0 60000 65536"/>
                <a:gd name="T11" fmla="*/ 0 60000 65536"/>
                <a:gd name="T12" fmla="*/ 0 60000 65536"/>
                <a:gd name="T13" fmla="*/ 0 60000 65536"/>
                <a:gd name="T14" fmla="*/ 0 60000 65536"/>
                <a:gd name="T15" fmla="*/ 0 w 4909820"/>
                <a:gd name="T16" fmla="*/ 0 h 2842260"/>
                <a:gd name="T17" fmla="*/ 4909820 w 4909820"/>
                <a:gd name="T18" fmla="*/ 2842260 h 2842260"/>
              </a:gdLst>
              <a:ahLst/>
              <a:cxnLst>
                <a:cxn ang="T10">
                  <a:pos x="T0" y="T1"/>
                </a:cxn>
                <a:cxn ang="T11">
                  <a:pos x="T2" y="T3"/>
                </a:cxn>
                <a:cxn ang="T12">
                  <a:pos x="T4" y="T5"/>
                </a:cxn>
                <a:cxn ang="T13">
                  <a:pos x="T6" y="T7"/>
                </a:cxn>
                <a:cxn ang="T14">
                  <a:pos x="T8" y="T9"/>
                </a:cxn>
              </a:cxnLst>
              <a:rect l="T15" t="T16" r="T17" b="T18"/>
              <a:pathLst>
                <a:path w="4909820" h="2842260">
                  <a:moveTo>
                    <a:pt x="0" y="0"/>
                  </a:moveTo>
                  <a:lnTo>
                    <a:pt x="4909285" y="0"/>
                  </a:lnTo>
                  <a:lnTo>
                    <a:pt x="4909285" y="2841874"/>
                  </a:lnTo>
                  <a:lnTo>
                    <a:pt x="0" y="2841874"/>
                  </a:lnTo>
                  <a:lnTo>
                    <a:pt x="0" y="0"/>
                  </a:lnTo>
                  <a:close/>
                </a:path>
              </a:pathLst>
            </a:custGeom>
            <a:noFill/>
            <a:ln w="9525">
              <a:solidFill>
                <a:srgbClr val="000000"/>
              </a:solidFill>
              <a:round/>
              <a:headEnd/>
              <a:tailEnd/>
            </a:ln>
          </p:spPr>
          <p:txBody>
            <a:bodyPr lIns="0" tIns="0" rIns="0" bIns="0"/>
            <a:lstStyle/>
            <a:p>
              <a:endParaRPr lang="en-US"/>
            </a:p>
          </p:txBody>
        </p:sp>
      </p:grpSp>
      <p:sp>
        <p:nvSpPr>
          <p:cNvPr id="15" name="object 3">
            <a:extLst>
              <a:ext uri="{FF2B5EF4-FFF2-40B4-BE49-F238E27FC236}">
                <a16:creationId xmlns:a16="http://schemas.microsoft.com/office/drawing/2014/main" id="{A1C99BB2-D52E-B4E6-E6F7-01B784EAD088}"/>
              </a:ext>
            </a:extLst>
          </p:cNvPr>
          <p:cNvSpPr txBox="1"/>
          <p:nvPr/>
        </p:nvSpPr>
        <p:spPr>
          <a:xfrm>
            <a:off x="2124868" y="1631425"/>
            <a:ext cx="4894263" cy="514350"/>
          </a:xfrm>
          <a:prstGeom prst="rect">
            <a:avLst/>
          </a:prstGeom>
          <a:ln w="12700">
            <a:solidFill>
              <a:srgbClr val="000000"/>
            </a:solidFill>
          </a:ln>
        </p:spPr>
        <p:txBody>
          <a:bodyPr lIns="0" tIns="20955" rIns="0" bIns="0">
            <a:spAutoFit/>
          </a:bodyPr>
          <a:lstStyle/>
          <a:p>
            <a:pPr marL="204470">
              <a:spcBef>
                <a:spcPts val="165"/>
              </a:spcBef>
              <a:defRPr/>
            </a:pPr>
            <a:r>
              <a:rPr sz="3200" b="1" spc="-5" dirty="0">
                <a:latin typeface="Carlito"/>
                <a:cs typeface="Carlito"/>
              </a:rPr>
              <a:t>Hide </a:t>
            </a:r>
            <a:r>
              <a:rPr sz="3200" b="1" spc="-20" dirty="0">
                <a:latin typeface="Carlito"/>
                <a:cs typeface="Carlito"/>
              </a:rPr>
              <a:t>Pointer</a:t>
            </a:r>
            <a:r>
              <a:rPr sz="3200" b="1" spc="-35" dirty="0">
                <a:latin typeface="Carlito"/>
                <a:cs typeface="Carlito"/>
              </a:rPr>
              <a:t> </a:t>
            </a:r>
            <a:r>
              <a:rPr sz="3200" b="1" spc="-15" dirty="0">
                <a:latin typeface="Carlito"/>
                <a:cs typeface="Carlito"/>
              </a:rPr>
              <a:t>Operations</a:t>
            </a:r>
            <a:endParaRPr sz="3200" dirty="0">
              <a:latin typeface="Carlito"/>
              <a:cs typeface="Carlito"/>
            </a:endParaRPr>
          </a:p>
        </p:txBody>
      </p:sp>
    </p:spTree>
    <p:extLst>
      <p:ext uri="{BB962C8B-B14F-4D97-AF65-F5344CB8AC3E}">
        <p14:creationId xmlns:p14="http://schemas.microsoft.com/office/powerpoint/2010/main" val="38107589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39" y="-10590"/>
            <a:ext cx="9169639" cy="817280"/>
          </a:xfrm>
          <a:solidFill>
            <a:schemeClr val="accent6">
              <a:lumMod val="40000"/>
              <a:lumOff val="60000"/>
            </a:schemeClr>
          </a:solidFill>
        </p:spPr>
        <p:txBody>
          <a:bodyPr anchor="ctr">
            <a:normAutofit/>
          </a:bodyPr>
          <a:lstStyle/>
          <a:p>
            <a:r>
              <a:rPr lang="en-US" sz="4400" b="1" dirty="0">
                <a:solidFill>
                  <a:schemeClr val="tx1"/>
                </a:solidFill>
                <a:latin typeface="+mn-lt"/>
              </a:rPr>
              <a:t>Valid Reasons to Create a Routine</a:t>
            </a:r>
            <a:endParaRPr lang="en-US" b="1" dirty="0">
              <a:solidFill>
                <a:schemeClr val="tx1"/>
              </a:solidFill>
              <a:latin typeface="+mn-lt"/>
            </a:endParaRPr>
          </a:p>
        </p:txBody>
      </p:sp>
      <p:sp>
        <p:nvSpPr>
          <p:cNvPr id="2" name="Slide Number Placeholder 4">
            <a:extLst>
              <a:ext uri="{FF2B5EF4-FFF2-40B4-BE49-F238E27FC236}">
                <a16:creationId xmlns:a16="http://schemas.microsoft.com/office/drawing/2014/main" id="{BB8D85C8-CE84-66D2-46DF-777E075DBA1A}"/>
              </a:ext>
            </a:extLst>
          </p:cNvPr>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9</a:t>
            </a:fld>
            <a:endParaRPr lang="en-US" sz="700"/>
          </a:p>
        </p:txBody>
      </p:sp>
      <p:sp>
        <p:nvSpPr>
          <p:cNvPr id="3" name="object 3">
            <a:extLst>
              <a:ext uri="{FF2B5EF4-FFF2-40B4-BE49-F238E27FC236}">
                <a16:creationId xmlns:a16="http://schemas.microsoft.com/office/drawing/2014/main" id="{9481C8ED-DADE-EF5B-F117-C803B10B91FF}"/>
              </a:ext>
            </a:extLst>
          </p:cNvPr>
          <p:cNvSpPr txBox="1"/>
          <p:nvPr/>
        </p:nvSpPr>
        <p:spPr>
          <a:xfrm>
            <a:off x="2040147" y="1159175"/>
            <a:ext cx="4800600" cy="514350"/>
          </a:xfrm>
          <a:prstGeom prst="rect">
            <a:avLst/>
          </a:prstGeom>
          <a:ln w="12700">
            <a:solidFill>
              <a:srgbClr val="000000"/>
            </a:solidFill>
          </a:ln>
        </p:spPr>
        <p:txBody>
          <a:bodyPr lIns="0" tIns="20955" rIns="0" bIns="0">
            <a:spAutoFit/>
          </a:bodyPr>
          <a:lstStyle/>
          <a:p>
            <a:pPr marL="201930" algn="ctr">
              <a:spcBef>
                <a:spcPts val="165"/>
              </a:spcBef>
              <a:defRPr/>
            </a:pPr>
            <a:r>
              <a:rPr sz="3200" b="1" spc="-25" dirty="0">
                <a:latin typeface="Carlito"/>
                <a:cs typeface="Carlito"/>
              </a:rPr>
              <a:t>Avoid </a:t>
            </a:r>
            <a:r>
              <a:rPr sz="3200" b="1" spc="-15" dirty="0">
                <a:latin typeface="Carlito"/>
                <a:cs typeface="Carlito"/>
              </a:rPr>
              <a:t>duplicate</a:t>
            </a:r>
            <a:r>
              <a:rPr sz="3200" b="1" spc="-10" dirty="0">
                <a:latin typeface="Carlito"/>
                <a:cs typeface="Carlito"/>
              </a:rPr>
              <a:t> code</a:t>
            </a:r>
            <a:endParaRPr sz="3200" dirty="0">
              <a:latin typeface="Carlito"/>
              <a:cs typeface="Carlito"/>
            </a:endParaRPr>
          </a:p>
        </p:txBody>
      </p:sp>
      <p:sp>
        <p:nvSpPr>
          <p:cNvPr id="4" name="object 4">
            <a:extLst>
              <a:ext uri="{FF2B5EF4-FFF2-40B4-BE49-F238E27FC236}">
                <a16:creationId xmlns:a16="http://schemas.microsoft.com/office/drawing/2014/main" id="{DE5010EF-5BA6-6538-E715-6008ECD86162}"/>
              </a:ext>
            </a:extLst>
          </p:cNvPr>
          <p:cNvSpPr txBox="1"/>
          <p:nvPr/>
        </p:nvSpPr>
        <p:spPr>
          <a:xfrm>
            <a:off x="135147" y="1749725"/>
            <a:ext cx="8763000" cy="290513"/>
          </a:xfrm>
          <a:prstGeom prst="rect">
            <a:avLst/>
          </a:prstGeom>
        </p:spPr>
        <p:txBody>
          <a:bodyPr lIns="0" tIns="12700" rIns="0" bIns="0">
            <a:spAutoFit/>
          </a:bodyPr>
          <a:lstStyle/>
          <a:p>
            <a:pPr marL="12700" algn="ctr">
              <a:spcBef>
                <a:spcPts val="100"/>
              </a:spcBef>
              <a:defRPr/>
            </a:pPr>
            <a:r>
              <a:rPr lang="en-US" i="1" spc="-10" dirty="0">
                <a:latin typeface="Carlito"/>
                <a:cs typeface="Carlito"/>
              </a:rPr>
              <a:t>T</a:t>
            </a:r>
            <a:r>
              <a:rPr i="1" spc="-5" dirty="0">
                <a:latin typeface="Carlito"/>
                <a:cs typeface="Carlito"/>
              </a:rPr>
              <a:t>he </a:t>
            </a:r>
            <a:r>
              <a:rPr i="1" spc="-10" dirty="0">
                <a:latin typeface="Carlito"/>
                <a:cs typeface="Carlito"/>
              </a:rPr>
              <a:t>most </a:t>
            </a:r>
            <a:r>
              <a:rPr i="1" spc="-5" dirty="0">
                <a:latin typeface="Carlito"/>
                <a:cs typeface="Carlito"/>
              </a:rPr>
              <a:t>popular reason </a:t>
            </a:r>
            <a:r>
              <a:rPr i="1" spc="-10" dirty="0">
                <a:latin typeface="Carlito"/>
                <a:cs typeface="Carlito"/>
              </a:rPr>
              <a:t>for </a:t>
            </a:r>
            <a:r>
              <a:rPr i="1" spc="-5" dirty="0">
                <a:latin typeface="Carlito"/>
                <a:cs typeface="Carlito"/>
              </a:rPr>
              <a:t>creating </a:t>
            </a:r>
            <a:r>
              <a:rPr i="1" dirty="0">
                <a:latin typeface="Carlito"/>
                <a:cs typeface="Carlito"/>
              </a:rPr>
              <a:t>a </a:t>
            </a:r>
            <a:r>
              <a:rPr i="1" spc="-5" dirty="0">
                <a:latin typeface="Carlito"/>
                <a:cs typeface="Carlito"/>
              </a:rPr>
              <a:t>routine is </a:t>
            </a:r>
            <a:r>
              <a:rPr i="1" spc="-15" dirty="0">
                <a:latin typeface="Carlito"/>
                <a:cs typeface="Carlito"/>
              </a:rPr>
              <a:t>to </a:t>
            </a:r>
            <a:r>
              <a:rPr i="1" spc="-5" dirty="0">
                <a:latin typeface="Carlito"/>
                <a:cs typeface="Carlito"/>
              </a:rPr>
              <a:t>avoid </a:t>
            </a:r>
            <a:r>
              <a:rPr i="1" spc="-10" dirty="0">
                <a:latin typeface="Carlito"/>
                <a:cs typeface="Carlito"/>
              </a:rPr>
              <a:t>duplicate</a:t>
            </a:r>
            <a:r>
              <a:rPr i="1" spc="135" dirty="0">
                <a:latin typeface="Carlito"/>
                <a:cs typeface="Carlito"/>
              </a:rPr>
              <a:t> </a:t>
            </a:r>
            <a:r>
              <a:rPr i="1" spc="-5" dirty="0">
                <a:latin typeface="Carlito"/>
                <a:cs typeface="Carlito"/>
              </a:rPr>
              <a:t>code.</a:t>
            </a:r>
            <a:endParaRPr dirty="0">
              <a:latin typeface="Carlito"/>
              <a:cs typeface="Carlito"/>
            </a:endParaRPr>
          </a:p>
        </p:txBody>
      </p:sp>
      <p:sp>
        <p:nvSpPr>
          <p:cNvPr id="5" name="object 5">
            <a:extLst>
              <a:ext uri="{FF2B5EF4-FFF2-40B4-BE49-F238E27FC236}">
                <a16:creationId xmlns:a16="http://schemas.microsoft.com/office/drawing/2014/main" id="{1D40E1CC-3B2B-C6FF-2A46-654C8A6C2BBE}"/>
              </a:ext>
            </a:extLst>
          </p:cNvPr>
          <p:cNvSpPr>
            <a:spLocks noChangeArrowheads="1"/>
          </p:cNvSpPr>
          <p:nvPr/>
        </p:nvSpPr>
        <p:spPr bwMode="auto">
          <a:xfrm>
            <a:off x="3003760" y="2022775"/>
            <a:ext cx="3036887" cy="4527550"/>
          </a:xfrm>
          <a:prstGeom prst="rect">
            <a:avLst/>
          </a:prstGeom>
          <a:blipFill dpi="0" rotWithShape="1">
            <a:blip r:embed="rId2" cstate="print"/>
            <a:srcRect/>
            <a:stretch>
              <a:fillRect/>
            </a:stretch>
          </a:blipFill>
          <a:ln w="9525">
            <a:noFill/>
            <a:miter lim="800000"/>
            <a:headEnd/>
            <a:tailEnd/>
          </a:ln>
        </p:spPr>
        <p:txBody>
          <a:bodyPr lIns="0" tIns="0" rIns="0" bIns="0"/>
          <a:lstStyle/>
          <a:p>
            <a:endParaRPr lang="en-US"/>
          </a:p>
        </p:txBody>
      </p:sp>
    </p:spTree>
    <p:extLst>
      <p:ext uri="{BB962C8B-B14F-4D97-AF65-F5344CB8AC3E}">
        <p14:creationId xmlns:p14="http://schemas.microsoft.com/office/powerpoint/2010/main" val="2510957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39" y="-10590"/>
            <a:ext cx="9169639" cy="817280"/>
          </a:xfrm>
          <a:solidFill>
            <a:schemeClr val="accent6">
              <a:lumMod val="40000"/>
              <a:lumOff val="60000"/>
            </a:schemeClr>
          </a:solidFill>
        </p:spPr>
        <p:txBody>
          <a:bodyPr anchor="ctr">
            <a:normAutofit/>
          </a:bodyPr>
          <a:lstStyle/>
          <a:p>
            <a:r>
              <a:rPr lang="en-US" sz="4400" b="1" dirty="0">
                <a:solidFill>
                  <a:schemeClr val="tx1"/>
                </a:solidFill>
                <a:latin typeface="+mn-lt"/>
              </a:rPr>
              <a:t>Valid Reasons to Create a Routine</a:t>
            </a:r>
            <a:endParaRPr lang="en-US" b="1" dirty="0">
              <a:solidFill>
                <a:schemeClr val="tx1"/>
              </a:solidFill>
              <a:latin typeface="+mn-lt"/>
            </a:endParaRPr>
          </a:p>
        </p:txBody>
      </p:sp>
      <p:sp>
        <p:nvSpPr>
          <p:cNvPr id="2" name="Slide Number Placeholder 4">
            <a:extLst>
              <a:ext uri="{FF2B5EF4-FFF2-40B4-BE49-F238E27FC236}">
                <a16:creationId xmlns:a16="http://schemas.microsoft.com/office/drawing/2014/main" id="{BB8D85C8-CE84-66D2-46DF-777E075DBA1A}"/>
              </a:ext>
            </a:extLst>
          </p:cNvPr>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10</a:t>
            </a:fld>
            <a:endParaRPr lang="en-US" sz="700"/>
          </a:p>
        </p:txBody>
      </p:sp>
      <p:sp>
        <p:nvSpPr>
          <p:cNvPr id="6" name="object 3">
            <a:extLst>
              <a:ext uri="{FF2B5EF4-FFF2-40B4-BE49-F238E27FC236}">
                <a16:creationId xmlns:a16="http://schemas.microsoft.com/office/drawing/2014/main" id="{3CC48268-5A20-15C1-F27E-CFD53E6E8651}"/>
              </a:ext>
            </a:extLst>
          </p:cNvPr>
          <p:cNvSpPr txBox="1"/>
          <p:nvPr/>
        </p:nvSpPr>
        <p:spPr>
          <a:xfrm>
            <a:off x="2705100" y="1455924"/>
            <a:ext cx="3733800" cy="514350"/>
          </a:xfrm>
          <a:prstGeom prst="rect">
            <a:avLst/>
          </a:prstGeom>
          <a:ln w="12700">
            <a:solidFill>
              <a:srgbClr val="000000"/>
            </a:solidFill>
          </a:ln>
        </p:spPr>
        <p:txBody>
          <a:bodyPr lIns="0" tIns="20955" rIns="0" bIns="0">
            <a:spAutoFit/>
          </a:bodyPr>
          <a:lstStyle/>
          <a:p>
            <a:pPr marL="197485" algn="ctr">
              <a:spcBef>
                <a:spcPts val="165"/>
              </a:spcBef>
              <a:defRPr/>
            </a:pPr>
            <a:r>
              <a:rPr sz="3200" b="1" dirty="0">
                <a:latin typeface="Carlito"/>
                <a:cs typeface="Carlito"/>
              </a:rPr>
              <a:t>Hide</a:t>
            </a:r>
            <a:r>
              <a:rPr sz="3200" b="1" spc="-35" dirty="0">
                <a:latin typeface="Carlito"/>
                <a:cs typeface="Carlito"/>
              </a:rPr>
              <a:t> </a:t>
            </a:r>
            <a:r>
              <a:rPr sz="3200" b="1" spc="-5" dirty="0">
                <a:latin typeface="Carlito"/>
                <a:cs typeface="Carlito"/>
              </a:rPr>
              <a:t>Sequences</a:t>
            </a:r>
            <a:endParaRPr sz="3200" dirty="0">
              <a:latin typeface="Carlito"/>
              <a:cs typeface="Carlito"/>
            </a:endParaRPr>
          </a:p>
        </p:txBody>
      </p:sp>
      <p:sp>
        <p:nvSpPr>
          <p:cNvPr id="7" name="object 4">
            <a:extLst>
              <a:ext uri="{FF2B5EF4-FFF2-40B4-BE49-F238E27FC236}">
                <a16:creationId xmlns:a16="http://schemas.microsoft.com/office/drawing/2014/main" id="{77E53987-5999-81A8-8071-EB6D717C0548}"/>
              </a:ext>
            </a:extLst>
          </p:cNvPr>
          <p:cNvSpPr txBox="1"/>
          <p:nvPr/>
        </p:nvSpPr>
        <p:spPr>
          <a:xfrm>
            <a:off x="1028700" y="2136962"/>
            <a:ext cx="7848600" cy="290512"/>
          </a:xfrm>
          <a:prstGeom prst="rect">
            <a:avLst/>
          </a:prstGeom>
        </p:spPr>
        <p:txBody>
          <a:bodyPr lIns="0" tIns="12700" rIns="0" bIns="0">
            <a:spAutoFit/>
          </a:bodyPr>
          <a:lstStyle/>
          <a:p>
            <a:pPr marL="12700">
              <a:spcBef>
                <a:spcPts val="100"/>
              </a:spcBef>
              <a:defRPr/>
            </a:pPr>
            <a:r>
              <a:rPr i="1" spc="-15" dirty="0">
                <a:latin typeface="Carlito"/>
                <a:cs typeface="Carlito"/>
              </a:rPr>
              <a:t>It’s </a:t>
            </a:r>
            <a:r>
              <a:rPr i="1" dirty="0">
                <a:latin typeface="Carlito"/>
                <a:cs typeface="Carlito"/>
              </a:rPr>
              <a:t>a </a:t>
            </a:r>
            <a:r>
              <a:rPr i="1" spc="-5" dirty="0">
                <a:latin typeface="Carlito"/>
                <a:cs typeface="Carlito"/>
              </a:rPr>
              <a:t>good idea </a:t>
            </a:r>
            <a:r>
              <a:rPr i="1" spc="-15" dirty="0">
                <a:latin typeface="Carlito"/>
                <a:cs typeface="Carlito"/>
              </a:rPr>
              <a:t>to </a:t>
            </a:r>
            <a:r>
              <a:rPr i="1" spc="-5" dirty="0">
                <a:latin typeface="Carlito"/>
                <a:cs typeface="Carlito"/>
              </a:rPr>
              <a:t>hide the order in which </a:t>
            </a:r>
            <a:r>
              <a:rPr i="1" spc="-10" dirty="0">
                <a:latin typeface="Carlito"/>
                <a:cs typeface="Carlito"/>
              </a:rPr>
              <a:t>events </a:t>
            </a:r>
            <a:r>
              <a:rPr i="1" spc="-5" dirty="0">
                <a:latin typeface="Carlito"/>
                <a:cs typeface="Carlito"/>
              </a:rPr>
              <a:t>happen </a:t>
            </a:r>
            <a:r>
              <a:rPr i="1" spc="-15" dirty="0">
                <a:latin typeface="Carlito"/>
                <a:cs typeface="Carlito"/>
              </a:rPr>
              <a:t>to </a:t>
            </a:r>
            <a:r>
              <a:rPr i="1" spc="-5" dirty="0">
                <a:latin typeface="Carlito"/>
                <a:cs typeface="Carlito"/>
              </a:rPr>
              <a:t>be</a:t>
            </a:r>
            <a:r>
              <a:rPr i="1" spc="185" dirty="0">
                <a:latin typeface="Carlito"/>
                <a:cs typeface="Carlito"/>
              </a:rPr>
              <a:t> </a:t>
            </a:r>
            <a:r>
              <a:rPr i="1" spc="-5" dirty="0">
                <a:latin typeface="Carlito"/>
                <a:cs typeface="Carlito"/>
              </a:rPr>
              <a:t>processed</a:t>
            </a:r>
            <a:endParaRPr dirty="0">
              <a:latin typeface="Carlito"/>
              <a:cs typeface="Carlito"/>
            </a:endParaRPr>
          </a:p>
        </p:txBody>
      </p:sp>
      <p:sp>
        <p:nvSpPr>
          <p:cNvPr id="8" name="object 5">
            <a:extLst>
              <a:ext uri="{FF2B5EF4-FFF2-40B4-BE49-F238E27FC236}">
                <a16:creationId xmlns:a16="http://schemas.microsoft.com/office/drawing/2014/main" id="{71C68B65-71AE-E387-0609-7D1A7BF72508}"/>
              </a:ext>
            </a:extLst>
          </p:cNvPr>
          <p:cNvSpPr txBox="1">
            <a:spLocks noChangeArrowheads="1"/>
          </p:cNvSpPr>
          <p:nvPr/>
        </p:nvSpPr>
        <p:spPr bwMode="auto">
          <a:xfrm>
            <a:off x="190501" y="2657662"/>
            <a:ext cx="3195638" cy="3339376"/>
          </a:xfrm>
          <a:prstGeom prst="rect">
            <a:avLst/>
          </a:prstGeom>
          <a:solidFill>
            <a:srgbClr val="DEEBF7"/>
          </a:solidFill>
          <a:ln w="9525">
            <a:noFill/>
            <a:miter lim="800000"/>
            <a:headEnd/>
            <a:tailEnd/>
          </a:ln>
        </p:spPr>
        <p:txBody>
          <a:bodyPr wrap="square" lIns="0" tIns="30480" rIns="0" bIns="0">
            <a:spAutoFit/>
          </a:bodyPr>
          <a:lstStyle/>
          <a:p>
            <a:pPr marL="90488">
              <a:spcBef>
                <a:spcPts val="238"/>
              </a:spcBef>
            </a:pPr>
            <a:r>
              <a:rPr lang="en-US" i="1" dirty="0">
                <a:latin typeface="Carlito"/>
                <a:ea typeface="Carlito"/>
                <a:cs typeface="Carlito"/>
              </a:rPr>
              <a:t>For example</a:t>
            </a:r>
            <a:r>
              <a:rPr lang="en-US" dirty="0">
                <a:latin typeface="Carlito"/>
                <a:ea typeface="Carlito"/>
                <a:cs typeface="Carlito"/>
              </a:rPr>
              <a:t>, a sequence might be found when you have two lines of code that read the top of a stack and  decrement a </a:t>
            </a:r>
            <a:r>
              <a:rPr lang="en-US" i="1" dirty="0" err="1">
                <a:latin typeface="Carlito"/>
                <a:ea typeface="Carlito"/>
                <a:cs typeface="Carlito"/>
              </a:rPr>
              <a:t>stackTop</a:t>
            </a:r>
            <a:r>
              <a:rPr lang="en-US" dirty="0" err="1">
                <a:latin typeface="Carlito"/>
                <a:ea typeface="Carlito"/>
                <a:cs typeface="Carlito"/>
              </a:rPr>
              <a:t>variable</a:t>
            </a:r>
            <a:r>
              <a:rPr lang="en-US" dirty="0">
                <a:latin typeface="Carlito"/>
                <a:ea typeface="Carlito"/>
                <a:cs typeface="Carlito"/>
              </a:rPr>
              <a:t>.</a:t>
            </a:r>
          </a:p>
          <a:p>
            <a:pPr marL="90488"/>
            <a:endParaRPr lang="en-US" sz="1700" dirty="0">
              <a:latin typeface="Carlito"/>
              <a:ea typeface="Carlito"/>
              <a:cs typeface="Carlito"/>
            </a:endParaRPr>
          </a:p>
          <a:p>
            <a:pPr marL="90488"/>
            <a:r>
              <a:rPr lang="en-US" dirty="0">
                <a:latin typeface="Carlito"/>
                <a:ea typeface="Carlito"/>
                <a:cs typeface="Carlito"/>
              </a:rPr>
              <a:t>Put those two lines of code into a  </a:t>
            </a:r>
            <a:r>
              <a:rPr lang="en-US" i="1" dirty="0" err="1">
                <a:latin typeface="Carlito"/>
                <a:ea typeface="Carlito"/>
                <a:cs typeface="Carlito"/>
              </a:rPr>
              <a:t>PopStack</a:t>
            </a:r>
            <a:r>
              <a:rPr lang="en-US" i="1" dirty="0">
                <a:latin typeface="Carlito"/>
                <a:ea typeface="Carlito"/>
                <a:cs typeface="Carlito"/>
              </a:rPr>
              <a:t>() </a:t>
            </a:r>
            <a:r>
              <a:rPr lang="en-US" dirty="0">
                <a:latin typeface="Carlito"/>
                <a:ea typeface="Carlito"/>
                <a:cs typeface="Carlito"/>
              </a:rPr>
              <a:t>routine to hide the assumption about the order in which the two operations must be  performed</a:t>
            </a:r>
          </a:p>
        </p:txBody>
      </p:sp>
      <p:sp>
        <p:nvSpPr>
          <p:cNvPr id="9" name="object 6">
            <a:extLst>
              <a:ext uri="{FF2B5EF4-FFF2-40B4-BE49-F238E27FC236}">
                <a16:creationId xmlns:a16="http://schemas.microsoft.com/office/drawing/2014/main" id="{CCCA6523-1ED0-CE38-F2AD-1E0B760780F5}"/>
              </a:ext>
            </a:extLst>
          </p:cNvPr>
          <p:cNvSpPr txBox="1">
            <a:spLocks noChangeArrowheads="1"/>
          </p:cNvSpPr>
          <p:nvPr/>
        </p:nvSpPr>
        <p:spPr bwMode="auto">
          <a:xfrm>
            <a:off x="3771900" y="3395849"/>
            <a:ext cx="5181599" cy="1744708"/>
          </a:xfrm>
          <a:prstGeom prst="rect">
            <a:avLst/>
          </a:prstGeom>
          <a:solidFill>
            <a:srgbClr val="FFF2CC"/>
          </a:solidFill>
          <a:ln w="9525">
            <a:noFill/>
            <a:miter lim="800000"/>
            <a:headEnd/>
            <a:tailEnd/>
          </a:ln>
        </p:spPr>
        <p:txBody>
          <a:bodyPr wrap="square" lIns="0" tIns="20955" rIns="0" bIns="0">
            <a:spAutoFit/>
          </a:bodyPr>
          <a:lstStyle/>
          <a:p>
            <a:pPr marL="90488">
              <a:spcBef>
                <a:spcPts val="163"/>
              </a:spcBef>
            </a:pPr>
            <a:r>
              <a:rPr lang="en-US" sz="2800" dirty="0">
                <a:latin typeface="Carlito"/>
                <a:ea typeface="Carlito"/>
                <a:cs typeface="Carlito"/>
              </a:rPr>
              <a:t>Hiding that assumption will be better than baking it into code from one end of the system to the other.</a:t>
            </a:r>
          </a:p>
        </p:txBody>
      </p:sp>
    </p:spTree>
    <p:extLst>
      <p:ext uri="{BB962C8B-B14F-4D97-AF65-F5344CB8AC3E}">
        <p14:creationId xmlns:p14="http://schemas.microsoft.com/office/powerpoint/2010/main" val="20412520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39" y="-10590"/>
            <a:ext cx="9169639" cy="817280"/>
          </a:xfrm>
          <a:solidFill>
            <a:schemeClr val="accent6">
              <a:lumMod val="40000"/>
              <a:lumOff val="60000"/>
            </a:schemeClr>
          </a:solidFill>
        </p:spPr>
        <p:txBody>
          <a:bodyPr anchor="ctr">
            <a:normAutofit/>
          </a:bodyPr>
          <a:lstStyle/>
          <a:p>
            <a:r>
              <a:rPr lang="en-US" sz="4400" b="1" dirty="0">
                <a:solidFill>
                  <a:schemeClr val="tx1"/>
                </a:solidFill>
                <a:latin typeface="+mn-lt"/>
              </a:rPr>
              <a:t>Valid Reasons to Create a Routine</a:t>
            </a:r>
            <a:endParaRPr lang="en-US" b="1" dirty="0">
              <a:solidFill>
                <a:schemeClr val="tx1"/>
              </a:solidFill>
              <a:latin typeface="+mn-lt"/>
            </a:endParaRPr>
          </a:p>
        </p:txBody>
      </p:sp>
      <p:sp>
        <p:nvSpPr>
          <p:cNvPr id="2" name="Slide Number Placeholder 4">
            <a:extLst>
              <a:ext uri="{FF2B5EF4-FFF2-40B4-BE49-F238E27FC236}">
                <a16:creationId xmlns:a16="http://schemas.microsoft.com/office/drawing/2014/main" id="{BB8D85C8-CE84-66D2-46DF-777E075DBA1A}"/>
              </a:ext>
            </a:extLst>
          </p:cNvPr>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11</a:t>
            </a:fld>
            <a:endParaRPr lang="en-US" sz="700"/>
          </a:p>
        </p:txBody>
      </p:sp>
      <p:sp>
        <p:nvSpPr>
          <p:cNvPr id="6" name="object 3">
            <a:extLst>
              <a:ext uri="{FF2B5EF4-FFF2-40B4-BE49-F238E27FC236}">
                <a16:creationId xmlns:a16="http://schemas.microsoft.com/office/drawing/2014/main" id="{5E404DD8-9DB7-CA39-F0C1-78C654F7D92F}"/>
              </a:ext>
            </a:extLst>
          </p:cNvPr>
          <p:cNvSpPr txBox="1"/>
          <p:nvPr/>
        </p:nvSpPr>
        <p:spPr>
          <a:xfrm>
            <a:off x="2657475" y="1400865"/>
            <a:ext cx="3829050" cy="512762"/>
          </a:xfrm>
          <a:prstGeom prst="rect">
            <a:avLst/>
          </a:prstGeom>
          <a:ln w="12700">
            <a:solidFill>
              <a:srgbClr val="000000"/>
            </a:solidFill>
          </a:ln>
        </p:spPr>
        <p:txBody>
          <a:bodyPr lIns="0" tIns="20955" rIns="0" bIns="0">
            <a:spAutoFit/>
          </a:bodyPr>
          <a:lstStyle/>
          <a:p>
            <a:pPr marL="200660">
              <a:spcBef>
                <a:spcPts val="165"/>
              </a:spcBef>
              <a:defRPr/>
            </a:pPr>
            <a:r>
              <a:rPr sz="3200" b="1" spc="-15" dirty="0">
                <a:latin typeface="Carlito"/>
                <a:cs typeface="Carlito"/>
              </a:rPr>
              <a:t>Improve</a:t>
            </a:r>
            <a:r>
              <a:rPr sz="3200" b="1" spc="-35" dirty="0">
                <a:latin typeface="Carlito"/>
                <a:cs typeface="Carlito"/>
              </a:rPr>
              <a:t> </a:t>
            </a:r>
            <a:r>
              <a:rPr sz="3200" b="1" spc="-5" dirty="0">
                <a:latin typeface="Carlito"/>
                <a:cs typeface="Carlito"/>
              </a:rPr>
              <a:t>portability</a:t>
            </a:r>
            <a:endParaRPr sz="3200" dirty="0">
              <a:latin typeface="Carlito"/>
              <a:cs typeface="Carlito"/>
            </a:endParaRPr>
          </a:p>
        </p:txBody>
      </p:sp>
      <p:sp>
        <p:nvSpPr>
          <p:cNvPr id="7" name="object 4">
            <a:extLst>
              <a:ext uri="{FF2B5EF4-FFF2-40B4-BE49-F238E27FC236}">
                <a16:creationId xmlns:a16="http://schemas.microsoft.com/office/drawing/2014/main" id="{06920C99-EC73-8BF2-4CB0-3DAB10D03C77}"/>
              </a:ext>
            </a:extLst>
          </p:cNvPr>
          <p:cNvSpPr txBox="1">
            <a:spLocks noChangeArrowheads="1"/>
          </p:cNvSpPr>
          <p:nvPr/>
        </p:nvSpPr>
        <p:spPr bwMode="auto">
          <a:xfrm>
            <a:off x="1438275" y="2032690"/>
            <a:ext cx="7239000" cy="566737"/>
          </a:xfrm>
          <a:prstGeom prst="rect">
            <a:avLst/>
          </a:prstGeom>
          <a:noFill/>
          <a:ln w="9525">
            <a:noFill/>
            <a:miter lim="800000"/>
            <a:headEnd/>
            <a:tailEnd/>
          </a:ln>
        </p:spPr>
        <p:txBody>
          <a:bodyPr lIns="0" tIns="28575" rIns="0" bIns="0">
            <a:spAutoFit/>
          </a:bodyPr>
          <a:lstStyle/>
          <a:p>
            <a:pPr marL="1504950" indent="-1492250">
              <a:lnSpc>
                <a:spcPts val="2088"/>
              </a:lnSpc>
              <a:spcBef>
                <a:spcPts val="225"/>
              </a:spcBef>
            </a:pPr>
            <a:r>
              <a:rPr lang="en-US" i="1" dirty="0">
                <a:latin typeface="Carlito"/>
                <a:ea typeface="Carlito"/>
                <a:cs typeface="Carlito"/>
              </a:rPr>
              <a:t>Use of routines isolates nonportable capabilities, explicitly identifying  and isolating future portability work.</a:t>
            </a:r>
            <a:endParaRPr lang="en-US" dirty="0">
              <a:latin typeface="Carlito"/>
              <a:ea typeface="Carlito"/>
              <a:cs typeface="Carlito"/>
            </a:endParaRPr>
          </a:p>
        </p:txBody>
      </p:sp>
      <p:sp>
        <p:nvSpPr>
          <p:cNvPr id="8" name="object 5">
            <a:extLst>
              <a:ext uri="{FF2B5EF4-FFF2-40B4-BE49-F238E27FC236}">
                <a16:creationId xmlns:a16="http://schemas.microsoft.com/office/drawing/2014/main" id="{3831AEC2-27B9-7418-F907-E875B85059FF}"/>
              </a:ext>
            </a:extLst>
          </p:cNvPr>
          <p:cNvSpPr txBox="1">
            <a:spLocks noChangeArrowheads="1"/>
          </p:cNvSpPr>
          <p:nvPr/>
        </p:nvSpPr>
        <p:spPr bwMode="auto">
          <a:xfrm>
            <a:off x="70988" y="3182164"/>
            <a:ext cx="8952242" cy="1319212"/>
          </a:xfrm>
          <a:prstGeom prst="rect">
            <a:avLst/>
          </a:prstGeom>
          <a:solidFill>
            <a:srgbClr val="DEEBF7"/>
          </a:solidFill>
          <a:ln w="9525">
            <a:noFill/>
            <a:miter lim="800000"/>
            <a:headEnd/>
            <a:tailEnd/>
          </a:ln>
        </p:spPr>
        <p:txBody>
          <a:bodyPr wrap="square" lIns="0" tIns="13970" rIns="0" bIns="0">
            <a:spAutoFit/>
          </a:bodyPr>
          <a:lstStyle/>
          <a:p>
            <a:pPr marL="150813" indent="242888" algn="ctr">
              <a:lnSpc>
                <a:spcPct val="101000"/>
              </a:lnSpc>
              <a:spcBef>
                <a:spcPts val="113"/>
              </a:spcBef>
            </a:pPr>
            <a:r>
              <a:rPr lang="en-US" sz="2800" i="1" dirty="0" err="1">
                <a:latin typeface="Carlito"/>
                <a:ea typeface="Carlito"/>
                <a:cs typeface="Carlito"/>
              </a:rPr>
              <a:t>Nonportable</a:t>
            </a:r>
            <a:r>
              <a:rPr lang="en-US" sz="2800" i="1" dirty="0">
                <a:latin typeface="Carlito"/>
                <a:ea typeface="Carlito"/>
                <a:cs typeface="Carlito"/>
              </a:rPr>
              <a:t> capabilities include nonstandard language features, hardware dependencies, operating-system dependencies, and so on.</a:t>
            </a:r>
            <a:endParaRPr lang="en-US" sz="2800" dirty="0">
              <a:latin typeface="Carlito"/>
              <a:ea typeface="Carlito"/>
              <a:cs typeface="Carlito"/>
            </a:endParaRPr>
          </a:p>
        </p:txBody>
      </p:sp>
    </p:spTree>
    <p:extLst>
      <p:ext uri="{BB962C8B-B14F-4D97-AF65-F5344CB8AC3E}">
        <p14:creationId xmlns:p14="http://schemas.microsoft.com/office/powerpoint/2010/main" val="38954196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39" y="-10590"/>
            <a:ext cx="9169639" cy="817280"/>
          </a:xfrm>
          <a:solidFill>
            <a:schemeClr val="accent6">
              <a:lumMod val="40000"/>
              <a:lumOff val="60000"/>
            </a:schemeClr>
          </a:solidFill>
        </p:spPr>
        <p:txBody>
          <a:bodyPr anchor="ctr">
            <a:normAutofit/>
          </a:bodyPr>
          <a:lstStyle/>
          <a:p>
            <a:r>
              <a:rPr lang="en-US" sz="4400" b="1" dirty="0">
                <a:solidFill>
                  <a:schemeClr val="tx1"/>
                </a:solidFill>
                <a:latin typeface="+mn-lt"/>
              </a:rPr>
              <a:t>Valid Reasons to Create a Routine</a:t>
            </a:r>
            <a:endParaRPr lang="en-US" b="1" dirty="0">
              <a:solidFill>
                <a:schemeClr val="tx1"/>
              </a:solidFill>
              <a:latin typeface="+mn-lt"/>
            </a:endParaRPr>
          </a:p>
        </p:txBody>
      </p:sp>
      <p:sp>
        <p:nvSpPr>
          <p:cNvPr id="2" name="Slide Number Placeholder 4">
            <a:extLst>
              <a:ext uri="{FF2B5EF4-FFF2-40B4-BE49-F238E27FC236}">
                <a16:creationId xmlns:a16="http://schemas.microsoft.com/office/drawing/2014/main" id="{BB8D85C8-CE84-66D2-46DF-777E075DBA1A}"/>
              </a:ext>
            </a:extLst>
          </p:cNvPr>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12</a:t>
            </a:fld>
            <a:endParaRPr lang="en-US" sz="700"/>
          </a:p>
        </p:txBody>
      </p:sp>
      <p:sp>
        <p:nvSpPr>
          <p:cNvPr id="10" name="object 3">
            <a:extLst>
              <a:ext uri="{FF2B5EF4-FFF2-40B4-BE49-F238E27FC236}">
                <a16:creationId xmlns:a16="http://schemas.microsoft.com/office/drawing/2014/main" id="{9BB45FB5-DB4F-49D6-3D0D-C4E3C00845FC}"/>
              </a:ext>
            </a:extLst>
          </p:cNvPr>
          <p:cNvSpPr txBox="1"/>
          <p:nvPr/>
        </p:nvSpPr>
        <p:spPr>
          <a:xfrm>
            <a:off x="1447800" y="1524000"/>
            <a:ext cx="7239000" cy="514350"/>
          </a:xfrm>
          <a:prstGeom prst="rect">
            <a:avLst/>
          </a:prstGeom>
          <a:ln w="12700">
            <a:solidFill>
              <a:srgbClr val="000000"/>
            </a:solidFill>
          </a:ln>
        </p:spPr>
        <p:txBody>
          <a:bodyPr lIns="0" tIns="20955" rIns="0" bIns="0">
            <a:spAutoFit/>
          </a:bodyPr>
          <a:lstStyle/>
          <a:p>
            <a:pPr marL="213360">
              <a:spcBef>
                <a:spcPts val="165"/>
              </a:spcBef>
              <a:defRPr/>
            </a:pPr>
            <a:r>
              <a:rPr sz="3200" b="1" dirty="0">
                <a:latin typeface="Carlito"/>
                <a:cs typeface="Carlito"/>
              </a:rPr>
              <a:t>Simplify </a:t>
            </a:r>
            <a:r>
              <a:rPr sz="3200" b="1" spc="-10" dirty="0">
                <a:latin typeface="Carlito"/>
                <a:cs typeface="Carlito"/>
              </a:rPr>
              <a:t>Complicated </a:t>
            </a:r>
            <a:r>
              <a:rPr sz="3200" b="1" spc="-5" dirty="0">
                <a:latin typeface="Carlito"/>
                <a:cs typeface="Carlito"/>
              </a:rPr>
              <a:t>Boolean</a:t>
            </a:r>
            <a:r>
              <a:rPr sz="3200" b="1" spc="-40" dirty="0">
                <a:latin typeface="Carlito"/>
                <a:cs typeface="Carlito"/>
              </a:rPr>
              <a:t> </a:t>
            </a:r>
            <a:r>
              <a:rPr sz="3200" b="1" spc="-65" dirty="0">
                <a:latin typeface="Carlito"/>
                <a:cs typeface="Carlito"/>
              </a:rPr>
              <a:t>Tests</a:t>
            </a:r>
            <a:endParaRPr sz="3200" dirty="0">
              <a:latin typeface="Carlito"/>
              <a:cs typeface="Carlito"/>
            </a:endParaRPr>
          </a:p>
        </p:txBody>
      </p:sp>
      <p:sp>
        <p:nvSpPr>
          <p:cNvPr id="11" name="object 4">
            <a:extLst>
              <a:ext uri="{FF2B5EF4-FFF2-40B4-BE49-F238E27FC236}">
                <a16:creationId xmlns:a16="http://schemas.microsoft.com/office/drawing/2014/main" id="{9BDAFB90-89A8-3264-04E9-C3EE1E30607B}"/>
              </a:ext>
            </a:extLst>
          </p:cNvPr>
          <p:cNvSpPr txBox="1"/>
          <p:nvPr/>
        </p:nvSpPr>
        <p:spPr>
          <a:xfrm>
            <a:off x="1033463" y="2155825"/>
            <a:ext cx="7807325" cy="566738"/>
          </a:xfrm>
          <a:prstGeom prst="rect">
            <a:avLst/>
          </a:prstGeom>
        </p:spPr>
        <p:txBody>
          <a:bodyPr lIns="0" tIns="12700" rIns="0" bIns="0">
            <a:spAutoFit/>
          </a:bodyPr>
          <a:lstStyle/>
          <a:p>
            <a:pPr marL="12700" algn="ctr">
              <a:spcBef>
                <a:spcPts val="100"/>
              </a:spcBef>
              <a:defRPr/>
            </a:pPr>
            <a:r>
              <a:rPr i="1" spc="-10" dirty="0">
                <a:latin typeface="Carlito"/>
                <a:cs typeface="Carlito"/>
              </a:rPr>
              <a:t>Understanding complicated </a:t>
            </a:r>
            <a:r>
              <a:rPr i="1" spc="-5" dirty="0">
                <a:latin typeface="Carlito"/>
                <a:cs typeface="Carlito"/>
              </a:rPr>
              <a:t>boolean </a:t>
            </a:r>
            <a:r>
              <a:rPr i="1" spc="-15" dirty="0">
                <a:latin typeface="Carlito"/>
                <a:cs typeface="Carlito"/>
              </a:rPr>
              <a:t>tests </a:t>
            </a:r>
            <a:r>
              <a:rPr i="1" dirty="0">
                <a:latin typeface="Carlito"/>
                <a:cs typeface="Carlito"/>
              </a:rPr>
              <a:t>in </a:t>
            </a:r>
            <a:r>
              <a:rPr i="1" spc="-10" dirty="0">
                <a:latin typeface="Carlito"/>
                <a:cs typeface="Carlito"/>
              </a:rPr>
              <a:t>detail </a:t>
            </a:r>
            <a:r>
              <a:rPr i="1" dirty="0">
                <a:latin typeface="Carlito"/>
                <a:cs typeface="Carlito"/>
              </a:rPr>
              <a:t>is </a:t>
            </a:r>
            <a:r>
              <a:rPr i="1" spc="-5" dirty="0">
                <a:latin typeface="Carlito"/>
                <a:cs typeface="Carlito"/>
              </a:rPr>
              <a:t>rarely necessary </a:t>
            </a:r>
            <a:r>
              <a:rPr i="1" spc="-10" dirty="0">
                <a:latin typeface="Carlito"/>
                <a:cs typeface="Carlito"/>
              </a:rPr>
              <a:t>for understanding </a:t>
            </a:r>
            <a:r>
              <a:rPr i="1" spc="-5" dirty="0">
                <a:latin typeface="Carlito"/>
                <a:cs typeface="Carlito"/>
              </a:rPr>
              <a:t>program</a:t>
            </a:r>
            <a:r>
              <a:rPr i="1" spc="215" dirty="0">
                <a:latin typeface="Carlito"/>
                <a:cs typeface="Carlito"/>
              </a:rPr>
              <a:t> </a:t>
            </a:r>
            <a:r>
              <a:rPr i="1" spc="-20" dirty="0">
                <a:latin typeface="Carlito"/>
                <a:cs typeface="Carlito"/>
              </a:rPr>
              <a:t>flow.</a:t>
            </a:r>
            <a:endParaRPr dirty="0">
              <a:latin typeface="Carlito"/>
              <a:cs typeface="Carlito"/>
            </a:endParaRPr>
          </a:p>
        </p:txBody>
      </p:sp>
      <p:sp>
        <p:nvSpPr>
          <p:cNvPr id="12" name="object 5">
            <a:extLst>
              <a:ext uri="{FF2B5EF4-FFF2-40B4-BE49-F238E27FC236}">
                <a16:creationId xmlns:a16="http://schemas.microsoft.com/office/drawing/2014/main" id="{682A2D23-2279-FC10-6CE6-EA05DE9F68A6}"/>
              </a:ext>
            </a:extLst>
          </p:cNvPr>
          <p:cNvSpPr txBox="1">
            <a:spLocks noChangeArrowheads="1"/>
          </p:cNvSpPr>
          <p:nvPr/>
        </p:nvSpPr>
        <p:spPr bwMode="auto">
          <a:xfrm>
            <a:off x="76200" y="3162300"/>
            <a:ext cx="3810000" cy="2324995"/>
          </a:xfrm>
          <a:prstGeom prst="rect">
            <a:avLst/>
          </a:prstGeom>
          <a:solidFill>
            <a:srgbClr val="DEEBF7"/>
          </a:solidFill>
          <a:ln w="9525">
            <a:noFill/>
            <a:miter lim="800000"/>
            <a:headEnd/>
            <a:tailEnd/>
          </a:ln>
        </p:spPr>
        <p:txBody>
          <a:bodyPr lIns="0" tIns="31750" rIns="0" bIns="0">
            <a:spAutoFit/>
          </a:bodyPr>
          <a:lstStyle/>
          <a:p>
            <a:pPr marL="90488">
              <a:spcBef>
                <a:spcPts val="250"/>
              </a:spcBef>
            </a:pPr>
            <a:r>
              <a:rPr lang="en-US" dirty="0">
                <a:latin typeface="Carlito"/>
                <a:ea typeface="Carlito"/>
                <a:cs typeface="Carlito"/>
              </a:rPr>
              <a:t>Putting such a test into a function  makes the code more readable  because: </a:t>
            </a:r>
          </a:p>
          <a:p>
            <a:pPr marL="433388" indent="-342900">
              <a:spcBef>
                <a:spcPts val="250"/>
              </a:spcBef>
              <a:buAutoNum type="arabicParenBoth"/>
            </a:pPr>
            <a:r>
              <a:rPr lang="en-US" dirty="0">
                <a:latin typeface="Carlito"/>
                <a:ea typeface="Carlito"/>
                <a:cs typeface="Carlito"/>
              </a:rPr>
              <a:t>The details of the test  are out of the way and </a:t>
            </a:r>
          </a:p>
          <a:p>
            <a:pPr marL="433388" indent="-342900">
              <a:spcBef>
                <a:spcPts val="250"/>
              </a:spcBef>
              <a:buAutoNum type="arabicParenBoth"/>
            </a:pPr>
            <a:r>
              <a:rPr lang="en-US" dirty="0">
                <a:latin typeface="Carlito"/>
                <a:ea typeface="Carlito"/>
                <a:cs typeface="Carlito"/>
              </a:rPr>
              <a:t>A descriptive function name  summarizes the purpose of the test.</a:t>
            </a:r>
          </a:p>
        </p:txBody>
      </p:sp>
      <p:sp>
        <p:nvSpPr>
          <p:cNvPr id="13" name="object 6">
            <a:extLst>
              <a:ext uri="{FF2B5EF4-FFF2-40B4-BE49-F238E27FC236}">
                <a16:creationId xmlns:a16="http://schemas.microsoft.com/office/drawing/2014/main" id="{1C8946AF-4029-9834-B832-A06D08E34D6A}"/>
              </a:ext>
            </a:extLst>
          </p:cNvPr>
          <p:cNvSpPr txBox="1">
            <a:spLocks noChangeArrowheads="1"/>
          </p:cNvSpPr>
          <p:nvPr/>
        </p:nvSpPr>
        <p:spPr bwMode="auto">
          <a:xfrm>
            <a:off x="3962400" y="3562064"/>
            <a:ext cx="5105400" cy="1869935"/>
          </a:xfrm>
          <a:prstGeom prst="rect">
            <a:avLst/>
          </a:prstGeom>
          <a:solidFill>
            <a:srgbClr val="FFF2CC"/>
          </a:solidFill>
          <a:ln w="9525">
            <a:noFill/>
            <a:miter lim="800000"/>
            <a:headEnd/>
            <a:tailEnd/>
          </a:ln>
        </p:spPr>
        <p:txBody>
          <a:bodyPr wrap="square" lIns="0" tIns="16510" rIns="0" bIns="0">
            <a:spAutoFit/>
          </a:bodyPr>
          <a:lstStyle/>
          <a:p>
            <a:pPr marL="90488">
              <a:lnSpc>
                <a:spcPct val="101000"/>
              </a:lnSpc>
              <a:spcBef>
                <a:spcPts val="125"/>
              </a:spcBef>
            </a:pPr>
            <a:r>
              <a:rPr lang="en-US" sz="2400" dirty="0">
                <a:latin typeface="Carlito"/>
                <a:ea typeface="Carlito"/>
                <a:cs typeface="Carlito"/>
              </a:rPr>
              <a:t>Giving the test a function of its own emphasizes its significance. It encourages extra effort to make the details of the test readable inside its function.</a:t>
            </a:r>
          </a:p>
        </p:txBody>
      </p:sp>
    </p:spTree>
    <p:extLst>
      <p:ext uri="{BB962C8B-B14F-4D97-AF65-F5344CB8AC3E}">
        <p14:creationId xmlns:p14="http://schemas.microsoft.com/office/powerpoint/2010/main" val="9255941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39" y="-10590"/>
            <a:ext cx="9169639" cy="817280"/>
          </a:xfrm>
          <a:solidFill>
            <a:schemeClr val="accent6">
              <a:lumMod val="40000"/>
              <a:lumOff val="60000"/>
            </a:schemeClr>
          </a:solidFill>
        </p:spPr>
        <p:txBody>
          <a:bodyPr anchor="ctr">
            <a:normAutofit/>
          </a:bodyPr>
          <a:lstStyle/>
          <a:p>
            <a:r>
              <a:rPr lang="en-US" sz="4400" b="1" dirty="0">
                <a:solidFill>
                  <a:schemeClr val="tx1"/>
                </a:solidFill>
                <a:latin typeface="+mn-lt"/>
              </a:rPr>
              <a:t>Valid Reasons to Create a Routine</a:t>
            </a:r>
            <a:endParaRPr lang="en-US" b="1" dirty="0">
              <a:solidFill>
                <a:schemeClr val="tx1"/>
              </a:solidFill>
              <a:latin typeface="+mn-lt"/>
            </a:endParaRPr>
          </a:p>
        </p:txBody>
      </p:sp>
      <p:sp>
        <p:nvSpPr>
          <p:cNvPr id="2" name="Slide Number Placeholder 4">
            <a:extLst>
              <a:ext uri="{FF2B5EF4-FFF2-40B4-BE49-F238E27FC236}">
                <a16:creationId xmlns:a16="http://schemas.microsoft.com/office/drawing/2014/main" id="{BB8D85C8-CE84-66D2-46DF-777E075DBA1A}"/>
              </a:ext>
            </a:extLst>
          </p:cNvPr>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13</a:t>
            </a:fld>
            <a:endParaRPr lang="en-US" sz="700"/>
          </a:p>
        </p:txBody>
      </p:sp>
      <p:sp>
        <p:nvSpPr>
          <p:cNvPr id="6" name="object 3">
            <a:extLst>
              <a:ext uri="{FF2B5EF4-FFF2-40B4-BE49-F238E27FC236}">
                <a16:creationId xmlns:a16="http://schemas.microsoft.com/office/drawing/2014/main" id="{83B1C22B-2872-D3B2-2979-386C8C824714}"/>
              </a:ext>
            </a:extLst>
          </p:cNvPr>
          <p:cNvSpPr txBox="1"/>
          <p:nvPr/>
        </p:nvSpPr>
        <p:spPr>
          <a:xfrm>
            <a:off x="2743200" y="1439863"/>
            <a:ext cx="4419600" cy="514350"/>
          </a:xfrm>
          <a:prstGeom prst="rect">
            <a:avLst/>
          </a:prstGeom>
          <a:ln w="12700">
            <a:solidFill>
              <a:srgbClr val="000000"/>
            </a:solidFill>
          </a:ln>
        </p:spPr>
        <p:txBody>
          <a:bodyPr lIns="0" tIns="20955" rIns="0" bIns="0">
            <a:spAutoFit/>
          </a:bodyPr>
          <a:lstStyle/>
          <a:p>
            <a:pPr marL="202565">
              <a:spcBef>
                <a:spcPts val="165"/>
              </a:spcBef>
              <a:defRPr/>
            </a:pPr>
            <a:r>
              <a:rPr sz="3200" b="1" spc="-15" dirty="0">
                <a:latin typeface="Carlito"/>
                <a:cs typeface="Carlito"/>
              </a:rPr>
              <a:t>Improve</a:t>
            </a:r>
            <a:r>
              <a:rPr sz="3200" b="1" spc="-25" dirty="0">
                <a:latin typeface="Carlito"/>
                <a:cs typeface="Carlito"/>
              </a:rPr>
              <a:t> </a:t>
            </a:r>
            <a:r>
              <a:rPr sz="3200" b="1" spc="-15" dirty="0">
                <a:latin typeface="Carlito"/>
                <a:cs typeface="Carlito"/>
              </a:rPr>
              <a:t>Performance</a:t>
            </a:r>
            <a:endParaRPr sz="3200" dirty="0">
              <a:latin typeface="Carlito"/>
              <a:cs typeface="Carlito"/>
            </a:endParaRPr>
          </a:p>
        </p:txBody>
      </p:sp>
      <p:sp>
        <p:nvSpPr>
          <p:cNvPr id="7" name="object 4">
            <a:extLst>
              <a:ext uri="{FF2B5EF4-FFF2-40B4-BE49-F238E27FC236}">
                <a16:creationId xmlns:a16="http://schemas.microsoft.com/office/drawing/2014/main" id="{6964ACC6-644C-582E-613F-17DC1E53DE12}"/>
              </a:ext>
            </a:extLst>
          </p:cNvPr>
          <p:cNvSpPr txBox="1"/>
          <p:nvPr/>
        </p:nvSpPr>
        <p:spPr>
          <a:xfrm>
            <a:off x="1447800" y="2071688"/>
            <a:ext cx="6934200" cy="290512"/>
          </a:xfrm>
          <a:prstGeom prst="rect">
            <a:avLst/>
          </a:prstGeom>
        </p:spPr>
        <p:txBody>
          <a:bodyPr lIns="0" tIns="12700" rIns="0" bIns="0">
            <a:spAutoFit/>
          </a:bodyPr>
          <a:lstStyle/>
          <a:p>
            <a:pPr marL="12700">
              <a:spcBef>
                <a:spcPts val="100"/>
              </a:spcBef>
              <a:defRPr/>
            </a:pPr>
            <a:r>
              <a:rPr i="1" spc="-45" dirty="0">
                <a:latin typeface="Carlito"/>
                <a:cs typeface="Carlito"/>
              </a:rPr>
              <a:t>You </a:t>
            </a:r>
            <a:r>
              <a:rPr i="1" spc="-5" dirty="0">
                <a:latin typeface="Carlito"/>
                <a:cs typeface="Carlito"/>
              </a:rPr>
              <a:t>can </a:t>
            </a:r>
            <a:r>
              <a:rPr i="1" spc="-10" dirty="0">
                <a:latin typeface="Carlito"/>
                <a:cs typeface="Carlito"/>
              </a:rPr>
              <a:t>optimize </a:t>
            </a:r>
            <a:r>
              <a:rPr i="1" spc="-5" dirty="0">
                <a:latin typeface="Carlito"/>
                <a:cs typeface="Carlito"/>
              </a:rPr>
              <a:t>the code in </a:t>
            </a:r>
            <a:r>
              <a:rPr i="1" dirty="0">
                <a:latin typeface="Carlito"/>
                <a:cs typeface="Carlito"/>
              </a:rPr>
              <a:t>one </a:t>
            </a:r>
            <a:r>
              <a:rPr i="1" spc="-5" dirty="0">
                <a:latin typeface="Carlito"/>
                <a:cs typeface="Carlito"/>
              </a:rPr>
              <a:t>place </a:t>
            </a:r>
            <a:r>
              <a:rPr i="1" spc="-10" dirty="0">
                <a:latin typeface="Carlito"/>
                <a:cs typeface="Carlito"/>
              </a:rPr>
              <a:t>instead </a:t>
            </a:r>
            <a:r>
              <a:rPr i="1" dirty="0">
                <a:latin typeface="Carlito"/>
                <a:cs typeface="Carlito"/>
              </a:rPr>
              <a:t>of </a:t>
            </a:r>
            <a:r>
              <a:rPr i="1" spc="-5" dirty="0">
                <a:latin typeface="Carlito"/>
                <a:cs typeface="Carlito"/>
              </a:rPr>
              <a:t>in several</a:t>
            </a:r>
            <a:r>
              <a:rPr i="1" spc="160" dirty="0">
                <a:latin typeface="Carlito"/>
                <a:cs typeface="Carlito"/>
              </a:rPr>
              <a:t> </a:t>
            </a:r>
            <a:r>
              <a:rPr i="1" spc="-5" dirty="0">
                <a:latin typeface="Carlito"/>
                <a:cs typeface="Carlito"/>
              </a:rPr>
              <a:t>places.</a:t>
            </a:r>
            <a:endParaRPr dirty="0">
              <a:latin typeface="Carlito"/>
              <a:cs typeface="Carlito"/>
            </a:endParaRPr>
          </a:p>
        </p:txBody>
      </p:sp>
      <p:sp>
        <p:nvSpPr>
          <p:cNvPr id="8" name="object 5">
            <a:extLst>
              <a:ext uri="{FF2B5EF4-FFF2-40B4-BE49-F238E27FC236}">
                <a16:creationId xmlns:a16="http://schemas.microsoft.com/office/drawing/2014/main" id="{819811B1-090C-9E21-6ABF-44DEEFAD4DAC}"/>
              </a:ext>
            </a:extLst>
          </p:cNvPr>
          <p:cNvSpPr txBox="1">
            <a:spLocks noChangeArrowheads="1"/>
          </p:cNvSpPr>
          <p:nvPr/>
        </p:nvSpPr>
        <p:spPr bwMode="auto">
          <a:xfrm>
            <a:off x="228600" y="3055938"/>
            <a:ext cx="3505200" cy="1417637"/>
          </a:xfrm>
          <a:prstGeom prst="rect">
            <a:avLst/>
          </a:prstGeom>
          <a:solidFill>
            <a:srgbClr val="DEEBF7"/>
          </a:solidFill>
          <a:ln w="9525">
            <a:noFill/>
            <a:miter lim="800000"/>
            <a:headEnd/>
            <a:tailEnd/>
          </a:ln>
        </p:spPr>
        <p:txBody>
          <a:bodyPr lIns="0" tIns="32384" rIns="0" bIns="0">
            <a:spAutoFit/>
          </a:bodyPr>
          <a:lstStyle/>
          <a:p>
            <a:pPr marL="90488">
              <a:spcBef>
                <a:spcPts val="250"/>
              </a:spcBef>
            </a:pPr>
            <a:r>
              <a:rPr lang="en-US" i="1" dirty="0">
                <a:latin typeface="Carlito"/>
                <a:ea typeface="Carlito"/>
                <a:cs typeface="Carlito"/>
              </a:rPr>
              <a:t>Centralizing code into a routine  means that a single optimization  benefits all the code that uses that routine, whether it uses it directly or indirectly.</a:t>
            </a:r>
            <a:endParaRPr lang="en-US" dirty="0">
              <a:latin typeface="Carlito"/>
              <a:ea typeface="Carlito"/>
              <a:cs typeface="Carlito"/>
            </a:endParaRPr>
          </a:p>
        </p:txBody>
      </p:sp>
      <p:sp>
        <p:nvSpPr>
          <p:cNvPr id="9" name="object 6">
            <a:extLst>
              <a:ext uri="{FF2B5EF4-FFF2-40B4-BE49-F238E27FC236}">
                <a16:creationId xmlns:a16="http://schemas.microsoft.com/office/drawing/2014/main" id="{B5E4AA9C-E1E9-214F-E1D9-ADA63FCF5E30}"/>
              </a:ext>
            </a:extLst>
          </p:cNvPr>
          <p:cNvSpPr txBox="1">
            <a:spLocks noChangeArrowheads="1"/>
          </p:cNvSpPr>
          <p:nvPr/>
        </p:nvSpPr>
        <p:spPr bwMode="auto">
          <a:xfrm>
            <a:off x="3886200" y="3009283"/>
            <a:ext cx="5119777" cy="1508125"/>
          </a:xfrm>
          <a:prstGeom prst="rect">
            <a:avLst/>
          </a:prstGeom>
          <a:solidFill>
            <a:srgbClr val="FFF2CC"/>
          </a:solidFill>
          <a:ln w="9525">
            <a:noFill/>
            <a:miter lim="800000"/>
            <a:headEnd/>
            <a:tailEnd/>
          </a:ln>
        </p:spPr>
        <p:txBody>
          <a:bodyPr wrap="square" lIns="0" tIns="16510" rIns="0" bIns="0">
            <a:spAutoFit/>
          </a:bodyPr>
          <a:lstStyle/>
          <a:p>
            <a:pPr marL="90488">
              <a:lnSpc>
                <a:spcPct val="101000"/>
              </a:lnSpc>
              <a:spcBef>
                <a:spcPts val="125"/>
              </a:spcBef>
            </a:pPr>
            <a:r>
              <a:rPr lang="en-US" sz="2400" dirty="0">
                <a:latin typeface="Carlito"/>
                <a:ea typeface="Carlito"/>
                <a:cs typeface="Carlito"/>
              </a:rPr>
              <a:t>Having code in one place makes it practical to recode the routine with a more efficient algorithm or in a faster, more efficient language.</a:t>
            </a:r>
          </a:p>
        </p:txBody>
      </p:sp>
    </p:spTree>
    <p:extLst>
      <p:ext uri="{BB962C8B-B14F-4D97-AF65-F5344CB8AC3E}">
        <p14:creationId xmlns:p14="http://schemas.microsoft.com/office/powerpoint/2010/main" val="20307166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39" y="-10590"/>
            <a:ext cx="9169639" cy="817280"/>
          </a:xfrm>
          <a:solidFill>
            <a:schemeClr val="accent6">
              <a:lumMod val="40000"/>
              <a:lumOff val="60000"/>
            </a:schemeClr>
          </a:solidFill>
        </p:spPr>
        <p:txBody>
          <a:bodyPr anchor="ctr">
            <a:noAutofit/>
          </a:bodyPr>
          <a:lstStyle/>
          <a:p>
            <a:r>
              <a:rPr lang="en-US" sz="3200" b="1" dirty="0">
                <a:solidFill>
                  <a:schemeClr val="tx1"/>
                </a:solidFill>
                <a:latin typeface="+mn-lt"/>
              </a:rPr>
              <a:t>Operations that Seem too Simple to Put Into Routine</a:t>
            </a:r>
          </a:p>
        </p:txBody>
      </p:sp>
      <p:sp>
        <p:nvSpPr>
          <p:cNvPr id="2" name="Slide Number Placeholder 4">
            <a:extLst>
              <a:ext uri="{FF2B5EF4-FFF2-40B4-BE49-F238E27FC236}">
                <a16:creationId xmlns:a16="http://schemas.microsoft.com/office/drawing/2014/main" id="{BB8D85C8-CE84-66D2-46DF-777E075DBA1A}"/>
              </a:ext>
            </a:extLst>
          </p:cNvPr>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14</a:t>
            </a:fld>
            <a:endParaRPr lang="en-US" sz="700"/>
          </a:p>
        </p:txBody>
      </p:sp>
      <p:sp>
        <p:nvSpPr>
          <p:cNvPr id="6" name="object 3">
            <a:extLst>
              <a:ext uri="{FF2B5EF4-FFF2-40B4-BE49-F238E27FC236}">
                <a16:creationId xmlns:a16="http://schemas.microsoft.com/office/drawing/2014/main" id="{F6A58F52-B315-00D1-16F7-F021287605D2}"/>
              </a:ext>
            </a:extLst>
          </p:cNvPr>
          <p:cNvSpPr txBox="1">
            <a:spLocks noChangeArrowheads="1"/>
          </p:cNvSpPr>
          <p:nvPr/>
        </p:nvSpPr>
        <p:spPr bwMode="auto">
          <a:xfrm>
            <a:off x="-75407" y="1407283"/>
            <a:ext cx="9294813" cy="1987550"/>
          </a:xfrm>
          <a:prstGeom prst="rect">
            <a:avLst/>
          </a:prstGeom>
          <a:noFill/>
          <a:ln w="12700">
            <a:solidFill>
              <a:srgbClr val="000000"/>
            </a:solidFill>
            <a:miter lim="800000"/>
            <a:headEnd/>
            <a:tailEnd/>
          </a:ln>
        </p:spPr>
        <p:txBody>
          <a:bodyPr lIns="0" tIns="17780" rIns="0" bIns="0">
            <a:spAutoFit/>
          </a:bodyPr>
          <a:lstStyle/>
          <a:p>
            <a:pPr marL="165100" indent="-4763" algn="ctr">
              <a:spcBef>
                <a:spcPts val="138"/>
              </a:spcBef>
            </a:pPr>
            <a:r>
              <a:rPr lang="en-US" sz="3200" dirty="0">
                <a:latin typeface="Carlito"/>
                <a:ea typeface="Carlito"/>
                <a:cs typeface="Carlito"/>
              </a:rPr>
              <a:t>Constructing a whole routine to contain two or three lines of code might seem like overkill, but experience shows how helpful a good small routine can be.</a:t>
            </a:r>
          </a:p>
        </p:txBody>
      </p:sp>
      <p:sp>
        <p:nvSpPr>
          <p:cNvPr id="7" name="object 4">
            <a:extLst>
              <a:ext uri="{FF2B5EF4-FFF2-40B4-BE49-F238E27FC236}">
                <a16:creationId xmlns:a16="http://schemas.microsoft.com/office/drawing/2014/main" id="{F031E090-90C2-32EF-8FE0-6F0FC9E8233A}"/>
              </a:ext>
            </a:extLst>
          </p:cNvPr>
          <p:cNvSpPr txBox="1"/>
          <p:nvPr/>
        </p:nvSpPr>
        <p:spPr>
          <a:xfrm>
            <a:off x="704026" y="3552160"/>
            <a:ext cx="7772400" cy="290512"/>
          </a:xfrm>
          <a:prstGeom prst="rect">
            <a:avLst/>
          </a:prstGeom>
        </p:spPr>
        <p:txBody>
          <a:bodyPr lIns="0" tIns="12700" rIns="0" bIns="0">
            <a:spAutoFit/>
          </a:bodyPr>
          <a:lstStyle/>
          <a:p>
            <a:pPr marL="12700">
              <a:spcBef>
                <a:spcPts val="100"/>
              </a:spcBef>
              <a:defRPr/>
            </a:pPr>
            <a:r>
              <a:rPr i="1" spc="-5" dirty="0">
                <a:latin typeface="Carlito"/>
                <a:cs typeface="Carlito"/>
              </a:rPr>
              <a:t>Small routines offer several advantages. One is that they improve</a:t>
            </a:r>
            <a:r>
              <a:rPr i="1" spc="75" dirty="0">
                <a:latin typeface="Carlito"/>
                <a:cs typeface="Carlito"/>
              </a:rPr>
              <a:t> </a:t>
            </a:r>
            <a:r>
              <a:rPr i="1" spc="-10" dirty="0">
                <a:latin typeface="Carlito"/>
                <a:cs typeface="Carlito"/>
              </a:rPr>
              <a:t>readability.</a:t>
            </a:r>
            <a:endParaRPr dirty="0">
              <a:latin typeface="Carlito"/>
              <a:cs typeface="Carlito"/>
            </a:endParaRPr>
          </a:p>
        </p:txBody>
      </p:sp>
      <p:sp>
        <p:nvSpPr>
          <p:cNvPr id="8" name="object 5">
            <a:extLst>
              <a:ext uri="{FF2B5EF4-FFF2-40B4-BE49-F238E27FC236}">
                <a16:creationId xmlns:a16="http://schemas.microsoft.com/office/drawing/2014/main" id="{EB6BAFE9-936B-5B0F-4D7B-9DD8D333BF74}"/>
              </a:ext>
            </a:extLst>
          </p:cNvPr>
          <p:cNvSpPr>
            <a:spLocks noChangeArrowheads="1"/>
          </p:cNvSpPr>
          <p:nvPr/>
        </p:nvSpPr>
        <p:spPr bwMode="auto">
          <a:xfrm>
            <a:off x="0" y="4615342"/>
            <a:ext cx="3898870" cy="508000"/>
          </a:xfrm>
          <a:prstGeom prst="rect">
            <a:avLst/>
          </a:prstGeom>
          <a:blipFill dpi="0" rotWithShape="1">
            <a:blip r:embed="rId2" cstate="print"/>
            <a:srcRect/>
            <a:stretch>
              <a:fillRect/>
            </a:stretch>
          </a:blipFill>
          <a:ln w="9525">
            <a:noFill/>
            <a:miter lim="800000"/>
            <a:headEnd/>
            <a:tailEnd/>
          </a:ln>
        </p:spPr>
        <p:txBody>
          <a:bodyPr lIns="0" tIns="0" rIns="0" bIns="0"/>
          <a:lstStyle/>
          <a:p>
            <a:endParaRPr lang="en-US"/>
          </a:p>
        </p:txBody>
      </p:sp>
      <p:sp>
        <p:nvSpPr>
          <p:cNvPr id="9" name="object 6">
            <a:extLst>
              <a:ext uri="{FF2B5EF4-FFF2-40B4-BE49-F238E27FC236}">
                <a16:creationId xmlns:a16="http://schemas.microsoft.com/office/drawing/2014/main" id="{C7A9DE20-04F5-8DCE-C057-8FDA9B60B827}"/>
              </a:ext>
            </a:extLst>
          </p:cNvPr>
          <p:cNvSpPr>
            <a:spLocks noChangeArrowheads="1"/>
          </p:cNvSpPr>
          <p:nvPr/>
        </p:nvSpPr>
        <p:spPr bwMode="auto">
          <a:xfrm>
            <a:off x="4884768" y="4880011"/>
            <a:ext cx="4162425" cy="1141412"/>
          </a:xfrm>
          <a:prstGeom prst="rect">
            <a:avLst/>
          </a:prstGeom>
          <a:blipFill dpi="0" rotWithShape="1">
            <a:blip r:embed="rId3" cstate="print"/>
            <a:srcRect/>
            <a:stretch>
              <a:fillRect/>
            </a:stretch>
          </a:blipFill>
          <a:ln w="9525">
            <a:noFill/>
            <a:miter lim="800000"/>
            <a:headEnd/>
            <a:tailEnd/>
          </a:ln>
        </p:spPr>
        <p:txBody>
          <a:bodyPr lIns="0" tIns="0" rIns="0" bIns="0"/>
          <a:lstStyle/>
          <a:p>
            <a:endParaRPr lang="en-US"/>
          </a:p>
        </p:txBody>
      </p:sp>
      <p:sp>
        <p:nvSpPr>
          <p:cNvPr id="10" name="object 7">
            <a:extLst>
              <a:ext uri="{FF2B5EF4-FFF2-40B4-BE49-F238E27FC236}">
                <a16:creationId xmlns:a16="http://schemas.microsoft.com/office/drawing/2014/main" id="{FC87A4BF-1391-189B-7B6F-E3AED63C20C0}"/>
              </a:ext>
            </a:extLst>
          </p:cNvPr>
          <p:cNvSpPr>
            <a:spLocks noChangeArrowheads="1"/>
          </p:cNvSpPr>
          <p:nvPr/>
        </p:nvSpPr>
        <p:spPr bwMode="auto">
          <a:xfrm>
            <a:off x="4884768" y="4151628"/>
            <a:ext cx="4237037" cy="609600"/>
          </a:xfrm>
          <a:prstGeom prst="rect">
            <a:avLst/>
          </a:prstGeom>
          <a:blipFill dpi="0" rotWithShape="1">
            <a:blip r:embed="rId4" cstate="print"/>
            <a:srcRect/>
            <a:stretch>
              <a:fillRect/>
            </a:stretch>
          </a:blipFill>
          <a:ln w="9525">
            <a:noFill/>
            <a:miter lim="800000"/>
            <a:headEnd/>
            <a:tailEnd/>
          </a:ln>
        </p:spPr>
        <p:txBody>
          <a:bodyPr lIns="0" tIns="0" rIns="0" bIns="0"/>
          <a:lstStyle/>
          <a:p>
            <a:endParaRPr lang="en-US"/>
          </a:p>
        </p:txBody>
      </p:sp>
      <p:grpSp>
        <p:nvGrpSpPr>
          <p:cNvPr id="11" name="object 8">
            <a:extLst>
              <a:ext uri="{FF2B5EF4-FFF2-40B4-BE49-F238E27FC236}">
                <a16:creationId xmlns:a16="http://schemas.microsoft.com/office/drawing/2014/main" id="{5ED0EBEE-028B-224C-DD31-2989DA615247}"/>
              </a:ext>
            </a:extLst>
          </p:cNvPr>
          <p:cNvGrpSpPr>
            <a:grpSpLocks/>
          </p:cNvGrpSpPr>
          <p:nvPr/>
        </p:nvGrpSpPr>
        <p:grpSpPr bwMode="auto">
          <a:xfrm>
            <a:off x="3997325" y="4570892"/>
            <a:ext cx="788988" cy="596900"/>
            <a:chOff x="5400256" y="4251617"/>
            <a:chExt cx="955040" cy="596265"/>
          </a:xfrm>
        </p:grpSpPr>
        <p:sp>
          <p:nvSpPr>
            <p:cNvPr id="12" name="object 9">
              <a:extLst>
                <a:ext uri="{FF2B5EF4-FFF2-40B4-BE49-F238E27FC236}">
                  <a16:creationId xmlns:a16="http://schemas.microsoft.com/office/drawing/2014/main" id="{2FBD1AE5-0A8B-31EA-76ED-61CDC80688C4}"/>
                </a:ext>
              </a:extLst>
            </p:cNvPr>
            <p:cNvSpPr>
              <a:spLocks/>
            </p:cNvSpPr>
            <p:nvPr/>
          </p:nvSpPr>
          <p:spPr bwMode="auto">
            <a:xfrm>
              <a:off x="5406606" y="4257967"/>
              <a:ext cx="942340" cy="583565"/>
            </a:xfrm>
            <a:custGeom>
              <a:avLst/>
              <a:gdLst>
                <a:gd name="T0" fmla="*/ 650372 w 942339"/>
                <a:gd name="T1" fmla="*/ 0 h 583564"/>
                <a:gd name="T2" fmla="*/ 650372 w 942339"/>
                <a:gd name="T3" fmla="*/ 145872 h 583564"/>
                <a:gd name="T4" fmla="*/ 0 w 942339"/>
                <a:gd name="T5" fmla="*/ 145872 h 583564"/>
                <a:gd name="T6" fmla="*/ 0 w 942339"/>
                <a:gd name="T7" fmla="*/ 437608 h 583564"/>
                <a:gd name="T8" fmla="*/ 650372 w 942339"/>
                <a:gd name="T9" fmla="*/ 437608 h 583564"/>
                <a:gd name="T10" fmla="*/ 650372 w 942339"/>
                <a:gd name="T11" fmla="*/ 583481 h 583564"/>
                <a:gd name="T12" fmla="*/ 942103 w 942339"/>
                <a:gd name="T13" fmla="*/ 291731 h 583564"/>
                <a:gd name="T14" fmla="*/ 650372 w 942339"/>
                <a:gd name="T15" fmla="*/ 0 h 583564"/>
                <a:gd name="T16" fmla="*/ 0 60000 65536"/>
                <a:gd name="T17" fmla="*/ 0 60000 65536"/>
                <a:gd name="T18" fmla="*/ 0 60000 65536"/>
                <a:gd name="T19" fmla="*/ 0 60000 65536"/>
                <a:gd name="T20" fmla="*/ 0 60000 65536"/>
                <a:gd name="T21" fmla="*/ 0 60000 65536"/>
                <a:gd name="T22" fmla="*/ 0 60000 65536"/>
                <a:gd name="T23" fmla="*/ 0 60000 65536"/>
                <a:gd name="T24" fmla="*/ 0 w 942339"/>
                <a:gd name="T25" fmla="*/ 0 h 583564"/>
                <a:gd name="T26" fmla="*/ 942339 w 942339"/>
                <a:gd name="T27" fmla="*/ 583564 h 58356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942339" h="583564">
                  <a:moveTo>
                    <a:pt x="650367" y="0"/>
                  </a:moveTo>
                  <a:lnTo>
                    <a:pt x="650367" y="145872"/>
                  </a:lnTo>
                  <a:lnTo>
                    <a:pt x="0" y="145872"/>
                  </a:lnTo>
                  <a:lnTo>
                    <a:pt x="0" y="437603"/>
                  </a:lnTo>
                  <a:lnTo>
                    <a:pt x="650367" y="437603"/>
                  </a:lnTo>
                  <a:lnTo>
                    <a:pt x="650367" y="583476"/>
                  </a:lnTo>
                  <a:lnTo>
                    <a:pt x="942098" y="291731"/>
                  </a:lnTo>
                  <a:lnTo>
                    <a:pt x="650367" y="0"/>
                  </a:lnTo>
                  <a:close/>
                </a:path>
              </a:pathLst>
            </a:custGeom>
            <a:solidFill>
              <a:srgbClr val="000000"/>
            </a:solidFill>
            <a:ln w="9525">
              <a:noFill/>
              <a:round/>
              <a:headEnd/>
              <a:tailEnd/>
            </a:ln>
          </p:spPr>
          <p:txBody>
            <a:bodyPr lIns="0" tIns="0" rIns="0" bIns="0"/>
            <a:lstStyle/>
            <a:p>
              <a:endParaRPr lang="en-US"/>
            </a:p>
          </p:txBody>
        </p:sp>
        <p:sp>
          <p:nvSpPr>
            <p:cNvPr id="13" name="object 10">
              <a:extLst>
                <a:ext uri="{FF2B5EF4-FFF2-40B4-BE49-F238E27FC236}">
                  <a16:creationId xmlns:a16="http://schemas.microsoft.com/office/drawing/2014/main" id="{889BBE7D-063D-C143-F495-08FD6E8721C4}"/>
                </a:ext>
              </a:extLst>
            </p:cNvPr>
            <p:cNvSpPr>
              <a:spLocks/>
            </p:cNvSpPr>
            <p:nvPr/>
          </p:nvSpPr>
          <p:spPr bwMode="auto">
            <a:xfrm>
              <a:off x="5406606" y="4257967"/>
              <a:ext cx="942340" cy="583565"/>
            </a:xfrm>
            <a:custGeom>
              <a:avLst/>
              <a:gdLst>
                <a:gd name="T0" fmla="*/ 0 w 942339"/>
                <a:gd name="T1" fmla="*/ 145870 h 583564"/>
                <a:gd name="T2" fmla="*/ 650375 w 942339"/>
                <a:gd name="T3" fmla="*/ 145870 h 583564"/>
                <a:gd name="T4" fmla="*/ 650375 w 942339"/>
                <a:gd name="T5" fmla="*/ 0 h 583564"/>
                <a:gd name="T6" fmla="*/ 942114 w 942339"/>
                <a:gd name="T7" fmla="*/ 291740 h 583564"/>
                <a:gd name="T8" fmla="*/ 650375 w 942339"/>
                <a:gd name="T9" fmla="*/ 583484 h 583564"/>
                <a:gd name="T10" fmla="*/ 650375 w 942339"/>
                <a:gd name="T11" fmla="*/ 437615 h 583564"/>
                <a:gd name="T12" fmla="*/ 0 w 942339"/>
                <a:gd name="T13" fmla="*/ 437615 h 583564"/>
                <a:gd name="T14" fmla="*/ 0 w 942339"/>
                <a:gd name="T15" fmla="*/ 145870 h 583564"/>
                <a:gd name="T16" fmla="*/ 0 60000 65536"/>
                <a:gd name="T17" fmla="*/ 0 60000 65536"/>
                <a:gd name="T18" fmla="*/ 0 60000 65536"/>
                <a:gd name="T19" fmla="*/ 0 60000 65536"/>
                <a:gd name="T20" fmla="*/ 0 60000 65536"/>
                <a:gd name="T21" fmla="*/ 0 60000 65536"/>
                <a:gd name="T22" fmla="*/ 0 60000 65536"/>
                <a:gd name="T23" fmla="*/ 0 60000 65536"/>
                <a:gd name="T24" fmla="*/ 0 w 942339"/>
                <a:gd name="T25" fmla="*/ 0 h 583564"/>
                <a:gd name="T26" fmla="*/ 942339 w 942339"/>
                <a:gd name="T27" fmla="*/ 583564 h 58356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942339" h="583564">
                  <a:moveTo>
                    <a:pt x="0" y="145870"/>
                  </a:moveTo>
                  <a:lnTo>
                    <a:pt x="650370" y="145870"/>
                  </a:lnTo>
                  <a:lnTo>
                    <a:pt x="650370" y="0"/>
                  </a:lnTo>
                  <a:lnTo>
                    <a:pt x="942109" y="291740"/>
                  </a:lnTo>
                  <a:lnTo>
                    <a:pt x="650370" y="583479"/>
                  </a:lnTo>
                  <a:lnTo>
                    <a:pt x="650370" y="437610"/>
                  </a:lnTo>
                  <a:lnTo>
                    <a:pt x="0" y="437610"/>
                  </a:lnTo>
                  <a:lnTo>
                    <a:pt x="0" y="145870"/>
                  </a:lnTo>
                  <a:close/>
                </a:path>
              </a:pathLst>
            </a:custGeom>
            <a:noFill/>
            <a:ln w="12700">
              <a:solidFill>
                <a:srgbClr val="000000"/>
              </a:solidFill>
              <a:round/>
              <a:headEnd/>
              <a:tailEnd/>
            </a:ln>
          </p:spPr>
          <p:txBody>
            <a:bodyPr lIns="0" tIns="0" rIns="0" bIns="0"/>
            <a:lstStyle/>
            <a:p>
              <a:endParaRPr lang="en-US"/>
            </a:p>
          </p:txBody>
        </p:sp>
      </p:grpSp>
    </p:spTree>
    <p:extLst>
      <p:ext uri="{BB962C8B-B14F-4D97-AF65-F5344CB8AC3E}">
        <p14:creationId xmlns:p14="http://schemas.microsoft.com/office/powerpoint/2010/main" val="28587478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39" y="-10590"/>
            <a:ext cx="9169639" cy="817280"/>
          </a:xfrm>
          <a:solidFill>
            <a:schemeClr val="accent6">
              <a:lumMod val="40000"/>
              <a:lumOff val="60000"/>
            </a:schemeClr>
          </a:solidFill>
        </p:spPr>
        <p:txBody>
          <a:bodyPr anchor="ctr">
            <a:noAutofit/>
          </a:bodyPr>
          <a:lstStyle/>
          <a:p>
            <a:r>
              <a:rPr lang="en-US" sz="3200" b="1" dirty="0">
                <a:solidFill>
                  <a:schemeClr val="tx1"/>
                </a:solidFill>
                <a:latin typeface="+mn-lt"/>
              </a:rPr>
              <a:t>Operations that Seem too Simple to Put Into Routine</a:t>
            </a:r>
          </a:p>
        </p:txBody>
      </p:sp>
      <p:sp>
        <p:nvSpPr>
          <p:cNvPr id="2" name="Slide Number Placeholder 4">
            <a:extLst>
              <a:ext uri="{FF2B5EF4-FFF2-40B4-BE49-F238E27FC236}">
                <a16:creationId xmlns:a16="http://schemas.microsoft.com/office/drawing/2014/main" id="{BB8D85C8-CE84-66D2-46DF-777E075DBA1A}"/>
              </a:ext>
            </a:extLst>
          </p:cNvPr>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15</a:t>
            </a:fld>
            <a:endParaRPr lang="en-US" sz="700"/>
          </a:p>
        </p:txBody>
      </p:sp>
      <p:sp>
        <p:nvSpPr>
          <p:cNvPr id="3" name="object 3">
            <a:extLst>
              <a:ext uri="{FF2B5EF4-FFF2-40B4-BE49-F238E27FC236}">
                <a16:creationId xmlns:a16="http://schemas.microsoft.com/office/drawing/2014/main" id="{FE81E1EE-B53D-812F-704F-D47CE3018020}"/>
              </a:ext>
            </a:extLst>
          </p:cNvPr>
          <p:cNvSpPr txBox="1">
            <a:spLocks noChangeArrowheads="1"/>
          </p:cNvSpPr>
          <p:nvPr/>
        </p:nvSpPr>
        <p:spPr bwMode="auto">
          <a:xfrm>
            <a:off x="314865" y="4740100"/>
            <a:ext cx="8610600" cy="836612"/>
          </a:xfrm>
          <a:prstGeom prst="rect">
            <a:avLst/>
          </a:prstGeom>
          <a:noFill/>
          <a:ln w="9525">
            <a:noFill/>
            <a:miter lim="800000"/>
            <a:headEnd/>
            <a:tailEnd/>
          </a:ln>
        </p:spPr>
        <p:txBody>
          <a:bodyPr lIns="0" tIns="28575" rIns="0" bIns="0">
            <a:spAutoFit/>
          </a:bodyPr>
          <a:lstStyle/>
          <a:p>
            <a:pPr marL="647700" indent="-635000" algn="ctr">
              <a:lnSpc>
                <a:spcPts val="2088"/>
              </a:lnSpc>
              <a:spcBef>
                <a:spcPts val="225"/>
              </a:spcBef>
            </a:pPr>
            <a:r>
              <a:rPr lang="en-US" dirty="0">
                <a:latin typeface="Carlito"/>
                <a:ea typeface="Carlito"/>
                <a:cs typeface="Carlito"/>
              </a:rPr>
              <a:t>If that original line of code had still been in a dozen places, the test would have been repeated a dozen times, for a total of 36 new lines of code. A simple routine reduced the 36 new lines to 3.</a:t>
            </a:r>
          </a:p>
        </p:txBody>
      </p:sp>
      <p:sp>
        <p:nvSpPr>
          <p:cNvPr id="4" name="object 4">
            <a:extLst>
              <a:ext uri="{FF2B5EF4-FFF2-40B4-BE49-F238E27FC236}">
                <a16:creationId xmlns:a16="http://schemas.microsoft.com/office/drawing/2014/main" id="{FFE22BAB-5BC5-BA09-039A-0B61B88B9FA2}"/>
              </a:ext>
            </a:extLst>
          </p:cNvPr>
          <p:cNvSpPr>
            <a:spLocks noChangeArrowheads="1"/>
          </p:cNvSpPr>
          <p:nvPr/>
        </p:nvSpPr>
        <p:spPr bwMode="auto">
          <a:xfrm>
            <a:off x="1051465" y="1876250"/>
            <a:ext cx="6900863" cy="2757487"/>
          </a:xfrm>
          <a:prstGeom prst="rect">
            <a:avLst/>
          </a:prstGeom>
          <a:blipFill dpi="0" rotWithShape="1">
            <a:blip r:embed="rId2" cstate="print"/>
            <a:srcRect/>
            <a:stretch>
              <a:fillRect/>
            </a:stretch>
          </a:blipFill>
          <a:ln w="9525">
            <a:noFill/>
            <a:miter lim="800000"/>
            <a:headEnd/>
            <a:tailEnd/>
          </a:ln>
        </p:spPr>
        <p:txBody>
          <a:bodyPr lIns="0" tIns="0" rIns="0" bIns="0"/>
          <a:lstStyle/>
          <a:p>
            <a:endParaRPr lang="en-US"/>
          </a:p>
        </p:txBody>
      </p:sp>
    </p:spTree>
    <p:extLst>
      <p:ext uri="{BB962C8B-B14F-4D97-AF65-F5344CB8AC3E}">
        <p14:creationId xmlns:p14="http://schemas.microsoft.com/office/powerpoint/2010/main" val="14448317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39" y="-10590"/>
            <a:ext cx="9169639" cy="817280"/>
          </a:xfrm>
          <a:solidFill>
            <a:schemeClr val="accent6">
              <a:lumMod val="40000"/>
              <a:lumOff val="60000"/>
            </a:schemeClr>
          </a:solidFill>
        </p:spPr>
        <p:txBody>
          <a:bodyPr anchor="ctr">
            <a:normAutofit/>
          </a:bodyPr>
          <a:lstStyle/>
          <a:p>
            <a:r>
              <a:rPr lang="en-US" sz="4400" b="1" dirty="0">
                <a:solidFill>
                  <a:schemeClr val="tx1"/>
                </a:solidFill>
                <a:latin typeface="+mn-lt"/>
              </a:rPr>
              <a:t>Reading </a:t>
            </a:r>
            <a:endParaRPr lang="en-US" b="1" dirty="0">
              <a:solidFill>
                <a:schemeClr val="tx1"/>
              </a:solidFill>
              <a:latin typeface="+mn-lt"/>
            </a:endParaRPr>
          </a:p>
        </p:txBody>
      </p:sp>
      <p:pic>
        <p:nvPicPr>
          <p:cNvPr id="12" name="Picture 2">
            <a:extLst>
              <a:ext uri="{FF2B5EF4-FFF2-40B4-BE49-F238E27FC236}">
                <a16:creationId xmlns:a16="http://schemas.microsoft.com/office/drawing/2014/main" id="{B97EC265-EF3F-919F-4777-8BF9578ABA95}"/>
              </a:ext>
            </a:extLst>
          </p:cNvPr>
          <p:cNvPicPr>
            <a:picLocks noChangeAspect="1" noChangeArrowheads="1"/>
          </p:cNvPicPr>
          <p:nvPr/>
        </p:nvPicPr>
        <p:blipFill>
          <a:blip r:embed="rId2" cstate="print"/>
          <a:srcRect/>
          <a:stretch>
            <a:fillRect/>
          </a:stretch>
        </p:blipFill>
        <p:spPr bwMode="auto">
          <a:xfrm>
            <a:off x="2895840" y="2226344"/>
            <a:ext cx="4039370" cy="4343400"/>
          </a:xfrm>
          <a:prstGeom prst="rect">
            <a:avLst/>
          </a:prstGeom>
          <a:noFill/>
          <a:ln w="9525">
            <a:noFill/>
            <a:miter lim="800000"/>
            <a:headEnd/>
            <a:tailEnd/>
          </a:ln>
        </p:spPr>
      </p:pic>
      <p:sp>
        <p:nvSpPr>
          <p:cNvPr id="4" name="Rectangle 6">
            <a:extLst>
              <a:ext uri="{FF2B5EF4-FFF2-40B4-BE49-F238E27FC236}">
                <a16:creationId xmlns:a16="http://schemas.microsoft.com/office/drawing/2014/main" id="{8C2C5299-C07B-1DA2-18DC-3CB4D0DF474E}"/>
              </a:ext>
            </a:extLst>
          </p:cNvPr>
          <p:cNvSpPr txBox="1">
            <a:spLocks noChangeArrowheads="1"/>
          </p:cNvSpPr>
          <p:nvPr/>
        </p:nvSpPr>
        <p:spPr>
          <a:xfrm>
            <a:off x="152400" y="1447800"/>
            <a:ext cx="9372600" cy="3429000"/>
          </a:xfrm>
          <a:prstGeom prst="rect">
            <a:avLst/>
          </a:prstGeom>
        </p:spPr>
        <p:txBody>
          <a:bodyPr vert="horz" lIns="0" tIns="45720" rIns="0" bIns="45720" rtlCol="0">
            <a:normAutofit/>
          </a:bodyPr>
          <a:lstStyle>
            <a:lvl1pPr marL="365760" indent="-274320" algn="justLow" defTabSz="914400" rtl="0" eaLnBrk="1" latinLnBrk="0" hangingPunct="1">
              <a:lnSpc>
                <a:spcPct val="90000"/>
              </a:lnSpc>
              <a:spcBef>
                <a:spcPts val="1200"/>
              </a:spcBef>
              <a:spcAft>
                <a:spcPts val="200"/>
              </a:spcAft>
              <a:buClr>
                <a:srgbClr val="84CDEA"/>
              </a:buClr>
              <a:buSzPct val="100000"/>
              <a:buFont typeface="Arial" panose="020B0604020202020204" pitchFamily="34" charset="0"/>
              <a:buChar char="•"/>
              <a:defRPr sz="2800" kern="1200">
                <a:solidFill>
                  <a:schemeClr val="tx1">
                    <a:lumMod val="75000"/>
                    <a:lumOff val="25000"/>
                  </a:schemeClr>
                </a:solidFill>
                <a:latin typeface="+mn-lt"/>
                <a:ea typeface="+mn-ea"/>
                <a:cs typeface="+mn-cs"/>
              </a:defRPr>
            </a:lvl1pPr>
            <a:lvl2pPr marL="548640" indent="-274320" algn="justLow" defTabSz="914400" rtl="0" eaLnBrk="1" latinLnBrk="0" hangingPunct="1">
              <a:lnSpc>
                <a:spcPct val="90000"/>
              </a:lnSpc>
              <a:spcBef>
                <a:spcPts val="200"/>
              </a:spcBef>
              <a:spcAft>
                <a:spcPts val="400"/>
              </a:spcAft>
              <a:buClr>
                <a:schemeClr val="accent1"/>
              </a:buClr>
              <a:buFont typeface="Calibri" pitchFamily="34" charset="0"/>
              <a:buChar char="◦"/>
              <a:defRPr sz="2400" kern="1200">
                <a:solidFill>
                  <a:schemeClr val="tx1">
                    <a:lumMod val="75000"/>
                    <a:lumOff val="25000"/>
                  </a:schemeClr>
                </a:solidFill>
                <a:latin typeface="+mn-lt"/>
                <a:ea typeface="+mn-ea"/>
                <a:cs typeface="+mn-cs"/>
              </a:defRPr>
            </a:lvl2pPr>
            <a:lvl3pPr marL="731520" indent="-274320" algn="justLow"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3pPr>
            <a:lvl4pPr marL="914400" indent="-27432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4pPr>
            <a:lvl5pPr marL="1097280" indent="-27432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lvl="1">
              <a:spcAft>
                <a:spcPts val="0"/>
              </a:spcAft>
              <a:buClr>
                <a:srgbClr val="0070C0"/>
              </a:buClr>
              <a:buFont typeface="Wingdings 3"/>
              <a:buChar char=""/>
              <a:defRPr/>
            </a:pPr>
            <a:r>
              <a:rPr lang="en-US" sz="2000" dirty="0">
                <a:solidFill>
                  <a:srgbClr val="46424D"/>
                </a:solidFill>
                <a:latin typeface="Arial"/>
                <a:ea typeface="ＭＳ Ｐゴシック" charset="-128"/>
                <a:cs typeface="Arial"/>
              </a:rPr>
              <a:t>Code Complete: A Practical Handbook of Software Construction, 2</a:t>
            </a:r>
            <a:r>
              <a:rPr lang="en-US" sz="2000" baseline="30000" dirty="0">
                <a:solidFill>
                  <a:srgbClr val="46424D"/>
                </a:solidFill>
                <a:latin typeface="Arial"/>
                <a:ea typeface="ＭＳ Ｐゴシック" charset="-128"/>
                <a:cs typeface="Arial"/>
              </a:rPr>
              <a:t>nd</a:t>
            </a:r>
            <a:r>
              <a:rPr lang="en-US" sz="2000" dirty="0">
                <a:solidFill>
                  <a:srgbClr val="46424D"/>
                </a:solidFill>
                <a:latin typeface="Arial"/>
                <a:ea typeface="ＭＳ Ｐゴシック" charset="-128"/>
                <a:cs typeface="Arial"/>
              </a:rPr>
              <a:t> Edition, Steve McConnell. </a:t>
            </a:r>
          </a:p>
          <a:p>
            <a:pPr marL="823277" lvl="2">
              <a:spcAft>
                <a:spcPts val="0"/>
              </a:spcAft>
              <a:buClr>
                <a:srgbClr val="0070C0"/>
              </a:buClr>
              <a:buFont typeface="Wingdings 3"/>
              <a:buChar char=""/>
              <a:defRPr/>
            </a:pPr>
            <a:r>
              <a:rPr lang="en-US" sz="1700" dirty="0">
                <a:solidFill>
                  <a:srgbClr val="46424D"/>
                </a:solidFill>
                <a:latin typeface="Arial"/>
                <a:ea typeface="ＭＳ Ｐゴシック" charset="-128"/>
                <a:cs typeface="Arial"/>
              </a:rPr>
              <a:t>Chapter 7</a:t>
            </a:r>
          </a:p>
          <a:p>
            <a:pPr marL="533400" lvl="1" indent="-533400">
              <a:lnSpc>
                <a:spcPct val="115000"/>
              </a:lnSpc>
              <a:spcBef>
                <a:spcPct val="40000"/>
              </a:spcBef>
              <a:buClr>
                <a:srgbClr val="0BD0D9"/>
              </a:buClr>
              <a:buSzPct val="95000"/>
              <a:buFont typeface="Wingdings 2" pitchFamily="18" charset="2"/>
              <a:buNone/>
              <a:defRPr/>
            </a:pPr>
            <a:endParaRPr lang="en-NZ" altLang="en-US" dirty="0"/>
          </a:p>
        </p:txBody>
      </p:sp>
    </p:spTree>
    <p:extLst>
      <p:ext uri="{BB962C8B-B14F-4D97-AF65-F5344CB8AC3E}">
        <p14:creationId xmlns:p14="http://schemas.microsoft.com/office/powerpoint/2010/main" val="23604033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17</a:t>
            </a:fld>
            <a:endParaRPr lang="en-US" sz="700"/>
          </a:p>
        </p:txBody>
      </p:sp>
      <p:sp>
        <p:nvSpPr>
          <p:cNvPr id="4" name="TextBox 3">
            <a:extLst>
              <a:ext uri="{FF2B5EF4-FFF2-40B4-BE49-F238E27FC236}">
                <a16:creationId xmlns:a16="http://schemas.microsoft.com/office/drawing/2014/main" id="{88C360D8-06EC-45E1-9F03-07203CCB8D4E}"/>
              </a:ext>
            </a:extLst>
          </p:cNvPr>
          <p:cNvSpPr txBox="1"/>
          <p:nvPr/>
        </p:nvSpPr>
        <p:spPr>
          <a:xfrm>
            <a:off x="1721224" y="2286000"/>
            <a:ext cx="5701552"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a:solidFill>
                  <a:srgbClr val="404040"/>
                </a:solidFill>
                <a:cs typeface="Calibri"/>
              </a:rPr>
              <a:t>Any questions? ​</a:t>
            </a:r>
          </a:p>
          <a:p>
            <a:pPr algn="ctr"/>
            <a:r>
              <a:rPr lang="en-US" sz="3600">
                <a:solidFill>
                  <a:srgbClr val="404040"/>
                </a:solidFill>
                <a:cs typeface="Calibri"/>
              </a:rPr>
              <a:t>Please feel free to raise your hands and ask.</a:t>
            </a:r>
          </a:p>
        </p:txBody>
      </p:sp>
      <p:pic>
        <p:nvPicPr>
          <p:cNvPr id="2" name="Picture 2">
            <a:extLst>
              <a:ext uri="{FF2B5EF4-FFF2-40B4-BE49-F238E27FC236}">
                <a16:creationId xmlns:a16="http://schemas.microsoft.com/office/drawing/2014/main" id="{D0711CCF-C1F4-43F6-B9FC-0A5338AB8F85}"/>
              </a:ext>
            </a:extLst>
          </p:cNvPr>
          <p:cNvPicPr>
            <a:picLocks noChangeAspect="1"/>
          </p:cNvPicPr>
          <p:nvPr/>
        </p:nvPicPr>
        <p:blipFill>
          <a:blip r:embed="rId2"/>
          <a:stretch>
            <a:fillRect/>
          </a:stretch>
        </p:blipFill>
        <p:spPr>
          <a:xfrm>
            <a:off x="3915508" y="675881"/>
            <a:ext cx="1299457" cy="1285931"/>
          </a:xfrm>
          <a:prstGeom prst="rect">
            <a:avLst/>
          </a:prstGeom>
        </p:spPr>
      </p:pic>
    </p:spTree>
    <p:extLst>
      <p:ext uri="{BB962C8B-B14F-4D97-AF65-F5344CB8AC3E}">
        <p14:creationId xmlns:p14="http://schemas.microsoft.com/office/powerpoint/2010/main" val="2615860504"/>
      </p:ext>
    </p:extLst>
  </p:cSld>
  <p:clrMapOvr>
    <a:masterClrMapping/>
  </p:clrMapOvr>
</p:sld>
</file>

<file path=ppt/theme/theme1.xml><?xml version="1.0" encoding="utf-8"?>
<a:theme xmlns:a="http://schemas.openxmlformats.org/drawingml/2006/main" name="Theme CPIT 110">
  <a:themeElements>
    <a:clrScheme name="Custom 1">
      <a:dk1>
        <a:srgbClr val="000000"/>
      </a:dk1>
      <a:lt1>
        <a:srgbClr val="FFFFFF"/>
      </a:lt1>
      <a:dk2>
        <a:srgbClr val="455F51"/>
      </a:dk2>
      <a:lt2>
        <a:srgbClr val="E2DFCC"/>
      </a:lt2>
      <a:accent1>
        <a:srgbClr val="99CB38"/>
      </a:accent1>
      <a:accent2>
        <a:srgbClr val="63A537"/>
      </a:accent2>
      <a:accent3>
        <a:srgbClr val="37A76F"/>
      </a:accent3>
      <a:accent4>
        <a:srgbClr val="44C1A3"/>
      </a:accent4>
      <a:accent5>
        <a:srgbClr val="A2B7C0"/>
      </a:accent5>
      <a:accent6>
        <a:srgbClr val="51C3F9"/>
      </a:accent6>
      <a:hlink>
        <a:srgbClr val="6B9F25"/>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Theme CPIT 110" id="{8B30B5B8-1EAF-4AD4-A47C-55C6155E0564}" vid="{0F986C0D-D438-41BC-BADF-01C576FE679B}"/>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38470530D50274EAFC96C307341D87E" ma:contentTypeVersion="7" ma:contentTypeDescription="Create a new document." ma:contentTypeScope="" ma:versionID="b8910448027bc4ed34846ea5a9c8ae5b">
  <xsd:schema xmlns:xsd="http://www.w3.org/2001/XMLSchema" xmlns:xs="http://www.w3.org/2001/XMLSchema" xmlns:p="http://schemas.microsoft.com/office/2006/metadata/properties" xmlns:ns3="a7d1a000-c374-4d35-b30d-1e8e9eadf823" xmlns:ns4="1ec989cd-5ee7-4e6d-938f-778fe4b0c792" targetNamespace="http://schemas.microsoft.com/office/2006/metadata/properties" ma:root="true" ma:fieldsID="4f803134678dcdcb51c3dda8fbd31a82" ns3:_="" ns4:_="">
    <xsd:import namespace="a7d1a000-c374-4d35-b30d-1e8e9eadf823"/>
    <xsd:import namespace="1ec989cd-5ee7-4e6d-938f-778fe4b0c792"/>
    <xsd:element name="properties">
      <xsd:complexType>
        <xsd:sequence>
          <xsd:element name="documentManagement">
            <xsd:complexType>
              <xsd:all>
                <xsd:element ref="ns3:_activity" minOccurs="0"/>
                <xsd:element ref="ns4:SharedWithUsers" minOccurs="0"/>
                <xsd:element ref="ns4:SharedWithDetails" minOccurs="0"/>
                <xsd:element ref="ns4:SharingHintHash" minOccurs="0"/>
                <xsd:element ref="ns3:MediaServiceMetadata" minOccurs="0"/>
                <xsd:element ref="ns3:MediaServiceFastMetadata"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7d1a000-c374-4d35-b30d-1e8e9eadf823"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ec989cd-5ee7-4e6d-938f-778fe4b0c792" elementFormDefault="qualified">
    <xsd:import namespace="http://schemas.microsoft.com/office/2006/documentManagement/types"/>
    <xsd:import namespace="http://schemas.microsoft.com/office/infopath/2007/PartnerControls"/>
    <xsd:element name="SharedWithUsers" ma:index="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0" nillable="true" ma:displayName="Shared With Details" ma:internalName="SharedWithDetails" ma:readOnly="true">
      <xsd:simpleType>
        <xsd:restriction base="dms:Note">
          <xsd:maxLength value="255"/>
        </xsd:restriction>
      </xsd:simpleType>
    </xsd:element>
    <xsd:element name="SharingHintHash" ma:index="11"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a7d1a000-c374-4d35-b30d-1e8e9eadf823" xsi:nil="true"/>
  </documentManagement>
</p:properties>
</file>

<file path=customXml/itemProps1.xml><?xml version="1.0" encoding="utf-8"?>
<ds:datastoreItem xmlns:ds="http://schemas.openxmlformats.org/officeDocument/2006/customXml" ds:itemID="{DD0BDFD9-B336-410C-8C70-E8CCE7AD7CBC}">
  <ds:schemaRefs>
    <ds:schemaRef ds:uri="http://schemas.microsoft.com/sharepoint/v3/contenttype/forms"/>
  </ds:schemaRefs>
</ds:datastoreItem>
</file>

<file path=customXml/itemProps2.xml><?xml version="1.0" encoding="utf-8"?>
<ds:datastoreItem xmlns:ds="http://schemas.openxmlformats.org/officeDocument/2006/customXml" ds:itemID="{07067C3D-3075-485C-B52B-5E822900D73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7d1a000-c374-4d35-b30d-1e8e9eadf823"/>
    <ds:schemaRef ds:uri="1ec989cd-5ee7-4e6d-938f-778fe4b0c79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02E0C92-AC64-42CA-94F8-4CA15E127DA0}">
  <ds:schemaRefs>
    <ds:schemaRef ds:uri="http://purl.org/dc/dcmitype/"/>
    <ds:schemaRef ds:uri="http://purl.org/dc/terms/"/>
    <ds:schemaRef ds:uri="http://schemas.microsoft.com/office/2006/documentManagement/types"/>
    <ds:schemaRef ds:uri="1ec989cd-5ee7-4e6d-938f-778fe4b0c792"/>
    <ds:schemaRef ds:uri="http://purl.org/dc/elements/1.1/"/>
    <ds:schemaRef ds:uri="http://www.w3.org/XML/1998/namespace"/>
    <ds:schemaRef ds:uri="http://schemas.microsoft.com/office/infopath/2007/PartnerControls"/>
    <ds:schemaRef ds:uri="http://schemas.openxmlformats.org/package/2006/metadata/core-properties"/>
    <ds:schemaRef ds:uri="a7d1a000-c374-4d35-b30d-1e8e9eadf823"/>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Theme CPIT 110</Template>
  <TotalTime>156</TotalTime>
  <Words>1028</Words>
  <Application>Microsoft Office PowerPoint</Application>
  <PresentationFormat>On-screen Show (4:3)</PresentationFormat>
  <Paragraphs>98</Paragraphs>
  <Slides>17</Slides>
  <Notes>1</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17</vt:i4>
      </vt:variant>
    </vt:vector>
  </HeadingPairs>
  <TitlesOfParts>
    <vt:vector size="29" baseType="lpstr">
      <vt:lpstr>Arial</vt:lpstr>
      <vt:lpstr>Calibri</vt:lpstr>
      <vt:lpstr>Calibri Light</vt:lpstr>
      <vt:lpstr>Carlito</vt:lpstr>
      <vt:lpstr>DejaVu Sans Mono</vt:lpstr>
      <vt:lpstr>Eurostile</vt:lpstr>
      <vt:lpstr>Times New Roman</vt:lpstr>
      <vt:lpstr>Wingdings</vt:lpstr>
      <vt:lpstr>Wingdings 2</vt:lpstr>
      <vt:lpstr>Wingdings 3</vt:lpstr>
      <vt:lpstr>Theme CPIT 110</vt:lpstr>
      <vt:lpstr>Custom Design</vt:lpstr>
      <vt:lpstr>Chapter  2.7 Creating High-Quality Code</vt:lpstr>
      <vt:lpstr>Outline</vt:lpstr>
      <vt:lpstr>What is a Routine?</vt:lpstr>
      <vt:lpstr>What is a Routine?</vt:lpstr>
      <vt:lpstr>What is a Routine?</vt:lpstr>
      <vt:lpstr>Valid Reasons to Create a Routine</vt:lpstr>
      <vt:lpstr>Valid Reasons to Create a Routine</vt:lpstr>
      <vt:lpstr>Valid Reasons to Create a Routine</vt:lpstr>
      <vt:lpstr>Valid Reasons to Create a Routine</vt:lpstr>
      <vt:lpstr>Valid Reasons to Create a Routine</vt:lpstr>
      <vt:lpstr>Valid Reasons to Create a Routine</vt:lpstr>
      <vt:lpstr>Valid Reasons to Create a Routine</vt:lpstr>
      <vt:lpstr>Valid Reasons to Create a Routine</vt:lpstr>
      <vt:lpstr>Operations that Seem too Simple to Put Into Routine</vt:lpstr>
      <vt:lpstr>Operations that Seem too Simple to Put Into Routine</vt:lpstr>
      <vt:lpstr>Reading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0  Introduction to Problem-Solving</dc:title>
  <dc:creator>Ahmad Tayeb;ajtayeb@kau.edu.sa</dc:creator>
  <cp:lastModifiedBy>Mohammad Dakhilallah Mohammad Alahmadi</cp:lastModifiedBy>
  <cp:revision>25</cp:revision>
  <dcterms:created xsi:type="dcterms:W3CDTF">2019-06-07T16:06:41Z</dcterms:created>
  <dcterms:modified xsi:type="dcterms:W3CDTF">2023-09-24T12:53:40Z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0x010100038470530D50274EAFC96C307341D87E</vt:lpwstr>
  </property>
</Properties>
</file>