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25"/>
  </p:notesMasterIdLst>
  <p:sldIdLst>
    <p:sldId id="330" r:id="rId6"/>
    <p:sldId id="333" r:id="rId7"/>
    <p:sldId id="416" r:id="rId8"/>
    <p:sldId id="417" r:id="rId9"/>
    <p:sldId id="419" r:id="rId10"/>
    <p:sldId id="420" r:id="rId11"/>
    <p:sldId id="421" r:id="rId12"/>
    <p:sldId id="415" r:id="rId13"/>
    <p:sldId id="424" r:id="rId14"/>
    <p:sldId id="425" r:id="rId15"/>
    <p:sldId id="432" r:id="rId16"/>
    <p:sldId id="433" r:id="rId17"/>
    <p:sldId id="434" r:id="rId18"/>
    <p:sldId id="435" r:id="rId19"/>
    <p:sldId id="427" r:id="rId20"/>
    <p:sldId id="429" r:id="rId21"/>
    <p:sldId id="436" r:id="rId22"/>
    <p:sldId id="430" r:id="rId23"/>
    <p:sldId id="41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333"/>
            <p14:sldId id="416"/>
            <p14:sldId id="417"/>
            <p14:sldId id="419"/>
            <p14:sldId id="420"/>
            <p14:sldId id="421"/>
            <p14:sldId id="415"/>
            <p14:sldId id="424"/>
            <p14:sldId id="425"/>
            <p14:sldId id="432"/>
            <p14:sldId id="433"/>
            <p14:sldId id="434"/>
            <p14:sldId id="435"/>
            <p14:sldId id="427"/>
            <p14:sldId id="429"/>
            <p14:sldId id="436"/>
            <p14:sldId id="430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5" autoAdjust="0"/>
    <p:restoredTop sz="94607"/>
  </p:normalViewPr>
  <p:slideViewPr>
    <p:cSldViewPr snapToGrid="0">
      <p:cViewPr varScale="1">
        <p:scale>
          <a:sx n="104" d="100"/>
          <a:sy n="104" d="100"/>
        </p:scale>
        <p:origin x="114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S::04100753@uj.edu.sa::9b436a58-7297-423f-8410-66c59c69358a" providerId="AD" clId="Web-{F664D086-702E-2BF9-B598-C5CE6D4A389C}"/>
    <pc:docChg chg="delSld modSection">
      <pc:chgData name="Mohammad Dakhilallah Mohammad Alahmadi" userId="S::04100753@uj.edu.sa::9b436a58-7297-423f-8410-66c59c69358a" providerId="AD" clId="Web-{F664D086-702E-2BF9-B598-C5CE6D4A389C}" dt="2023-08-25T12:10:18.704" v="0"/>
      <pc:docMkLst>
        <pc:docMk/>
      </pc:docMkLst>
      <pc:sldChg chg="del">
        <pc:chgData name="Mohammad Dakhilallah Mohammad Alahmadi" userId="S::04100753@uj.edu.sa::9b436a58-7297-423f-8410-66c59c69358a" providerId="AD" clId="Web-{F664D086-702E-2BF9-B598-C5CE6D4A389C}" dt="2023-08-25T12:10:18.704" v="0"/>
        <pc:sldMkLst>
          <pc:docMk/>
          <pc:sldMk cId="2586610191" sldId="423"/>
        </pc:sldMkLst>
      </pc:sldChg>
    </pc:docChg>
  </pc:docChgLst>
  <pc:docChgLst>
    <pc:chgData name="Mohammad Dakhilallah Mohammad Alahmadi" userId="9b436a58-7297-423f-8410-66c59c69358a" providerId="ADAL" clId="{AA04DA1A-16EA-48F4-9A51-42C3C3F6CEAE}"/>
    <pc:docChg chg="modSld">
      <pc:chgData name="Mohammad Dakhilallah Mohammad Alahmadi" userId="9b436a58-7297-423f-8410-66c59c69358a" providerId="ADAL" clId="{AA04DA1A-16EA-48F4-9A51-42C3C3F6CEAE}" dt="2024-09-16T10:40:52.763" v="0" actId="1035"/>
      <pc:docMkLst>
        <pc:docMk/>
      </pc:docMkLst>
      <pc:sldChg chg="modSp mod">
        <pc:chgData name="Mohammad Dakhilallah Mohammad Alahmadi" userId="9b436a58-7297-423f-8410-66c59c69358a" providerId="ADAL" clId="{AA04DA1A-16EA-48F4-9A51-42C3C3F6CEAE}" dt="2024-09-16T10:40:52.763" v="0" actId="1035"/>
        <pc:sldMkLst>
          <pc:docMk/>
          <pc:sldMk cId="2970389951" sldId="425"/>
        </pc:sldMkLst>
        <pc:picChg chg="mod">
          <ac:chgData name="Mohammad Dakhilallah Mohammad Alahmadi" userId="9b436a58-7297-423f-8410-66c59c69358a" providerId="ADAL" clId="{AA04DA1A-16EA-48F4-9A51-42C3C3F6CEAE}" dt="2024-09-16T10:40:52.763" v="0" actId="1035"/>
          <ac:picMkLst>
            <pc:docMk/>
            <pc:sldMk cId="2970389951" sldId="425"/>
            <ac:picMk id="4" creationId="{BB97DE16-0051-A372-48C5-03E27E4C499E}"/>
          </ac:picMkLst>
        </pc:picChg>
      </pc:sldChg>
    </pc:docChg>
  </pc:docChgLst>
  <pc:docChgLst>
    <pc:chgData name="Mohammad Dakhilallah Mohammad Alahmadi" userId="9b436a58-7297-423f-8410-66c59c69358a" providerId="ADAL" clId="{E1CC5655-3725-4FC3-BE7E-EF99383A8C1D}"/>
    <pc:docChg chg="undo custSel modSld">
      <pc:chgData name="Mohammad Dakhilallah Mohammad Alahmadi" userId="9b436a58-7297-423f-8410-66c59c69358a" providerId="ADAL" clId="{E1CC5655-3725-4FC3-BE7E-EF99383A8C1D}" dt="2023-09-20T06:45:20.217" v="49" actId="1076"/>
      <pc:docMkLst>
        <pc:docMk/>
      </pc:docMkLst>
      <pc:sldChg chg="addSp delSp modSp mod">
        <pc:chgData name="Mohammad Dakhilallah Mohammad Alahmadi" userId="9b436a58-7297-423f-8410-66c59c69358a" providerId="ADAL" clId="{E1CC5655-3725-4FC3-BE7E-EF99383A8C1D}" dt="2023-09-20T06:45:20.217" v="49" actId="1076"/>
        <pc:sldMkLst>
          <pc:docMk/>
          <pc:sldMk cId="251095777" sldId="415"/>
        </pc:sldMkLst>
        <pc:spChg chg="mod">
          <ac:chgData name="Mohammad Dakhilallah Mohammad Alahmadi" userId="9b436a58-7297-423f-8410-66c59c69358a" providerId="ADAL" clId="{E1CC5655-3725-4FC3-BE7E-EF99383A8C1D}" dt="2023-09-20T06:45:20.217" v="49" actId="1076"/>
          <ac:spMkLst>
            <pc:docMk/>
            <pc:sldMk cId="251095777" sldId="415"/>
            <ac:spMk id="4" creationId="{B427053B-FF46-614C-C78A-2C3A79388AF3}"/>
          </ac:spMkLst>
        </pc:spChg>
        <pc:spChg chg="mod">
          <ac:chgData name="Mohammad Dakhilallah Mohammad Alahmadi" userId="9b436a58-7297-423f-8410-66c59c69358a" providerId="ADAL" clId="{E1CC5655-3725-4FC3-BE7E-EF99383A8C1D}" dt="2023-09-16T16:04:56.162" v="48" actId="1038"/>
          <ac:spMkLst>
            <pc:docMk/>
            <pc:sldMk cId="251095777" sldId="415"/>
            <ac:spMk id="6" creationId="{C2D88E03-B852-94B7-6FA9-674A5C621C27}"/>
          </ac:spMkLst>
        </pc:spChg>
        <pc:spChg chg="mod">
          <ac:chgData name="Mohammad Dakhilallah Mohammad Alahmadi" userId="9b436a58-7297-423f-8410-66c59c69358a" providerId="ADAL" clId="{E1CC5655-3725-4FC3-BE7E-EF99383A8C1D}" dt="2023-09-16T16:04:56.162" v="48" actId="1038"/>
          <ac:spMkLst>
            <pc:docMk/>
            <pc:sldMk cId="251095777" sldId="415"/>
            <ac:spMk id="7" creationId="{5B77B12A-3E27-278E-0346-05653F8654AE}"/>
          </ac:spMkLst>
        </pc:spChg>
        <pc:spChg chg="add del mod">
          <ac:chgData name="Mohammad Dakhilallah Mohammad Alahmadi" userId="9b436a58-7297-423f-8410-66c59c69358a" providerId="ADAL" clId="{E1CC5655-3725-4FC3-BE7E-EF99383A8C1D}" dt="2023-09-16T16:03:45.527" v="41" actId="478"/>
          <ac:spMkLst>
            <pc:docMk/>
            <pc:sldMk cId="251095777" sldId="415"/>
            <ac:spMk id="8" creationId="{A3558A99-3241-38E8-8222-9AFEE653706A}"/>
          </ac:spMkLst>
        </pc:spChg>
        <pc:spChg chg="del">
          <ac:chgData name="Mohammad Dakhilallah Mohammad Alahmadi" userId="9b436a58-7297-423f-8410-66c59c69358a" providerId="ADAL" clId="{E1CC5655-3725-4FC3-BE7E-EF99383A8C1D}" dt="2023-09-16T16:03:43.084" v="40" actId="478"/>
          <ac:spMkLst>
            <pc:docMk/>
            <pc:sldMk cId="251095777" sldId="415"/>
            <ac:spMk id="9219" creationId="{00000000-0000-0000-0000-000000000000}"/>
          </ac:spMkLst>
        </pc:spChg>
      </pc:sldChg>
      <pc:sldChg chg="addSp delSp modSp mod">
        <pc:chgData name="Mohammad Dakhilallah Mohammad Alahmadi" userId="9b436a58-7297-423f-8410-66c59c69358a" providerId="ADAL" clId="{E1CC5655-3725-4FC3-BE7E-EF99383A8C1D}" dt="2023-09-16T15:59:48.770" v="11"/>
        <pc:sldMkLst>
          <pc:docMk/>
          <pc:sldMk cId="1076553011" sldId="416"/>
        </pc:sldMkLst>
        <pc:spChg chg="mod">
          <ac:chgData name="Mohammad Dakhilallah Mohammad Alahmadi" userId="9b436a58-7297-423f-8410-66c59c69358a" providerId="ADAL" clId="{E1CC5655-3725-4FC3-BE7E-EF99383A8C1D}" dt="2023-09-16T15:59:45.396" v="9"/>
          <ac:spMkLst>
            <pc:docMk/>
            <pc:sldMk cId="1076553011" sldId="416"/>
            <ac:spMk id="3" creationId="{1846F605-CDDF-C3AE-6A94-70E3378FB036}"/>
          </ac:spMkLst>
        </pc:spChg>
        <pc:spChg chg="add del mod">
          <ac:chgData name="Mohammad Dakhilallah Mohammad Alahmadi" userId="9b436a58-7297-423f-8410-66c59c69358a" providerId="ADAL" clId="{E1CC5655-3725-4FC3-BE7E-EF99383A8C1D}" dt="2023-09-16T15:59:48.770" v="11"/>
          <ac:spMkLst>
            <pc:docMk/>
            <pc:sldMk cId="1076553011" sldId="416"/>
            <ac:spMk id="6" creationId="{AA41A0FC-3FC8-BEA3-F8EB-8E422C52025D}"/>
          </ac:spMkLst>
        </pc:spChg>
      </pc:sldChg>
      <pc:sldChg chg="modSp mod">
        <pc:chgData name="Mohammad Dakhilallah Mohammad Alahmadi" userId="9b436a58-7297-423f-8410-66c59c69358a" providerId="ADAL" clId="{E1CC5655-3725-4FC3-BE7E-EF99383A8C1D}" dt="2023-09-16T16:01:44.063" v="12" actId="20577"/>
        <pc:sldMkLst>
          <pc:docMk/>
          <pc:sldMk cId="4021999624" sldId="417"/>
        </pc:sldMkLst>
        <pc:spChg chg="mod">
          <ac:chgData name="Mohammad Dakhilallah Mohammad Alahmadi" userId="9b436a58-7297-423f-8410-66c59c69358a" providerId="ADAL" clId="{E1CC5655-3725-4FC3-BE7E-EF99383A8C1D}" dt="2023-09-16T16:01:44.063" v="12" actId="20577"/>
          <ac:spMkLst>
            <pc:docMk/>
            <pc:sldMk cId="4021999624" sldId="417"/>
            <ac:spMk id="4" creationId="{D1B2AC34-3847-51C3-D4CB-1B0CC72B904B}"/>
          </ac:spMkLst>
        </pc:spChg>
      </pc:sldChg>
    </pc:docChg>
  </pc:docChgLst>
  <pc:docChgLst>
    <pc:chgData clId="Web-{F664D086-702E-2BF9-B598-C5CE6D4A389C}"/>
    <pc:docChg chg="delSld modSection">
      <pc:chgData name="" userId="" providerId="" clId="Web-{F664D086-702E-2BF9-B598-C5CE6D4A389C}" dt="2023-08-25T12:09:08.999" v="1"/>
      <pc:docMkLst>
        <pc:docMk/>
      </pc:docMkLst>
      <pc:sldChg chg="del">
        <pc:chgData name="" userId="" providerId="" clId="Web-{F664D086-702E-2BF9-B598-C5CE6D4A389C}" dt="2023-08-25T12:09:08.999" v="1"/>
        <pc:sldMkLst>
          <pc:docMk/>
          <pc:sldMk cId="3636466238" sldId="431"/>
        </pc:sldMkLst>
      </pc:sldChg>
      <pc:sldChg chg="del">
        <pc:chgData name="" userId="" providerId="" clId="Web-{F664D086-702E-2BF9-B598-C5CE6D4A389C}" dt="2023-08-25T12:09:05.264" v="0"/>
        <pc:sldMkLst>
          <pc:docMk/>
          <pc:sldMk cId="3665176667" sldId="4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2.4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</a:rPr>
              <a:t>Creating High-Quality Code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B4BD589-6B4E-CB38-DE69-6D2BCC2A45A0}"/>
              </a:ext>
            </a:extLst>
          </p:cNvPr>
          <p:cNvSpPr txBox="1">
            <a:spLocks/>
          </p:cNvSpPr>
          <p:nvPr/>
        </p:nvSpPr>
        <p:spPr>
          <a:xfrm>
            <a:off x="400547" y="1819298"/>
            <a:ext cx="8008816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Working Classes (Part 1 of 3)</a:t>
            </a:r>
          </a:p>
          <a:p>
            <a:pPr lvl="1"/>
            <a:r>
              <a:rPr lang="en-US" dirty="0"/>
              <a:t>Class Foundations: Abstract Data Types (ADTs)</a:t>
            </a:r>
          </a:p>
          <a:p>
            <a:pPr lvl="1"/>
            <a:r>
              <a:rPr lang="en-US" dirty="0"/>
              <a:t>Good Class Interfaces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83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Working Classes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46F605-CDDF-C3AE-6A94-70E3378FB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0050" y="1597025"/>
            <a:ext cx="7889875" cy="4454525"/>
          </a:xfrm>
        </p:spPr>
        <p:txBody>
          <a:bodyPr/>
          <a:lstStyle/>
          <a:p>
            <a:r>
              <a:rPr lang="en-US" i="1" spc="-5" dirty="0">
                <a:latin typeface="Carlito"/>
                <a:cs typeface="Carlito"/>
              </a:rPr>
              <a:t>In the dawn </a:t>
            </a:r>
            <a:r>
              <a:rPr lang="en-US" i="1" dirty="0">
                <a:latin typeface="Carlito"/>
                <a:cs typeface="Carlito"/>
              </a:rPr>
              <a:t>of </a:t>
            </a:r>
            <a:r>
              <a:rPr lang="en-US" i="1" spc="-5" dirty="0">
                <a:latin typeface="Carlito"/>
                <a:cs typeface="Carlito"/>
              </a:rPr>
              <a:t>computing, programmers </a:t>
            </a:r>
            <a:r>
              <a:rPr lang="en-US" i="1" spc="-10" dirty="0">
                <a:latin typeface="Carlito"/>
                <a:cs typeface="Carlito"/>
              </a:rPr>
              <a:t>thought </a:t>
            </a:r>
            <a:r>
              <a:rPr lang="en-US" i="1" spc="-5" dirty="0">
                <a:latin typeface="Carlito"/>
                <a:cs typeface="Carlito"/>
              </a:rPr>
              <a:t>about programming in </a:t>
            </a:r>
            <a:r>
              <a:rPr lang="en-US" i="1" spc="-10" dirty="0">
                <a:latin typeface="Carlito"/>
                <a:cs typeface="Carlito"/>
              </a:rPr>
              <a:t>terms </a:t>
            </a:r>
            <a:r>
              <a:rPr lang="en-US" i="1" dirty="0">
                <a:latin typeface="Carlito"/>
                <a:cs typeface="Carlito"/>
              </a:rPr>
              <a:t>of</a:t>
            </a:r>
            <a:r>
              <a:rPr lang="en-US" i="1" spc="140" dirty="0">
                <a:latin typeface="Carlito"/>
                <a:cs typeface="Carlito"/>
              </a:rPr>
              <a:t> </a:t>
            </a:r>
            <a:r>
              <a:rPr lang="en-US" b="1" i="1" spc="-10" dirty="0">
                <a:latin typeface="Carlito"/>
                <a:cs typeface="Carlito"/>
              </a:rPr>
              <a:t>statements</a:t>
            </a:r>
            <a:r>
              <a:rPr lang="en-US" i="1" spc="-10" dirty="0">
                <a:latin typeface="Carlito"/>
                <a:cs typeface="Carlito"/>
              </a:rPr>
              <a:t>. </a:t>
            </a:r>
            <a:r>
              <a:rPr lang="en-US" i="1" spc="-5" dirty="0">
                <a:latin typeface="Carlito"/>
                <a:cs typeface="Carlito"/>
              </a:rPr>
              <a:t>Throughout the </a:t>
            </a:r>
            <a:r>
              <a:rPr lang="en-US" i="1" dirty="0">
                <a:latin typeface="Carlito"/>
                <a:cs typeface="Carlito"/>
              </a:rPr>
              <a:t>1970s </a:t>
            </a:r>
            <a:r>
              <a:rPr lang="en-US" i="1" spc="-5" dirty="0">
                <a:latin typeface="Carlito"/>
                <a:cs typeface="Carlito"/>
              </a:rPr>
              <a:t>and 1980s, programmers began thinking about programs in </a:t>
            </a:r>
            <a:r>
              <a:rPr lang="en-US" i="1" spc="-10" dirty="0">
                <a:latin typeface="Carlito"/>
                <a:cs typeface="Carlito"/>
              </a:rPr>
              <a:t>terms </a:t>
            </a:r>
            <a:r>
              <a:rPr lang="en-US" i="1" dirty="0">
                <a:latin typeface="Carlito"/>
                <a:cs typeface="Carlito"/>
              </a:rPr>
              <a:t>of</a:t>
            </a:r>
            <a:r>
              <a:rPr lang="en-US" i="1" spc="175" dirty="0">
                <a:latin typeface="Carlito"/>
                <a:cs typeface="Carlito"/>
              </a:rPr>
              <a:t> </a:t>
            </a:r>
            <a:r>
              <a:rPr lang="en-US" b="1" i="1" spc="-5" dirty="0">
                <a:latin typeface="Carlito"/>
                <a:cs typeface="Carlito"/>
              </a:rPr>
              <a:t>routines</a:t>
            </a:r>
            <a:r>
              <a:rPr lang="en-US" i="1" spc="-5" dirty="0">
                <a:latin typeface="Carlito"/>
                <a:cs typeface="Carlito"/>
              </a:rPr>
              <a:t>.</a:t>
            </a:r>
            <a:r>
              <a:rPr lang="en-US" dirty="0">
                <a:latin typeface="Carlito"/>
                <a:cs typeface="Carlito"/>
              </a:rPr>
              <a:t> </a:t>
            </a:r>
            <a:r>
              <a:rPr lang="en-US" i="1" spc="-5" dirty="0">
                <a:latin typeface="Carlito"/>
                <a:cs typeface="Carlito"/>
              </a:rPr>
              <a:t>In the </a:t>
            </a:r>
            <a:r>
              <a:rPr lang="en-US" i="1" spc="-10" dirty="0">
                <a:latin typeface="Carlito"/>
                <a:cs typeface="Carlito"/>
              </a:rPr>
              <a:t>twenty-first </a:t>
            </a:r>
            <a:r>
              <a:rPr lang="en-US" i="1" spc="-20" dirty="0">
                <a:latin typeface="Carlito"/>
                <a:cs typeface="Carlito"/>
              </a:rPr>
              <a:t>century, </a:t>
            </a:r>
            <a:r>
              <a:rPr lang="en-US" i="1" spc="-5" dirty="0">
                <a:latin typeface="Carlito"/>
                <a:cs typeface="Carlito"/>
              </a:rPr>
              <a:t>programmers think about programming in </a:t>
            </a:r>
            <a:r>
              <a:rPr lang="en-US" i="1" spc="-10" dirty="0">
                <a:latin typeface="Carlito"/>
                <a:cs typeface="Carlito"/>
              </a:rPr>
              <a:t>terms </a:t>
            </a:r>
            <a:r>
              <a:rPr lang="en-US" i="1" dirty="0">
                <a:latin typeface="Carlito"/>
                <a:cs typeface="Carlito"/>
              </a:rPr>
              <a:t>of</a:t>
            </a:r>
            <a:r>
              <a:rPr lang="en-US" i="1" spc="140" dirty="0">
                <a:latin typeface="Carlito"/>
                <a:cs typeface="Carlito"/>
              </a:rPr>
              <a:t> </a:t>
            </a:r>
            <a:r>
              <a:rPr lang="en-US" b="1" i="1" spc="-5" dirty="0">
                <a:latin typeface="Carlito"/>
                <a:cs typeface="Carlito"/>
              </a:rPr>
              <a:t>classes</a:t>
            </a:r>
            <a:r>
              <a:rPr lang="en-US" i="1" spc="-5" dirty="0">
                <a:latin typeface="Carlito"/>
                <a:cs typeface="Carlito"/>
              </a:rPr>
              <a:t>.</a:t>
            </a:r>
            <a:endParaRPr lang="en-US" dirty="0">
              <a:latin typeface="Carlito"/>
              <a:cs typeface="Carlito"/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55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marL="342900" indent="-342900" eaLnBrk="0" hangingPunct="0">
              <a:defRPr/>
            </a:pPr>
            <a:r>
              <a:rPr lang="en-US" sz="4400" b="1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Working Classes</a:t>
            </a:r>
            <a:endParaRPr lang="en-US" sz="4400" dirty="0">
              <a:solidFill>
                <a:schemeClr val="tx1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99E1D13-E330-A463-87E3-80EE79EE8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82537"/>
            <a:ext cx="3748088" cy="4687888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832AB734-3216-2C4A-6DC0-7275046F9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1392" y="1794093"/>
            <a:ext cx="533400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dirty="0">
                <a:latin typeface="Carlito"/>
                <a:ea typeface="Carlito"/>
                <a:cs typeface="Carlito"/>
              </a:rPr>
              <a:t>A class is a collection of data and  routines that share a </a:t>
            </a:r>
            <a:r>
              <a:rPr lang="en-US" sz="2400" b="1" dirty="0">
                <a:latin typeface="Carlito"/>
                <a:ea typeface="Carlito"/>
                <a:cs typeface="Carlito"/>
              </a:rPr>
              <a:t>cohesive</a:t>
            </a:r>
            <a:r>
              <a:rPr lang="en-US" sz="2400" dirty="0">
                <a:latin typeface="Carlito"/>
                <a:ea typeface="Carlito"/>
                <a:cs typeface="Carlito"/>
              </a:rPr>
              <a:t>, </a:t>
            </a:r>
            <a:r>
              <a:rPr lang="en-US" sz="2400" b="1" dirty="0">
                <a:latin typeface="Carlito"/>
                <a:ea typeface="Carlito"/>
                <a:cs typeface="Carlito"/>
              </a:rPr>
              <a:t>well-defined responsibility</a:t>
            </a:r>
            <a:r>
              <a:rPr lang="en-US" sz="2400" dirty="0">
                <a:latin typeface="Carlito"/>
                <a:ea typeface="Carlito"/>
                <a:cs typeface="Carlito"/>
              </a:rPr>
              <a:t>. A class might  also be a collection of routines that  provides a </a:t>
            </a:r>
            <a:r>
              <a:rPr lang="en-US" sz="2400" b="1" dirty="0">
                <a:latin typeface="Carlito"/>
                <a:ea typeface="Carlito"/>
                <a:cs typeface="Carlito"/>
              </a:rPr>
              <a:t>cohesive set of services  even if no common data is involved</a:t>
            </a:r>
            <a:endParaRPr lang="en-US" sz="2400" dirty="0">
              <a:latin typeface="Carlito"/>
              <a:ea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1B2AC34-3847-51C3-D4CB-1B0CC72B9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0325" y="4745233"/>
            <a:ext cx="5121275" cy="5302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0" tIns="42545" rIns="0" bIns="0">
            <a:spAutoFit/>
          </a:bodyPr>
          <a:lstStyle/>
          <a:p>
            <a:pPr marL="122238" indent="219075">
              <a:lnSpc>
                <a:spcPts val="1900"/>
              </a:lnSpc>
              <a:spcBef>
                <a:spcPts val="338"/>
              </a:spcBef>
            </a:pPr>
            <a:r>
              <a:rPr lang="en-US" sz="1600" i="1" dirty="0">
                <a:latin typeface="Carlito"/>
                <a:ea typeface="Carlito"/>
                <a:cs typeface="Carlito"/>
              </a:rPr>
              <a:t>Maximizes the portion of a program that you can safely ignore while working on another section of code</a:t>
            </a:r>
            <a:endParaRPr lang="en-US" sz="1600" dirty="0"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21999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n-lt"/>
              </a:rPr>
              <a:t>Class Foundations: </a:t>
            </a:r>
            <a:r>
              <a:rPr lang="en-US" sz="3600" dirty="0">
                <a:solidFill>
                  <a:schemeClr val="tx1"/>
                </a:solidFill>
                <a:latin typeface="+mn-lt"/>
              </a:rPr>
              <a:t>Abstract Data Types (ADTs)</a:t>
            </a:r>
            <a:endParaRPr lang="en-US" sz="3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ECF100B9-5BF1-6896-9302-9726E2D4E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379" y="1271392"/>
            <a:ext cx="74676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An abstract data type is a collection of data and operations that work on that data.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1A5A986-D971-1C85-427E-40B8C7C07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167338"/>
            <a:ext cx="3904989" cy="42291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EA319EC-EEE8-FA8E-359D-6F43FC5D2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271" y="2167338"/>
            <a:ext cx="4822521" cy="58541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46355" rIns="0" bIns="0">
            <a:spAutoFit/>
          </a:bodyPr>
          <a:lstStyle/>
          <a:p>
            <a:pPr marL="1019175" indent="-887413">
              <a:lnSpc>
                <a:spcPts val="2113"/>
              </a:lnSpc>
              <a:spcBef>
                <a:spcPts val="36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Understanding ADTs is essential to understanding object-oriented programming.</a:t>
            </a: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E3718B1F-60F0-D5F6-B9CD-6514CD27A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271" y="2965421"/>
            <a:ext cx="4822521" cy="1139825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31750" rIns="0" bIns="0">
            <a:spAutoFit/>
          </a:bodyPr>
          <a:lstStyle/>
          <a:p>
            <a:pPr marL="90488">
              <a:spcBef>
                <a:spcPts val="25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An ADT might be a graphics window with all the  operations that affect it, a file and file operations,  an insurance-rates table and the operations on it,  or something else</a:t>
            </a: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+mn-lt"/>
              </a:rPr>
              <a:t>Class Foundations: </a:t>
            </a:r>
            <a:r>
              <a:rPr lang="en-US" sz="3600" dirty="0">
                <a:solidFill>
                  <a:schemeClr val="tx1"/>
                </a:solidFill>
                <a:latin typeface="+mn-lt"/>
              </a:rPr>
              <a:t>Abstract Data Types (ADTs)</a:t>
            </a:r>
            <a:endParaRPr lang="en-US" sz="36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70757FF-23F3-F374-3861-275FC9D5F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67" y="1468786"/>
            <a:ext cx="8617907" cy="56848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17780" rIns="0" bIns="0">
            <a:spAutoFit/>
          </a:bodyPr>
          <a:lstStyle/>
          <a:p>
            <a:pPr marL="1258888" indent="-739775">
              <a:lnSpc>
                <a:spcPct val="101000"/>
              </a:lnSpc>
              <a:spcBef>
                <a:spcPts val="138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Suppose you’re writing software that controls the cooling system for a nuclear  reactor. You can treat the cooling system as an abstract data type.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DF7B82F-0E69-53C8-6DC4-E10DBCB04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3016250"/>
            <a:ext cx="4608512" cy="2840038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E5EAEB01-9780-603D-61D3-5D34494C6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7775" y="2531910"/>
            <a:ext cx="3817937" cy="90328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0" tIns="31750" rIns="0" bIns="0">
            <a:spAutoFit/>
          </a:bodyPr>
          <a:lstStyle/>
          <a:p>
            <a:pPr marL="90488">
              <a:lnSpc>
                <a:spcPct val="101000"/>
              </a:lnSpc>
              <a:spcBef>
                <a:spcPts val="250"/>
              </a:spcBef>
            </a:pPr>
            <a:r>
              <a:rPr lang="en-US" sz="1400" dirty="0" err="1">
                <a:latin typeface="DejaVu Sans Mono"/>
                <a:ea typeface="DejaVu Sans Mono"/>
                <a:cs typeface="DejaVu Sans Mono"/>
              </a:rPr>
              <a:t>coolingSystem.GetTemperature</a:t>
            </a:r>
            <a:r>
              <a:rPr lang="en-US" sz="1400" dirty="0">
                <a:latin typeface="DejaVu Sans Mono"/>
                <a:ea typeface="DejaVu Sans Mono"/>
                <a:cs typeface="DejaVu Sans Mono"/>
              </a:rPr>
              <a:t>()  </a:t>
            </a:r>
            <a:r>
              <a:rPr lang="en-US" sz="1400" dirty="0" err="1">
                <a:latin typeface="DejaVu Sans Mono"/>
                <a:ea typeface="DejaVu Sans Mono"/>
                <a:cs typeface="DejaVu Sans Mono"/>
              </a:rPr>
              <a:t>coolingSystem.SetCirculationRate</a:t>
            </a:r>
            <a:r>
              <a:rPr lang="en-US" sz="1400" dirty="0">
                <a:latin typeface="DejaVu Sans Mono"/>
                <a:ea typeface="DejaVu Sans Mono"/>
                <a:cs typeface="DejaVu Sans Mono"/>
              </a:rPr>
              <a:t>( rate )  </a:t>
            </a:r>
            <a:r>
              <a:rPr lang="en-US" sz="1400" dirty="0" err="1">
                <a:latin typeface="DejaVu Sans Mono"/>
                <a:ea typeface="DejaVu Sans Mono"/>
                <a:cs typeface="DejaVu Sans Mono"/>
              </a:rPr>
              <a:t>coolingSystem.OpenValve</a:t>
            </a:r>
            <a:r>
              <a:rPr lang="en-US" sz="1400" dirty="0">
                <a:latin typeface="DejaVu Sans Mono"/>
                <a:ea typeface="DejaVu Sans Mono"/>
                <a:cs typeface="DejaVu Sans Mono"/>
              </a:rPr>
              <a:t>( </a:t>
            </a:r>
            <a:r>
              <a:rPr lang="en-US" sz="1400" dirty="0" err="1">
                <a:latin typeface="DejaVu Sans Mono"/>
                <a:ea typeface="DejaVu Sans Mono"/>
                <a:cs typeface="DejaVu Sans Mono"/>
              </a:rPr>
              <a:t>valveNumber</a:t>
            </a:r>
            <a:r>
              <a:rPr lang="en-US" sz="1400" dirty="0">
                <a:latin typeface="DejaVu Sans Mono"/>
                <a:ea typeface="DejaVu Sans Mono"/>
                <a:cs typeface="DejaVu Sans Mono"/>
              </a:rPr>
              <a:t> )  </a:t>
            </a:r>
            <a:r>
              <a:rPr lang="en-US" sz="1400" dirty="0" err="1">
                <a:latin typeface="DejaVu Sans Mono"/>
                <a:ea typeface="DejaVu Sans Mono"/>
                <a:cs typeface="DejaVu Sans Mono"/>
              </a:rPr>
              <a:t>coolingSystem.CloseValve</a:t>
            </a:r>
            <a:r>
              <a:rPr lang="en-US" sz="1400" dirty="0">
                <a:latin typeface="DejaVu Sans Mono"/>
                <a:ea typeface="DejaVu Sans Mono"/>
                <a:cs typeface="DejaVu Sans Mono"/>
              </a:rPr>
              <a:t>( </a:t>
            </a:r>
            <a:r>
              <a:rPr lang="en-US" sz="1400" dirty="0" err="1">
                <a:latin typeface="DejaVu Sans Mono"/>
                <a:ea typeface="DejaVu Sans Mono"/>
                <a:cs typeface="DejaVu Sans Mono"/>
              </a:rPr>
              <a:t>valveNumber</a:t>
            </a:r>
            <a:r>
              <a:rPr lang="en-US" sz="1400" dirty="0">
                <a:latin typeface="DejaVu Sans Mono"/>
                <a:ea typeface="DejaVu Sans Mono"/>
                <a:cs typeface="DejaVu Sans Mono"/>
              </a:rPr>
              <a:t> )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0CED035-94F7-EDFC-9977-6C8E1652F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5437" y="3762495"/>
            <a:ext cx="3817937" cy="673774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33655" rIns="0" bIns="0">
            <a:spAutoFit/>
          </a:bodyPr>
          <a:lstStyle/>
          <a:p>
            <a:pPr marL="136525" algn="ctr">
              <a:lnSpc>
                <a:spcPct val="99000"/>
              </a:lnSpc>
              <a:spcBef>
                <a:spcPts val="263"/>
              </a:spcBef>
            </a:pPr>
            <a:r>
              <a:rPr lang="en-US" sz="1400" dirty="0">
                <a:latin typeface="Carlito"/>
                <a:ea typeface="Carlito"/>
                <a:cs typeface="Carlito"/>
              </a:rPr>
              <a:t>The specific environment would determine the  code written to implement each of these  operations.</a:t>
            </a: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B2A9E7A5-AA34-4998-BB96-40FBC351A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5437" y="4563470"/>
            <a:ext cx="3850275" cy="195560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35560" rIns="0" bIns="0">
            <a:spAutoFit/>
          </a:bodyPr>
          <a:lstStyle/>
          <a:p>
            <a:pPr marL="209550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The rest of the program could deal with the  cooling system through these functions and  wouldn’t have to worry about internal details  of data-structure implementations, data-  structure limitations, changes, and so on.</a:t>
            </a:r>
          </a:p>
        </p:txBody>
      </p:sp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+mn-lt"/>
              </a:rPr>
              <a:t>Class Foundations: </a:t>
            </a:r>
            <a:r>
              <a:rPr lang="en-US" sz="4000" dirty="0">
                <a:solidFill>
                  <a:schemeClr val="tx1"/>
                </a:solidFill>
                <a:latin typeface="+mn-lt"/>
              </a:rPr>
              <a:t>Abstract Data Types (ADTs)</a:t>
            </a:r>
            <a:endParaRPr lang="en-US" sz="40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BE2B19C-7D94-E415-5404-39804A996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092" y="1485900"/>
            <a:ext cx="2922588" cy="16383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9968E70-AB78-58B5-2216-8D8C475F4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31" y="3433871"/>
            <a:ext cx="2698750" cy="58420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rIns="0" bIns="0">
            <a:spAutoFit/>
          </a:bodyPr>
          <a:lstStyle/>
          <a:p>
            <a:pPr marL="104775" indent="514350">
              <a:lnSpc>
                <a:spcPts val="2113"/>
              </a:lnSpc>
              <a:spcBef>
                <a:spcPts val="36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You can hide  implementation details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A350CE8-1792-568B-81A5-A1910AEBD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810" y="3433871"/>
            <a:ext cx="3106737" cy="58420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rIns="0" bIns="0">
            <a:spAutoFit/>
          </a:bodyPr>
          <a:lstStyle/>
          <a:p>
            <a:pPr marL="698500" indent="-401638">
              <a:lnSpc>
                <a:spcPts val="2113"/>
              </a:lnSpc>
              <a:spcBef>
                <a:spcPts val="36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Changes don’t affect the  whole program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292D654-E722-5924-18D7-A4A747A68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075" y="3429000"/>
            <a:ext cx="2724393" cy="589264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50165" rIns="0" bIns="0">
            <a:spAutoFit/>
          </a:bodyPr>
          <a:lstStyle/>
          <a:p>
            <a:pPr marL="619125" indent="-419100">
              <a:lnSpc>
                <a:spcPts val="2088"/>
              </a:lnSpc>
              <a:spcBef>
                <a:spcPts val="40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You can make the interface  more informative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B4F6CBBC-7F36-7709-3049-9E2A8C568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31" y="4467051"/>
            <a:ext cx="2698750" cy="58420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46355" rIns="0" bIns="0">
            <a:spAutoFit/>
          </a:bodyPr>
          <a:lstStyle/>
          <a:p>
            <a:pPr marL="577850" indent="-346075">
              <a:lnSpc>
                <a:spcPts val="2113"/>
              </a:lnSpc>
              <a:spcBef>
                <a:spcPts val="36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It’s easier to improve  performance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4EBE3049-6FC9-0DB3-12D6-B1E5BEB31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810" y="4467051"/>
            <a:ext cx="3030538" cy="58420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46355" rIns="0" bIns="0">
            <a:spAutoFit/>
          </a:bodyPr>
          <a:lstStyle/>
          <a:p>
            <a:pPr marL="611188" indent="-142875">
              <a:lnSpc>
                <a:spcPts val="2113"/>
              </a:lnSpc>
              <a:spcBef>
                <a:spcPts val="36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The program is more  obviously correct</a:t>
            </a: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B4A139C9-60BA-3C29-9F2D-1271B2FFA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7877" y="4453587"/>
            <a:ext cx="2800591" cy="585787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46990" rIns="0" bIns="0">
            <a:spAutoFit/>
          </a:bodyPr>
          <a:lstStyle/>
          <a:p>
            <a:pPr marL="344488" indent="69850">
              <a:lnSpc>
                <a:spcPts val="2113"/>
              </a:lnSpc>
              <a:spcBef>
                <a:spcPts val="3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The program becomes  more self-documenting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F5723DA-3DFD-59A4-6509-B483038B8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867" y="5507038"/>
            <a:ext cx="5443602" cy="588623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49530" rIns="0" bIns="0">
            <a:spAutoFit/>
          </a:bodyPr>
          <a:lstStyle/>
          <a:p>
            <a:pPr marL="938213" indent="-644525">
              <a:lnSpc>
                <a:spcPts val="2088"/>
              </a:lnSpc>
              <a:spcBef>
                <a:spcPts val="388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You’re able to work with real-world entities rather than  with low-level implementation structures</a:t>
            </a: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5B14922A-4827-4195-25C9-EFE95660D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31" y="5507038"/>
            <a:ext cx="2959100" cy="588962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49530" rIns="0" bIns="0">
            <a:spAutoFit/>
          </a:bodyPr>
          <a:lstStyle/>
          <a:p>
            <a:pPr marL="117475" indent="187325">
              <a:lnSpc>
                <a:spcPts val="2088"/>
              </a:lnSpc>
              <a:spcBef>
                <a:spcPts val="388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You don’t have to pass  data all over your program</a:t>
            </a:r>
          </a:p>
        </p:txBody>
      </p:sp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Good Class Interfaces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B4FD8D0-EE2C-0493-9EB1-086E1A30A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713913"/>
            <a:ext cx="9296400" cy="14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3655" rIns="0" bIns="0">
            <a:spAutoFit/>
          </a:bodyPr>
          <a:lstStyle/>
          <a:p>
            <a:pPr marL="828675" indent="-815975">
              <a:lnSpc>
                <a:spcPts val="3788"/>
              </a:lnSpc>
              <a:spcBef>
                <a:spcPts val="263"/>
              </a:spcBef>
            </a:pPr>
            <a:r>
              <a:rPr lang="en-US" sz="2800" dirty="0">
                <a:latin typeface="Carlito"/>
                <a:ea typeface="Carlito"/>
                <a:cs typeface="Carlito"/>
              </a:rPr>
              <a:t>The first and probably most important step in creating a high-quality class is creating a good interface.</a:t>
            </a:r>
          </a:p>
          <a:p>
            <a:pPr marL="828675" indent="-815975">
              <a:lnSpc>
                <a:spcPts val="2113"/>
              </a:lnSpc>
              <a:spcBef>
                <a:spcPts val="938"/>
              </a:spcBef>
            </a:pPr>
            <a:endParaRPr lang="en-US" sz="2800" i="1" dirty="0">
              <a:latin typeface="Carlito"/>
              <a:ea typeface="Carlito"/>
              <a:cs typeface="Carlito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427053B-FF46-614C-C78A-2C3A79388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3105739"/>
            <a:ext cx="8610600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828675" indent="-815975" algn="ctr">
              <a:lnSpc>
                <a:spcPts val="2113"/>
              </a:lnSpc>
              <a:spcBef>
                <a:spcPts val="938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Creating a good abstraction for the interface to represent and ensuring that the details remain hidden behind the abstraction.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2D88E03-B852-94B7-6FA9-674A5C621C27}"/>
              </a:ext>
            </a:extLst>
          </p:cNvPr>
          <p:cNvSpPr txBox="1"/>
          <p:nvPr/>
        </p:nvSpPr>
        <p:spPr>
          <a:xfrm>
            <a:off x="712393" y="4638675"/>
            <a:ext cx="3328988" cy="512763"/>
          </a:xfrm>
          <a:prstGeom prst="rect">
            <a:avLst/>
          </a:prstGeom>
          <a:solidFill>
            <a:srgbClr val="FFF2CC"/>
          </a:solidFill>
        </p:spPr>
        <p:txBody>
          <a:bodyPr lIns="0" tIns="20320" rIns="0" bIns="0">
            <a:spAutoFit/>
          </a:bodyPr>
          <a:lstStyle/>
          <a:p>
            <a:pPr marL="106045">
              <a:spcBef>
                <a:spcPts val="160"/>
              </a:spcBef>
              <a:defRPr/>
            </a:pPr>
            <a:r>
              <a:rPr sz="3200" spc="-5" dirty="0">
                <a:latin typeface="Carlito"/>
                <a:cs typeface="Carlito"/>
              </a:rPr>
              <a:t>Good</a:t>
            </a:r>
            <a:r>
              <a:rPr sz="3200" spc="-2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Abstraction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5B77B12A-3E27-278E-0346-05653F8654AE}"/>
              </a:ext>
            </a:extLst>
          </p:cNvPr>
          <p:cNvSpPr txBox="1"/>
          <p:nvPr/>
        </p:nvSpPr>
        <p:spPr>
          <a:xfrm>
            <a:off x="4560493" y="4638675"/>
            <a:ext cx="3771900" cy="512763"/>
          </a:xfrm>
          <a:prstGeom prst="rect">
            <a:avLst/>
          </a:prstGeom>
          <a:solidFill>
            <a:srgbClr val="FFF2CC"/>
          </a:solidFill>
        </p:spPr>
        <p:txBody>
          <a:bodyPr lIns="0" tIns="20320" rIns="0" bIns="0">
            <a:spAutoFit/>
          </a:bodyPr>
          <a:lstStyle/>
          <a:p>
            <a:pPr marL="107950">
              <a:spcBef>
                <a:spcPts val="160"/>
              </a:spcBef>
              <a:defRPr/>
            </a:pPr>
            <a:r>
              <a:rPr sz="3200" spc="-5" dirty="0">
                <a:latin typeface="Carlito"/>
                <a:cs typeface="Carlito"/>
              </a:rPr>
              <a:t>Good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Encapsulation</a:t>
            </a:r>
            <a:endParaRPr sz="32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Good Class Interfaces: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Good Abstraction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B979FBA1-F6D7-3307-0ADC-9EA787F686A0}"/>
              </a:ext>
            </a:extLst>
          </p:cNvPr>
          <p:cNvSpPr txBox="1"/>
          <p:nvPr/>
        </p:nvSpPr>
        <p:spPr>
          <a:xfrm>
            <a:off x="0" y="121056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latin typeface="Carlito"/>
                <a:cs typeface="Carlito"/>
              </a:rPr>
              <a:t>A </a:t>
            </a:r>
            <a:r>
              <a:rPr lang="en-US" sz="1800" i="1" spc="-5" dirty="0">
                <a:latin typeface="Carlito"/>
                <a:cs typeface="Carlito"/>
              </a:rPr>
              <a:t>class </a:t>
            </a:r>
            <a:r>
              <a:rPr lang="en-US" sz="1800" i="1" spc="-15" dirty="0">
                <a:latin typeface="Carlito"/>
                <a:cs typeface="Carlito"/>
              </a:rPr>
              <a:t>interface </a:t>
            </a:r>
            <a:r>
              <a:rPr lang="en-US" sz="1800" i="1" spc="-5" dirty="0">
                <a:latin typeface="Carlito"/>
                <a:cs typeface="Carlito"/>
              </a:rPr>
              <a:t>provides </a:t>
            </a:r>
            <a:r>
              <a:rPr lang="en-US" sz="1800" i="1" dirty="0">
                <a:latin typeface="Carlito"/>
                <a:cs typeface="Carlito"/>
              </a:rPr>
              <a:t>an </a:t>
            </a:r>
            <a:r>
              <a:rPr lang="en-US" sz="1800" i="1" spc="-5" dirty="0">
                <a:latin typeface="Carlito"/>
                <a:cs typeface="Carlito"/>
              </a:rPr>
              <a:t>abstraction </a:t>
            </a:r>
            <a:r>
              <a:rPr lang="en-US" sz="1800" i="1" dirty="0">
                <a:latin typeface="Carlito"/>
                <a:cs typeface="Carlito"/>
              </a:rPr>
              <a:t>of </a:t>
            </a:r>
            <a:r>
              <a:rPr lang="en-US" sz="1800" i="1" spc="-5" dirty="0">
                <a:latin typeface="Carlito"/>
                <a:cs typeface="Carlito"/>
              </a:rPr>
              <a:t>the implementation that's hidden behind the</a:t>
            </a:r>
            <a:r>
              <a:rPr lang="en-US" sz="1800" i="1" spc="200" dirty="0">
                <a:latin typeface="Carlito"/>
                <a:cs typeface="Carlito"/>
              </a:rPr>
              <a:t> </a:t>
            </a:r>
            <a:r>
              <a:rPr lang="en-US" sz="1800" i="1" spc="-15" dirty="0">
                <a:latin typeface="Carlito"/>
                <a:cs typeface="Carlito"/>
              </a:rPr>
              <a:t>interface</a:t>
            </a:r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FD244BE-580A-E370-BBDF-8AB419BF8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1050" y="1579892"/>
            <a:ext cx="302895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object 6">
            <a:extLst>
              <a:ext uri="{FF2B5EF4-FFF2-40B4-BE49-F238E27FC236}">
                <a16:creationId xmlns:a16="http://schemas.microsoft.com/office/drawing/2014/main" id="{121F2204-6D9E-FCFF-B491-41F273334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882" y="5129343"/>
            <a:ext cx="3454400" cy="14065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0" tIns="35560" rIns="0" bIns="0">
            <a:spAutoFit/>
          </a:bodyPr>
          <a:lstStyle/>
          <a:p>
            <a:pPr marL="90488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It would contain data describing  the employee's name, address,  phone number, and so on. It  would offer services to initialize  and use an employee</a:t>
            </a: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E92AD6CF-B123-6F57-37B4-46B5369E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558" y="1579892"/>
            <a:ext cx="4464119" cy="4365426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C9A8A58F-DB7F-8992-2DEA-75983F059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0558" y="5945318"/>
            <a:ext cx="4424362" cy="590550"/>
          </a:xfrm>
          <a:prstGeom prst="rect">
            <a:avLst/>
          </a:prstGeom>
          <a:solidFill>
            <a:srgbClr val="FBE5D6"/>
          </a:solidFill>
          <a:ln w="9525">
            <a:noFill/>
            <a:miter lim="800000"/>
            <a:headEnd/>
            <a:tailEnd/>
          </a:ln>
        </p:spPr>
        <p:txBody>
          <a:bodyPr lIns="0" tIns="31115" rIns="0" bIns="0">
            <a:spAutoFit/>
          </a:bodyPr>
          <a:lstStyle/>
          <a:p>
            <a:pPr marL="90488">
              <a:lnSpc>
                <a:spcPct val="101000"/>
              </a:lnSpc>
              <a:spcBef>
                <a:spcPts val="250"/>
              </a:spcBef>
            </a:pPr>
            <a:r>
              <a:rPr lang="en-US" sz="1200" i="1" dirty="0">
                <a:latin typeface="Carlito"/>
                <a:ea typeface="Carlito"/>
                <a:cs typeface="Carlito"/>
              </a:rPr>
              <a:t>Internally, this class might have additional routines and data to  support these services, but users of the class don't need to  know anything about them, so it is great.</a:t>
            </a:r>
            <a:endParaRPr lang="en-US" sz="1200" dirty="0"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36040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Good Class Interfaces: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Good Abstraction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897DCC8-5D4E-F1FE-99AB-526CC17DD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08" y="1401652"/>
            <a:ext cx="8931058" cy="7635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17780" rIns="0" bIns="0">
            <a:spAutoFit/>
          </a:bodyPr>
          <a:lstStyle/>
          <a:p>
            <a:pPr marL="3187700" indent="-2986088">
              <a:lnSpc>
                <a:spcPct val="101000"/>
              </a:lnSpc>
              <a:spcBef>
                <a:spcPts val="138"/>
              </a:spcBef>
            </a:pPr>
            <a:r>
              <a:rPr lang="en-US" sz="2400" dirty="0">
                <a:latin typeface="Carlito"/>
                <a:ea typeface="Carlito"/>
                <a:cs typeface="Carlito"/>
              </a:rPr>
              <a:t>The pursuit of good abstract interfaces gives rise to several guidelines for creating class interfaces.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B97DE16-0051-A372-48C5-03E27E4C4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208" y="2527453"/>
            <a:ext cx="8931058" cy="3265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70389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Good Class Interfaces: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Good Encapsulation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5CB1DBD-E674-0C0B-8D34-68FBC7BDD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2286000"/>
            <a:ext cx="2751137" cy="2949575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D1A92B8-D620-25F0-C9F3-6916108A1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12" y="2784475"/>
            <a:ext cx="5553401" cy="1572866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square" lIns="0" tIns="33655" rIns="0" bIns="0">
            <a:spAutoFit/>
          </a:bodyPr>
          <a:lstStyle/>
          <a:p>
            <a:pPr marL="95250">
              <a:spcBef>
                <a:spcPts val="263"/>
              </a:spcBef>
            </a:pPr>
            <a:r>
              <a:rPr lang="en-US" sz="2000" b="1" dirty="0">
                <a:latin typeface="Carlito"/>
                <a:ea typeface="Carlito"/>
                <a:cs typeface="Carlito"/>
              </a:rPr>
              <a:t>Abstraction </a:t>
            </a:r>
            <a:r>
              <a:rPr lang="en-US" sz="2000" dirty="0">
                <a:latin typeface="Carlito"/>
                <a:ea typeface="Carlito"/>
                <a:cs typeface="Carlito"/>
              </a:rPr>
              <a:t>helps to </a:t>
            </a:r>
            <a:r>
              <a:rPr lang="en-US" sz="2000" i="1" dirty="0">
                <a:latin typeface="Carlito"/>
                <a:ea typeface="Carlito"/>
                <a:cs typeface="Carlito"/>
              </a:rPr>
              <a:t>manage complexity </a:t>
            </a:r>
            <a:r>
              <a:rPr lang="en-US" sz="2000" dirty="0">
                <a:latin typeface="Carlito"/>
                <a:ea typeface="Carlito"/>
                <a:cs typeface="Carlito"/>
              </a:rPr>
              <a:t>by providing models that allow you to ignore implementation details. </a:t>
            </a:r>
            <a:r>
              <a:rPr lang="en-US" sz="2000" b="1" dirty="0">
                <a:latin typeface="Carlito"/>
                <a:ea typeface="Carlito"/>
                <a:cs typeface="Carlito"/>
              </a:rPr>
              <a:t>Encapsulation </a:t>
            </a:r>
            <a:r>
              <a:rPr lang="en-US" sz="2000" dirty="0">
                <a:latin typeface="Carlito"/>
                <a:ea typeface="Carlito"/>
                <a:cs typeface="Carlito"/>
              </a:rPr>
              <a:t>is the enforcer  that </a:t>
            </a:r>
            <a:r>
              <a:rPr lang="en-US" sz="2000" i="1" dirty="0">
                <a:latin typeface="Carlito"/>
                <a:ea typeface="Carlito"/>
                <a:cs typeface="Carlito"/>
              </a:rPr>
              <a:t>prevents you from looking at the details </a:t>
            </a:r>
            <a:r>
              <a:rPr lang="en-US" sz="2000" dirty="0">
                <a:latin typeface="Carlito"/>
                <a:ea typeface="Carlito"/>
                <a:cs typeface="Carlito"/>
              </a:rPr>
              <a:t>even if you want to</a:t>
            </a: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E00B4D0F-A511-DCB5-2DE9-CDD14E8D6623}"/>
              </a:ext>
            </a:extLst>
          </p:cNvPr>
          <p:cNvSpPr txBox="1"/>
          <p:nvPr/>
        </p:nvSpPr>
        <p:spPr>
          <a:xfrm>
            <a:off x="3452812" y="4357341"/>
            <a:ext cx="6172200" cy="29051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b="1" i="1" spc="-5" dirty="0">
                <a:solidFill>
                  <a:srgbClr val="C00000"/>
                </a:solidFill>
                <a:latin typeface="Carlito"/>
                <a:cs typeface="Carlito"/>
              </a:rPr>
              <a:t>Without encapsulation, abstraction tends </a:t>
            </a:r>
            <a:r>
              <a:rPr b="1" i="1" spc="-10" dirty="0">
                <a:solidFill>
                  <a:srgbClr val="C00000"/>
                </a:solidFill>
                <a:latin typeface="Carlito"/>
                <a:cs typeface="Carlito"/>
              </a:rPr>
              <a:t>to </a:t>
            </a:r>
            <a:r>
              <a:rPr b="1" i="1" spc="-5" dirty="0">
                <a:solidFill>
                  <a:srgbClr val="C00000"/>
                </a:solidFill>
                <a:latin typeface="Carlito"/>
                <a:cs typeface="Carlito"/>
              </a:rPr>
              <a:t>break</a:t>
            </a:r>
            <a:r>
              <a:rPr b="1" i="1" spc="1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b="1" i="1" spc="-5" dirty="0">
                <a:solidFill>
                  <a:srgbClr val="C00000"/>
                </a:solidFill>
                <a:latin typeface="Carlito"/>
                <a:cs typeface="Carlito"/>
              </a:rPr>
              <a:t>down</a:t>
            </a:r>
            <a:endParaRPr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95666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Good Class Interfaces: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Good Encapsulation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55BF5B6-CDF8-019C-EEBB-34B5842F9C02}"/>
              </a:ext>
            </a:extLst>
          </p:cNvPr>
          <p:cNvSpPr txBox="1"/>
          <p:nvPr/>
        </p:nvSpPr>
        <p:spPr>
          <a:xfrm>
            <a:off x="787280" y="1284638"/>
            <a:ext cx="7622084" cy="4508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9050" rIns="0" bIns="0">
            <a:spAutoFit/>
          </a:bodyPr>
          <a:lstStyle/>
          <a:p>
            <a:pPr marL="205740">
              <a:spcBef>
                <a:spcPts val="150"/>
              </a:spcBef>
              <a:defRPr/>
            </a:pPr>
            <a:r>
              <a:rPr sz="2800" spc="-10" dirty="0">
                <a:latin typeface="Carlito"/>
                <a:cs typeface="Carlito"/>
              </a:rPr>
              <a:t>Minimize </a:t>
            </a:r>
            <a:r>
              <a:rPr sz="2800" spc="-5" dirty="0">
                <a:latin typeface="Carlito"/>
                <a:cs typeface="Carlito"/>
              </a:rPr>
              <a:t>accessibility of classes and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members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77EEEFF-6D2E-EDBF-4CFB-C9720FB4B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2664287"/>
            <a:ext cx="7924800" cy="1138237"/>
          </a:xfrm>
          <a:prstGeom prst="rect">
            <a:avLst/>
          </a:prstGeom>
          <a:solidFill>
            <a:srgbClr val="DEEBF7"/>
          </a:solidFill>
          <a:ln w="9525">
            <a:noFill/>
            <a:miter lim="800000"/>
            <a:headEnd/>
            <a:tailEnd/>
          </a:ln>
        </p:spPr>
        <p:txBody>
          <a:bodyPr lIns="0" tIns="19685" rIns="0" bIns="0">
            <a:spAutoFit/>
          </a:bodyPr>
          <a:lstStyle/>
          <a:p>
            <a:pPr marL="136525">
              <a:lnSpc>
                <a:spcPct val="101000"/>
              </a:lnSpc>
              <a:spcBef>
                <a:spcPts val="150"/>
              </a:spcBef>
            </a:pPr>
            <a:r>
              <a:rPr lang="en-US" sz="2400" dirty="0">
                <a:latin typeface="Carlito"/>
                <a:ea typeface="Carlito"/>
                <a:cs typeface="Carlito"/>
              </a:rPr>
              <a:t>If exposing the routine is consistent with the abstraction, it's probably fine to expose it. If you're not sure, </a:t>
            </a:r>
            <a:r>
              <a:rPr lang="en-US" sz="2400" b="1" dirty="0">
                <a:latin typeface="Carlito"/>
                <a:ea typeface="Carlito"/>
                <a:cs typeface="Carlito"/>
              </a:rPr>
              <a:t>hiding more is generally better than hiding less.</a:t>
            </a:r>
            <a:endParaRPr lang="en-US" sz="2400" dirty="0"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534164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Good Class Interfaces: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Good Encapsulation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7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E8C5B46-9787-6CBF-6F48-370060FB3AE7}"/>
              </a:ext>
            </a:extLst>
          </p:cNvPr>
          <p:cNvSpPr txBox="1"/>
          <p:nvPr/>
        </p:nvSpPr>
        <p:spPr>
          <a:xfrm>
            <a:off x="1828800" y="1422400"/>
            <a:ext cx="6248400" cy="44926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198755" algn="ctr">
              <a:spcBef>
                <a:spcPts val="150"/>
              </a:spcBef>
              <a:defRPr/>
            </a:pPr>
            <a:r>
              <a:rPr sz="2800" spc="-5" dirty="0">
                <a:latin typeface="Carlito"/>
                <a:cs typeface="Carlito"/>
              </a:rPr>
              <a:t>Don’t </a:t>
            </a:r>
            <a:r>
              <a:rPr sz="2800" spc="-10" dirty="0">
                <a:latin typeface="Carlito"/>
                <a:cs typeface="Carlito"/>
              </a:rPr>
              <a:t>expose </a:t>
            </a:r>
            <a:r>
              <a:rPr sz="2800" spc="-5" dirty="0">
                <a:latin typeface="Carlito"/>
                <a:cs typeface="Carlito"/>
              </a:rPr>
              <a:t>member </a:t>
            </a:r>
            <a:r>
              <a:rPr sz="2800" spc="-20" dirty="0">
                <a:latin typeface="Carlito"/>
                <a:cs typeface="Carlito"/>
              </a:rPr>
              <a:t>data </a:t>
            </a:r>
            <a:r>
              <a:rPr sz="2800" spc="-5" dirty="0">
                <a:latin typeface="Carlito"/>
                <a:cs typeface="Carlito"/>
              </a:rPr>
              <a:t>in</a:t>
            </a:r>
            <a:r>
              <a:rPr sz="2800" spc="2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public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C986097-8814-01BD-426A-C83104617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949450"/>
            <a:ext cx="61722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860425" indent="-849313">
              <a:lnSpc>
                <a:spcPts val="2113"/>
              </a:lnSpc>
              <a:spcBef>
                <a:spcPts val="213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Exposing member data is a violation of encapsulation and  limits your control over the abstraction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B6744167-117D-E4E8-5290-F516AAEEC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462338"/>
            <a:ext cx="1125538" cy="857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34290" rIns="0" bIns="0">
            <a:spAutoFit/>
          </a:bodyPr>
          <a:lstStyle/>
          <a:p>
            <a:pPr marL="90488" algn="just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DejaVu Sans Mono"/>
                <a:ea typeface="DejaVu Sans Mono"/>
                <a:cs typeface="DejaVu Sans Mono"/>
              </a:rPr>
              <a:t>float x;  float y;  float z;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CDC4EC16-029D-A5A6-E10A-99B52DEC2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5" y="3046413"/>
            <a:ext cx="2601913" cy="17827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34925" rIns="0" bIns="0">
            <a:spAutoFit/>
          </a:bodyPr>
          <a:lstStyle/>
          <a:p>
            <a:pPr marL="90488" algn="just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DejaVu Sans Mono"/>
                <a:ea typeface="DejaVu Sans Mono"/>
                <a:cs typeface="DejaVu Sans Mono"/>
              </a:rPr>
              <a:t>float </a:t>
            </a:r>
            <a:r>
              <a:rPr lang="en-US" dirty="0" err="1">
                <a:latin typeface="DejaVu Sans Mono"/>
                <a:ea typeface="DejaVu Sans Mono"/>
                <a:cs typeface="DejaVu Sans Mono"/>
              </a:rPr>
              <a:t>GetX</a:t>
            </a:r>
            <a:r>
              <a:rPr lang="en-US" dirty="0">
                <a:latin typeface="DejaVu Sans Mono"/>
                <a:ea typeface="DejaVu Sans Mono"/>
                <a:cs typeface="DejaVu Sans Mono"/>
              </a:rPr>
              <a:t>();  </a:t>
            </a:r>
          </a:p>
          <a:p>
            <a:pPr marL="90488" algn="just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DejaVu Sans Mono"/>
                <a:ea typeface="DejaVu Sans Mono"/>
                <a:cs typeface="DejaVu Sans Mono"/>
              </a:rPr>
              <a:t>float </a:t>
            </a:r>
            <a:r>
              <a:rPr lang="en-US" dirty="0" err="1">
                <a:latin typeface="DejaVu Sans Mono"/>
                <a:ea typeface="DejaVu Sans Mono"/>
                <a:cs typeface="DejaVu Sans Mono"/>
              </a:rPr>
              <a:t>GetY</a:t>
            </a:r>
            <a:r>
              <a:rPr lang="en-US" dirty="0">
                <a:latin typeface="DejaVu Sans Mono"/>
                <a:ea typeface="DejaVu Sans Mono"/>
                <a:cs typeface="DejaVu Sans Mono"/>
              </a:rPr>
              <a:t>();  </a:t>
            </a:r>
          </a:p>
          <a:p>
            <a:pPr marL="90488" algn="just">
              <a:lnSpc>
                <a:spcPct val="99000"/>
              </a:lnSpc>
              <a:spcBef>
                <a:spcPts val="275"/>
              </a:spcBef>
            </a:pPr>
            <a:r>
              <a:rPr lang="en-US" dirty="0">
                <a:latin typeface="DejaVu Sans Mono"/>
                <a:ea typeface="DejaVu Sans Mono"/>
                <a:cs typeface="DejaVu Sans Mono"/>
              </a:rPr>
              <a:t>float </a:t>
            </a:r>
            <a:r>
              <a:rPr lang="en-US" dirty="0" err="1">
                <a:latin typeface="DejaVu Sans Mono"/>
                <a:ea typeface="DejaVu Sans Mono"/>
                <a:cs typeface="DejaVu Sans Mono"/>
              </a:rPr>
              <a:t>GetZ</a:t>
            </a:r>
            <a:r>
              <a:rPr lang="en-US" dirty="0">
                <a:latin typeface="DejaVu Sans Mono"/>
                <a:ea typeface="DejaVu Sans Mono"/>
                <a:cs typeface="DejaVu Sans Mono"/>
              </a:rPr>
              <a:t>();</a:t>
            </a:r>
          </a:p>
          <a:p>
            <a:pPr marL="90488" algn="just">
              <a:lnSpc>
                <a:spcPct val="99000"/>
              </a:lnSpc>
              <a:spcBef>
                <a:spcPts val="63"/>
              </a:spcBef>
            </a:pPr>
            <a:r>
              <a:rPr lang="en-US" dirty="0">
                <a:latin typeface="DejaVu Sans Mono"/>
                <a:ea typeface="DejaVu Sans Mono"/>
                <a:cs typeface="DejaVu Sans Mono"/>
              </a:rPr>
              <a:t>void </a:t>
            </a:r>
            <a:r>
              <a:rPr lang="en-US" dirty="0" err="1">
                <a:latin typeface="DejaVu Sans Mono"/>
                <a:ea typeface="DejaVu Sans Mono"/>
                <a:cs typeface="DejaVu Sans Mono"/>
              </a:rPr>
              <a:t>SetX</a:t>
            </a:r>
            <a:r>
              <a:rPr lang="en-US" dirty="0">
                <a:latin typeface="DejaVu Sans Mono"/>
                <a:ea typeface="DejaVu Sans Mono"/>
                <a:cs typeface="DejaVu Sans Mono"/>
              </a:rPr>
              <a:t>( float x );  </a:t>
            </a:r>
          </a:p>
          <a:p>
            <a:pPr marL="90488" algn="just">
              <a:lnSpc>
                <a:spcPct val="99000"/>
              </a:lnSpc>
              <a:spcBef>
                <a:spcPts val="63"/>
              </a:spcBef>
            </a:pPr>
            <a:r>
              <a:rPr lang="en-US" dirty="0">
                <a:latin typeface="DejaVu Sans Mono"/>
                <a:ea typeface="DejaVu Sans Mono"/>
                <a:cs typeface="DejaVu Sans Mono"/>
              </a:rPr>
              <a:t>void </a:t>
            </a:r>
            <a:r>
              <a:rPr lang="en-US" dirty="0" err="1">
                <a:latin typeface="DejaVu Sans Mono"/>
                <a:ea typeface="DejaVu Sans Mono"/>
                <a:cs typeface="DejaVu Sans Mono"/>
              </a:rPr>
              <a:t>SetY</a:t>
            </a:r>
            <a:r>
              <a:rPr lang="en-US" dirty="0">
                <a:latin typeface="DejaVu Sans Mono"/>
                <a:ea typeface="DejaVu Sans Mono"/>
                <a:cs typeface="DejaVu Sans Mono"/>
              </a:rPr>
              <a:t>( float y );  </a:t>
            </a:r>
          </a:p>
          <a:p>
            <a:pPr marL="90488" algn="just">
              <a:lnSpc>
                <a:spcPct val="99000"/>
              </a:lnSpc>
              <a:spcBef>
                <a:spcPts val="63"/>
              </a:spcBef>
            </a:pPr>
            <a:r>
              <a:rPr lang="en-US" dirty="0">
                <a:latin typeface="DejaVu Sans Mono"/>
                <a:ea typeface="DejaVu Sans Mono"/>
                <a:cs typeface="DejaVu Sans Mono"/>
              </a:rPr>
              <a:t>void </a:t>
            </a:r>
            <a:r>
              <a:rPr lang="en-US" dirty="0" err="1">
                <a:latin typeface="DejaVu Sans Mono"/>
                <a:ea typeface="DejaVu Sans Mono"/>
                <a:cs typeface="DejaVu Sans Mono"/>
              </a:rPr>
              <a:t>SetZ</a:t>
            </a:r>
            <a:r>
              <a:rPr lang="en-US" dirty="0">
                <a:latin typeface="DejaVu Sans Mono"/>
                <a:ea typeface="DejaVu Sans Mono"/>
                <a:cs typeface="DejaVu Sans Mono"/>
              </a:rPr>
              <a:t>( float z );</a:t>
            </a:r>
          </a:p>
        </p:txBody>
      </p:sp>
    </p:spTree>
    <p:extLst>
      <p:ext uri="{BB962C8B-B14F-4D97-AF65-F5344CB8AC3E}">
        <p14:creationId xmlns:p14="http://schemas.microsoft.com/office/powerpoint/2010/main" val="3117554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Good Class Interfaces: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Good Encapsulation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7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AF55FDB-9CA0-BF54-E570-D0C214ED6359}"/>
              </a:ext>
            </a:extLst>
          </p:cNvPr>
          <p:cNvSpPr txBox="1"/>
          <p:nvPr/>
        </p:nvSpPr>
        <p:spPr>
          <a:xfrm>
            <a:off x="137786" y="1410929"/>
            <a:ext cx="8730641" cy="388568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9050" rIns="0" bIns="0">
            <a:spAutoFit/>
          </a:bodyPr>
          <a:lstStyle/>
          <a:p>
            <a:pPr marL="220345">
              <a:spcBef>
                <a:spcPts val="150"/>
              </a:spcBef>
              <a:defRPr/>
            </a:pPr>
            <a:r>
              <a:rPr sz="2400" spc="-20" dirty="0">
                <a:latin typeface="Carlito"/>
                <a:cs typeface="Carlito"/>
              </a:rPr>
              <a:t>Avoid </a:t>
            </a:r>
            <a:r>
              <a:rPr sz="2400" spc="-10" dirty="0">
                <a:latin typeface="Carlito"/>
                <a:cs typeface="Carlito"/>
              </a:rPr>
              <a:t>putting </a:t>
            </a:r>
            <a:r>
              <a:rPr sz="2400" spc="-20" dirty="0">
                <a:latin typeface="Carlito"/>
                <a:cs typeface="Carlito"/>
              </a:rPr>
              <a:t>private </a:t>
            </a:r>
            <a:r>
              <a:rPr sz="2400" spc="-10" dirty="0">
                <a:latin typeface="Carlito"/>
                <a:cs typeface="Carlito"/>
              </a:rPr>
              <a:t>implementation </a:t>
            </a:r>
            <a:r>
              <a:rPr sz="2400" spc="-15" dirty="0">
                <a:latin typeface="Carlito"/>
                <a:cs typeface="Carlito"/>
              </a:rPr>
              <a:t>details into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30" dirty="0">
                <a:latin typeface="Carlito"/>
                <a:cs typeface="Carlito"/>
              </a:rPr>
              <a:t>class’s</a:t>
            </a:r>
            <a:r>
              <a:rPr sz="2400" spc="1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interface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D35380BC-0AC3-A64D-EE85-5BC2695F5416}"/>
              </a:ext>
            </a:extLst>
          </p:cNvPr>
          <p:cNvSpPr txBox="1"/>
          <p:nvPr/>
        </p:nvSpPr>
        <p:spPr>
          <a:xfrm>
            <a:off x="914400" y="1898650"/>
            <a:ext cx="7753350" cy="566738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algn="ctr">
              <a:spcBef>
                <a:spcPts val="100"/>
              </a:spcBef>
              <a:defRPr/>
            </a:pPr>
            <a:r>
              <a:rPr i="1" spc="-5" dirty="0">
                <a:latin typeface="Carlito"/>
                <a:cs typeface="Carlito"/>
              </a:rPr>
              <a:t>With true encapsulation, programmers would not be able </a:t>
            </a:r>
            <a:r>
              <a:rPr i="1" spc="-15" dirty="0">
                <a:latin typeface="Carlito"/>
                <a:cs typeface="Carlito"/>
              </a:rPr>
              <a:t>to </a:t>
            </a:r>
            <a:r>
              <a:rPr i="1" spc="-5" dirty="0">
                <a:latin typeface="Carlito"/>
                <a:cs typeface="Carlito"/>
              </a:rPr>
              <a:t>see </a:t>
            </a:r>
            <a:r>
              <a:rPr i="1" spc="-10" dirty="0">
                <a:latin typeface="Carlito"/>
                <a:cs typeface="Carlito"/>
              </a:rPr>
              <a:t>implementation details </a:t>
            </a:r>
            <a:r>
              <a:rPr i="1" spc="-5" dirty="0">
                <a:latin typeface="Carlito"/>
                <a:cs typeface="Carlito"/>
              </a:rPr>
              <a:t>at</a:t>
            </a:r>
            <a:r>
              <a:rPr i="1" spc="195" dirty="0">
                <a:latin typeface="Carlito"/>
                <a:cs typeface="Carlito"/>
              </a:rPr>
              <a:t> </a:t>
            </a:r>
            <a:r>
              <a:rPr i="1" spc="-5" dirty="0">
                <a:latin typeface="Carlito"/>
                <a:cs typeface="Carlito"/>
              </a:rPr>
              <a:t>all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BEB1CD2-372D-E32B-D1B8-CE34E2442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86" y="2775646"/>
            <a:ext cx="4543425" cy="372745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663334C-88B5-7562-6255-DB0489CB2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325" y="3636963"/>
            <a:ext cx="3840837" cy="223520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05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Good Class Interfaces: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Good Encapsulation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15</a:t>
            </a:fld>
            <a:endParaRPr lang="en-US" sz="70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D814E637-D1E9-A60C-06B9-1A283AE87F50}"/>
              </a:ext>
            </a:extLst>
          </p:cNvPr>
          <p:cNvSpPr txBox="1"/>
          <p:nvPr/>
        </p:nvSpPr>
        <p:spPr>
          <a:xfrm>
            <a:off x="457200" y="1419747"/>
            <a:ext cx="8229600" cy="45085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207010">
              <a:spcBef>
                <a:spcPts val="150"/>
              </a:spcBef>
              <a:defRPr/>
            </a:pPr>
            <a:r>
              <a:rPr sz="2800" spc="-5" dirty="0">
                <a:latin typeface="Carlito"/>
                <a:cs typeface="Carlito"/>
              </a:rPr>
              <a:t>Don’t </a:t>
            </a:r>
            <a:r>
              <a:rPr sz="2800" spc="-25" dirty="0">
                <a:latin typeface="Carlito"/>
                <a:cs typeface="Carlito"/>
              </a:rPr>
              <a:t>make </a:t>
            </a:r>
            <a:r>
              <a:rPr sz="2800" spc="-5" dirty="0">
                <a:latin typeface="Carlito"/>
                <a:cs typeface="Carlito"/>
              </a:rPr>
              <a:t>assumptions about the </a:t>
            </a:r>
            <a:r>
              <a:rPr sz="2800" spc="-25" dirty="0">
                <a:latin typeface="Carlito"/>
                <a:cs typeface="Carlito"/>
              </a:rPr>
              <a:t>class’s</a:t>
            </a:r>
            <a:r>
              <a:rPr sz="2800" spc="5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users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C7F24537-8B5F-54B4-9094-8BE1DCDD8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84375"/>
            <a:ext cx="9544665" cy="59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6670" rIns="0" bIns="0">
            <a:spAutoFit/>
          </a:bodyPr>
          <a:lstStyle/>
          <a:p>
            <a:pPr marL="1041400" indent="-1030288" algn="ctr">
              <a:lnSpc>
                <a:spcPts val="2113"/>
              </a:lnSpc>
              <a:spcBef>
                <a:spcPts val="213"/>
              </a:spcBef>
            </a:pPr>
            <a:r>
              <a:rPr lang="en-US" sz="1600" i="1" dirty="0">
                <a:latin typeface="Carlito"/>
                <a:ea typeface="Carlito"/>
                <a:cs typeface="Carlito"/>
              </a:rPr>
              <a:t>A class should be designed and implemented to adhere to the contract implied by the class interface. </a:t>
            </a:r>
          </a:p>
          <a:p>
            <a:pPr marL="1041400" indent="-1030288" algn="ctr">
              <a:lnSpc>
                <a:spcPts val="2113"/>
              </a:lnSpc>
              <a:spcBef>
                <a:spcPts val="213"/>
              </a:spcBef>
            </a:pPr>
            <a:r>
              <a:rPr lang="en-US" sz="1600" i="1" dirty="0">
                <a:latin typeface="Carlito"/>
                <a:ea typeface="Carlito"/>
                <a:cs typeface="Carlito"/>
              </a:rPr>
              <a:t>It shouldn’t make any assumptions about how that interface will or won’t be used,</a:t>
            </a:r>
            <a:endParaRPr lang="en-US" sz="1600" dirty="0">
              <a:latin typeface="Carlito"/>
              <a:ea typeface="Carlito"/>
              <a:cs typeface="Carlito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4CE50FD-69D5-D6AD-6B64-399AE36192C1}"/>
              </a:ext>
            </a:extLst>
          </p:cNvPr>
          <p:cNvSpPr txBox="1"/>
          <p:nvPr/>
        </p:nvSpPr>
        <p:spPr>
          <a:xfrm>
            <a:off x="1199356" y="3173810"/>
            <a:ext cx="6745287" cy="579437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dirty="0">
                <a:latin typeface="DejaVu Sans Mono"/>
                <a:cs typeface="DejaVu Sans Mono"/>
              </a:rPr>
              <a:t>// initialize x, y, and z to 1.0 because DerivedClass</a:t>
            </a:r>
            <a:r>
              <a:rPr spc="-50" dirty="0">
                <a:latin typeface="DejaVu Sans Mono"/>
                <a:cs typeface="DejaVu Sans Mono"/>
              </a:rPr>
              <a:t> </a:t>
            </a:r>
            <a:r>
              <a:rPr dirty="0">
                <a:latin typeface="DejaVu Sans Mono"/>
                <a:cs typeface="DejaVu Sans Mono"/>
              </a:rPr>
              <a:t>blows</a:t>
            </a:r>
          </a:p>
          <a:p>
            <a:pPr marL="12700">
              <a:spcBef>
                <a:spcPts val="45"/>
              </a:spcBef>
              <a:defRPr/>
            </a:pPr>
            <a:r>
              <a:rPr dirty="0">
                <a:latin typeface="DejaVu Sans Mono"/>
                <a:cs typeface="DejaVu Sans Mono"/>
              </a:rPr>
              <a:t>// up if they're initialized to</a:t>
            </a:r>
            <a:r>
              <a:rPr spc="10" dirty="0">
                <a:latin typeface="DejaVu Sans Mono"/>
                <a:cs typeface="DejaVu Sans Mono"/>
              </a:rPr>
              <a:t> </a:t>
            </a:r>
            <a:r>
              <a:rPr dirty="0">
                <a:latin typeface="DejaVu Sans Mono"/>
                <a:cs typeface="DejaVu Sans Mono"/>
              </a:rPr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1103973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Good Class Interfaces: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Good Encapsulation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16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615C17-9315-C637-276C-D873BE093C7E}"/>
              </a:ext>
            </a:extLst>
          </p:cNvPr>
          <p:cNvSpPr txBox="1"/>
          <p:nvPr/>
        </p:nvSpPr>
        <p:spPr>
          <a:xfrm>
            <a:off x="381000" y="1167606"/>
            <a:ext cx="8635181" cy="44926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9050" rIns="0" bIns="0">
            <a:spAutoFit/>
          </a:bodyPr>
          <a:lstStyle/>
          <a:p>
            <a:pPr marL="213995">
              <a:spcBef>
                <a:spcPts val="150"/>
              </a:spcBef>
              <a:defRPr/>
            </a:pPr>
            <a:r>
              <a:rPr sz="2800" dirty="0">
                <a:latin typeface="Carlito"/>
                <a:cs typeface="Carlito"/>
              </a:rPr>
              <a:t>Be </a:t>
            </a:r>
            <a:r>
              <a:rPr sz="2800" spc="-50" dirty="0">
                <a:latin typeface="Carlito"/>
                <a:cs typeface="Carlito"/>
              </a:rPr>
              <a:t>very, </a:t>
            </a:r>
            <a:r>
              <a:rPr sz="2800" spc="-10" dirty="0">
                <a:latin typeface="Carlito"/>
                <a:cs typeface="Carlito"/>
              </a:rPr>
              <a:t>very wary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semantic violations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1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encapsulation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033A5CF-37B7-0755-F808-48DBC31E6B0A}"/>
              </a:ext>
            </a:extLst>
          </p:cNvPr>
          <p:cNvSpPr txBox="1"/>
          <p:nvPr/>
        </p:nvSpPr>
        <p:spPr>
          <a:xfrm>
            <a:off x="801563" y="1616869"/>
            <a:ext cx="8915400" cy="29051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i="1" spc="-5" dirty="0">
                <a:latin typeface="Carlito"/>
                <a:cs typeface="Carlito"/>
              </a:rPr>
              <a:t>The difficulty </a:t>
            </a:r>
            <a:r>
              <a:rPr i="1" dirty="0">
                <a:latin typeface="Carlito"/>
                <a:cs typeface="Carlito"/>
              </a:rPr>
              <a:t>of </a:t>
            </a:r>
            <a:r>
              <a:rPr i="1" spc="-5" dirty="0">
                <a:latin typeface="Carlito"/>
                <a:cs typeface="Carlito"/>
              </a:rPr>
              <a:t>semantic encapsulation compared </a:t>
            </a:r>
            <a:r>
              <a:rPr i="1" spc="-15" dirty="0">
                <a:latin typeface="Carlito"/>
                <a:cs typeface="Carlito"/>
              </a:rPr>
              <a:t>to syntactic </a:t>
            </a:r>
            <a:r>
              <a:rPr i="1" spc="-5" dirty="0">
                <a:latin typeface="Carlito"/>
                <a:cs typeface="Carlito"/>
              </a:rPr>
              <a:t>encapsulation is</a:t>
            </a:r>
            <a:r>
              <a:rPr i="1" spc="95" dirty="0">
                <a:latin typeface="Carlito"/>
                <a:cs typeface="Carlito"/>
              </a:rPr>
              <a:t> </a:t>
            </a:r>
            <a:r>
              <a:rPr i="1" spc="-25" dirty="0">
                <a:latin typeface="Carlito"/>
                <a:cs typeface="Carlito"/>
              </a:rPr>
              <a:t>similar.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AEAA60CE-78A3-DF00-3F08-F6A67E30F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74" y="2030519"/>
            <a:ext cx="8834003" cy="588963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50165" rIns="0" bIns="0">
            <a:spAutoFit/>
          </a:bodyPr>
          <a:lstStyle/>
          <a:p>
            <a:pPr marL="90488">
              <a:lnSpc>
                <a:spcPts val="2088"/>
              </a:lnSpc>
              <a:spcBef>
                <a:spcPts val="40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Not calling Class A’s </a:t>
            </a:r>
            <a:r>
              <a:rPr lang="en-US" dirty="0" err="1">
                <a:latin typeface="Carlito"/>
                <a:ea typeface="Carlito"/>
                <a:cs typeface="Carlito"/>
              </a:rPr>
              <a:t>InitializeOperations</a:t>
            </a:r>
            <a:r>
              <a:rPr lang="en-US" dirty="0">
                <a:latin typeface="Carlito"/>
                <a:ea typeface="Carlito"/>
                <a:cs typeface="Carlito"/>
              </a:rPr>
              <a:t>() routine because you know that Class A’s </a:t>
            </a:r>
            <a:r>
              <a:rPr lang="en-US" dirty="0" err="1">
                <a:latin typeface="Carlito"/>
                <a:ea typeface="Carlito"/>
                <a:cs typeface="Carlito"/>
              </a:rPr>
              <a:t>PerformFirstOperation</a:t>
            </a:r>
            <a:r>
              <a:rPr lang="en-US" dirty="0">
                <a:latin typeface="Carlito"/>
                <a:ea typeface="Carlito"/>
                <a:cs typeface="Carlito"/>
              </a:rPr>
              <a:t>() routine calls it  automatically.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5F5E5F8-7F8B-0C8D-8F94-ACD8D2D00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75" y="2778315"/>
            <a:ext cx="8834003" cy="85725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49530" rIns="0" bIns="0">
            <a:spAutoFit/>
          </a:bodyPr>
          <a:lstStyle/>
          <a:p>
            <a:pPr marL="90488">
              <a:lnSpc>
                <a:spcPts val="2088"/>
              </a:lnSpc>
              <a:spcBef>
                <a:spcPts val="388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Not calling the </a:t>
            </a:r>
            <a:r>
              <a:rPr lang="en-US" dirty="0" err="1">
                <a:latin typeface="Carlito"/>
                <a:ea typeface="Carlito"/>
                <a:cs typeface="Carlito"/>
              </a:rPr>
              <a:t>database.Connect</a:t>
            </a:r>
            <a:r>
              <a:rPr lang="en-US" dirty="0">
                <a:latin typeface="Carlito"/>
                <a:ea typeface="Carlito"/>
                <a:cs typeface="Carlito"/>
              </a:rPr>
              <a:t>() routine before you call </a:t>
            </a:r>
            <a:r>
              <a:rPr lang="en-US" dirty="0" err="1">
                <a:latin typeface="Carlito"/>
                <a:ea typeface="Carlito"/>
                <a:cs typeface="Carlito"/>
              </a:rPr>
              <a:t>employee.Retrieve</a:t>
            </a:r>
            <a:r>
              <a:rPr lang="en-US" dirty="0">
                <a:latin typeface="Carlito"/>
                <a:ea typeface="Carlito"/>
                <a:cs typeface="Carlito"/>
              </a:rPr>
              <a:t>( database ) because you know that the  </a:t>
            </a:r>
            <a:r>
              <a:rPr lang="en-US" dirty="0" err="1">
                <a:latin typeface="Carlito"/>
                <a:ea typeface="Carlito"/>
                <a:cs typeface="Carlito"/>
              </a:rPr>
              <a:t>employee.Retrieve</a:t>
            </a:r>
            <a:r>
              <a:rPr lang="en-US" dirty="0">
                <a:latin typeface="Carlito"/>
                <a:ea typeface="Carlito"/>
                <a:cs typeface="Carlito"/>
              </a:rPr>
              <a:t>() function will connect to the database if there isn’t already a connection.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0D3231B-35F7-3919-997B-BA1371EE1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75" y="3843312"/>
            <a:ext cx="8834003" cy="585788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rIns="0" bIns="0">
            <a:spAutoFit/>
          </a:bodyPr>
          <a:lstStyle/>
          <a:p>
            <a:pPr marL="90488">
              <a:lnSpc>
                <a:spcPts val="2113"/>
              </a:lnSpc>
              <a:spcBef>
                <a:spcPts val="36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Not calling Class A’s Terminate() routine because you know that Class A’s </a:t>
            </a:r>
            <a:r>
              <a:rPr lang="en-US" dirty="0" err="1">
                <a:latin typeface="Carlito"/>
                <a:ea typeface="Carlito"/>
                <a:cs typeface="Carlito"/>
              </a:rPr>
              <a:t>PerformFinalOperation</a:t>
            </a:r>
            <a:r>
              <a:rPr lang="en-US" dirty="0">
                <a:latin typeface="Carlito"/>
                <a:ea typeface="Carlito"/>
                <a:cs typeface="Carlito"/>
              </a:rPr>
              <a:t>() routine has already  called it.</a:t>
            </a: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FA84956D-9515-B5B6-2BA2-83A25977E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76" y="4623360"/>
            <a:ext cx="8834003" cy="854075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rIns="0" bIns="0">
            <a:spAutoFit/>
          </a:bodyPr>
          <a:lstStyle/>
          <a:p>
            <a:pPr marL="90488">
              <a:lnSpc>
                <a:spcPts val="2113"/>
              </a:lnSpc>
              <a:spcBef>
                <a:spcPts val="36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Using a pointer or reference to </a:t>
            </a:r>
            <a:r>
              <a:rPr lang="en-US" dirty="0" err="1">
                <a:latin typeface="Carlito"/>
                <a:ea typeface="Carlito"/>
                <a:cs typeface="Carlito"/>
              </a:rPr>
              <a:t>ObjectB</a:t>
            </a:r>
            <a:r>
              <a:rPr lang="en-US" dirty="0">
                <a:latin typeface="Carlito"/>
                <a:ea typeface="Carlito"/>
                <a:cs typeface="Carlito"/>
              </a:rPr>
              <a:t> created by </a:t>
            </a:r>
            <a:r>
              <a:rPr lang="en-US" dirty="0" err="1">
                <a:latin typeface="Carlito"/>
                <a:ea typeface="Carlito"/>
                <a:cs typeface="Carlito"/>
              </a:rPr>
              <a:t>ObjectA</a:t>
            </a:r>
            <a:r>
              <a:rPr lang="en-US" dirty="0">
                <a:latin typeface="Carlito"/>
                <a:ea typeface="Carlito"/>
                <a:cs typeface="Carlito"/>
              </a:rPr>
              <a:t> even after </a:t>
            </a:r>
            <a:r>
              <a:rPr lang="en-US" dirty="0" err="1">
                <a:latin typeface="Carlito"/>
                <a:ea typeface="Carlito"/>
                <a:cs typeface="Carlito"/>
              </a:rPr>
              <a:t>ObjectA</a:t>
            </a:r>
            <a:r>
              <a:rPr lang="en-US" dirty="0">
                <a:latin typeface="Carlito"/>
                <a:ea typeface="Carlito"/>
                <a:cs typeface="Carlito"/>
              </a:rPr>
              <a:t> has gone out of scope, because you know  that </a:t>
            </a:r>
            <a:r>
              <a:rPr lang="en-US" dirty="0" err="1">
                <a:latin typeface="Carlito"/>
                <a:ea typeface="Carlito"/>
                <a:cs typeface="Carlito"/>
              </a:rPr>
              <a:t>ObjectA</a:t>
            </a:r>
            <a:r>
              <a:rPr lang="en-US" dirty="0">
                <a:latin typeface="Carlito"/>
                <a:ea typeface="Carlito"/>
                <a:cs typeface="Carlito"/>
              </a:rPr>
              <a:t> keeps </a:t>
            </a:r>
            <a:r>
              <a:rPr lang="en-US" dirty="0" err="1">
                <a:latin typeface="Carlito"/>
                <a:ea typeface="Carlito"/>
                <a:cs typeface="Carlito"/>
              </a:rPr>
              <a:t>ObjectB</a:t>
            </a:r>
            <a:r>
              <a:rPr lang="en-US" dirty="0">
                <a:latin typeface="Carlito"/>
                <a:ea typeface="Carlito"/>
                <a:cs typeface="Carlito"/>
              </a:rPr>
              <a:t> in static storage and </a:t>
            </a:r>
            <a:r>
              <a:rPr lang="en-US" dirty="0" err="1">
                <a:latin typeface="Carlito"/>
                <a:ea typeface="Carlito"/>
                <a:cs typeface="Carlito"/>
              </a:rPr>
              <a:t>ObjectB</a:t>
            </a:r>
            <a:r>
              <a:rPr lang="en-US" dirty="0">
                <a:latin typeface="Carlito"/>
                <a:ea typeface="Carlito"/>
                <a:cs typeface="Carlito"/>
              </a:rPr>
              <a:t> will still be valid.</a:t>
            </a: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B3DD115F-207E-0660-23BB-6C24F3EB9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177" y="5671695"/>
            <a:ext cx="8834003" cy="586058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46990" rIns="0" bIns="0">
            <a:spAutoFit/>
          </a:bodyPr>
          <a:lstStyle/>
          <a:p>
            <a:pPr marL="90488">
              <a:lnSpc>
                <a:spcPts val="2113"/>
              </a:lnSpc>
              <a:spcBef>
                <a:spcPts val="375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Using Class B’s MAXIMUM_ELEMENTS constant instead of using </a:t>
            </a:r>
            <a:r>
              <a:rPr lang="en-US" dirty="0" err="1">
                <a:latin typeface="Carlito"/>
                <a:ea typeface="Carlito"/>
                <a:cs typeface="Carlito"/>
              </a:rPr>
              <a:t>ClassA.MAXIMUM_ELEMENTS</a:t>
            </a:r>
            <a:r>
              <a:rPr lang="en-US" dirty="0">
                <a:latin typeface="Carlito"/>
                <a:ea typeface="Carlito"/>
                <a:cs typeface="Carlito"/>
              </a:rPr>
              <a:t> , because you know that  they’re both equal to the same value.</a:t>
            </a:r>
          </a:p>
        </p:txBody>
      </p:sp>
    </p:spTree>
    <p:extLst>
      <p:ext uri="{BB962C8B-B14F-4D97-AF65-F5344CB8AC3E}">
        <p14:creationId xmlns:p14="http://schemas.microsoft.com/office/powerpoint/2010/main" val="1992259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Good Class Interfaces: </a:t>
            </a:r>
            <a:r>
              <a:rPr lang="en-US" sz="3200" dirty="0">
                <a:solidFill>
                  <a:schemeClr val="tx1"/>
                </a:solidFill>
                <a:latin typeface="+mn-lt"/>
              </a:rPr>
              <a:t>Good Encapsulation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17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95775974-0A65-E93F-61EC-F26AB214ACAB}"/>
              </a:ext>
            </a:extLst>
          </p:cNvPr>
          <p:cNvSpPr txBox="1"/>
          <p:nvPr/>
        </p:nvSpPr>
        <p:spPr>
          <a:xfrm>
            <a:off x="2286000" y="1317625"/>
            <a:ext cx="5486400" cy="44926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197485">
              <a:spcBef>
                <a:spcPts val="150"/>
              </a:spcBef>
              <a:defRPr/>
            </a:pPr>
            <a:r>
              <a:rPr sz="2800" spc="-35" dirty="0">
                <a:latin typeface="Carlito"/>
                <a:cs typeface="Carlito"/>
              </a:rPr>
              <a:t>Watch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5" dirty="0">
                <a:latin typeface="Carlito"/>
                <a:cs typeface="Carlito"/>
              </a:rPr>
              <a:t>coupling </a:t>
            </a:r>
            <a:r>
              <a:rPr sz="2800" spc="-20" dirty="0">
                <a:latin typeface="Carlito"/>
                <a:cs typeface="Carlito"/>
              </a:rPr>
              <a:t>that’s </a:t>
            </a:r>
            <a:r>
              <a:rPr sz="2800" spc="-15" dirty="0">
                <a:latin typeface="Carlito"/>
                <a:cs typeface="Carlito"/>
              </a:rPr>
              <a:t>too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tight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95CF831C-CC54-F27A-B130-B4A408152F01}"/>
              </a:ext>
            </a:extLst>
          </p:cNvPr>
          <p:cNvSpPr txBox="1"/>
          <p:nvPr/>
        </p:nvSpPr>
        <p:spPr>
          <a:xfrm>
            <a:off x="2576513" y="1843088"/>
            <a:ext cx="5424487" cy="29051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i="1" spc="-5" dirty="0">
                <a:latin typeface="Carlito"/>
                <a:cs typeface="Carlito"/>
              </a:rPr>
              <a:t>In general, the looser the connection, the</a:t>
            </a:r>
            <a:r>
              <a:rPr i="1" spc="30" dirty="0">
                <a:latin typeface="Carlito"/>
                <a:cs typeface="Carlito"/>
              </a:rPr>
              <a:t> </a:t>
            </a:r>
            <a:r>
              <a:rPr i="1" spc="-10" dirty="0">
                <a:latin typeface="Carlito"/>
                <a:cs typeface="Carlito"/>
              </a:rPr>
              <a:t>better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85AAD808-8A88-2073-24E6-9EEB7A6E3F03}"/>
              </a:ext>
            </a:extLst>
          </p:cNvPr>
          <p:cNvSpPr txBox="1"/>
          <p:nvPr/>
        </p:nvSpPr>
        <p:spPr>
          <a:xfrm>
            <a:off x="76200" y="2249488"/>
            <a:ext cx="5638800" cy="339725"/>
          </a:xfrm>
          <a:prstGeom prst="rect">
            <a:avLst/>
          </a:prstGeom>
          <a:solidFill>
            <a:srgbClr val="DEEBF7"/>
          </a:solidFill>
        </p:spPr>
        <p:txBody>
          <a:bodyPr lIns="0" tIns="31750" rIns="0" bIns="0">
            <a:spAutoFit/>
          </a:bodyPr>
          <a:lstStyle/>
          <a:p>
            <a:pPr marL="254000" algn="ctr">
              <a:spcBef>
                <a:spcPts val="250"/>
              </a:spcBef>
              <a:defRPr/>
            </a:pPr>
            <a:r>
              <a:rPr sz="2000" spc="-10" dirty="0">
                <a:latin typeface="Carlito"/>
                <a:cs typeface="Carlito"/>
              </a:rPr>
              <a:t>Minimize </a:t>
            </a:r>
            <a:r>
              <a:rPr sz="2000" dirty="0">
                <a:latin typeface="Carlito"/>
                <a:cs typeface="Carlito"/>
              </a:rPr>
              <a:t>accessibility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classes </a:t>
            </a:r>
            <a:r>
              <a:rPr sz="2000" spc="-5" dirty="0">
                <a:latin typeface="Carlito"/>
                <a:cs typeface="Carlito"/>
              </a:rPr>
              <a:t>and</a:t>
            </a:r>
            <a:r>
              <a:rPr sz="2000" spc="-2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members.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45550EF3-29D3-E7BC-FECE-939A58E2E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968625"/>
            <a:ext cx="5638800" cy="955675"/>
          </a:xfrm>
          <a:prstGeom prst="rect">
            <a:avLst/>
          </a:prstGeom>
          <a:solidFill>
            <a:srgbClr val="DEEBF7"/>
          </a:solidFill>
          <a:ln w="9525">
            <a:noFill/>
            <a:miter lim="800000"/>
            <a:headEnd/>
            <a:tailEnd/>
          </a:ln>
        </p:spPr>
        <p:txBody>
          <a:bodyPr lIns="0" tIns="32384" rIns="0" bIns="0">
            <a:spAutoFit/>
          </a:bodyPr>
          <a:lstStyle/>
          <a:p>
            <a:pPr marL="296863" indent="44450" algn="ctr">
              <a:spcBef>
                <a:spcPts val="250"/>
              </a:spcBef>
            </a:pPr>
            <a:r>
              <a:rPr lang="en-US" sz="2000" dirty="0">
                <a:latin typeface="Carlito"/>
                <a:ea typeface="Carlito"/>
                <a:cs typeface="Carlito"/>
              </a:rPr>
              <a:t>Make data private rather than protected in a  base class to make derived classes less tightly  coupled to the base class.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0031D54B-57A5-5E14-69B5-1C8F0034E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321175"/>
            <a:ext cx="5638800" cy="647700"/>
          </a:xfrm>
          <a:prstGeom prst="rect">
            <a:avLst/>
          </a:prstGeom>
          <a:solidFill>
            <a:srgbClr val="DEEBF7"/>
          </a:solidFill>
          <a:ln w="9525">
            <a:noFill/>
            <a:miter lim="800000"/>
            <a:headEnd/>
            <a:tailEnd/>
          </a:ln>
        </p:spPr>
        <p:txBody>
          <a:bodyPr lIns="0" tIns="32384" rIns="0" bIns="0">
            <a:spAutoFit/>
          </a:bodyPr>
          <a:lstStyle/>
          <a:p>
            <a:pPr marL="2179638" indent="-1916113" algn="ctr">
              <a:spcBef>
                <a:spcPts val="250"/>
              </a:spcBef>
            </a:pPr>
            <a:r>
              <a:rPr lang="en-US" sz="2000" dirty="0">
                <a:latin typeface="Carlito"/>
                <a:ea typeface="Carlito"/>
                <a:cs typeface="Carlito"/>
              </a:rPr>
              <a:t>Avoid exposing member data in a class’s public  interface</a:t>
            </a:r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10D9EA77-DF63-39F4-79E7-81E6B57D2DB8}"/>
              </a:ext>
            </a:extLst>
          </p:cNvPr>
          <p:cNvSpPr txBox="1"/>
          <p:nvPr/>
        </p:nvSpPr>
        <p:spPr>
          <a:xfrm>
            <a:off x="76200" y="5365750"/>
            <a:ext cx="5638800" cy="339725"/>
          </a:xfrm>
          <a:prstGeom prst="rect">
            <a:avLst/>
          </a:prstGeom>
          <a:solidFill>
            <a:srgbClr val="DEEBF7"/>
          </a:solidFill>
        </p:spPr>
        <p:txBody>
          <a:bodyPr lIns="0" tIns="32384" rIns="0" bIns="0">
            <a:spAutoFit/>
          </a:bodyPr>
          <a:lstStyle/>
          <a:p>
            <a:pPr marL="184150" algn="ctr">
              <a:spcBef>
                <a:spcPts val="254"/>
              </a:spcBef>
              <a:defRPr/>
            </a:pPr>
            <a:r>
              <a:rPr sz="2000" spc="-5" dirty="0">
                <a:latin typeface="Carlito"/>
                <a:cs typeface="Carlito"/>
              </a:rPr>
              <a:t>Be wary of semantic violations of</a:t>
            </a:r>
            <a:r>
              <a:rPr sz="200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encapsulation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F9619497-9FB6-2FF5-77D4-5D0677878314}"/>
              </a:ext>
            </a:extLst>
          </p:cNvPr>
          <p:cNvSpPr txBox="1"/>
          <p:nvPr/>
        </p:nvSpPr>
        <p:spPr>
          <a:xfrm>
            <a:off x="76200" y="6108700"/>
            <a:ext cx="5638800" cy="341313"/>
          </a:xfrm>
          <a:prstGeom prst="rect">
            <a:avLst/>
          </a:prstGeom>
          <a:solidFill>
            <a:srgbClr val="DEEBF7"/>
          </a:solidFill>
        </p:spPr>
        <p:txBody>
          <a:bodyPr lIns="0" tIns="33020" rIns="0" bIns="0">
            <a:spAutoFit/>
          </a:bodyPr>
          <a:lstStyle/>
          <a:p>
            <a:pPr algn="ctr">
              <a:spcBef>
                <a:spcPts val="260"/>
              </a:spcBef>
              <a:defRPr/>
            </a:pPr>
            <a:r>
              <a:rPr sz="2000" spc="-5" dirty="0">
                <a:latin typeface="Carlito"/>
                <a:cs typeface="Carlito"/>
              </a:rPr>
              <a:t>Observe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“Law of</a:t>
            </a:r>
            <a:r>
              <a:rPr sz="2000" spc="-20" dirty="0">
                <a:latin typeface="Carlito"/>
                <a:cs typeface="Carlito"/>
              </a:rPr>
              <a:t> </a:t>
            </a:r>
            <a:r>
              <a:rPr sz="2000" spc="5" dirty="0">
                <a:latin typeface="Carlito"/>
                <a:cs typeface="Carlito"/>
              </a:rPr>
              <a:t>Demeter”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91B770E4-07E8-270A-561B-68E65C3E6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2159000"/>
            <a:ext cx="3209925" cy="2703513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dirty="0"/>
          </a:p>
        </p:txBody>
      </p:sp>
      <p:grpSp>
        <p:nvGrpSpPr>
          <p:cNvPr id="17" name="object 11">
            <a:extLst>
              <a:ext uri="{FF2B5EF4-FFF2-40B4-BE49-F238E27FC236}">
                <a16:creationId xmlns:a16="http://schemas.microsoft.com/office/drawing/2014/main" id="{5B7330D1-2C1D-B6DE-FA48-63336EC4033E}"/>
              </a:ext>
            </a:extLst>
          </p:cNvPr>
          <p:cNvGrpSpPr>
            <a:grpSpLocks/>
          </p:cNvGrpSpPr>
          <p:nvPr/>
        </p:nvGrpSpPr>
        <p:grpSpPr bwMode="auto">
          <a:xfrm>
            <a:off x="5794713" y="4853358"/>
            <a:ext cx="3336248" cy="1722437"/>
            <a:chOff x="8173017" y="3302876"/>
            <a:chExt cx="3832342" cy="1723389"/>
          </a:xfrm>
        </p:grpSpPr>
        <p:sp>
          <p:nvSpPr>
            <p:cNvPr id="18" name="object 12">
              <a:extLst>
                <a:ext uri="{FF2B5EF4-FFF2-40B4-BE49-F238E27FC236}">
                  <a16:creationId xmlns:a16="http://schemas.microsoft.com/office/drawing/2014/main" id="{715BC131-174B-7905-5B0F-B0CEB8235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3850" y="3307638"/>
              <a:ext cx="3066469" cy="1713598"/>
            </a:xfrm>
            <a:prstGeom prst="rect">
              <a:avLst/>
            </a:prstGeom>
            <a:blipFill dpi="0" rotWithShape="1">
              <a:blip r:embed="rId3" cstate="print"/>
              <a:srcRect/>
              <a:stretch>
                <a:fillRect/>
              </a:stretch>
            </a:blip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 dirty="0"/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715A6172-92AE-B138-7330-4A47C49F2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3017" y="3302876"/>
              <a:ext cx="3832342" cy="1723389"/>
            </a:xfrm>
            <a:custGeom>
              <a:avLst/>
              <a:gdLst>
                <a:gd name="T0" fmla="*/ 0 w 3088640"/>
                <a:gd name="T1" fmla="*/ 0 h 1723389"/>
                <a:gd name="T2" fmla="*/ 5899557 w 3088640"/>
                <a:gd name="T3" fmla="*/ 0 h 1723389"/>
                <a:gd name="T4" fmla="*/ 5899557 w 3088640"/>
                <a:gd name="T5" fmla="*/ 1723123 h 1723389"/>
                <a:gd name="T6" fmla="*/ 0 w 3088640"/>
                <a:gd name="T7" fmla="*/ 1723123 h 1723389"/>
                <a:gd name="T8" fmla="*/ 0 w 3088640"/>
                <a:gd name="T9" fmla="*/ 0 h 17233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88640"/>
                <a:gd name="T16" fmla="*/ 0 h 1723389"/>
                <a:gd name="T17" fmla="*/ 3088640 w 3088640"/>
                <a:gd name="T18" fmla="*/ 1723389 h 17233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88640" h="1723389">
                  <a:moveTo>
                    <a:pt x="0" y="0"/>
                  </a:moveTo>
                  <a:lnTo>
                    <a:pt x="3088364" y="0"/>
                  </a:lnTo>
                  <a:lnTo>
                    <a:pt x="3088364" y="1723123"/>
                  </a:lnTo>
                  <a:lnTo>
                    <a:pt x="0" y="172312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6862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Reading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18</a:t>
            </a:fld>
            <a:endParaRPr lang="en-US" sz="70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11078691-CB50-A05D-8F0A-A896ACA20F80}"/>
              </a:ext>
            </a:extLst>
          </p:cNvPr>
          <p:cNvSpPr txBox="1"/>
          <p:nvPr/>
        </p:nvSpPr>
        <p:spPr>
          <a:xfrm>
            <a:off x="400833" y="1017487"/>
            <a:ext cx="84801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8640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17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Chapter 6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2EBFB1D-0E9C-8707-75EC-896497CE4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9801" y="2144927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6570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19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8470530D50274EAFC96C307341D87E" ma:contentTypeVersion="7" ma:contentTypeDescription="Create a new document." ma:contentTypeScope="" ma:versionID="b8910448027bc4ed34846ea5a9c8ae5b">
  <xsd:schema xmlns:xsd="http://www.w3.org/2001/XMLSchema" xmlns:xs="http://www.w3.org/2001/XMLSchema" xmlns:p="http://schemas.microsoft.com/office/2006/metadata/properties" xmlns:ns3="a7d1a000-c374-4d35-b30d-1e8e9eadf823" xmlns:ns4="1ec989cd-5ee7-4e6d-938f-778fe4b0c792" targetNamespace="http://schemas.microsoft.com/office/2006/metadata/properties" ma:root="true" ma:fieldsID="4f803134678dcdcb51c3dda8fbd31a82" ns3:_="" ns4:_="">
    <xsd:import namespace="a7d1a000-c374-4d35-b30d-1e8e9eadf823"/>
    <xsd:import namespace="1ec989cd-5ee7-4e6d-938f-778fe4b0c792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d1a000-c374-4d35-b30d-1e8e9eadf82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c989cd-5ee7-4e6d-938f-778fe4b0c792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7d1a000-c374-4d35-b30d-1e8e9eadf823" xsi:nil="true"/>
  </documentManagement>
</p:properties>
</file>

<file path=customXml/itemProps1.xml><?xml version="1.0" encoding="utf-8"?>
<ds:datastoreItem xmlns:ds="http://schemas.openxmlformats.org/officeDocument/2006/customXml" ds:itemID="{D4F73D8D-3280-46BE-B819-FC5106FA70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d1a000-c374-4d35-b30d-1e8e9eadf823"/>
    <ds:schemaRef ds:uri="1ec989cd-5ee7-4e6d-938f-778fe4b0c7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2E0C92-AC64-42CA-94F8-4CA15E127DA0}">
  <ds:schemaRefs>
    <ds:schemaRef ds:uri="http://www.w3.org/XML/1998/namespace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1ec989cd-5ee7-4e6d-938f-778fe4b0c792"/>
    <ds:schemaRef ds:uri="a7d1a000-c374-4d35-b30d-1e8e9eadf823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136</TotalTime>
  <Words>1083</Words>
  <Application>Microsoft Office PowerPoint</Application>
  <PresentationFormat>On-screen Show (4:3)</PresentationFormat>
  <Paragraphs>111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Calibri Light</vt:lpstr>
      <vt:lpstr>Carlito</vt:lpstr>
      <vt:lpstr>DejaVu Sans Mono</vt:lpstr>
      <vt:lpstr>Eurostile</vt:lpstr>
      <vt:lpstr>Wingdings</vt:lpstr>
      <vt:lpstr>Wingdings 3</vt:lpstr>
      <vt:lpstr>Theme CPIT 110</vt:lpstr>
      <vt:lpstr>Custom Design</vt:lpstr>
      <vt:lpstr>Chapter  2.4 Creating High-Quality Code</vt:lpstr>
      <vt:lpstr>Outline</vt:lpstr>
      <vt:lpstr>Working Classes</vt:lpstr>
      <vt:lpstr>Working Classes</vt:lpstr>
      <vt:lpstr>Class Foundations: Abstract Data Types (ADTs)</vt:lpstr>
      <vt:lpstr>Class Foundations: Abstract Data Types (ADTs)</vt:lpstr>
      <vt:lpstr>Class Foundations: Abstract Data Types (ADTs)</vt:lpstr>
      <vt:lpstr>Good Class Interfaces</vt:lpstr>
      <vt:lpstr>Good Class Interfaces: Good Abstraction</vt:lpstr>
      <vt:lpstr>Good Class Interfaces: Good Abstraction</vt:lpstr>
      <vt:lpstr>Good Class Interfaces: Good Encapsulation</vt:lpstr>
      <vt:lpstr>Good Class Interfaces: Good Encapsulation</vt:lpstr>
      <vt:lpstr>Good Class Interfaces: Good Encapsulation</vt:lpstr>
      <vt:lpstr>Good Class Interfaces: Good Encapsulation</vt:lpstr>
      <vt:lpstr>Good Class Interfaces: Good Encapsulation</vt:lpstr>
      <vt:lpstr>Good Class Interfaces: Good Encapsulation</vt:lpstr>
      <vt:lpstr>Good Class Interfaces: Good Encapsulation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20</cp:revision>
  <dcterms:created xsi:type="dcterms:W3CDTF">2019-06-07T16:06:41Z</dcterms:created>
  <dcterms:modified xsi:type="dcterms:W3CDTF">2024-09-16T10:41:01Z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0x010100038470530D50274EAFC96C307341D87E</vt:lpwstr>
  </property>
</Properties>
</file>