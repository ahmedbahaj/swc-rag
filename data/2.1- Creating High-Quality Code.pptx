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25"/>
  </p:notesMasterIdLst>
  <p:sldIdLst>
    <p:sldId id="330" r:id="rId6"/>
    <p:sldId id="417" r:id="rId7"/>
    <p:sldId id="419" r:id="rId8"/>
    <p:sldId id="420" r:id="rId9"/>
    <p:sldId id="421" r:id="rId10"/>
    <p:sldId id="415" r:id="rId11"/>
    <p:sldId id="465" r:id="rId12"/>
    <p:sldId id="466" r:id="rId13"/>
    <p:sldId id="467" r:id="rId14"/>
    <p:sldId id="468" r:id="rId15"/>
    <p:sldId id="469" r:id="rId16"/>
    <p:sldId id="470" r:id="rId17"/>
    <p:sldId id="424" r:id="rId18"/>
    <p:sldId id="471" r:id="rId19"/>
    <p:sldId id="473" r:id="rId20"/>
    <p:sldId id="474" r:id="rId21"/>
    <p:sldId id="475" r:id="rId22"/>
    <p:sldId id="476" r:id="rId23"/>
    <p:sldId id="41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417"/>
            <p14:sldId id="419"/>
            <p14:sldId id="420"/>
            <p14:sldId id="421"/>
            <p14:sldId id="415"/>
            <p14:sldId id="465"/>
            <p14:sldId id="466"/>
            <p14:sldId id="467"/>
            <p14:sldId id="468"/>
            <p14:sldId id="469"/>
            <p14:sldId id="470"/>
            <p14:sldId id="424"/>
            <p14:sldId id="471"/>
            <p14:sldId id="473"/>
            <p14:sldId id="474"/>
            <p14:sldId id="475"/>
            <p14:sldId id="476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5" autoAdjust="0"/>
    <p:restoredTop sz="94698"/>
  </p:normalViewPr>
  <p:slideViewPr>
    <p:cSldViewPr snapToGrid="0">
      <p:cViewPr varScale="1">
        <p:scale>
          <a:sx n="105" d="100"/>
          <a:sy n="105" d="100"/>
        </p:scale>
        <p:origin x="16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S::04100753@uj.edu.sa::9b436a58-7297-423f-8410-66c59c69358a" providerId="AD" clId="Web-{8E2B104F-4807-1359-859E-A7C147755355}"/>
    <pc:docChg chg="delSld modSection">
      <pc:chgData name="Mohammad Dakhilallah Mohammad Alahmadi" userId="S::04100753@uj.edu.sa::9b436a58-7297-423f-8410-66c59c69358a" providerId="AD" clId="Web-{8E2B104F-4807-1359-859E-A7C147755355}" dt="2023-08-25T12:05:32.283" v="0"/>
      <pc:docMkLst>
        <pc:docMk/>
      </pc:docMkLst>
      <pc:sldChg chg="del">
        <pc:chgData name="Mohammad Dakhilallah Mohammad Alahmadi" userId="S::04100753@uj.edu.sa::9b436a58-7297-423f-8410-66c59c69358a" providerId="AD" clId="Web-{8E2B104F-4807-1359-859E-A7C147755355}" dt="2023-08-25T12:05:32.283" v="0"/>
        <pc:sldMkLst>
          <pc:docMk/>
          <pc:sldMk cId="1076553011" sldId="416"/>
        </pc:sldMkLst>
      </pc:sldChg>
    </pc:docChg>
  </pc:docChgLst>
  <pc:docChgLst>
    <pc:chgData clId="Web-{8E2B104F-4807-1359-859E-A7C147755355}"/>
    <pc:docChg chg="delSld modSection">
      <pc:chgData name="" userId="" providerId="" clId="Web-{8E2B104F-4807-1359-859E-A7C147755355}" dt="2023-08-25T12:05:26.173" v="0"/>
      <pc:docMkLst>
        <pc:docMk/>
      </pc:docMkLst>
      <pc:sldChg chg="del">
        <pc:chgData name="" userId="" providerId="" clId="Web-{8E2B104F-4807-1359-859E-A7C147755355}" dt="2023-08-25T12:05:26.173" v="0"/>
        <pc:sldMkLst>
          <pc:docMk/>
          <pc:sldMk cId="0" sldId="333"/>
        </pc:sldMkLst>
      </pc:sldChg>
    </pc:docChg>
  </pc:docChgLst>
  <pc:docChgLst>
    <pc:chgData name="Mohammad Dakhilallah Mohammad Alahmadi" userId="S::04100753@uj.edu.sa::9b436a58-7297-423f-8410-66c59c69358a" providerId="AD" clId="Web-{FFAC57CD-A06D-2AFC-A3D2-5492A93AFF8F}"/>
    <pc:docChg chg="delSld modSection">
      <pc:chgData name="Mohammad Dakhilallah Mohammad Alahmadi" userId="S::04100753@uj.edu.sa::9b436a58-7297-423f-8410-66c59c69358a" providerId="AD" clId="Web-{FFAC57CD-A06D-2AFC-A3D2-5492A93AFF8F}" dt="2023-08-25T12:10:36.141" v="0"/>
      <pc:docMkLst>
        <pc:docMk/>
      </pc:docMkLst>
      <pc:sldChg chg="del">
        <pc:chgData name="Mohammad Dakhilallah Mohammad Alahmadi" userId="S::04100753@uj.edu.sa::9b436a58-7297-423f-8410-66c59c69358a" providerId="AD" clId="Web-{FFAC57CD-A06D-2AFC-A3D2-5492A93AFF8F}" dt="2023-08-25T12:10:36.141" v="0"/>
        <pc:sldMkLst>
          <pc:docMk/>
          <pc:sldMk cId="2586610191" sldId="423"/>
        </pc:sldMkLst>
      </pc:sldChg>
    </pc:docChg>
  </pc:docChgLst>
  <pc:docChgLst>
    <pc:chgData name="Mohammad Dakhilallah Mohammad Alahmadi" userId="9b436a58-7297-423f-8410-66c59c69358a" providerId="ADAL" clId="{BAF9777B-B2A1-4B10-A1ED-504253403A53}"/>
    <pc:docChg chg="modSld">
      <pc:chgData name="Mohammad Dakhilallah Mohammad Alahmadi" userId="9b436a58-7297-423f-8410-66c59c69358a" providerId="ADAL" clId="{BAF9777B-B2A1-4B10-A1ED-504253403A53}" dt="2023-09-09T19:49:39.502" v="0"/>
      <pc:docMkLst>
        <pc:docMk/>
      </pc:docMkLst>
      <pc:sldChg chg="modNotesTx">
        <pc:chgData name="Mohammad Dakhilallah Mohammad Alahmadi" userId="9b436a58-7297-423f-8410-66c59c69358a" providerId="ADAL" clId="{BAF9777B-B2A1-4B10-A1ED-504253403A53}" dt="2023-09-09T19:49:39.502" v="0"/>
        <pc:sldMkLst>
          <pc:docMk/>
          <pc:sldMk cId="2997704716" sldId="4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Coding conventions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are a set of guidelines for a specific programming language that recommend </a:t>
            </a:r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programming style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, practices, and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8F4A1-044F-45DC-A6AA-9EC3247C36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50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9/9/2023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9/9/2023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9/9/2023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9/9/2023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9/9/2023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9/9/2023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9/9/2023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9/9/2023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9/9/2023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9/9/2023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9/9/2023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9/9/2023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9/9/2023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9/9/2023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9/9/2023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9/9/2023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9/9/2023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9/9/2023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9/9/2023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9/9/2023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  2.1</a:t>
            </a:r>
            <a:br>
              <a:rPr lang="en-US" altLang="en-US" b="1">
                <a:solidFill>
                  <a:schemeClr val="tx1"/>
                </a:solidFill>
                <a:cs typeface="Calibri Light"/>
              </a:rPr>
            </a:br>
            <a:r>
              <a:rPr lang="en-US" altLang="en-US" b="1">
                <a:solidFill>
                  <a:schemeClr val="tx1"/>
                </a:solidFill>
              </a:rPr>
              <a:t>Creating High-Quality Code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13" name="Cloud Callout 6">
            <a:extLst>
              <a:ext uri="{FF2B5EF4-FFF2-40B4-BE49-F238E27FC236}">
                <a16:creationId xmlns:a16="http://schemas.microsoft.com/office/drawing/2014/main" id="{A935227E-EE05-E121-CD4E-BCE3ED5BE0DB}"/>
              </a:ext>
            </a:extLst>
          </p:cNvPr>
          <p:cNvSpPr/>
          <p:nvPr/>
        </p:nvSpPr>
        <p:spPr>
          <a:xfrm>
            <a:off x="419100" y="1219200"/>
            <a:ext cx="8305800" cy="1752600"/>
          </a:xfrm>
          <a:prstGeom prst="cloudCallout">
            <a:avLst>
              <a:gd name="adj1" fmla="val 15221"/>
              <a:gd name="adj2" fmla="val 122467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How to create high quality code?</a:t>
            </a:r>
          </a:p>
        </p:txBody>
      </p:sp>
      <p:pic>
        <p:nvPicPr>
          <p:cNvPr id="15" name="Picture 18">
            <a:extLst>
              <a:ext uri="{FF2B5EF4-FFF2-40B4-BE49-F238E27FC236}">
                <a16:creationId xmlns:a16="http://schemas.microsoft.com/office/drawing/2014/main" id="{17B06F6A-B5FA-EE6E-1F14-8FF29A496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13127" y="4335093"/>
            <a:ext cx="151447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21999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Outline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BD703-CB40-13F3-AF07-698E2629F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974" y="1234281"/>
            <a:ext cx="7076052" cy="4389437"/>
          </a:xfrm>
        </p:spPr>
        <p:txBody>
          <a:bodyPr/>
          <a:lstStyle/>
          <a:p>
            <a:r>
              <a:rPr lang="en-US" sz="2800" dirty="0"/>
              <a:t>Key Construction Decisions</a:t>
            </a:r>
          </a:p>
        </p:txBody>
      </p:sp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Key Construction Decisions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18368FE-19EF-8947-8B43-A8584E51C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966" y="2492158"/>
            <a:ext cx="7958426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1- Choice of Programming Language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2F26A77A-2452-BCC5-FBA0-34FA9909A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919201"/>
            <a:ext cx="4416424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9">
            <a:extLst>
              <a:ext uri="{FF2B5EF4-FFF2-40B4-BE49-F238E27FC236}">
                <a16:creationId xmlns:a16="http://schemas.microsoft.com/office/drawing/2014/main" id="{E584CF27-A8F8-4D7F-F460-9211FCDDE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79056" y="1746250"/>
            <a:ext cx="4664943" cy="4203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1- Choice of Programming Language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pic>
        <p:nvPicPr>
          <p:cNvPr id="2" name="Picture 2" descr="The 7 Most In-Demand Programming Languages of 2019 - Coding Dojo Blog">
            <a:extLst>
              <a:ext uri="{FF2B5EF4-FFF2-40B4-BE49-F238E27FC236}">
                <a16:creationId xmlns:a16="http://schemas.microsoft.com/office/drawing/2014/main" id="{CB08725E-A8AD-B362-516F-77ADFF61D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548" y="1335890"/>
            <a:ext cx="8342906" cy="472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1- Choice of Programming Language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80D799-080F-2194-2CF2-392D8D4A5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9902" y="978518"/>
            <a:ext cx="541972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45A78FD-E09E-6B27-E3B2-A6B94C5E0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59627" y="1180343"/>
            <a:ext cx="3444471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The 7 Most In-Demand Programming Languages of 2019 - Coding Dojo Blog">
            <a:extLst>
              <a:ext uri="{FF2B5EF4-FFF2-40B4-BE49-F238E27FC236}">
                <a16:creationId xmlns:a16="http://schemas.microsoft.com/office/drawing/2014/main" id="{EA2354D5-DBEE-17FC-78FC-148A89865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23210" y="3578843"/>
            <a:ext cx="3280888" cy="2895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895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1- Choice of Programming Language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C6852F7-C86D-43AA-DE9D-932C97515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1434" y="1401652"/>
            <a:ext cx="683895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10">
            <a:extLst>
              <a:ext uri="{FF2B5EF4-FFF2-40B4-BE49-F238E27FC236}">
                <a16:creationId xmlns:a16="http://schemas.microsoft.com/office/drawing/2014/main" id="{5151F252-93A4-2299-C3CC-2F6A8116F36A}"/>
              </a:ext>
            </a:extLst>
          </p:cNvPr>
          <p:cNvSpPr/>
          <p:nvPr/>
        </p:nvSpPr>
        <p:spPr>
          <a:xfrm>
            <a:off x="832512" y="4419600"/>
            <a:ext cx="5568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How to learn a programming language?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9063FAA-DC85-394F-9D4C-E149020CF71C}"/>
              </a:ext>
            </a:extLst>
          </p:cNvPr>
          <p:cNvSpPr/>
          <p:nvPr/>
        </p:nvSpPr>
        <p:spPr>
          <a:xfrm>
            <a:off x="1103474" y="4876800"/>
            <a:ext cx="621172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Choose the best language for your goals and skills.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Understand computational thinking.</a:t>
            </a:r>
          </a:p>
          <a:p>
            <a:pPr marL="342900" indent="-342900">
              <a:buFontTx/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Enroll in online resources.</a:t>
            </a:r>
          </a:p>
        </p:txBody>
      </p:sp>
    </p:spTree>
    <p:extLst>
      <p:ext uri="{BB962C8B-B14F-4D97-AF65-F5344CB8AC3E}">
        <p14:creationId xmlns:p14="http://schemas.microsoft.com/office/powerpoint/2010/main" val="9169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1- Choice of Programming Language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13F545D6-102D-4FFD-4A17-D83BE6A0E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8279" y="1401652"/>
            <a:ext cx="651510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756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1- Choice of Programming Language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3A2282F-87C3-176C-C6C6-3BFD0E959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2253" y="1401652"/>
            <a:ext cx="6515100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88430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2- Programming Conventions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6C25885-9D1E-1397-FC11-EF5B8CF58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664" y="1430956"/>
            <a:ext cx="8628671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07751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3- Your Location on the Technology Wave 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sz="700"/>
          </a:p>
        </p:txBody>
      </p:sp>
      <p:sp>
        <p:nvSpPr>
          <p:cNvPr id="4" name="Cloud Callout 7">
            <a:extLst>
              <a:ext uri="{FF2B5EF4-FFF2-40B4-BE49-F238E27FC236}">
                <a16:creationId xmlns:a16="http://schemas.microsoft.com/office/drawing/2014/main" id="{2D136E92-8EEF-005C-1B53-A70E43973E6D}"/>
              </a:ext>
            </a:extLst>
          </p:cNvPr>
          <p:cNvSpPr/>
          <p:nvPr/>
        </p:nvSpPr>
        <p:spPr>
          <a:xfrm>
            <a:off x="190500" y="1288093"/>
            <a:ext cx="8763000" cy="1752600"/>
          </a:xfrm>
          <a:prstGeom prst="cloudCallout">
            <a:avLst>
              <a:gd name="adj1" fmla="val 18507"/>
              <a:gd name="adj2" fmla="val 78859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How you spend your programming days will depend on where you are on the technology wave.</a:t>
            </a:r>
            <a:endParaRPr lang="en-US" sz="24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243C43A5-1EAB-89E9-92FD-303343F14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1954" y="3703613"/>
            <a:ext cx="2486025" cy="2484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I͛P͛h͛o͛n͛e͛G͛a͛l͛a͛x͛y͛M͛D͛ 11K͛  on Twitter: &amp;quot;When you spend hours  writing code for your project &amp;amp;amp; find a 5 line solution on the internet  😩 #programming #computer #science #programmer #nolifer #html #css #php #">
            <a:extLst>
              <a:ext uri="{FF2B5EF4-FFF2-40B4-BE49-F238E27FC236}">
                <a16:creationId xmlns:a16="http://schemas.microsoft.com/office/drawing/2014/main" id="{2C623C1A-F5F6-BD61-06C1-ED68FF31F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5572" y="3364343"/>
            <a:ext cx="4552950" cy="31627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8889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3- Your Location on the Technology Wave 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13</a:t>
            </a:fld>
            <a:endParaRPr lang="en-US" sz="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5EAA53-4D0E-6034-F05F-A35CB736ED16}"/>
              </a:ext>
            </a:extLst>
          </p:cNvPr>
          <p:cNvSpPr/>
          <p:nvPr/>
        </p:nvSpPr>
        <p:spPr>
          <a:xfrm>
            <a:off x="990600" y="1828800"/>
            <a:ext cx="33686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+mn-lt"/>
                <a:cs typeface="+mn-cs"/>
              </a:rPr>
              <a:t> Primitive environment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9BC2C175-1CF3-5E2F-5658-E39AA540B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9300" y="2362200"/>
            <a:ext cx="60198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934B0E68-BF5E-F52E-C2C9-C297AC32E3CA}"/>
              </a:ext>
            </a:extLst>
          </p:cNvPr>
          <p:cNvSpPr/>
          <p:nvPr/>
        </p:nvSpPr>
        <p:spPr>
          <a:xfrm>
            <a:off x="990600" y="3881438"/>
            <a:ext cx="3119438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+mn-lt"/>
                <a:cs typeface="+mn-cs"/>
              </a:rPr>
              <a:t> Mature environment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CDAC8112-ED9D-4429-260C-193A8BBF6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19300" y="4457700"/>
            <a:ext cx="60198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0403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4- Selection of Major Construction Practices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14</a:t>
            </a:fld>
            <a:endParaRPr lang="en-US" sz="700"/>
          </a:p>
        </p:txBody>
      </p:sp>
      <p:sp>
        <p:nvSpPr>
          <p:cNvPr id="2" name="Cloud Callout 8">
            <a:extLst>
              <a:ext uri="{FF2B5EF4-FFF2-40B4-BE49-F238E27FC236}">
                <a16:creationId xmlns:a16="http://schemas.microsoft.com/office/drawing/2014/main" id="{D21E23D8-C710-58A5-69AB-2FE255B8DE17}"/>
              </a:ext>
            </a:extLst>
          </p:cNvPr>
          <p:cNvSpPr/>
          <p:nvPr/>
        </p:nvSpPr>
        <p:spPr>
          <a:xfrm>
            <a:off x="2209800" y="1673225"/>
            <a:ext cx="6629400" cy="1524000"/>
          </a:xfrm>
          <a:prstGeom prst="cloudCallout">
            <a:avLst>
              <a:gd name="adj1" fmla="val 35596"/>
              <a:gd name="adj2" fmla="val 124258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Deciding which of the many available good practices you’ll emphasize</a:t>
            </a:r>
            <a:endParaRPr lang="en-US" sz="24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18">
            <a:extLst>
              <a:ext uri="{FF2B5EF4-FFF2-40B4-BE49-F238E27FC236}">
                <a16:creationId xmlns:a16="http://schemas.microsoft.com/office/drawing/2014/main" id="{27768E08-C49F-6717-5D0F-7CD01CC48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25344" y="4472879"/>
            <a:ext cx="151447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6022C6AC-917C-BADC-78BA-AFAA942392D3}"/>
              </a:ext>
            </a:extLst>
          </p:cNvPr>
          <p:cNvSpPr/>
          <p:nvPr/>
        </p:nvSpPr>
        <p:spPr>
          <a:xfrm>
            <a:off x="533400" y="3429000"/>
            <a:ext cx="5568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Major construction practices: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A2D730-87E7-724B-6BBC-523F6C518338}"/>
              </a:ext>
            </a:extLst>
          </p:cNvPr>
          <p:cNvSpPr/>
          <p:nvPr/>
        </p:nvSpPr>
        <p:spPr>
          <a:xfrm>
            <a:off x="914400" y="4114800"/>
            <a:ext cx="621172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b="1" dirty="0"/>
              <a:t>Coding.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b="1" dirty="0"/>
              <a:t>Team work.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b="1" dirty="0"/>
              <a:t>Quality assurance.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b="1" dirty="0"/>
              <a:t>Tools.</a:t>
            </a:r>
          </a:p>
        </p:txBody>
      </p:sp>
    </p:spTree>
    <p:extLst>
      <p:ext uri="{BB962C8B-B14F-4D97-AF65-F5344CB8AC3E}">
        <p14:creationId xmlns:p14="http://schemas.microsoft.com/office/powerpoint/2010/main" val="411919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4- Selection of Major Construction Practices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15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36916C9-FE05-F512-6C5A-650165785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0680" y="1064243"/>
            <a:ext cx="6477000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57298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4- Selection of Major Construction Practices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16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535A49E-9B2B-51B0-1336-8130E1890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0192" y="1069006"/>
            <a:ext cx="6657975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74949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Summary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17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4AB9D57-E2D2-05A4-FB74-2D09A4413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944" y="1197593"/>
            <a:ext cx="7010400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40129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Reading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18</a:t>
            </a:fld>
            <a:endParaRPr lang="en-US" sz="70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A656E32-1156-FEA0-19B6-F14CFAE5A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6120" y="1400727"/>
            <a:ext cx="8496839" cy="3429000"/>
          </a:xfrm>
        </p:spPr>
        <p:txBody>
          <a:bodyPr/>
          <a:lstStyle/>
          <a:p>
            <a:pPr marL="548640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17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Chapter 4</a:t>
            </a:r>
          </a:p>
          <a:p>
            <a:pPr marL="533400" lvl="1" indent="-533400" eaLnBrk="1" hangingPunct="1">
              <a:lnSpc>
                <a:spcPct val="115000"/>
              </a:lnSpc>
              <a:spcBef>
                <a:spcPct val="40000"/>
              </a:spcBef>
              <a:buClr>
                <a:srgbClr val="0BD0D9"/>
              </a:buClr>
              <a:buSzPct val="95000"/>
              <a:buFont typeface="Wingdings 2" pitchFamily="18" charset="2"/>
              <a:buNone/>
              <a:defRPr/>
            </a:pPr>
            <a:endParaRPr lang="en-NZ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A4C1AEE-513E-5F44-2B1B-675D0D4D3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7167" y="2186758"/>
            <a:ext cx="41719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55685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19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91684B4F51014982BED21342ACE24F" ma:contentTypeVersion="12" ma:contentTypeDescription="Create a new document." ma:contentTypeScope="" ma:versionID="a6d97c19bf0848d1afa7cfd1ece83864">
  <xsd:schema xmlns:xsd="http://www.w3.org/2001/XMLSchema" xmlns:xs="http://www.w3.org/2001/XMLSchema" xmlns:p="http://schemas.microsoft.com/office/2006/metadata/properties" xmlns:ns2="d55b910c-306d-4260-bef9-52053e20f3ad" xmlns:ns3="9c7ea19a-b04b-43f3-b15e-cde561b15e5b" targetNamespace="http://schemas.microsoft.com/office/2006/metadata/properties" ma:root="true" ma:fieldsID="c0bbd26d2dc288229e6760ed0810afc6" ns2:_="" ns3:_="">
    <xsd:import namespace="d55b910c-306d-4260-bef9-52053e20f3ad"/>
    <xsd:import namespace="9c7ea19a-b04b-43f3-b15e-cde561b15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5b910c-306d-4260-bef9-52053e20f3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ea19a-b04b-43f3-b15e-cde561b15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2E0C92-AC64-42CA-94F8-4CA15E127DA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198D305-912F-4EDA-B366-83F8180D3B01}">
  <ds:schemaRefs>
    <ds:schemaRef ds:uri="9c7ea19a-b04b-43f3-b15e-cde561b15e5b"/>
    <ds:schemaRef ds:uri="d55b910c-306d-4260-bef9-52053e20f3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1190</TotalTime>
  <Words>245</Words>
  <Application>Microsoft Office PowerPoint</Application>
  <PresentationFormat>On-screen Show (4:3)</PresentationFormat>
  <Paragraphs>73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Arial</vt:lpstr>
      <vt:lpstr>Calibri</vt:lpstr>
      <vt:lpstr>Calibri Light</vt:lpstr>
      <vt:lpstr>Eurostile</vt:lpstr>
      <vt:lpstr>Times New Roman</vt:lpstr>
      <vt:lpstr>Wingdings</vt:lpstr>
      <vt:lpstr>Wingdings 2</vt:lpstr>
      <vt:lpstr>Wingdings 3</vt:lpstr>
      <vt:lpstr>Theme CPIT 110</vt:lpstr>
      <vt:lpstr>Custom Design</vt:lpstr>
      <vt:lpstr>Chapter  2.1 Creating High-Quality Code</vt:lpstr>
      <vt:lpstr>PowerPoint Presentation</vt:lpstr>
      <vt:lpstr>Outline</vt:lpstr>
      <vt:lpstr>Key Construction Decisions</vt:lpstr>
      <vt:lpstr>1- Choice of Programming Language</vt:lpstr>
      <vt:lpstr>1- Choice of Programming Language</vt:lpstr>
      <vt:lpstr>1- Choice of Programming Language</vt:lpstr>
      <vt:lpstr>1- Choice of Programming Language</vt:lpstr>
      <vt:lpstr>1- Choice of Programming Language</vt:lpstr>
      <vt:lpstr>1- Choice of Programming Language</vt:lpstr>
      <vt:lpstr>2- Programming Conventions</vt:lpstr>
      <vt:lpstr>3- Your Location on the Technology Wave </vt:lpstr>
      <vt:lpstr>3- Your Location on the Technology Wave </vt:lpstr>
      <vt:lpstr>4- Selection of Major Construction Practices</vt:lpstr>
      <vt:lpstr>4- Selection of Major Construction Practices</vt:lpstr>
      <vt:lpstr>4- Selection of Major Construction Practices</vt:lpstr>
      <vt:lpstr>Summary</vt:lpstr>
      <vt:lpstr>Reading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24</cp:revision>
  <dcterms:created xsi:type="dcterms:W3CDTF">2019-06-07T16:06:41Z</dcterms:created>
  <dcterms:modified xsi:type="dcterms:W3CDTF">2023-09-09T19:49:50Z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0x0101007D91684B4F51014982BED21342ACE24F</vt:lpwstr>
  </property>
</Properties>
</file>