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 id="2147483757" r:id="rId5"/>
  </p:sldMasterIdLst>
  <p:notesMasterIdLst>
    <p:notesMasterId r:id="rId23"/>
  </p:notesMasterIdLst>
  <p:sldIdLst>
    <p:sldId id="330" r:id="rId6"/>
    <p:sldId id="419" r:id="rId7"/>
    <p:sldId id="420" r:id="rId8"/>
    <p:sldId id="421" r:id="rId9"/>
    <p:sldId id="415" r:id="rId10"/>
    <p:sldId id="465" r:id="rId11"/>
    <p:sldId id="466" r:id="rId12"/>
    <p:sldId id="467" r:id="rId13"/>
    <p:sldId id="468" r:id="rId14"/>
    <p:sldId id="469" r:id="rId15"/>
    <p:sldId id="477" r:id="rId16"/>
    <p:sldId id="478" r:id="rId17"/>
    <p:sldId id="479" r:id="rId18"/>
    <p:sldId id="480" r:id="rId19"/>
    <p:sldId id="481" r:id="rId20"/>
    <p:sldId id="476" r:id="rId21"/>
    <p:sldId id="413"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id="{EB54229A-E673-4F50-937B-310B31E2AF04}">
          <p14:sldIdLst>
            <p14:sldId id="330"/>
            <p14:sldId id="419"/>
            <p14:sldId id="420"/>
            <p14:sldId id="421"/>
            <p14:sldId id="415"/>
            <p14:sldId id="465"/>
            <p14:sldId id="466"/>
            <p14:sldId id="467"/>
            <p14:sldId id="468"/>
            <p14:sldId id="469"/>
            <p14:sldId id="477"/>
            <p14:sldId id="478"/>
            <p14:sldId id="479"/>
            <p14:sldId id="480"/>
            <p14:sldId id="481"/>
            <p14:sldId id="476"/>
            <p14:sldId id="4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CDEA"/>
    <a:srgbClr val="0A4B67"/>
    <a:srgbClr val="88A6B1"/>
    <a:srgbClr val="565351"/>
    <a:srgbClr val="767270"/>
    <a:srgbClr val="FFFFD1"/>
    <a:srgbClr val="6E96A2"/>
    <a:srgbClr val="6B9F25"/>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75" autoAdjust="0"/>
    <p:restoredTop sz="94698"/>
  </p:normalViewPr>
  <p:slideViewPr>
    <p:cSldViewPr snapToGrid="0">
      <p:cViewPr varScale="1">
        <p:scale>
          <a:sx n="105" d="100"/>
          <a:sy n="105" d="100"/>
        </p:scale>
        <p:origin x="1644" y="108"/>
      </p:cViewPr>
      <p:guideLst/>
    </p:cSldViewPr>
  </p:slideViewPr>
  <p:notesTextViewPr>
    <p:cViewPr>
      <p:scale>
        <a:sx n="1" d="1"/>
        <a:sy n="1" d="1"/>
      </p:scale>
      <p:origin x="0" y="-126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Dakhilallah Mohammad Alahmadi" userId="S::04100753@uj.edu.sa::9b436a58-7297-423f-8410-66c59c69358a" providerId="AD" clId="Web-{7826AF2A-1F3D-08A5-4552-A8A8C6A2ADF5}"/>
    <pc:docChg chg="delSld modSection">
      <pc:chgData name="Mohammad Dakhilallah Mohammad Alahmadi" userId="S::04100753@uj.edu.sa::9b436a58-7297-423f-8410-66c59c69358a" providerId="AD" clId="Web-{7826AF2A-1F3D-08A5-4552-A8A8C6A2ADF5}" dt="2023-08-25T12:16:26.670" v="0"/>
      <pc:docMkLst>
        <pc:docMk/>
      </pc:docMkLst>
      <pc:sldChg chg="del">
        <pc:chgData name="Mohammad Dakhilallah Mohammad Alahmadi" userId="S::04100753@uj.edu.sa::9b436a58-7297-423f-8410-66c59c69358a" providerId="AD" clId="Web-{7826AF2A-1F3D-08A5-4552-A8A8C6A2ADF5}" dt="2023-08-25T12:16:26.670" v="0"/>
        <pc:sldMkLst>
          <pc:docMk/>
          <pc:sldMk cId="2586610191" sldId="423"/>
        </pc:sldMkLst>
      </pc:sldChg>
    </pc:docChg>
  </pc:docChgLst>
  <pc:docChgLst>
    <pc:chgData name="Mohammad Dakhilallah Mohammad Alahmadi" userId="9b436a58-7297-423f-8410-66c59c69358a" providerId="ADAL" clId="{1FFC0E93-E0EB-40E4-9DE3-4CE1E9D3F8AC}"/>
    <pc:docChg chg="undo custSel modSld">
      <pc:chgData name="Mohammad Dakhilallah Mohammad Alahmadi" userId="9b436a58-7297-423f-8410-66c59c69358a" providerId="ADAL" clId="{1FFC0E93-E0EB-40E4-9DE3-4CE1E9D3F8AC}" dt="2023-10-01T14:08:42.295" v="38" actId="5793"/>
      <pc:docMkLst>
        <pc:docMk/>
      </pc:docMkLst>
      <pc:sldChg chg="modSp mod">
        <pc:chgData name="Mohammad Dakhilallah Mohammad Alahmadi" userId="9b436a58-7297-423f-8410-66c59c69358a" providerId="ADAL" clId="{1FFC0E93-E0EB-40E4-9DE3-4CE1E9D3F8AC}" dt="2023-10-01T14:01:32.208" v="5" actId="5793"/>
        <pc:sldMkLst>
          <pc:docMk/>
          <pc:sldMk cId="268952856" sldId="465"/>
        </pc:sldMkLst>
        <pc:spChg chg="mod">
          <ac:chgData name="Mohammad Dakhilallah Mohammad Alahmadi" userId="9b436a58-7297-423f-8410-66c59c69358a" providerId="ADAL" clId="{1FFC0E93-E0EB-40E4-9DE3-4CE1E9D3F8AC}" dt="2023-10-01T14:01:32.208" v="5" actId="5793"/>
          <ac:spMkLst>
            <pc:docMk/>
            <pc:sldMk cId="268952856" sldId="465"/>
            <ac:spMk id="2" creationId="{A94492C1-9DBF-8ACD-CDF4-73A986D0E706}"/>
          </ac:spMkLst>
        </pc:spChg>
      </pc:sldChg>
      <pc:sldChg chg="modSp mod">
        <pc:chgData name="Mohammad Dakhilallah Mohammad Alahmadi" userId="9b436a58-7297-423f-8410-66c59c69358a" providerId="ADAL" clId="{1FFC0E93-E0EB-40E4-9DE3-4CE1E9D3F8AC}" dt="2023-10-01T14:02:40.600" v="10" actId="1076"/>
        <pc:sldMkLst>
          <pc:docMk/>
          <pc:sldMk cId="381756412" sldId="467"/>
        </pc:sldMkLst>
        <pc:spChg chg="mod">
          <ac:chgData name="Mohammad Dakhilallah Mohammad Alahmadi" userId="9b436a58-7297-423f-8410-66c59c69358a" providerId="ADAL" clId="{1FFC0E93-E0EB-40E4-9DE3-4CE1E9D3F8AC}" dt="2023-10-01T14:02:37.541" v="9" actId="5793"/>
          <ac:spMkLst>
            <pc:docMk/>
            <pc:sldMk cId="381756412" sldId="467"/>
            <ac:spMk id="3" creationId="{D3C442CF-53A2-0392-90A3-6725147F45D1}"/>
          </ac:spMkLst>
        </pc:spChg>
        <pc:picChg chg="mod">
          <ac:chgData name="Mohammad Dakhilallah Mohammad Alahmadi" userId="9b436a58-7297-423f-8410-66c59c69358a" providerId="ADAL" clId="{1FFC0E93-E0EB-40E4-9DE3-4CE1E9D3F8AC}" dt="2023-10-01T14:02:40.600" v="10" actId="1076"/>
          <ac:picMkLst>
            <pc:docMk/>
            <pc:sldMk cId="381756412" sldId="467"/>
            <ac:picMk id="4" creationId="{5B964A20-4FC8-4569-2E53-0FEDAB64FF11}"/>
          </ac:picMkLst>
        </pc:picChg>
      </pc:sldChg>
      <pc:sldChg chg="modSp mod">
        <pc:chgData name="Mohammad Dakhilallah Mohammad Alahmadi" userId="9b436a58-7297-423f-8410-66c59c69358a" providerId="ADAL" clId="{1FFC0E93-E0EB-40E4-9DE3-4CE1E9D3F8AC}" dt="2023-10-01T14:02:59.332" v="14" actId="5793"/>
        <pc:sldMkLst>
          <pc:docMk/>
          <pc:sldMk cId="4288430029" sldId="468"/>
        </pc:sldMkLst>
        <pc:spChg chg="mod">
          <ac:chgData name="Mohammad Dakhilallah Mohammad Alahmadi" userId="9b436a58-7297-423f-8410-66c59c69358a" providerId="ADAL" clId="{1FFC0E93-E0EB-40E4-9DE3-4CE1E9D3F8AC}" dt="2023-10-01T14:02:59.332" v="14" actId="5793"/>
          <ac:spMkLst>
            <pc:docMk/>
            <pc:sldMk cId="4288430029" sldId="468"/>
            <ac:spMk id="3" creationId="{7477EBB7-D419-B507-3185-EB329609344E}"/>
          </ac:spMkLst>
        </pc:spChg>
      </pc:sldChg>
      <pc:sldChg chg="modSp mod">
        <pc:chgData name="Mohammad Dakhilallah Mohammad Alahmadi" userId="9b436a58-7297-423f-8410-66c59c69358a" providerId="ADAL" clId="{1FFC0E93-E0EB-40E4-9DE3-4CE1E9D3F8AC}" dt="2023-10-01T14:04:17.655" v="18" actId="5793"/>
        <pc:sldMkLst>
          <pc:docMk/>
          <pc:sldMk cId="3564204740" sldId="478"/>
        </pc:sldMkLst>
        <pc:spChg chg="mod">
          <ac:chgData name="Mohammad Dakhilallah Mohammad Alahmadi" userId="9b436a58-7297-423f-8410-66c59c69358a" providerId="ADAL" clId="{1FFC0E93-E0EB-40E4-9DE3-4CE1E9D3F8AC}" dt="2023-10-01T14:04:17.655" v="18" actId="5793"/>
          <ac:spMkLst>
            <pc:docMk/>
            <pc:sldMk cId="3564204740" sldId="478"/>
            <ac:spMk id="11" creationId="{7ADE0687-7681-7E09-6786-A3B140EC02D9}"/>
          </ac:spMkLst>
        </pc:spChg>
      </pc:sldChg>
      <pc:sldChg chg="modSp mod">
        <pc:chgData name="Mohammad Dakhilallah Mohammad Alahmadi" userId="9b436a58-7297-423f-8410-66c59c69358a" providerId="ADAL" clId="{1FFC0E93-E0EB-40E4-9DE3-4CE1E9D3F8AC}" dt="2023-10-01T14:04:44.421" v="30" actId="20577"/>
        <pc:sldMkLst>
          <pc:docMk/>
          <pc:sldMk cId="2235681136" sldId="479"/>
        </pc:sldMkLst>
        <pc:spChg chg="mod">
          <ac:chgData name="Mohammad Dakhilallah Mohammad Alahmadi" userId="9b436a58-7297-423f-8410-66c59c69358a" providerId="ADAL" clId="{1FFC0E93-E0EB-40E4-9DE3-4CE1E9D3F8AC}" dt="2023-10-01T14:04:44.421" v="30" actId="20577"/>
          <ac:spMkLst>
            <pc:docMk/>
            <pc:sldMk cId="2235681136" sldId="479"/>
            <ac:spMk id="11" creationId="{7ADE0687-7681-7E09-6786-A3B140EC02D9}"/>
          </ac:spMkLst>
        </pc:spChg>
        <pc:picChg chg="mod">
          <ac:chgData name="Mohammad Dakhilallah Mohammad Alahmadi" userId="9b436a58-7297-423f-8410-66c59c69358a" providerId="ADAL" clId="{1FFC0E93-E0EB-40E4-9DE3-4CE1E9D3F8AC}" dt="2023-10-01T14:04:37.401" v="24" actId="1076"/>
          <ac:picMkLst>
            <pc:docMk/>
            <pc:sldMk cId="2235681136" sldId="479"/>
            <ac:picMk id="2" creationId="{E32F7F65-E99D-FFB6-6075-8E8AFA1C9DE4}"/>
          </ac:picMkLst>
        </pc:picChg>
      </pc:sldChg>
      <pc:sldChg chg="modSp mod modNotesTx">
        <pc:chgData name="Mohammad Dakhilallah Mohammad Alahmadi" userId="9b436a58-7297-423f-8410-66c59c69358a" providerId="ADAL" clId="{1FFC0E93-E0EB-40E4-9DE3-4CE1E9D3F8AC}" dt="2023-10-01T14:06:40.059" v="34" actId="20577"/>
        <pc:sldMkLst>
          <pc:docMk/>
          <pc:sldMk cId="12798721" sldId="480"/>
        </pc:sldMkLst>
        <pc:spChg chg="mod">
          <ac:chgData name="Mohammad Dakhilallah Mohammad Alahmadi" userId="9b436a58-7297-423f-8410-66c59c69358a" providerId="ADAL" clId="{1FFC0E93-E0EB-40E4-9DE3-4CE1E9D3F8AC}" dt="2023-10-01T14:05:13.726" v="32" actId="5793"/>
          <ac:spMkLst>
            <pc:docMk/>
            <pc:sldMk cId="12798721" sldId="480"/>
            <ac:spMk id="11" creationId="{7ADE0687-7681-7E09-6786-A3B140EC02D9}"/>
          </ac:spMkLst>
        </pc:spChg>
      </pc:sldChg>
      <pc:sldChg chg="modNotesTx">
        <pc:chgData name="Mohammad Dakhilallah Mohammad Alahmadi" userId="9b436a58-7297-423f-8410-66c59c69358a" providerId="ADAL" clId="{1FFC0E93-E0EB-40E4-9DE3-4CE1E9D3F8AC}" dt="2023-10-01T14:08:42.295" v="38" actId="5793"/>
        <pc:sldMkLst>
          <pc:docMk/>
          <pc:sldMk cId="823374558" sldId="481"/>
        </pc:sldMkLst>
      </pc:sldChg>
    </pc:docChg>
  </pc:docChgLst>
  <pc:docChgLst>
    <pc:chgData clId="Web-{7826AF2A-1F3D-08A5-4552-A8A8C6A2ADF5}"/>
    <pc:docChg chg="delSld modSection">
      <pc:chgData name="" userId="" providerId="" clId="Web-{7826AF2A-1F3D-08A5-4552-A8A8C6A2ADF5}" dt="2023-08-25T12:16:16.013" v="1"/>
      <pc:docMkLst>
        <pc:docMk/>
      </pc:docMkLst>
      <pc:sldChg chg="del">
        <pc:chgData name="" userId="" providerId="" clId="Web-{7826AF2A-1F3D-08A5-4552-A8A8C6A2ADF5}" dt="2023-08-25T12:16:16.013" v="1"/>
        <pc:sldMkLst>
          <pc:docMk/>
          <pc:sldMk cId="0" sldId="333"/>
        </pc:sldMkLst>
      </pc:sldChg>
      <pc:sldChg chg="del">
        <pc:chgData name="" userId="" providerId="" clId="Web-{7826AF2A-1F3D-08A5-4552-A8A8C6A2ADF5}" dt="2023-08-25T12:16:16.013" v="0"/>
        <pc:sldMkLst>
          <pc:docMk/>
          <pc:sldMk cId="1076553011" sldId="41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8B844-FEB7-40E9-8905-10D1181F788D}" type="datetimeFigureOut">
              <a:rPr lang="en-US" smtClean="0"/>
              <a:t>10/1/2023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48F4A1-044F-45DC-A6AA-9EC3247C362C}" type="slidenum">
              <a:rPr lang="en-US" smtClean="0"/>
              <a:t>‹#›</a:t>
            </a:fld>
            <a:endParaRPr lang="en-US"/>
          </a:p>
        </p:txBody>
      </p:sp>
    </p:spTree>
    <p:extLst>
      <p:ext uri="{BB962C8B-B14F-4D97-AF65-F5344CB8AC3E}">
        <p14:creationId xmlns:p14="http://schemas.microsoft.com/office/powerpoint/2010/main" val="299014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C9B6E0E-3217-4A19-A07B-3D01EE03876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3" name="Rectangle 3">
            <a:extLst>
              <a:ext uri="{FF2B5EF4-FFF2-40B4-BE49-F238E27FC236}">
                <a16:creationId xmlns:a16="http://schemas.microsoft.com/office/drawing/2014/main" id="{1FDB8EE8-7C53-490C-9686-35338E0B09C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Last Update: 22/8/2019</a:t>
            </a:r>
          </a:p>
          <a:p>
            <a:r>
              <a:rPr lang="en-US" altLang="en-US"/>
              <a:t>Version 1.0</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E95D3"/>
                </a:solidFill>
                <a:effectLst/>
                <a:latin typeface="Söhne Mono"/>
              </a:rPr>
              <a:t>for</a:t>
            </a:r>
            <a:r>
              <a:rPr lang="en-US" b="0" i="0" dirty="0">
                <a:solidFill>
                  <a:srgbClr val="FFFFFF"/>
                </a:solidFill>
                <a:effectLst/>
                <a:latin typeface="Söhne Mono"/>
              </a:rPr>
              <a:t> </a:t>
            </a:r>
            <a:r>
              <a:rPr lang="en-US" b="0" i="0" dirty="0" err="1">
                <a:solidFill>
                  <a:srgbClr val="FFFFFF"/>
                </a:solidFill>
                <a:effectLst/>
                <a:latin typeface="Söhne Mono"/>
              </a:rPr>
              <a:t>i</a:t>
            </a:r>
            <a:r>
              <a:rPr lang="en-US" b="0" i="0" dirty="0">
                <a:solidFill>
                  <a:srgbClr val="FFFFFF"/>
                </a:solidFill>
                <a:effectLst/>
                <a:latin typeface="Söhne Mono"/>
              </a:rPr>
              <a:t> </a:t>
            </a:r>
            <a:r>
              <a:rPr lang="en-US" b="0" i="0" dirty="0">
                <a:solidFill>
                  <a:srgbClr val="2E95D3"/>
                </a:solidFill>
                <a:effectLst/>
                <a:latin typeface="Söhne Mono"/>
              </a:rPr>
              <a:t>in</a:t>
            </a:r>
            <a:r>
              <a:rPr lang="en-US" b="0" i="0" dirty="0">
                <a:solidFill>
                  <a:srgbClr val="FFFFFF"/>
                </a:solidFill>
                <a:effectLst/>
                <a:latin typeface="Söhne Mono"/>
              </a:rPr>
              <a:t> </a:t>
            </a:r>
            <a:r>
              <a:rPr lang="en-US" b="0" i="0" dirty="0">
                <a:solidFill>
                  <a:srgbClr val="E9950C"/>
                </a:solidFill>
                <a:effectLst/>
                <a:latin typeface="Söhne Mono"/>
              </a:rPr>
              <a:t>range</a:t>
            </a:r>
            <a:r>
              <a:rPr lang="en-US" b="0" i="0" dirty="0">
                <a:solidFill>
                  <a:srgbClr val="FFFFFF"/>
                </a:solidFill>
                <a:effectLst/>
                <a:latin typeface="Söhne Mono"/>
              </a:rPr>
              <a:t>(</a:t>
            </a:r>
            <a:r>
              <a:rPr lang="en-US" b="0" i="0" dirty="0">
                <a:solidFill>
                  <a:srgbClr val="DF3079"/>
                </a:solidFill>
                <a:effectLst/>
                <a:latin typeface="Söhne Mono"/>
              </a:rPr>
              <a:t>5</a:t>
            </a:r>
            <a:r>
              <a:rPr lang="en-US" b="0" i="0" dirty="0">
                <a:solidFill>
                  <a:srgbClr val="FFFFFF"/>
                </a:solidFill>
                <a:effectLst/>
                <a:latin typeface="Söhne Mono"/>
              </a:rPr>
              <a:t>):</a:t>
            </a:r>
          </a:p>
          <a:p>
            <a:r>
              <a:rPr lang="en-US" b="0" i="0" dirty="0">
                <a:solidFill>
                  <a:srgbClr val="FFFFFF"/>
                </a:solidFill>
                <a:effectLst/>
                <a:latin typeface="Söhne Mono"/>
              </a:rPr>
              <a:t> </a:t>
            </a:r>
            <a:r>
              <a:rPr lang="en-US" b="0" i="0" dirty="0">
                <a:solidFill>
                  <a:srgbClr val="E9950C"/>
                </a:solidFill>
                <a:effectLst/>
                <a:latin typeface="Söhne Mono"/>
              </a:rPr>
              <a:t>sum</a:t>
            </a:r>
            <a:r>
              <a:rPr lang="en-US" b="0" i="0" dirty="0">
                <a:solidFill>
                  <a:srgbClr val="FFFFFF"/>
                </a:solidFill>
                <a:effectLst/>
                <a:latin typeface="Söhne Mono"/>
              </a:rPr>
              <a:t> = </a:t>
            </a:r>
            <a:r>
              <a:rPr lang="en-US" b="0" i="0" dirty="0">
                <a:solidFill>
                  <a:srgbClr val="DF3079"/>
                </a:solidFill>
                <a:effectLst/>
                <a:latin typeface="Söhne Mono"/>
              </a:rPr>
              <a:t>0</a:t>
            </a:r>
            <a:r>
              <a:rPr lang="en-US" b="0" i="0" dirty="0">
                <a:solidFill>
                  <a:srgbClr val="FFFFFF"/>
                </a:solidFill>
                <a:effectLst/>
                <a:latin typeface="Söhne Mono"/>
              </a:rPr>
              <a:t> </a:t>
            </a:r>
            <a:r>
              <a:rPr lang="en-US" b="0" i="0" dirty="0">
                <a:effectLst/>
                <a:latin typeface="Söhne Mono"/>
              </a:rPr>
              <a:t># reinitializing sum for each iteration</a:t>
            </a:r>
            <a:r>
              <a:rPr lang="en-US" b="0" i="0" dirty="0">
                <a:solidFill>
                  <a:srgbClr val="FFFFFF"/>
                </a:solidFill>
                <a:effectLst/>
                <a:latin typeface="Söhne Mono"/>
              </a:rPr>
              <a:t> </a:t>
            </a:r>
            <a:r>
              <a:rPr lang="en-US" b="0" i="0" dirty="0">
                <a:effectLst/>
                <a:latin typeface="Söhne Mono"/>
              </a:rPr>
              <a:t># ... some operations that modify sum ..</a:t>
            </a:r>
            <a:endParaRPr lang="en-US" dirty="0"/>
          </a:p>
        </p:txBody>
      </p:sp>
      <p:sp>
        <p:nvSpPr>
          <p:cNvPr id="4" name="Slide Number Placeholder 3"/>
          <p:cNvSpPr>
            <a:spLocks noGrp="1"/>
          </p:cNvSpPr>
          <p:nvPr>
            <p:ph type="sldNum" sz="quarter" idx="5"/>
          </p:nvPr>
        </p:nvSpPr>
        <p:spPr/>
        <p:txBody>
          <a:bodyPr/>
          <a:lstStyle/>
          <a:p>
            <a:fld id="{8248F4A1-044F-45DC-A6AA-9EC3247C362C}" type="slidenum">
              <a:rPr lang="en-US" smtClean="0"/>
              <a:t>14</a:t>
            </a:fld>
            <a:endParaRPr lang="en-US"/>
          </a:p>
        </p:txBody>
      </p:sp>
    </p:spTree>
    <p:extLst>
      <p:ext uri="{BB962C8B-B14F-4D97-AF65-F5344CB8AC3E}">
        <p14:creationId xmlns:p14="http://schemas.microsoft.com/office/powerpoint/2010/main" val="3817702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374151"/>
                </a:solidFill>
                <a:effectLst/>
                <a:latin typeface="Söhne"/>
              </a:rPr>
              <a:t>Use the Compiler Setting that Automatically Initializes All Variables</a:t>
            </a:r>
            <a:r>
              <a:rPr lang="en-US" b="0" i="0" dirty="0">
                <a:solidFill>
                  <a:srgbClr val="374151"/>
                </a:solidFill>
                <a:effectLst/>
                <a:latin typeface="Söhne"/>
              </a:rPr>
              <a:t>:</a:t>
            </a:r>
          </a:p>
          <a:p>
            <a:pPr marL="742950" lvl="1" indent="-285750" algn="l">
              <a:buFont typeface="+mj-lt"/>
              <a:buAutoNum type="arabicPeriod"/>
            </a:pPr>
            <a:r>
              <a:rPr lang="en-US" b="0" i="0" dirty="0">
                <a:solidFill>
                  <a:srgbClr val="374151"/>
                </a:solidFill>
                <a:effectLst/>
                <a:latin typeface="Söhne"/>
              </a:rPr>
              <a:t>Many modern compilers offer settings or flags that automatically initialize variables to default values. This can prevent unintended behavior from uninitialized variables.</a:t>
            </a:r>
          </a:p>
          <a:p>
            <a:pPr marL="742950" lvl="1" indent="-285750" algn="l">
              <a:buFont typeface="+mj-lt"/>
              <a:buAutoNum type="arabicPeriod"/>
            </a:pPr>
            <a:r>
              <a:rPr lang="en-US" b="0" i="0" dirty="0">
                <a:solidFill>
                  <a:srgbClr val="374151"/>
                </a:solidFill>
                <a:effectLst/>
                <a:latin typeface="Söhne"/>
              </a:rPr>
              <a:t>For example, in some C/C++ compilers, you can use flags like -Wall to enable all warnings, which might include warnings about uninitialized variables.</a:t>
            </a:r>
          </a:p>
          <a:p>
            <a:pPr algn="l">
              <a:buFont typeface="+mj-lt"/>
              <a:buAutoNum type="arabicPeriod"/>
            </a:pPr>
            <a:r>
              <a:rPr lang="en-US" b="1" i="0" dirty="0">
                <a:solidFill>
                  <a:srgbClr val="374151"/>
                </a:solidFill>
                <a:effectLst/>
                <a:latin typeface="Söhne"/>
              </a:rPr>
              <a:t>Take Advantage of Your Compiler’s Warning Messages</a:t>
            </a:r>
            <a:r>
              <a:rPr lang="en-US" b="0" i="0" dirty="0">
                <a:solidFill>
                  <a:srgbClr val="374151"/>
                </a:solidFill>
                <a:effectLst/>
                <a:latin typeface="Söhne"/>
              </a:rPr>
              <a:t>:</a:t>
            </a:r>
          </a:p>
          <a:p>
            <a:pPr marL="742950" lvl="1" indent="-285750" algn="l">
              <a:buFont typeface="+mj-lt"/>
              <a:buAutoNum type="arabicPeriod"/>
            </a:pPr>
            <a:r>
              <a:rPr lang="en-US" b="0" i="0" dirty="0">
                <a:solidFill>
                  <a:srgbClr val="374151"/>
                </a:solidFill>
                <a:effectLst/>
                <a:latin typeface="Söhne"/>
              </a:rPr>
              <a:t>Compiler warnings provide valuable feedback about potential issues in your code. While these issues might not always lead to errors, they can indicate bad practices or potential pitfalls.</a:t>
            </a:r>
          </a:p>
          <a:p>
            <a:pPr marL="742950" lvl="1" indent="-285750" algn="l">
              <a:buFont typeface="+mj-lt"/>
              <a:buAutoNum type="arabicPeriod"/>
            </a:pPr>
            <a:r>
              <a:rPr lang="en-US" b="0" i="0" dirty="0">
                <a:solidFill>
                  <a:srgbClr val="374151"/>
                </a:solidFill>
                <a:effectLst/>
                <a:latin typeface="Söhne"/>
              </a:rPr>
              <a:t>Always aim to compile code with zero warnings. Treat warnings as potential errors.</a:t>
            </a:r>
          </a:p>
          <a:p>
            <a:pPr algn="l">
              <a:buFont typeface="+mj-lt"/>
              <a:buAutoNum type="arabicPeriod"/>
            </a:pPr>
            <a:r>
              <a:rPr lang="en-US" b="1" i="0" dirty="0">
                <a:solidFill>
                  <a:srgbClr val="374151"/>
                </a:solidFill>
                <a:effectLst/>
                <a:latin typeface="Söhne"/>
              </a:rPr>
              <a:t>Check Input Parameters for Validity</a:t>
            </a:r>
            <a:r>
              <a:rPr lang="en-US" b="0" i="0" dirty="0">
                <a:solidFill>
                  <a:srgbClr val="374151"/>
                </a:solidFill>
                <a:effectLst/>
                <a:latin typeface="Söhne"/>
              </a:rPr>
              <a:t>:</a:t>
            </a:r>
          </a:p>
          <a:p>
            <a:pPr marL="742950" lvl="1" indent="-285750" algn="l">
              <a:buFont typeface="+mj-lt"/>
              <a:buAutoNum type="arabicPeriod"/>
            </a:pPr>
            <a:r>
              <a:rPr lang="en-US" b="0" i="0" dirty="0">
                <a:solidFill>
                  <a:srgbClr val="374151"/>
                </a:solidFill>
                <a:effectLst/>
                <a:latin typeface="Söhne"/>
              </a:rPr>
              <a:t>Before processing input parameters in a function or method, validate them. Ensure they are within expected ranges or formats.</a:t>
            </a:r>
          </a:p>
          <a:p>
            <a:pPr marL="742950" lvl="1" indent="-285750" algn="l">
              <a:buFont typeface="+mj-lt"/>
              <a:buAutoNum type="arabicPeriod"/>
            </a:pPr>
            <a:r>
              <a:rPr lang="en-US" b="0" i="0">
                <a:solidFill>
                  <a:srgbClr val="374151"/>
                </a:solidFill>
                <a:effectLst/>
                <a:latin typeface="Söhne"/>
              </a:rPr>
              <a:t>This can prevent unexpected behavior, especially when dealing with external inputs that you don't have control over.</a:t>
            </a:r>
          </a:p>
          <a:p>
            <a:pPr algn="l">
              <a:buFont typeface="+mj-lt"/>
              <a:buNone/>
            </a:pPr>
            <a:endParaRPr lang="en-US" b="1" i="0">
              <a:solidFill>
                <a:srgbClr val="374151"/>
              </a:solidFill>
              <a:effectLst/>
              <a:latin typeface="Söhne"/>
            </a:endParaRPr>
          </a:p>
          <a:p>
            <a:pPr algn="l">
              <a:buFont typeface="+mj-lt"/>
              <a:buAutoNum type="arabicPeriod"/>
            </a:pPr>
            <a:r>
              <a:rPr lang="en-US" b="1" i="0" dirty="0">
                <a:solidFill>
                  <a:srgbClr val="374151"/>
                </a:solidFill>
                <a:effectLst/>
                <a:latin typeface="Söhne"/>
              </a:rPr>
              <a:t>Use a Memory-Access Checker to Check for Bad Pointers</a:t>
            </a:r>
            <a:r>
              <a:rPr lang="en-US" b="0" i="0" dirty="0">
                <a:solidFill>
                  <a:srgbClr val="374151"/>
                </a:solidFill>
                <a:effectLst/>
                <a:latin typeface="Söhne"/>
              </a:rPr>
              <a:t>:</a:t>
            </a:r>
          </a:p>
          <a:p>
            <a:pPr marL="742950" lvl="1" indent="-285750" algn="l">
              <a:buFont typeface="+mj-lt"/>
              <a:buAutoNum type="arabicPeriod"/>
            </a:pPr>
            <a:r>
              <a:rPr lang="en-US" b="0" i="0" dirty="0">
                <a:solidFill>
                  <a:srgbClr val="374151"/>
                </a:solidFill>
                <a:effectLst/>
                <a:latin typeface="Söhne"/>
              </a:rPr>
              <a:t>Tools like </a:t>
            </a:r>
            <a:r>
              <a:rPr lang="en-US" b="0" i="0" dirty="0" err="1">
                <a:solidFill>
                  <a:srgbClr val="374151"/>
                </a:solidFill>
                <a:effectLst/>
                <a:latin typeface="Söhne"/>
              </a:rPr>
              <a:t>Valgrind</a:t>
            </a:r>
            <a:r>
              <a:rPr lang="en-US" b="0" i="0" dirty="0">
                <a:solidFill>
                  <a:srgbClr val="374151"/>
                </a:solidFill>
                <a:effectLst/>
                <a:latin typeface="Söhne"/>
              </a:rPr>
              <a:t> (for C/C++) can help detect memory leaks, invalid memory access, and other memory-related issues.</a:t>
            </a:r>
          </a:p>
          <a:p>
            <a:pPr marL="742950" lvl="1" indent="-285750" algn="l">
              <a:buFont typeface="+mj-lt"/>
              <a:buAutoNum type="arabicPeriod"/>
            </a:pPr>
            <a:r>
              <a:rPr lang="en-US" b="0" i="0" dirty="0">
                <a:solidFill>
                  <a:srgbClr val="374151"/>
                </a:solidFill>
                <a:effectLst/>
                <a:latin typeface="Söhne"/>
              </a:rPr>
              <a:t>These tools are invaluable for languages that allow direct memory manipulation, as they can catch issues that are often hard to diagnose.</a:t>
            </a:r>
          </a:p>
          <a:p>
            <a:pPr algn="l">
              <a:buFont typeface="+mj-lt"/>
              <a:buAutoNum type="arabicPeriod"/>
            </a:pPr>
            <a:r>
              <a:rPr lang="en-US" b="1" i="0" dirty="0">
                <a:solidFill>
                  <a:srgbClr val="374151"/>
                </a:solidFill>
                <a:effectLst/>
                <a:latin typeface="Söhne"/>
              </a:rPr>
              <a:t>Initialize Working Memory at the Beginning of Your Program</a:t>
            </a:r>
            <a:r>
              <a:rPr lang="en-US" b="0" i="0" dirty="0">
                <a:solidFill>
                  <a:srgbClr val="374151"/>
                </a:solidFill>
                <a:effectLst/>
                <a:latin typeface="Söhne"/>
              </a:rPr>
              <a:t>:</a:t>
            </a:r>
          </a:p>
          <a:p>
            <a:pPr marL="742950" lvl="1" indent="-285750" algn="l">
              <a:buFont typeface="+mj-lt"/>
              <a:buAutoNum type="arabicPeriod"/>
            </a:pPr>
            <a:r>
              <a:rPr lang="en-US" b="0" i="0" dirty="0">
                <a:solidFill>
                  <a:srgbClr val="374151"/>
                </a:solidFill>
                <a:effectLst/>
                <a:latin typeface="Söhne"/>
              </a:rPr>
              <a:t>Before using any memory (like arrays or buffers), initialize it to a known state. This can prevent issues arising from stale or garbage values.</a:t>
            </a:r>
          </a:p>
          <a:p>
            <a:pPr marL="742950" lvl="1" indent="-285750" algn="l">
              <a:buFont typeface="+mj-lt"/>
              <a:buAutoNum type="arabicPeriod"/>
            </a:pPr>
            <a:r>
              <a:rPr lang="en-US" b="0" i="0" dirty="0">
                <a:solidFill>
                  <a:srgbClr val="374151"/>
                </a:solidFill>
                <a:effectLst/>
                <a:latin typeface="Söhne"/>
              </a:rPr>
              <a:t>For instance, in C/C++, you can use functions like </a:t>
            </a:r>
            <a:r>
              <a:rPr lang="en-US" b="0" i="0" dirty="0" err="1">
                <a:solidFill>
                  <a:srgbClr val="374151"/>
                </a:solidFill>
                <a:effectLst/>
                <a:latin typeface="Söhne"/>
              </a:rPr>
              <a:t>memset</a:t>
            </a:r>
            <a:r>
              <a:rPr lang="en-US" b="0" i="0" dirty="0">
                <a:solidFill>
                  <a:srgbClr val="374151"/>
                </a:solidFill>
                <a:effectLst/>
                <a:latin typeface="Söhne"/>
              </a:rPr>
              <a:t> to set all bytes of a block of memory to a specific value.</a:t>
            </a:r>
          </a:p>
          <a:p>
            <a:endParaRPr lang="en-US" dirty="0"/>
          </a:p>
        </p:txBody>
      </p:sp>
      <p:sp>
        <p:nvSpPr>
          <p:cNvPr id="4" name="Slide Number Placeholder 3"/>
          <p:cNvSpPr>
            <a:spLocks noGrp="1"/>
          </p:cNvSpPr>
          <p:nvPr>
            <p:ph type="sldNum" sz="quarter" idx="5"/>
          </p:nvPr>
        </p:nvSpPr>
        <p:spPr/>
        <p:txBody>
          <a:bodyPr/>
          <a:lstStyle/>
          <a:p>
            <a:fld id="{8248F4A1-044F-45DC-A6AA-9EC3247C362C}" type="slidenum">
              <a:rPr lang="en-US" smtClean="0"/>
              <a:t>15</a:t>
            </a:fld>
            <a:endParaRPr lang="en-US"/>
          </a:p>
        </p:txBody>
      </p:sp>
    </p:spTree>
    <p:extLst>
      <p:ext uri="{BB962C8B-B14F-4D97-AF65-F5344CB8AC3E}">
        <p14:creationId xmlns:p14="http://schemas.microsoft.com/office/powerpoint/2010/main" val="2878020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740" y="3183624"/>
            <a:ext cx="8380520" cy="1922733"/>
          </a:xfrm>
        </p:spPr>
        <p:txBody>
          <a:bodyPr anchor="b">
            <a:normAutofit/>
          </a:bodyPr>
          <a:lstStyle>
            <a:lvl1pPr algn="l">
              <a:lnSpc>
                <a:spcPct val="85000"/>
              </a:lnSpc>
              <a:defRPr sz="48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hasCustomPrompt="1"/>
          </p:nvPr>
        </p:nvSpPr>
        <p:spPr>
          <a:xfrm>
            <a:off x="381740" y="5236867"/>
            <a:ext cx="8380520" cy="1143000"/>
          </a:xfrm>
        </p:spPr>
        <p:txBody>
          <a:bodyPr lIns="91440" rIns="91440">
            <a:normAutofit/>
          </a:bodyPr>
          <a:lstStyle>
            <a:lvl1pPr marL="0" indent="0" algn="l">
              <a:buNone/>
              <a:defRPr sz="2400" cap="none"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a:xfrm>
            <a:off x="822961" y="6646272"/>
            <a:ext cx="1854203" cy="187517"/>
          </a:xfrm>
        </p:spPr>
        <p:txBody>
          <a:bodyPr/>
          <a:lstStyle/>
          <a:p>
            <a:fld id="{03C5C922-B9DD-9745-A816-802923AFBE71}" type="datetime1">
              <a:rPr lang="en-US" smtClean="0"/>
              <a:t>10/1/2023</a:t>
            </a:fld>
            <a:endParaRPr lang="en-US"/>
          </a:p>
        </p:txBody>
      </p:sp>
      <p:sp>
        <p:nvSpPr>
          <p:cNvPr id="5" name="Footer Placeholder 4"/>
          <p:cNvSpPr>
            <a:spLocks noGrp="1"/>
          </p:cNvSpPr>
          <p:nvPr>
            <p:ph type="ftr" sz="quarter" idx="11"/>
          </p:nvPr>
        </p:nvSpPr>
        <p:spPr>
          <a:xfrm>
            <a:off x="2764639" y="6646272"/>
            <a:ext cx="3617103" cy="187517"/>
          </a:xfrm>
        </p:spPr>
        <p:txBody>
          <a:bodyPr/>
          <a:lstStyle>
            <a:lvl1pPr>
              <a:defRPr cap="none"/>
            </a:lvl1pPr>
          </a:lstStyle>
          <a:p>
            <a:endParaRPr lang="en-US"/>
          </a:p>
        </p:txBody>
      </p:sp>
      <p:sp>
        <p:nvSpPr>
          <p:cNvPr id="6" name="Slide Number Placeholder 5"/>
          <p:cNvSpPr>
            <a:spLocks noGrp="1"/>
          </p:cNvSpPr>
          <p:nvPr>
            <p:ph type="sldNum" sz="quarter" idx="12"/>
          </p:nvPr>
        </p:nvSpPr>
        <p:spPr>
          <a:xfrm>
            <a:off x="7425344" y="6646272"/>
            <a:ext cx="984019" cy="187517"/>
          </a:xfrm>
        </p:spPr>
        <p:txBody>
          <a:bodyPr/>
          <a:lstStyle>
            <a:lvl1pPr>
              <a:defRPr b="1">
                <a:solidFill>
                  <a:schemeClr val="bg1"/>
                </a:solidFill>
              </a:defRPr>
            </a:lvl1pPr>
          </a:lstStyle>
          <a:p>
            <a:fld id="{9C8A9BBF-D171-497A-B4A2-0767A13C4597}" type="slidenum">
              <a:rPr lang="en-US" smtClean="0"/>
              <a:pPr/>
              <a:t>‹#›</a:t>
            </a:fld>
            <a:endParaRPr lang="en-US"/>
          </a:p>
        </p:txBody>
      </p:sp>
      <p:cxnSp>
        <p:nvCxnSpPr>
          <p:cNvPr id="9" name="Straight Connector 8"/>
          <p:cNvCxnSpPr>
            <a:cxnSpLocks/>
          </p:cNvCxnSpPr>
          <p:nvPr/>
        </p:nvCxnSpPr>
        <p:spPr>
          <a:xfrm flipV="1">
            <a:off x="381740" y="5106357"/>
            <a:ext cx="8380520" cy="18289"/>
          </a:xfrm>
          <a:prstGeom prst="line">
            <a:avLst/>
          </a:prstGeom>
          <a:ln w="38100">
            <a:solidFill>
              <a:srgbClr val="84CDEA"/>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11AE1EE2-4846-41F9-AC6B-D9834B0B3586}"/>
              </a:ext>
            </a:extLst>
          </p:cNvPr>
          <p:cNvCxnSpPr>
            <a:cxnSpLocks/>
          </p:cNvCxnSpPr>
          <p:nvPr/>
        </p:nvCxnSpPr>
        <p:spPr>
          <a:xfrm flipV="1">
            <a:off x="9129643" y="1"/>
            <a:ext cx="12147" cy="687476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11AE4F96-0037-4F43-91BD-25588C022845}"/>
              </a:ext>
            </a:extLst>
          </p:cNvPr>
          <p:cNvSpPr/>
          <p:nvPr userDrawn="1"/>
        </p:nvSpPr>
        <p:spPr>
          <a:xfrm>
            <a:off x="-14359" y="6646273"/>
            <a:ext cx="9144000" cy="237744"/>
          </a:xfrm>
          <a:prstGeom prst="rect">
            <a:avLst/>
          </a:prstGeom>
          <a:solidFill>
            <a:srgbClr val="0A4B67"/>
          </a:solidFill>
          <a:ln>
            <a:solidFill>
              <a:srgbClr val="0A4B67"/>
            </a:solid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BF5B4F-FC83-4FAA-82F0-2510D3F32F49}"/>
              </a:ext>
            </a:extLst>
          </p:cNvPr>
          <p:cNvSpPr/>
          <p:nvPr userDrawn="1"/>
        </p:nvSpPr>
        <p:spPr>
          <a:xfrm>
            <a:off x="-26504" y="6546958"/>
            <a:ext cx="9144001" cy="103220"/>
          </a:xfrm>
          <a:prstGeom prst="rect">
            <a:avLst/>
          </a:prstGeom>
          <a:solidFill>
            <a:srgbClr val="84CDEA"/>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cxnSp>
        <p:nvCxnSpPr>
          <p:cNvPr id="18" name="Straight Connector 17">
            <a:extLst>
              <a:ext uri="{FF2B5EF4-FFF2-40B4-BE49-F238E27FC236}">
                <a16:creationId xmlns:a16="http://schemas.microsoft.com/office/drawing/2014/main" id="{5F0B8816-EFF8-4E7C-AEC1-987D4EE648F1}"/>
              </a:ext>
            </a:extLst>
          </p:cNvPr>
          <p:cNvCxnSpPr>
            <a:cxnSpLocks/>
          </p:cNvCxnSpPr>
          <p:nvPr userDrawn="1"/>
        </p:nvCxnSpPr>
        <p:spPr>
          <a:xfrm flipH="1" flipV="1">
            <a:off x="-5932" y="0"/>
            <a:ext cx="3809" cy="685799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2B5B64A5-A6D5-4050-BAC4-E246829DF430}"/>
              </a:ext>
            </a:extLst>
          </p:cNvPr>
          <p:cNvCxnSpPr>
            <a:cxnSpLocks/>
          </p:cNvCxnSpPr>
          <p:nvPr userDrawn="1"/>
        </p:nvCxnSpPr>
        <p:spPr>
          <a:xfrm flipV="1">
            <a:off x="-32436" y="8261"/>
            <a:ext cx="9235440" cy="1"/>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pic>
        <p:nvPicPr>
          <p:cNvPr id="31" name="Picture 30" descr="Logo&#10;&#10;Description automatically generated">
            <a:extLst>
              <a:ext uri="{FF2B5EF4-FFF2-40B4-BE49-F238E27FC236}">
                <a16:creationId xmlns:a16="http://schemas.microsoft.com/office/drawing/2014/main" id="{370668AB-6B94-4243-A6A5-4EDC87C8B508}"/>
              </a:ext>
            </a:extLst>
          </p:cNvPr>
          <p:cNvPicPr>
            <a:picLocks noChangeAspect="1"/>
          </p:cNvPicPr>
          <p:nvPr userDrawn="1"/>
        </p:nvPicPr>
        <p:blipFill>
          <a:blip r:embed="rId3"/>
          <a:stretch>
            <a:fillRect/>
          </a:stretch>
        </p:blipFill>
        <p:spPr>
          <a:xfrm>
            <a:off x="3004824" y="46971"/>
            <a:ext cx="3278818" cy="2319734"/>
          </a:xfrm>
          <a:prstGeom prst="rect">
            <a:avLst/>
          </a:prstGeom>
        </p:spPr>
      </p:pic>
      <p:sp>
        <p:nvSpPr>
          <p:cNvPr id="32" name="TextBox 31">
            <a:extLst>
              <a:ext uri="{FF2B5EF4-FFF2-40B4-BE49-F238E27FC236}">
                <a16:creationId xmlns:a16="http://schemas.microsoft.com/office/drawing/2014/main" id="{A723C23A-9829-0C47-85AC-FD590BD245D5}"/>
              </a:ext>
            </a:extLst>
          </p:cNvPr>
          <p:cNvSpPr txBox="1"/>
          <p:nvPr userDrawn="1"/>
        </p:nvSpPr>
        <p:spPr>
          <a:xfrm>
            <a:off x="185737" y="852895"/>
            <a:ext cx="3278818" cy="707886"/>
          </a:xfrm>
          <a:prstGeom prst="rect">
            <a:avLst/>
          </a:prstGeom>
          <a:noFill/>
        </p:spPr>
        <p:txBody>
          <a:bodyPr wrap="square" rtlCol="0">
            <a:spAutoFit/>
          </a:bodyPr>
          <a:lstStyle/>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COLLAGE OF COMPUTER</a:t>
            </a:r>
          </a:p>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 SCIENCE &amp; ENGINEERING </a:t>
            </a:r>
          </a:p>
        </p:txBody>
      </p:sp>
      <p:cxnSp>
        <p:nvCxnSpPr>
          <p:cNvPr id="33" name="Straight Connector 32">
            <a:extLst>
              <a:ext uri="{FF2B5EF4-FFF2-40B4-BE49-F238E27FC236}">
                <a16:creationId xmlns:a16="http://schemas.microsoft.com/office/drawing/2014/main" id="{322341BA-F8B4-5440-8DF5-89AF9CF24FED}"/>
              </a:ext>
            </a:extLst>
          </p:cNvPr>
          <p:cNvCxnSpPr>
            <a:cxnSpLocks/>
          </p:cNvCxnSpPr>
          <p:nvPr userDrawn="1"/>
        </p:nvCxnSpPr>
        <p:spPr>
          <a:xfrm flipV="1">
            <a:off x="375762" y="1574983"/>
            <a:ext cx="2926080" cy="468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369ACA3-551E-D542-BD71-4881E6644B70}"/>
              </a:ext>
            </a:extLst>
          </p:cNvPr>
          <p:cNvSpPr txBox="1"/>
          <p:nvPr userDrawn="1"/>
        </p:nvSpPr>
        <p:spPr>
          <a:xfrm>
            <a:off x="-785970" y="1579097"/>
            <a:ext cx="5072063" cy="292388"/>
          </a:xfrm>
          <a:prstGeom prst="rect">
            <a:avLst/>
          </a:prstGeom>
          <a:noFill/>
        </p:spPr>
        <p:txBody>
          <a:bodyPr wrap="square" rtlCol="0">
            <a:spAutoFit/>
          </a:bodyPr>
          <a:lstStyle/>
          <a:p>
            <a:pPr marL="0" algn="ctr" defTabSz="914400" rtl="1" eaLnBrk="1" latinLnBrk="0" hangingPunct="1"/>
            <a:r>
              <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UNIVERSITY OF JEDDAH</a:t>
            </a:r>
          </a:p>
        </p:txBody>
      </p:sp>
      <p:sp>
        <p:nvSpPr>
          <p:cNvPr id="35" name="TextBox 34">
            <a:extLst>
              <a:ext uri="{FF2B5EF4-FFF2-40B4-BE49-F238E27FC236}">
                <a16:creationId xmlns:a16="http://schemas.microsoft.com/office/drawing/2014/main" id="{E72639E4-89B5-1D49-B470-747E56896B62}"/>
              </a:ext>
            </a:extLst>
          </p:cNvPr>
          <p:cNvSpPr txBox="1"/>
          <p:nvPr userDrawn="1"/>
        </p:nvSpPr>
        <p:spPr>
          <a:xfrm>
            <a:off x="5679447" y="865829"/>
            <a:ext cx="3278818" cy="707886"/>
          </a:xfrm>
          <a:prstGeom prst="rect">
            <a:avLst/>
          </a:prstGeom>
          <a:noFill/>
        </p:spPr>
        <p:txBody>
          <a:bodyPr wrap="square" rtlCol="0">
            <a:spAutoFit/>
          </a:bodyPr>
          <a:lstStyle/>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كــلـــية عــلــــــــــوم </a:t>
            </a:r>
          </a:p>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و هـنــدســـة الحـــــــاســــب</a:t>
            </a:r>
            <a:endPar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sp>
        <p:nvSpPr>
          <p:cNvPr id="36" name="TextBox 35">
            <a:extLst>
              <a:ext uri="{FF2B5EF4-FFF2-40B4-BE49-F238E27FC236}">
                <a16:creationId xmlns:a16="http://schemas.microsoft.com/office/drawing/2014/main" id="{36F4847C-B76C-6846-8360-9D2AD3FA67B2}"/>
              </a:ext>
            </a:extLst>
          </p:cNvPr>
          <p:cNvSpPr txBox="1"/>
          <p:nvPr userDrawn="1"/>
        </p:nvSpPr>
        <p:spPr>
          <a:xfrm>
            <a:off x="4782824" y="1579097"/>
            <a:ext cx="5072063" cy="292388"/>
          </a:xfrm>
          <a:prstGeom prst="rect">
            <a:avLst/>
          </a:prstGeom>
          <a:noFill/>
        </p:spPr>
        <p:txBody>
          <a:bodyPr wrap="square" rtlCol="0">
            <a:spAutoFit/>
          </a:bodyPr>
          <a:lstStyle/>
          <a:p>
            <a:pPr marL="0" algn="ctr" defTabSz="914400" rtl="1" eaLnBrk="1" latinLnBrk="0" hangingPunct="1"/>
            <a:r>
              <a:rPr lang="ar-SA"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جــــامعـــة جــــــــــــــدة </a:t>
            </a:r>
            <a:endPar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cxnSp>
        <p:nvCxnSpPr>
          <p:cNvPr id="37" name="Straight Connector 36">
            <a:extLst>
              <a:ext uri="{FF2B5EF4-FFF2-40B4-BE49-F238E27FC236}">
                <a16:creationId xmlns:a16="http://schemas.microsoft.com/office/drawing/2014/main" id="{73D420C2-74C6-E448-ABF8-408E3C156421}"/>
              </a:ext>
            </a:extLst>
          </p:cNvPr>
          <p:cNvCxnSpPr>
            <a:cxnSpLocks/>
          </p:cNvCxnSpPr>
          <p:nvPr userDrawn="1"/>
        </p:nvCxnSpPr>
        <p:spPr>
          <a:xfrm>
            <a:off x="5770786" y="1573715"/>
            <a:ext cx="301752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83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428B66AD-B9AD-6E48-A7F8-A3C7D94EDF8F}" type="datetime1">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4CDEA"/>
              </a:buClr>
              <a:defRPr sz="2600">
                <a:solidFill>
                  <a:srgbClr val="565351"/>
                </a:solidFill>
              </a:defRPr>
            </a:lvl1pPr>
            <a:lvl2pPr>
              <a:buClr>
                <a:srgbClr val="565351"/>
              </a:buClr>
              <a:defRPr>
                <a:solidFill>
                  <a:srgbClr val="565351"/>
                </a:solidFill>
              </a:defRPr>
            </a:lvl2pPr>
            <a:lvl3pPr marL="731520" indent="-274320">
              <a:buClr>
                <a:srgbClr val="565351"/>
              </a:buClr>
              <a:buFont typeface="Wingdings" panose="05000000000000000000" pitchFamily="2" charset="2"/>
              <a:buChar char="§"/>
              <a:defRPr sz="2000">
                <a:solidFill>
                  <a:srgbClr val="565351"/>
                </a:solidFill>
              </a:defRPr>
            </a:lvl3pPr>
            <a:lvl4pPr marL="914400" indent="-274320">
              <a:buClr>
                <a:srgbClr val="565351"/>
              </a:buClr>
              <a:buFont typeface="Wingdings" panose="05000000000000000000" pitchFamily="2" charset="2"/>
              <a:buChar char="§"/>
              <a:defRPr sz="2000">
                <a:solidFill>
                  <a:srgbClr val="565351"/>
                </a:solidFill>
              </a:defRPr>
            </a:lvl4pPr>
            <a:lvl5pPr marL="1097280" indent="-274320">
              <a:buClr>
                <a:srgbClr val="565351"/>
              </a:buClr>
              <a:buFont typeface="Wingdings" panose="05000000000000000000" pitchFamily="2" charset="2"/>
              <a:buChar char="§"/>
              <a:defRPr sz="2000">
                <a:solidFill>
                  <a:srgbClr val="56535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4559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BBAECC06-C7D4-1747-9BAC-5ADF6973C413}" type="datetime1">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8A6B1"/>
              </a:buClr>
              <a:defRPr sz="2600">
                <a:solidFill>
                  <a:srgbClr val="88A6B1"/>
                </a:solidFill>
              </a:defRPr>
            </a:lvl1pPr>
            <a:lvl2pPr>
              <a:buClr>
                <a:srgbClr val="88A6B1"/>
              </a:buClr>
              <a:defRPr>
                <a:solidFill>
                  <a:srgbClr val="88A6B1"/>
                </a:solidFill>
              </a:defRPr>
            </a:lvl2pPr>
            <a:lvl3pPr marL="731520" indent="-274320">
              <a:buClr>
                <a:srgbClr val="88A6B1"/>
              </a:buClr>
              <a:buFont typeface="Wingdings" panose="05000000000000000000" pitchFamily="2" charset="2"/>
              <a:buChar char="§"/>
              <a:defRPr sz="2000">
                <a:solidFill>
                  <a:srgbClr val="88A6B1"/>
                </a:solidFill>
              </a:defRPr>
            </a:lvl3pPr>
            <a:lvl4pPr marL="914400" indent="-274320">
              <a:buClr>
                <a:srgbClr val="88A6B1"/>
              </a:buClr>
              <a:buFont typeface="Wingdings" panose="05000000000000000000" pitchFamily="2" charset="2"/>
              <a:buChar char="§"/>
              <a:defRPr sz="2000">
                <a:solidFill>
                  <a:srgbClr val="88A6B1"/>
                </a:solidFill>
              </a:defRPr>
            </a:lvl4pPr>
            <a:lvl5pPr marL="1097280" indent="-274320">
              <a:buClr>
                <a:srgbClr val="88A6B1"/>
              </a:buClr>
              <a:buFont typeface="Wingdings" panose="05000000000000000000" pitchFamily="2" charset="2"/>
              <a:buChar char="§"/>
              <a:defRPr sz="2000">
                <a:solidFill>
                  <a:srgbClr val="88A6B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9183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6C63C-7E12-D040-9BFC-CED05FF7D470}" type="datetime1">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4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p>
        </p:txBody>
      </p:sp>
      <p:sp>
        <p:nvSpPr>
          <p:cNvPr id="3" name="Content Placeholder 2"/>
          <p:cNvSpPr>
            <a:spLocks noGrp="1"/>
          </p:cNvSpPr>
          <p:nvPr>
            <p:ph sz="half" idx="1"/>
          </p:nvPr>
        </p:nvSpPr>
        <p:spPr>
          <a:xfrm>
            <a:off x="822960" y="1845734"/>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3440" y="1845735"/>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987DC-EF00-9844-8C8C-DB85411C810C}" type="datetime1">
              <a:rPr lang="en-US" smtClean="0"/>
              <a:t>10/1/2023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74528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15C23F-C598-3F49-9FE3-6071741BE353}" type="datetime1">
              <a:rPr lang="en-US" smtClean="0"/>
              <a:t>10/1/2023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19233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66BD12-5D01-AB4B-A157-4C071A505070}" type="datetime1">
              <a:rPr lang="en-US" smtClean="0"/>
              <a:t>10/1/2023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9915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D5D1259-9E66-E241-B0DB-D3144AF5C20E}" type="datetime1">
              <a:rPr lang="en-US" smtClean="0"/>
              <a:t>10/1/2023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47562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A59F509-0EC8-5246-80F7-C95CE727AFCC}" type="datetime1">
              <a:rPr lang="en-US" smtClean="0"/>
              <a:t>10/1/2023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924215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rgbClr val="0A4B67"/>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6CBA62D3-B106-3146-B5B5-E66A18E804C2}" type="datetime1">
              <a:rPr lang="en-US" smtClean="0"/>
              <a:t>10/1/2023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C8A9BBF-D171-497A-B4A2-0767A13C4597}" type="slidenum">
              <a:rPr lang="en-US" smtClean="0"/>
              <a:t>‹#›</a:t>
            </a:fld>
            <a:endParaRPr lang="en-US"/>
          </a:p>
        </p:txBody>
      </p:sp>
    </p:spTree>
    <p:extLst>
      <p:ext uri="{BB962C8B-B14F-4D97-AF65-F5344CB8AC3E}">
        <p14:creationId xmlns:p14="http://schemas.microsoft.com/office/powerpoint/2010/main" val="2444531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08B15B-E63B-A741-9DEA-9AA37D2B7DBF}" type="datetime1">
              <a:rPr lang="en-US" smtClean="0"/>
              <a:t>10/1/2023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4142510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89117-AA99-A343-9D72-6FCA37B5BE17}" type="datetime1">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479478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2144E2-60F2-DF46-A244-D7B3522DD83D}" type="datetime1">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38673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5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B5C5D66-23E7-0C4F-8B0A-A1C9C050780A}" type="datetime1">
              <a:rPr lang="en-US" smtClean="0"/>
              <a:t>10/1/2023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spTree>
    <p:extLst>
      <p:ext uri="{BB962C8B-B14F-4D97-AF65-F5344CB8AC3E}">
        <p14:creationId xmlns:p14="http://schemas.microsoft.com/office/powerpoint/2010/main" val="3543591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87DCCB30-1A6D-2E42-BCC5-3E80F21AA084}" type="datetime1">
              <a:rPr lang="en-US" smtClean="0"/>
              <a:t>10/1/2023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
        <p:nvSpPr>
          <p:cNvPr id="10" name="Text Placeholder 2">
            <a:extLst>
              <a:ext uri="{FF2B5EF4-FFF2-40B4-BE49-F238E27FC236}">
                <a16:creationId xmlns:a16="http://schemas.microsoft.com/office/drawing/2014/main" id="{6187854B-FEC4-4BF8-A3DE-39B0F5014508}"/>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buClr>
              <a:buFont typeface="Wingdings" panose="05000000000000000000" pitchFamily="2" charset="2"/>
              <a:buChar char="§"/>
              <a:defRPr sz="3200">
                <a:solidFill>
                  <a:schemeClr val="tx2"/>
                </a:solidFill>
                <a:latin typeface="+mj-lt"/>
              </a:defRPr>
            </a:lvl1pPr>
            <a:lvl2pPr marL="548640" indent="-274320">
              <a:buClr>
                <a:schemeClr val="accent2"/>
              </a:buClr>
              <a:buFont typeface="Wingdings" panose="05000000000000000000" pitchFamily="2" charset="2"/>
              <a:buChar char="§"/>
              <a:defRPr sz="2800">
                <a:solidFill>
                  <a:schemeClr val="tx2"/>
                </a:solidFill>
                <a:latin typeface="+mj-lt"/>
              </a:defRPr>
            </a:lvl2pPr>
            <a:lvl3pPr marL="731520" indent="-274320">
              <a:buClr>
                <a:schemeClr val="accent2"/>
              </a:buClr>
              <a:buFont typeface="Wingdings" panose="05000000000000000000" pitchFamily="2" charset="2"/>
              <a:buChar char="§"/>
              <a:defRPr sz="2000">
                <a:solidFill>
                  <a:schemeClr val="tx2"/>
                </a:solidFill>
                <a:latin typeface="+mj-lt"/>
              </a:defRPr>
            </a:lvl3pPr>
            <a:lvl4pPr marL="914400" indent="-274320">
              <a:buClr>
                <a:schemeClr val="accent2"/>
              </a:buClr>
              <a:buFont typeface="Wingdings" panose="05000000000000000000" pitchFamily="2" charset="2"/>
              <a:buChar char="§"/>
              <a:defRPr sz="2000">
                <a:solidFill>
                  <a:schemeClr val="tx2"/>
                </a:solidFill>
                <a:latin typeface="+mj-lt"/>
              </a:defRPr>
            </a:lvl4pPr>
            <a:lvl5pPr marL="1097280" indent="-274320">
              <a:buClr>
                <a:schemeClr val="accent2"/>
              </a:buClr>
              <a:buFont typeface="Wingdings" panose="05000000000000000000" pitchFamily="2" charset="2"/>
              <a:buChar char="§"/>
              <a:defRPr sz="2000">
                <a:solidFill>
                  <a:schemeClr val="tx2"/>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0302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9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E28DCBF6-F73E-B844-90B5-BA38F3F93D1B}" type="datetime1">
              <a:rPr lang="en-US" smtClean="0"/>
              <a:t>10/1/2023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E83D2542-5A33-4E2C-863D-145C35640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Tree>
    <p:extLst>
      <p:ext uri="{BB962C8B-B14F-4D97-AF65-F5344CB8AC3E}">
        <p14:creationId xmlns:p14="http://schemas.microsoft.com/office/powerpoint/2010/main" val="3417299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E5CE842-8249-8A43-8E1B-D93301EA5234}" type="datetime1">
              <a:rPr lang="en-US" smtClean="0"/>
              <a:t>10/1/2023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29EAA3A6-8930-4E04-BD7A-70348C3D39E6}"/>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9835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6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4AD75E8-E6D9-3E42-B3C2-280D09D847BE}" type="datetime1">
              <a:rPr lang="en-US" smtClean="0"/>
              <a:t>10/1/2023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92FE125C-DA19-42DA-8C07-FA8039F51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744223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9107F6D-1FE4-8A49-840F-5919ACFA3FD0}" type="datetime1">
              <a:rPr lang="en-US" smtClean="0"/>
              <a:t>10/1/2023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98729288-CC54-4647-B966-CF553EF13B92}"/>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83427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7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78A0CE7-1A78-B749-A181-0CB124262D26}" type="datetime1">
              <a:rPr lang="en-US" smtClean="0"/>
              <a:t>10/1/2023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39FF6332-602A-4C2A-BD1E-7565ECDF5B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1812436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a:t>Click to edit Master title style</a:t>
            </a:r>
          </a:p>
        </p:txBody>
      </p:sp>
      <p:sp>
        <p:nvSpPr>
          <p:cNvPr id="4" name="Date Placeholder 3"/>
          <p:cNvSpPr>
            <a:spLocks noGrp="1"/>
          </p:cNvSpPr>
          <p:nvPr>
            <p:ph type="dt" sz="half" idx="10"/>
          </p:nvPr>
        </p:nvSpPr>
        <p:spPr/>
        <p:txBody>
          <a:bodyPr/>
          <a:lstStyle/>
          <a:p>
            <a:fld id="{D78EB7BC-403A-8A44-A663-FD167E87AE44}" type="datetime1">
              <a:rPr lang="en-US" smtClean="0"/>
              <a:t>10/1/2023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066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5E94D-AB62-E84E-A49C-DD6A8F51C491}"/>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6548DE-348F-0D44-8485-97F299E5886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E26162-1B8D-B748-8A10-BD7FD12FEF3C}"/>
              </a:ext>
            </a:extLst>
          </p:cNvPr>
          <p:cNvSpPr>
            <a:spLocks noGrp="1"/>
          </p:cNvSpPr>
          <p:nvPr>
            <p:ph type="dt" sz="half" idx="10"/>
          </p:nvPr>
        </p:nvSpPr>
        <p:spPr/>
        <p:txBody>
          <a:bodyPr/>
          <a:lstStyle/>
          <a:p>
            <a:fld id="{82D7B2BE-DDF3-6D43-A226-4CE36737DFF8}" type="datetime1">
              <a:rPr lang="en-US" smtClean="0"/>
              <a:t>10/1/2023</a:t>
            </a:fld>
            <a:endParaRPr lang="en-US"/>
          </a:p>
        </p:txBody>
      </p:sp>
      <p:sp>
        <p:nvSpPr>
          <p:cNvPr id="5" name="Footer Placeholder 4">
            <a:extLst>
              <a:ext uri="{FF2B5EF4-FFF2-40B4-BE49-F238E27FC236}">
                <a16:creationId xmlns:a16="http://schemas.microsoft.com/office/drawing/2014/main" id="{976D9D1D-9864-8648-83E4-1D8B62B21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507A0-C8CD-5445-9AEE-B23C377C4F0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1757908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B906-B07C-7D41-AC4D-750B959C9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DD5779-8D81-7849-8E67-83ECBF60F3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AA4F1-7B19-0240-B7F8-1BDF7D6347D9}"/>
              </a:ext>
            </a:extLst>
          </p:cNvPr>
          <p:cNvSpPr>
            <a:spLocks noGrp="1"/>
          </p:cNvSpPr>
          <p:nvPr>
            <p:ph type="dt" sz="half" idx="10"/>
          </p:nvPr>
        </p:nvSpPr>
        <p:spPr/>
        <p:txBody>
          <a:bodyPr/>
          <a:lstStyle/>
          <a:p>
            <a:fld id="{DB27A88B-F2DD-3743-8F57-25E5E92043B0}" type="datetime1">
              <a:rPr lang="en-US" smtClean="0"/>
              <a:t>10/1/2023</a:t>
            </a:fld>
            <a:endParaRPr lang="en-US"/>
          </a:p>
        </p:txBody>
      </p:sp>
      <p:sp>
        <p:nvSpPr>
          <p:cNvPr id="5" name="Footer Placeholder 4">
            <a:extLst>
              <a:ext uri="{FF2B5EF4-FFF2-40B4-BE49-F238E27FC236}">
                <a16:creationId xmlns:a16="http://schemas.microsoft.com/office/drawing/2014/main" id="{E5414F5D-4D50-5A4A-91C9-B5B4F1451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2065B-EF6D-5B4A-8E62-EAFF67B71788}"/>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200125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E47D-172F-034A-8698-73581C856F4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3A576A-13DD-034D-9029-CC506C79F0F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14F2D7-B746-2842-8F52-519E07CFBA07}"/>
              </a:ext>
            </a:extLst>
          </p:cNvPr>
          <p:cNvSpPr>
            <a:spLocks noGrp="1"/>
          </p:cNvSpPr>
          <p:nvPr>
            <p:ph type="dt" sz="half" idx="10"/>
          </p:nvPr>
        </p:nvSpPr>
        <p:spPr/>
        <p:txBody>
          <a:bodyPr/>
          <a:lstStyle/>
          <a:p>
            <a:fld id="{AEDA15C4-E8CB-C04F-BC65-CB0837703214}" type="datetime1">
              <a:rPr lang="en-US" smtClean="0"/>
              <a:t>10/1/2023</a:t>
            </a:fld>
            <a:endParaRPr lang="en-US"/>
          </a:p>
        </p:txBody>
      </p:sp>
      <p:sp>
        <p:nvSpPr>
          <p:cNvPr id="5" name="Footer Placeholder 4">
            <a:extLst>
              <a:ext uri="{FF2B5EF4-FFF2-40B4-BE49-F238E27FC236}">
                <a16:creationId xmlns:a16="http://schemas.microsoft.com/office/drawing/2014/main" id="{EF7E68B1-5017-E64D-9D8C-C1341A22E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262E6-3D1E-2D4B-B7BC-0A7197BAA87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578749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806B-ED8B-CC4E-A51A-6CDCADC964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299E7B-D87E-CA4D-A578-EBDC0C47E881}"/>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F5550-A328-154E-8FA0-3793746FBC49}"/>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74ED10-64BB-9144-9B71-07151AB520AC}"/>
              </a:ext>
            </a:extLst>
          </p:cNvPr>
          <p:cNvSpPr>
            <a:spLocks noGrp="1"/>
          </p:cNvSpPr>
          <p:nvPr>
            <p:ph type="dt" sz="half" idx="10"/>
          </p:nvPr>
        </p:nvSpPr>
        <p:spPr/>
        <p:txBody>
          <a:bodyPr/>
          <a:lstStyle/>
          <a:p>
            <a:fld id="{85089F18-38DA-0947-9593-25D4010703FB}" type="datetime1">
              <a:rPr lang="en-US" smtClean="0"/>
              <a:t>10/1/2023</a:t>
            </a:fld>
            <a:endParaRPr lang="en-US"/>
          </a:p>
        </p:txBody>
      </p:sp>
      <p:sp>
        <p:nvSpPr>
          <p:cNvPr id="6" name="Footer Placeholder 5">
            <a:extLst>
              <a:ext uri="{FF2B5EF4-FFF2-40B4-BE49-F238E27FC236}">
                <a16:creationId xmlns:a16="http://schemas.microsoft.com/office/drawing/2014/main" id="{25A7A753-FB3D-094E-A536-0484A8BE2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AA6079-FE42-C140-9B28-ED67471AE867}"/>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853470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784D0-75F5-CD41-9AEF-CB198A0D97E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7D959F-E739-F542-8EBA-7BBF7E5A363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65DF34-2D6B-454C-BFDA-F81C29E7822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658768-2FB0-D847-83EE-654C76812F8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A27B69-16F8-C048-9335-D0E599CA22E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98362-01EA-604E-BA80-BC012B7FAA68}"/>
              </a:ext>
            </a:extLst>
          </p:cNvPr>
          <p:cNvSpPr>
            <a:spLocks noGrp="1"/>
          </p:cNvSpPr>
          <p:nvPr>
            <p:ph type="dt" sz="half" idx="10"/>
          </p:nvPr>
        </p:nvSpPr>
        <p:spPr/>
        <p:txBody>
          <a:bodyPr/>
          <a:lstStyle/>
          <a:p>
            <a:fld id="{ED9A19EE-DABD-FF45-9B3D-868C2008B2F5}" type="datetime1">
              <a:rPr lang="en-US" smtClean="0"/>
              <a:t>10/1/2023</a:t>
            </a:fld>
            <a:endParaRPr lang="en-US"/>
          </a:p>
        </p:txBody>
      </p:sp>
      <p:sp>
        <p:nvSpPr>
          <p:cNvPr id="8" name="Footer Placeholder 7">
            <a:extLst>
              <a:ext uri="{FF2B5EF4-FFF2-40B4-BE49-F238E27FC236}">
                <a16:creationId xmlns:a16="http://schemas.microsoft.com/office/drawing/2014/main" id="{3D58B9EA-23BB-BD43-AE55-BD94F3A70B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7FEF2B-07B5-9C42-B58D-B5FF51C4990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01209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CC87-431B-E24A-86AB-554B550FA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6090D8-3391-5741-87F5-2BCDB8997B8A}"/>
              </a:ext>
            </a:extLst>
          </p:cNvPr>
          <p:cNvSpPr>
            <a:spLocks noGrp="1"/>
          </p:cNvSpPr>
          <p:nvPr>
            <p:ph type="dt" sz="half" idx="10"/>
          </p:nvPr>
        </p:nvSpPr>
        <p:spPr/>
        <p:txBody>
          <a:bodyPr/>
          <a:lstStyle/>
          <a:p>
            <a:fld id="{E7C58DD7-86D3-9543-A3F5-DCAC5C3EC996}" type="datetime1">
              <a:rPr lang="en-US" smtClean="0"/>
              <a:t>10/1/2023</a:t>
            </a:fld>
            <a:endParaRPr lang="en-US"/>
          </a:p>
        </p:txBody>
      </p:sp>
      <p:sp>
        <p:nvSpPr>
          <p:cNvPr id="4" name="Footer Placeholder 3">
            <a:extLst>
              <a:ext uri="{FF2B5EF4-FFF2-40B4-BE49-F238E27FC236}">
                <a16:creationId xmlns:a16="http://schemas.microsoft.com/office/drawing/2014/main" id="{0B09D265-B6E2-2540-8068-45F6C7B8AD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A30A8C-D91D-2A49-8733-39D5374D66A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940768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29DEDE-71EE-4448-AE52-7A3240E2492C}"/>
              </a:ext>
            </a:extLst>
          </p:cNvPr>
          <p:cNvSpPr>
            <a:spLocks noGrp="1"/>
          </p:cNvSpPr>
          <p:nvPr>
            <p:ph type="dt" sz="half" idx="10"/>
          </p:nvPr>
        </p:nvSpPr>
        <p:spPr/>
        <p:txBody>
          <a:bodyPr/>
          <a:lstStyle/>
          <a:p>
            <a:fld id="{49838251-72EC-7341-947D-39CD70D3F6EE}" type="datetime1">
              <a:rPr lang="en-US" smtClean="0"/>
              <a:t>10/1/2023</a:t>
            </a:fld>
            <a:endParaRPr lang="en-US"/>
          </a:p>
        </p:txBody>
      </p:sp>
      <p:sp>
        <p:nvSpPr>
          <p:cNvPr id="3" name="Footer Placeholder 2">
            <a:extLst>
              <a:ext uri="{FF2B5EF4-FFF2-40B4-BE49-F238E27FC236}">
                <a16:creationId xmlns:a16="http://schemas.microsoft.com/office/drawing/2014/main" id="{421F8A0A-B7DA-2E41-ADC9-3BA00052CA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CDFF72-3DFA-5443-B19A-D882B4A1822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200609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B2A5-8463-0E45-B968-09BB46EEE82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192249-8B24-044B-B428-FDF53269423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15850F-41D2-C244-BE67-588A22885AA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A0BA6-7607-1841-ADE7-A7EE8626370B}"/>
              </a:ext>
            </a:extLst>
          </p:cNvPr>
          <p:cNvSpPr>
            <a:spLocks noGrp="1"/>
          </p:cNvSpPr>
          <p:nvPr>
            <p:ph type="dt" sz="half" idx="10"/>
          </p:nvPr>
        </p:nvSpPr>
        <p:spPr/>
        <p:txBody>
          <a:bodyPr/>
          <a:lstStyle/>
          <a:p>
            <a:fld id="{9B2151BF-94DA-6647-804B-F9A617163AF7}" type="datetime1">
              <a:rPr lang="en-US" smtClean="0"/>
              <a:t>10/1/2023</a:t>
            </a:fld>
            <a:endParaRPr lang="en-US"/>
          </a:p>
        </p:txBody>
      </p:sp>
      <p:sp>
        <p:nvSpPr>
          <p:cNvPr id="6" name="Footer Placeholder 5">
            <a:extLst>
              <a:ext uri="{FF2B5EF4-FFF2-40B4-BE49-F238E27FC236}">
                <a16:creationId xmlns:a16="http://schemas.microsoft.com/office/drawing/2014/main" id="{DFE0F34D-E7B8-8F4E-B279-A9B4F79966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03CD8-B992-1746-AD26-32A76C36211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11640867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28A51-10EF-1E4E-B3AE-97D9690F525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7A29CC-C524-664A-B04C-24A0F0002BD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577383-80F2-974A-95B0-54EE043F0E6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34A7CE-0B2C-F846-AE0D-E9A65F195F76}"/>
              </a:ext>
            </a:extLst>
          </p:cNvPr>
          <p:cNvSpPr>
            <a:spLocks noGrp="1"/>
          </p:cNvSpPr>
          <p:nvPr>
            <p:ph type="dt" sz="half" idx="10"/>
          </p:nvPr>
        </p:nvSpPr>
        <p:spPr/>
        <p:txBody>
          <a:bodyPr/>
          <a:lstStyle/>
          <a:p>
            <a:fld id="{F415CF65-8B95-E947-B306-AD8B9AFCD0C6}" type="datetime1">
              <a:rPr lang="en-US" smtClean="0"/>
              <a:t>10/1/2023</a:t>
            </a:fld>
            <a:endParaRPr lang="en-US"/>
          </a:p>
        </p:txBody>
      </p:sp>
      <p:sp>
        <p:nvSpPr>
          <p:cNvPr id="6" name="Footer Placeholder 5">
            <a:extLst>
              <a:ext uri="{FF2B5EF4-FFF2-40B4-BE49-F238E27FC236}">
                <a16:creationId xmlns:a16="http://schemas.microsoft.com/office/drawing/2014/main" id="{CE700DF7-CAE7-4544-99A8-D2AFF7BCD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F912A-35AA-5340-A6DD-8CF8567AE1D6}"/>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8520032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558E-261E-0D48-AAEC-0159545C57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D54A8B-8EB9-5C42-9CFC-A1CD5690D0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FD7EA-1D89-9B45-8E3B-F3D971FCC324}"/>
              </a:ext>
            </a:extLst>
          </p:cNvPr>
          <p:cNvSpPr>
            <a:spLocks noGrp="1"/>
          </p:cNvSpPr>
          <p:nvPr>
            <p:ph type="dt" sz="half" idx="10"/>
          </p:nvPr>
        </p:nvSpPr>
        <p:spPr/>
        <p:txBody>
          <a:bodyPr/>
          <a:lstStyle/>
          <a:p>
            <a:fld id="{45E326F1-4A6C-904D-BBF5-55A97190C62E}" type="datetime1">
              <a:rPr lang="en-US" smtClean="0"/>
              <a:t>10/1/2023</a:t>
            </a:fld>
            <a:endParaRPr lang="en-US"/>
          </a:p>
        </p:txBody>
      </p:sp>
      <p:sp>
        <p:nvSpPr>
          <p:cNvPr id="5" name="Footer Placeholder 4">
            <a:extLst>
              <a:ext uri="{FF2B5EF4-FFF2-40B4-BE49-F238E27FC236}">
                <a16:creationId xmlns:a16="http://schemas.microsoft.com/office/drawing/2014/main" id="{6702F157-B4BF-0D4E-B227-367844B9F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EC4DCA-8C92-2F4C-A77F-2E1AE3CFFFD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6943632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38E10-25D9-0841-B84C-B3D5BD26BED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76578-CBA7-4146-881E-E79B341102C1}"/>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4126B-1DBB-F445-849E-8DB3041D5DDF}"/>
              </a:ext>
            </a:extLst>
          </p:cNvPr>
          <p:cNvSpPr>
            <a:spLocks noGrp="1"/>
          </p:cNvSpPr>
          <p:nvPr>
            <p:ph type="dt" sz="half" idx="10"/>
          </p:nvPr>
        </p:nvSpPr>
        <p:spPr/>
        <p:txBody>
          <a:bodyPr/>
          <a:lstStyle/>
          <a:p>
            <a:fld id="{5D62DA29-4527-5B4B-81DE-1DA58A1FF0D8}" type="datetime1">
              <a:rPr lang="en-US" smtClean="0"/>
              <a:t>10/1/2023</a:t>
            </a:fld>
            <a:endParaRPr lang="en-US"/>
          </a:p>
        </p:txBody>
      </p:sp>
      <p:sp>
        <p:nvSpPr>
          <p:cNvPr id="5" name="Footer Placeholder 4">
            <a:extLst>
              <a:ext uri="{FF2B5EF4-FFF2-40B4-BE49-F238E27FC236}">
                <a16:creationId xmlns:a16="http://schemas.microsoft.com/office/drawing/2014/main" id="{9330BA6C-D326-CC45-B516-B35C216BC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A96C6D-88A9-424F-B97B-5F788E3BD38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94294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646272"/>
            <a:ext cx="9144001" cy="220605"/>
          </a:xfrm>
          <a:prstGeom prst="rect">
            <a:avLst/>
          </a:prstGeom>
          <a:solidFill>
            <a:srgbClr val="0A4B6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604458"/>
            <a:ext cx="9144001" cy="45719"/>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6304" y="115826"/>
            <a:ext cx="8851392" cy="1292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2961" y="6646272"/>
            <a:ext cx="1854203" cy="187517"/>
          </a:xfrm>
          <a:prstGeom prst="rect">
            <a:avLst/>
          </a:prstGeom>
        </p:spPr>
        <p:txBody>
          <a:bodyPr vert="horz" lIns="91440" tIns="45720" rIns="91440" bIns="45720" rtlCol="0" anchor="ctr"/>
          <a:lstStyle>
            <a:lvl1pPr algn="l">
              <a:defRPr sz="900">
                <a:solidFill>
                  <a:srgbClr val="FFFFFF"/>
                </a:solidFill>
              </a:defRPr>
            </a:lvl1pPr>
          </a:lstStyle>
          <a:p>
            <a:fld id="{5446D974-CBC7-EE4D-B60D-B7706E54EFC8}" type="datetime1">
              <a:rPr lang="en-US" smtClean="0"/>
              <a:t>10/1/2023</a:t>
            </a:fld>
            <a:endParaRPr lang="en-US"/>
          </a:p>
        </p:txBody>
      </p:sp>
      <p:sp>
        <p:nvSpPr>
          <p:cNvPr id="5" name="Footer Placeholder 4"/>
          <p:cNvSpPr>
            <a:spLocks noGrp="1"/>
          </p:cNvSpPr>
          <p:nvPr>
            <p:ph type="ftr" sz="quarter" idx="3"/>
          </p:nvPr>
        </p:nvSpPr>
        <p:spPr>
          <a:xfrm>
            <a:off x="2764639" y="6646272"/>
            <a:ext cx="3617103" cy="187517"/>
          </a:xfrm>
          <a:prstGeom prst="rect">
            <a:avLst/>
          </a:prstGeom>
        </p:spPr>
        <p:txBody>
          <a:bodyPr vert="horz" lIns="91440" tIns="45720" rIns="91440" bIns="45720" rtlCol="0" anchor="ctr"/>
          <a:lstStyle>
            <a:lvl1pPr algn="ctr">
              <a:defRPr sz="800" cap="none"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646272"/>
            <a:ext cx="984019" cy="187517"/>
          </a:xfrm>
          <a:prstGeom prst="rect">
            <a:avLst/>
          </a:prstGeom>
        </p:spPr>
        <p:txBody>
          <a:bodyPr vert="horz" lIns="91440" tIns="45720" rIns="91440" bIns="45720" rtlCol="0" anchor="ctr"/>
          <a:lstStyle>
            <a:lvl1pPr algn="r">
              <a:defRPr sz="1050" b="1">
                <a:solidFill>
                  <a:schemeClr val="bg1"/>
                </a:solidFill>
              </a:defRPr>
            </a:lvl1pPr>
          </a:lstStyle>
          <a:p>
            <a:fld id="{9C8A9BBF-D171-497A-B4A2-0767A13C4597}" type="slidenum">
              <a:rPr lang="en-US" smtClean="0"/>
              <a:pPr/>
              <a:t>‹#›</a:t>
            </a:fld>
            <a:endParaRPr lang="en-US"/>
          </a:p>
        </p:txBody>
      </p:sp>
    </p:spTree>
    <p:extLst>
      <p:ext uri="{BB962C8B-B14F-4D97-AF65-F5344CB8AC3E}">
        <p14:creationId xmlns:p14="http://schemas.microsoft.com/office/powerpoint/2010/main" val="156809917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50" r:id="rId14"/>
    <p:sldLayoutId id="2147483751" r:id="rId15"/>
    <p:sldLayoutId id="2147483752" r:id="rId16"/>
    <p:sldLayoutId id="2147483753" r:id="rId17"/>
    <p:sldLayoutId id="2147483754" r:id="rId18"/>
    <p:sldLayoutId id="2147483755" r:id="rId19"/>
    <p:sldLayoutId id="2147483756" r:id="rId20"/>
    <p:sldLayoutId id="2147483689" r:id="rId21"/>
  </p:sldLayoutIdLst>
  <p:hf hdr="0" ftr="0" dt="0"/>
  <p:txStyles>
    <p:titleStyle>
      <a:lvl1pPr algn="ctr" defTabSz="914400" rtl="0" eaLnBrk="1" latinLnBrk="0" hangingPunct="1">
        <a:lnSpc>
          <a:spcPct val="85000"/>
        </a:lnSpc>
        <a:spcBef>
          <a:spcPct val="0"/>
        </a:spcBef>
        <a:buNone/>
        <a:defRPr sz="4400" b="0" kern="1200" spc="-50" baseline="0">
          <a:solidFill>
            <a:schemeClr val="tx2"/>
          </a:solidFill>
          <a:latin typeface="+mj-lt"/>
          <a:ea typeface="+mj-ea"/>
          <a:cs typeface="+mj-cs"/>
        </a:defRPr>
      </a:lvl1pPr>
    </p:titleStyle>
    <p:bodyStyle>
      <a:lvl1pPr marL="365760" indent="-274320" algn="justLow"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F2B942-B92A-2E45-8EC0-57867F6F01EB}"/>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3A5CF6-438F-FE41-AE0D-B759171B0C6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ADD81B-544C-D244-83E4-4E486AE7EEC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89413-073D-8B47-B309-030A36FC1175}" type="datetime1">
              <a:rPr lang="en-US" smtClean="0"/>
              <a:t>10/1/2023</a:t>
            </a:fld>
            <a:endParaRPr lang="en-US"/>
          </a:p>
        </p:txBody>
      </p:sp>
      <p:sp>
        <p:nvSpPr>
          <p:cNvPr id="5" name="Footer Placeholder 4">
            <a:extLst>
              <a:ext uri="{FF2B5EF4-FFF2-40B4-BE49-F238E27FC236}">
                <a16:creationId xmlns:a16="http://schemas.microsoft.com/office/drawing/2014/main" id="{10E8B353-9F5D-7C4C-9D19-B7C6D6F6A2A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2C5F08-BBA1-684A-BFC9-EF43E5A8A4B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D5DC26-60E4-8E43-A906-D21F61161A83}" type="slidenum">
              <a:rPr lang="en-US" smtClean="0"/>
              <a:t>‹#›</a:t>
            </a:fld>
            <a:endParaRPr lang="en-US"/>
          </a:p>
        </p:txBody>
      </p:sp>
    </p:spTree>
    <p:extLst>
      <p:ext uri="{BB962C8B-B14F-4D97-AF65-F5344CB8AC3E}">
        <p14:creationId xmlns:p14="http://schemas.microsoft.com/office/powerpoint/2010/main" val="240727111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F092033-53A0-4557-BC8C-EDF7C4004F50}"/>
              </a:ext>
            </a:extLst>
          </p:cNvPr>
          <p:cNvSpPr>
            <a:spLocks noGrp="1" noChangeArrowheads="1"/>
          </p:cNvSpPr>
          <p:nvPr>
            <p:ph type="ctrTitle"/>
          </p:nvPr>
        </p:nvSpPr>
        <p:spPr/>
        <p:txBody>
          <a:bodyPr>
            <a:normAutofit/>
          </a:bodyPr>
          <a:lstStyle/>
          <a:p>
            <a:r>
              <a:rPr lang="en-US" altLang="en-US" b="1" dirty="0">
                <a:solidFill>
                  <a:schemeClr val="tx1"/>
                </a:solidFill>
              </a:rPr>
              <a:t>Chapter  3.1</a:t>
            </a:r>
            <a:br>
              <a:rPr lang="en-US" altLang="en-US" b="1" dirty="0">
                <a:solidFill>
                  <a:schemeClr val="tx1"/>
                </a:solidFill>
                <a:cs typeface="Calibri Light"/>
              </a:rPr>
            </a:br>
            <a:r>
              <a:rPr lang="en-US" altLang="en-US" b="1" dirty="0">
                <a:solidFill>
                  <a:schemeClr val="tx1"/>
                </a:solidFill>
              </a:rPr>
              <a:t>High-Quality Variables</a:t>
            </a:r>
            <a:endParaRPr lang="en-US" altLang="en-US" dirty="0">
              <a:solidFill>
                <a:schemeClr val="tx1"/>
              </a:solidFill>
            </a:endParaRPr>
          </a:p>
        </p:txBody>
      </p:sp>
      <p:sp>
        <p:nvSpPr>
          <p:cNvPr id="4099" name="Subtitle 3">
            <a:extLst>
              <a:ext uri="{FF2B5EF4-FFF2-40B4-BE49-F238E27FC236}">
                <a16:creationId xmlns:a16="http://schemas.microsoft.com/office/drawing/2014/main" id="{B6B8808F-B611-4A7E-94DA-CDF020C7794F}"/>
              </a:ext>
            </a:extLst>
          </p:cNvPr>
          <p:cNvSpPr>
            <a:spLocks noGrp="1" noChangeArrowheads="1"/>
          </p:cNvSpPr>
          <p:nvPr>
            <p:ph type="subTitle" idx="1"/>
          </p:nvPr>
        </p:nvSpPr>
        <p:spPr/>
        <p:txBody>
          <a:bodyPr/>
          <a:lstStyle/>
          <a:p>
            <a:r>
              <a:rPr lang="en-US" altLang="en-US" b="1" dirty="0">
                <a:solidFill>
                  <a:srgbClr val="6E96A2"/>
                </a:solidFill>
              </a:rPr>
              <a:t>CCSW 325 (Software Construction)</a:t>
            </a:r>
          </a:p>
        </p:txBody>
      </p:sp>
      <p:sp>
        <p:nvSpPr>
          <p:cNvPr id="4101" name="Rectangle 6">
            <a:extLst>
              <a:ext uri="{FF2B5EF4-FFF2-40B4-BE49-F238E27FC236}">
                <a16:creationId xmlns:a16="http://schemas.microsoft.com/office/drawing/2014/main" id="{AEE57C53-6C77-4FD6-9666-64A46DD2907C}"/>
              </a:ext>
            </a:extLst>
          </p:cNvPr>
          <p:cNvSpPr>
            <a:spLocks noChangeArrowheads="1"/>
          </p:cNvSpPr>
          <p:nvPr/>
        </p:nvSpPr>
        <p:spPr bwMode="auto">
          <a:xfrm>
            <a:off x="3052763" y="2057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2" name="Rectangle 1029">
            <a:extLst>
              <a:ext uri="{FF2B5EF4-FFF2-40B4-BE49-F238E27FC236}">
                <a16:creationId xmlns:a16="http://schemas.microsoft.com/office/drawing/2014/main" id="{94F01EDA-3993-4F5B-8338-A155D71634A5}"/>
              </a:ext>
            </a:extLst>
          </p:cNvPr>
          <p:cNvSpPr>
            <a:spLocks noChangeArrowheads="1"/>
          </p:cNvSpPr>
          <p:nvPr/>
        </p:nvSpPr>
        <p:spPr bwMode="auto">
          <a:xfrm>
            <a:off x="0" y="2405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3" name="Rectangle 1031">
            <a:extLst>
              <a:ext uri="{FF2B5EF4-FFF2-40B4-BE49-F238E27FC236}">
                <a16:creationId xmlns:a16="http://schemas.microsoft.com/office/drawing/2014/main" id="{D4B57B18-3F97-4D1E-AA13-041A7DDAEFC6}"/>
              </a:ext>
            </a:extLst>
          </p:cNvPr>
          <p:cNvSpPr>
            <a:spLocks noChangeArrowheads="1"/>
          </p:cNvSpPr>
          <p:nvPr/>
        </p:nvSpPr>
        <p:spPr bwMode="auto">
          <a:xfrm>
            <a:off x="0" y="2263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 name="Slide Number Placeholder 2">
            <a:extLst>
              <a:ext uri="{FF2B5EF4-FFF2-40B4-BE49-F238E27FC236}">
                <a16:creationId xmlns:a16="http://schemas.microsoft.com/office/drawing/2014/main" id="{089F2176-6175-6A4D-84ED-59A2EE053491}"/>
              </a:ext>
            </a:extLst>
          </p:cNvPr>
          <p:cNvSpPr>
            <a:spLocks noGrp="1"/>
          </p:cNvSpPr>
          <p:nvPr>
            <p:ph type="sldNum" sz="quarter" idx="12"/>
          </p:nvPr>
        </p:nvSpPr>
        <p:spPr/>
        <p:txBody>
          <a:bodyPr/>
          <a:lstStyle/>
          <a:p>
            <a:fld id="{9C8A9BBF-D171-497A-B4A2-0767A13C4597}"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Outline</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2</a:t>
            </a:fld>
            <a:endParaRPr lang="en-US" sz="700"/>
          </a:p>
        </p:txBody>
      </p:sp>
      <p:sp>
        <p:nvSpPr>
          <p:cNvPr id="4" name="Content Placeholder 3">
            <a:extLst>
              <a:ext uri="{FF2B5EF4-FFF2-40B4-BE49-F238E27FC236}">
                <a16:creationId xmlns:a16="http://schemas.microsoft.com/office/drawing/2014/main" id="{13DBD703-CB40-13F3-AF07-698E2629FCEA}"/>
              </a:ext>
            </a:extLst>
          </p:cNvPr>
          <p:cNvSpPr>
            <a:spLocks noGrp="1"/>
          </p:cNvSpPr>
          <p:nvPr>
            <p:ph idx="1"/>
          </p:nvPr>
        </p:nvSpPr>
        <p:spPr>
          <a:xfrm>
            <a:off x="333829" y="1234281"/>
            <a:ext cx="8418285" cy="4389437"/>
          </a:xfrm>
        </p:spPr>
        <p:txBody>
          <a:bodyPr/>
          <a:lstStyle/>
          <a:p>
            <a:r>
              <a:rPr lang="en-GB" altLang="en-US" dirty="0"/>
              <a:t>Variables initialization problems</a:t>
            </a:r>
          </a:p>
          <a:p>
            <a:r>
              <a:rPr lang="en-GB" altLang="en-US" dirty="0"/>
              <a:t>Guidelines for avoiding initialization problems</a:t>
            </a:r>
          </a:p>
        </p:txBody>
      </p:sp>
    </p:spTree>
    <p:extLst>
      <p:ext uri="{BB962C8B-B14F-4D97-AF65-F5344CB8AC3E}">
        <p14:creationId xmlns:p14="http://schemas.microsoft.com/office/powerpoint/2010/main" val="1660404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Variables Initialization problems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3</a:t>
            </a:fld>
            <a:endParaRPr lang="en-US" sz="700"/>
          </a:p>
        </p:txBody>
      </p:sp>
      <p:sp>
        <p:nvSpPr>
          <p:cNvPr id="6" name="Content Placeholder 3">
            <a:extLst>
              <a:ext uri="{FF2B5EF4-FFF2-40B4-BE49-F238E27FC236}">
                <a16:creationId xmlns:a16="http://schemas.microsoft.com/office/drawing/2014/main" id="{DF6CF0B3-DFB2-7A64-F8E0-3C4CFF389A62}"/>
              </a:ext>
            </a:extLst>
          </p:cNvPr>
          <p:cNvSpPr>
            <a:spLocks noGrp="1"/>
          </p:cNvSpPr>
          <p:nvPr>
            <p:ph idx="1"/>
          </p:nvPr>
        </p:nvSpPr>
        <p:spPr>
          <a:xfrm>
            <a:off x="406400" y="1234281"/>
            <a:ext cx="8273143" cy="4389437"/>
          </a:xfrm>
        </p:spPr>
        <p:txBody>
          <a:bodyPr/>
          <a:lstStyle/>
          <a:p>
            <a:r>
              <a:rPr lang="en-GB" altLang="en-US" dirty="0">
                <a:solidFill>
                  <a:schemeClr val="tx1"/>
                </a:solidFill>
              </a:rPr>
              <a:t>The first step in creating effective data is knowing </a:t>
            </a:r>
            <a:r>
              <a:rPr lang="en-GB" altLang="en-US" b="1" dirty="0">
                <a:solidFill>
                  <a:schemeClr val="tx1"/>
                </a:solidFill>
              </a:rPr>
              <a:t>which kind of data to create</a:t>
            </a:r>
            <a:r>
              <a:rPr lang="en-GB" altLang="en-US" dirty="0">
                <a:solidFill>
                  <a:schemeClr val="tx1"/>
                </a:solidFill>
              </a:rPr>
              <a:t>. </a:t>
            </a:r>
          </a:p>
        </p:txBody>
      </p:sp>
      <p:pic>
        <p:nvPicPr>
          <p:cNvPr id="7" name="Picture 2" descr="Java Data Types - Javatpoint">
            <a:extLst>
              <a:ext uri="{FF2B5EF4-FFF2-40B4-BE49-F238E27FC236}">
                <a16:creationId xmlns:a16="http://schemas.microsoft.com/office/drawing/2014/main" id="{2B381E0B-CB87-2176-A941-00B4016257CA}"/>
              </a:ext>
            </a:extLst>
          </p:cNvPr>
          <p:cNvPicPr>
            <a:picLocks noChangeAspect="1" noChangeArrowheads="1"/>
          </p:cNvPicPr>
          <p:nvPr/>
        </p:nvPicPr>
        <p:blipFill>
          <a:blip r:embed="rId2" cstate="print"/>
          <a:srcRect/>
          <a:stretch>
            <a:fillRect/>
          </a:stretch>
        </p:blipFill>
        <p:spPr bwMode="auto">
          <a:xfrm>
            <a:off x="1381125" y="2625033"/>
            <a:ext cx="6381750" cy="3509962"/>
          </a:xfrm>
          <a:prstGeom prst="rect">
            <a:avLst/>
          </a:prstGeom>
          <a:noFill/>
          <a:ln w="9525">
            <a:noFill/>
            <a:miter lim="800000"/>
            <a:headEnd/>
            <a:tailEnd/>
          </a:ln>
        </p:spPr>
      </p:pic>
    </p:spTree>
    <p:extLst>
      <p:ext uri="{BB962C8B-B14F-4D97-AF65-F5344CB8AC3E}">
        <p14:creationId xmlns:p14="http://schemas.microsoft.com/office/powerpoint/2010/main" val="2997704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Variables initialization problems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4</a:t>
            </a:fld>
            <a:endParaRPr lang="en-US" sz="700"/>
          </a:p>
        </p:txBody>
      </p:sp>
      <p:sp>
        <p:nvSpPr>
          <p:cNvPr id="4" name="Content Placeholder 3">
            <a:extLst>
              <a:ext uri="{FF2B5EF4-FFF2-40B4-BE49-F238E27FC236}">
                <a16:creationId xmlns:a16="http://schemas.microsoft.com/office/drawing/2014/main" id="{B863EF77-995A-5937-0A87-4AA33C845047}"/>
              </a:ext>
            </a:extLst>
          </p:cNvPr>
          <p:cNvSpPr>
            <a:spLocks noGrp="1"/>
          </p:cNvSpPr>
          <p:nvPr>
            <p:ph idx="1"/>
          </p:nvPr>
        </p:nvSpPr>
        <p:spPr>
          <a:xfrm>
            <a:off x="406400" y="1234281"/>
            <a:ext cx="8273143" cy="4389437"/>
          </a:xfrm>
        </p:spPr>
        <p:txBody>
          <a:bodyPr/>
          <a:lstStyle/>
          <a:p>
            <a:r>
              <a:rPr lang="en-GB" altLang="en-US" dirty="0">
                <a:solidFill>
                  <a:schemeClr val="tx1"/>
                </a:solidFill>
              </a:rPr>
              <a:t>Improper data initialization is </a:t>
            </a:r>
            <a:r>
              <a:rPr lang="en-GB" altLang="en-US" b="1" dirty="0">
                <a:solidFill>
                  <a:schemeClr val="tx1"/>
                </a:solidFill>
              </a:rPr>
              <a:t>one of the most fertile sources of error</a:t>
            </a:r>
            <a:r>
              <a:rPr lang="en-GB" altLang="en-US" dirty="0">
                <a:solidFill>
                  <a:schemeClr val="tx1"/>
                </a:solidFill>
              </a:rPr>
              <a:t> in computer programming. </a:t>
            </a:r>
          </a:p>
        </p:txBody>
      </p:sp>
      <p:pic>
        <p:nvPicPr>
          <p:cNvPr id="6" name="Picture 6" descr="Variable Declaration and Initialization in Java Programming Language |  atnyla">
            <a:extLst>
              <a:ext uri="{FF2B5EF4-FFF2-40B4-BE49-F238E27FC236}">
                <a16:creationId xmlns:a16="http://schemas.microsoft.com/office/drawing/2014/main" id="{29E71F56-4E32-FEBC-2EB2-431A915D9800}"/>
              </a:ext>
            </a:extLst>
          </p:cNvPr>
          <p:cNvPicPr>
            <a:picLocks noChangeAspect="1" noChangeArrowheads="1"/>
          </p:cNvPicPr>
          <p:nvPr/>
        </p:nvPicPr>
        <p:blipFill>
          <a:blip r:embed="rId2" cstate="print"/>
          <a:srcRect/>
          <a:stretch>
            <a:fillRect/>
          </a:stretch>
        </p:blipFill>
        <p:spPr bwMode="auto">
          <a:xfrm>
            <a:off x="1118394" y="2529114"/>
            <a:ext cx="6907212" cy="3733800"/>
          </a:xfrm>
          <a:prstGeom prst="rect">
            <a:avLst/>
          </a:prstGeom>
          <a:noFill/>
          <a:ln w="9525">
            <a:noFill/>
            <a:miter lim="800000"/>
            <a:headEnd/>
            <a:tailEnd/>
          </a:ln>
        </p:spPr>
      </p:pic>
    </p:spTree>
    <p:extLst>
      <p:ext uri="{BB962C8B-B14F-4D97-AF65-F5344CB8AC3E}">
        <p14:creationId xmlns:p14="http://schemas.microsoft.com/office/powerpoint/2010/main" val="381075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Variables initialization problems</a:t>
            </a:r>
            <a:endParaRPr lang="en-US"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5</a:t>
            </a:fld>
            <a:endParaRPr lang="en-US" sz="700"/>
          </a:p>
        </p:txBody>
      </p:sp>
      <p:sp>
        <p:nvSpPr>
          <p:cNvPr id="3" name="Content Placeholder 3">
            <a:extLst>
              <a:ext uri="{FF2B5EF4-FFF2-40B4-BE49-F238E27FC236}">
                <a16:creationId xmlns:a16="http://schemas.microsoft.com/office/drawing/2014/main" id="{B65ECD18-BEC5-1FF0-E19E-7CB036AA35BE}"/>
              </a:ext>
            </a:extLst>
          </p:cNvPr>
          <p:cNvSpPr txBox="1">
            <a:spLocks/>
          </p:cNvSpPr>
          <p:nvPr/>
        </p:nvSpPr>
        <p:spPr>
          <a:xfrm>
            <a:off x="406400" y="1234281"/>
            <a:ext cx="8273143" cy="438943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altLang="en-US" dirty="0">
                <a:solidFill>
                  <a:schemeClr val="tx1"/>
                </a:solidFill>
              </a:rPr>
              <a:t>The problem with improper initialization stem from a variable’s containing an initial value that you do not expect it to contain. </a:t>
            </a:r>
          </a:p>
        </p:txBody>
      </p:sp>
      <p:pic>
        <p:nvPicPr>
          <p:cNvPr id="4" name="Picture 3" descr="Nerd1">
            <a:extLst>
              <a:ext uri="{FF2B5EF4-FFF2-40B4-BE49-F238E27FC236}">
                <a16:creationId xmlns:a16="http://schemas.microsoft.com/office/drawing/2014/main" id="{8F71B47C-C858-01DE-1D74-F6C779ED5015}"/>
              </a:ext>
            </a:extLst>
          </p:cNvPr>
          <p:cNvPicPr>
            <a:picLocks noChangeAspect="1" noChangeArrowheads="1"/>
          </p:cNvPicPr>
          <p:nvPr/>
        </p:nvPicPr>
        <p:blipFill>
          <a:blip r:embed="rId2" cstate="print"/>
          <a:srcRect/>
          <a:stretch>
            <a:fillRect/>
          </a:stretch>
        </p:blipFill>
        <p:spPr bwMode="auto">
          <a:xfrm>
            <a:off x="3141662" y="2921000"/>
            <a:ext cx="2860675" cy="3316383"/>
          </a:xfrm>
          <a:prstGeom prst="rect">
            <a:avLst/>
          </a:prstGeom>
          <a:noFill/>
          <a:ln w="19050">
            <a:noFill/>
            <a:miter lim="800000"/>
            <a:headEnd/>
            <a:tailEnd/>
          </a:ln>
        </p:spPr>
      </p:pic>
    </p:spTree>
    <p:extLst>
      <p:ext uri="{BB962C8B-B14F-4D97-AF65-F5344CB8AC3E}">
        <p14:creationId xmlns:p14="http://schemas.microsoft.com/office/powerpoint/2010/main" val="251095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altLang="en-US" sz="4400" b="1" dirty="0">
                <a:solidFill>
                  <a:schemeClr val="tx1"/>
                </a:solidFill>
              </a:rPr>
              <a:t>Variables initialization problems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6</a:t>
            </a:fld>
            <a:endParaRPr lang="en-US" sz="700"/>
          </a:p>
        </p:txBody>
      </p:sp>
      <p:sp>
        <p:nvSpPr>
          <p:cNvPr id="2" name="Content Placeholder 3">
            <a:extLst>
              <a:ext uri="{FF2B5EF4-FFF2-40B4-BE49-F238E27FC236}">
                <a16:creationId xmlns:a16="http://schemas.microsoft.com/office/drawing/2014/main" id="{A94492C1-9DBF-8ACD-CDF4-73A986D0E706}"/>
              </a:ext>
            </a:extLst>
          </p:cNvPr>
          <p:cNvSpPr txBox="1">
            <a:spLocks/>
          </p:cNvSpPr>
          <p:nvPr/>
        </p:nvSpPr>
        <p:spPr>
          <a:xfrm>
            <a:off x="406400" y="1234281"/>
            <a:ext cx="8273143" cy="4389437"/>
          </a:xfrm>
          <a:prstGeom prst="rect">
            <a:avLst/>
          </a:prstGeom>
        </p:spPr>
        <p:txBody>
          <a:bodyPr vert="horz" lIns="0" tIns="45720" rIns="0" bIns="45720" rtlCol="0">
            <a:normAutofit lnSpcReduction="10000"/>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altLang="en-US" dirty="0">
                <a:solidFill>
                  <a:schemeClr val="tx1"/>
                </a:solidFill>
              </a:rPr>
              <a:t>This can happen for any of several reasons:</a:t>
            </a:r>
          </a:p>
          <a:p>
            <a:pPr marL="91440" indent="0">
              <a:buNone/>
            </a:pPr>
            <a:endParaRPr lang="en-GB" altLang="en-US" dirty="0">
              <a:solidFill>
                <a:schemeClr val="tx1"/>
              </a:solidFill>
            </a:endParaRPr>
          </a:p>
          <a:p>
            <a:pPr lvl="1">
              <a:buClr>
                <a:srgbClr val="0070C0"/>
              </a:buClr>
            </a:pPr>
            <a:r>
              <a:rPr lang="en-GB" altLang="en-US" dirty="0">
                <a:solidFill>
                  <a:schemeClr val="tx1"/>
                </a:solidFill>
              </a:rPr>
              <a:t>The variable has never been assigned a value. Its value is whatever bits happened to be in its area of memory when the program started</a:t>
            </a:r>
          </a:p>
          <a:p>
            <a:pPr lvl="1">
              <a:buClr>
                <a:srgbClr val="0070C0"/>
              </a:buClr>
            </a:pPr>
            <a:endParaRPr lang="en-GB" altLang="en-US" dirty="0">
              <a:solidFill>
                <a:schemeClr val="tx1"/>
              </a:solidFill>
            </a:endParaRPr>
          </a:p>
          <a:p>
            <a:pPr lvl="1">
              <a:buClr>
                <a:srgbClr val="0070C0"/>
              </a:buClr>
            </a:pPr>
            <a:r>
              <a:rPr lang="en-GB" altLang="en-US" dirty="0">
                <a:solidFill>
                  <a:schemeClr val="tx1"/>
                </a:solidFill>
              </a:rPr>
              <a:t>The value of the variable is outdated. The variable was assigned a value at some point, but the value is no longer valid</a:t>
            </a:r>
          </a:p>
          <a:p>
            <a:pPr marL="274320" lvl="1" indent="0">
              <a:buClr>
                <a:srgbClr val="0070C0"/>
              </a:buClr>
              <a:buNone/>
            </a:pPr>
            <a:endParaRPr lang="en-GB" altLang="en-US" dirty="0">
              <a:solidFill>
                <a:schemeClr val="tx1"/>
              </a:solidFill>
            </a:endParaRPr>
          </a:p>
          <a:p>
            <a:pPr lvl="1">
              <a:buClr>
                <a:srgbClr val="0070C0"/>
              </a:buClr>
            </a:pPr>
            <a:r>
              <a:rPr lang="en-GB" altLang="en-US" dirty="0">
                <a:solidFill>
                  <a:schemeClr val="tx1"/>
                </a:solidFill>
              </a:rPr>
              <a:t>Part of the variable has been assigned a value and part has not. That can happen when you initialize some of the members of an object but not all of them</a:t>
            </a:r>
          </a:p>
        </p:txBody>
      </p:sp>
    </p:spTree>
    <p:extLst>
      <p:ext uri="{BB962C8B-B14F-4D97-AF65-F5344CB8AC3E}">
        <p14:creationId xmlns:p14="http://schemas.microsoft.com/office/powerpoint/2010/main" val="268952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Autofit/>
          </a:bodyPr>
          <a:lstStyle/>
          <a:p>
            <a:r>
              <a:rPr lang="en-GB" altLang="en-US" sz="4000" b="1" dirty="0">
                <a:solidFill>
                  <a:schemeClr val="tx1"/>
                </a:solidFill>
              </a:rPr>
              <a:t>Guidelines for avoiding initialization problems</a:t>
            </a:r>
            <a:endParaRPr lang="en-US" sz="4000"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7</a:t>
            </a:fld>
            <a:endParaRPr lang="en-US" sz="700"/>
          </a:p>
        </p:txBody>
      </p:sp>
      <p:pic>
        <p:nvPicPr>
          <p:cNvPr id="6" name="Picture 7">
            <a:extLst>
              <a:ext uri="{FF2B5EF4-FFF2-40B4-BE49-F238E27FC236}">
                <a16:creationId xmlns:a16="http://schemas.microsoft.com/office/drawing/2014/main" id="{46E6F261-38BE-D79D-555D-273D06C6C4DB}"/>
              </a:ext>
            </a:extLst>
          </p:cNvPr>
          <p:cNvPicPr>
            <a:picLocks noChangeAspect="1" noChangeArrowheads="1"/>
          </p:cNvPicPr>
          <p:nvPr/>
        </p:nvPicPr>
        <p:blipFill>
          <a:blip r:embed="rId2" cstate="print"/>
          <a:srcRect/>
          <a:stretch>
            <a:fillRect/>
          </a:stretch>
        </p:blipFill>
        <p:spPr bwMode="auto">
          <a:xfrm>
            <a:off x="6144122" y="3160602"/>
            <a:ext cx="2486025" cy="3041650"/>
          </a:xfrm>
          <a:prstGeom prst="rect">
            <a:avLst/>
          </a:prstGeom>
          <a:noFill/>
          <a:ln w="9525">
            <a:noFill/>
            <a:miter lim="800000"/>
            <a:headEnd/>
            <a:tailEnd/>
          </a:ln>
        </p:spPr>
      </p:pic>
      <p:sp>
        <p:nvSpPr>
          <p:cNvPr id="7" name="Cloud Callout 6">
            <a:extLst>
              <a:ext uri="{FF2B5EF4-FFF2-40B4-BE49-F238E27FC236}">
                <a16:creationId xmlns:a16="http://schemas.microsoft.com/office/drawing/2014/main" id="{B0DB5D3E-CAE9-E919-2D72-DBFE46022CA4}"/>
              </a:ext>
            </a:extLst>
          </p:cNvPr>
          <p:cNvSpPr/>
          <p:nvPr/>
        </p:nvSpPr>
        <p:spPr>
          <a:xfrm>
            <a:off x="400547" y="1401652"/>
            <a:ext cx="8305800" cy="1752600"/>
          </a:xfrm>
          <a:prstGeom prst="cloudCallout">
            <a:avLst>
              <a:gd name="adj1" fmla="val 18507"/>
              <a:gd name="adj2" fmla="val 78859"/>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altLang="en-US" sz="2400" dirty="0">
                <a:solidFill>
                  <a:schemeClr val="tx1"/>
                </a:solidFill>
              </a:rPr>
              <a:t>Developing effective techniques for avoiding initialization problems can save a lot of debugging time.</a:t>
            </a:r>
          </a:p>
        </p:txBody>
      </p:sp>
    </p:spTree>
    <p:extLst>
      <p:ext uri="{BB962C8B-B14F-4D97-AF65-F5344CB8AC3E}">
        <p14:creationId xmlns:p14="http://schemas.microsoft.com/office/powerpoint/2010/main" val="91697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GB" altLang="en-US" sz="4400" b="1" dirty="0">
                <a:solidFill>
                  <a:schemeClr val="tx1"/>
                </a:solidFill>
              </a:rPr>
              <a:t>Guidelines for avoiding initialization problems</a:t>
            </a:r>
            <a:endParaRPr lang="en-US"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8</a:t>
            </a:fld>
            <a:endParaRPr lang="en-US" sz="700"/>
          </a:p>
        </p:txBody>
      </p:sp>
      <p:sp>
        <p:nvSpPr>
          <p:cNvPr id="3" name="Content Placeholder 3">
            <a:extLst>
              <a:ext uri="{FF2B5EF4-FFF2-40B4-BE49-F238E27FC236}">
                <a16:creationId xmlns:a16="http://schemas.microsoft.com/office/drawing/2014/main" id="{D3C442CF-53A2-0392-90A3-6725147F45D1}"/>
              </a:ext>
            </a:extLst>
          </p:cNvPr>
          <p:cNvSpPr txBox="1">
            <a:spLocks/>
          </p:cNvSpPr>
          <p:nvPr/>
        </p:nvSpPr>
        <p:spPr>
          <a:xfrm>
            <a:off x="406400" y="1234281"/>
            <a:ext cx="8273143" cy="438943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14350" indent="-514350">
              <a:buFont typeface="Calibri" pitchFamily="34" charset="0"/>
              <a:buAutoNum type="arabicPeriod"/>
            </a:pPr>
            <a:r>
              <a:rPr lang="en-GB" dirty="0">
                <a:solidFill>
                  <a:schemeClr val="tx1"/>
                </a:solidFill>
              </a:rPr>
              <a:t>Initialize each variable as it’s declared</a:t>
            </a:r>
          </a:p>
          <a:p>
            <a:pPr marL="0" indent="0">
              <a:buNone/>
            </a:pPr>
            <a:endParaRPr lang="en-GB" dirty="0">
              <a:solidFill>
                <a:schemeClr val="tx1"/>
              </a:solidFill>
            </a:endParaRPr>
          </a:p>
          <a:p>
            <a:pPr lvl="1">
              <a:buClr>
                <a:srgbClr val="0070C0"/>
              </a:buClr>
            </a:pPr>
            <a:r>
              <a:rPr lang="en-GB" dirty="0">
                <a:solidFill>
                  <a:schemeClr val="tx1"/>
                </a:solidFill>
              </a:rPr>
              <a:t>Initializing variables as they’re declared is an inexpensive form of defensive programming. </a:t>
            </a:r>
          </a:p>
          <a:p>
            <a:pPr marL="274320" lvl="1" indent="0">
              <a:buClr>
                <a:srgbClr val="0070C0"/>
              </a:buClr>
              <a:buNone/>
            </a:pPr>
            <a:endParaRPr lang="en-GB" dirty="0">
              <a:solidFill>
                <a:schemeClr val="tx1"/>
              </a:solidFill>
            </a:endParaRPr>
          </a:p>
          <a:p>
            <a:pPr lvl="1">
              <a:buClr>
                <a:srgbClr val="0070C0"/>
              </a:buClr>
            </a:pPr>
            <a:r>
              <a:rPr lang="en-GB" dirty="0">
                <a:solidFill>
                  <a:schemeClr val="tx1"/>
                </a:solidFill>
              </a:rPr>
              <a:t>It’s a good insurance policy against initialization errors.</a:t>
            </a:r>
          </a:p>
        </p:txBody>
      </p:sp>
      <p:pic>
        <p:nvPicPr>
          <p:cNvPr id="4" name="Picture 2">
            <a:extLst>
              <a:ext uri="{FF2B5EF4-FFF2-40B4-BE49-F238E27FC236}">
                <a16:creationId xmlns:a16="http://schemas.microsoft.com/office/drawing/2014/main" id="{5B964A20-4FC8-4569-2E53-0FEDAB64FF11}"/>
              </a:ext>
            </a:extLst>
          </p:cNvPr>
          <p:cNvPicPr>
            <a:picLocks noChangeAspect="1" noChangeArrowheads="1"/>
          </p:cNvPicPr>
          <p:nvPr/>
        </p:nvPicPr>
        <p:blipFill>
          <a:blip r:embed="rId2" cstate="print"/>
          <a:srcRect/>
          <a:stretch>
            <a:fillRect/>
          </a:stretch>
        </p:blipFill>
        <p:spPr bwMode="auto">
          <a:xfrm>
            <a:off x="1542596" y="4365395"/>
            <a:ext cx="6000750" cy="895350"/>
          </a:xfrm>
          <a:prstGeom prst="rect">
            <a:avLst/>
          </a:prstGeom>
          <a:noFill/>
          <a:ln w="9525">
            <a:noFill/>
            <a:miter lim="800000"/>
            <a:headEnd/>
            <a:tailEnd/>
          </a:ln>
        </p:spPr>
      </p:pic>
    </p:spTree>
    <p:extLst>
      <p:ext uri="{BB962C8B-B14F-4D97-AF65-F5344CB8AC3E}">
        <p14:creationId xmlns:p14="http://schemas.microsoft.com/office/powerpoint/2010/main" val="381756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GB" altLang="en-US" sz="4400" b="1" dirty="0">
                <a:solidFill>
                  <a:schemeClr val="tx1"/>
                </a:solidFill>
              </a:rPr>
              <a:t>Guidelines for avoiding initialization problems</a:t>
            </a:r>
            <a:endParaRPr lang="en-US"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9</a:t>
            </a:fld>
            <a:endParaRPr lang="en-US" sz="700"/>
          </a:p>
        </p:txBody>
      </p:sp>
      <p:sp>
        <p:nvSpPr>
          <p:cNvPr id="3" name="Content Placeholder 3">
            <a:extLst>
              <a:ext uri="{FF2B5EF4-FFF2-40B4-BE49-F238E27FC236}">
                <a16:creationId xmlns:a16="http://schemas.microsoft.com/office/drawing/2014/main" id="{7477EBB7-D419-B507-3185-EB329609344E}"/>
              </a:ext>
            </a:extLst>
          </p:cNvPr>
          <p:cNvSpPr txBox="1">
            <a:spLocks/>
          </p:cNvSpPr>
          <p:nvPr/>
        </p:nvSpPr>
        <p:spPr>
          <a:xfrm>
            <a:off x="406400" y="1234281"/>
            <a:ext cx="8273143" cy="438943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14350" indent="-514350">
              <a:buFont typeface="Calibri" pitchFamily="34" charset="0"/>
              <a:buAutoNum type="arabicPeriod" startAt="2"/>
            </a:pPr>
            <a:r>
              <a:rPr lang="en-GB" altLang="en-US" dirty="0">
                <a:solidFill>
                  <a:schemeClr val="tx1"/>
                </a:solidFill>
              </a:rPr>
              <a:t>Initialize each variable close to where it’s first used</a:t>
            </a:r>
          </a:p>
          <a:p>
            <a:pPr marL="0" indent="0">
              <a:buNone/>
            </a:pPr>
            <a:endParaRPr lang="en-GB" altLang="en-US" dirty="0">
              <a:solidFill>
                <a:schemeClr val="tx1"/>
              </a:solidFill>
            </a:endParaRPr>
          </a:p>
          <a:p>
            <a:pPr lvl="1">
              <a:buClr>
                <a:srgbClr val="0070C0"/>
              </a:buClr>
            </a:pPr>
            <a:r>
              <a:rPr lang="en-GB" altLang="en-US" dirty="0">
                <a:solidFill>
                  <a:schemeClr val="tx1"/>
                </a:solidFill>
              </a:rPr>
              <a:t>Some languages, including Visual Basic, don’t support initializing variables as they’re declared. </a:t>
            </a:r>
          </a:p>
          <a:p>
            <a:pPr marL="274320" lvl="1" indent="0">
              <a:buClr>
                <a:srgbClr val="0070C0"/>
              </a:buClr>
              <a:buNone/>
            </a:pPr>
            <a:endParaRPr lang="en-GB" altLang="en-US" dirty="0">
              <a:solidFill>
                <a:schemeClr val="tx1"/>
              </a:solidFill>
            </a:endParaRPr>
          </a:p>
          <a:p>
            <a:pPr lvl="1">
              <a:buClr>
                <a:srgbClr val="0070C0"/>
              </a:buClr>
            </a:pPr>
            <a:r>
              <a:rPr lang="en-GB" altLang="en-US" dirty="0">
                <a:solidFill>
                  <a:schemeClr val="tx1"/>
                </a:solidFill>
              </a:rPr>
              <a:t>That can lead to coding styles, in which declarations are grouped together, and then initializations are grouped together—all far from the first actual use of the variables.</a:t>
            </a:r>
          </a:p>
        </p:txBody>
      </p:sp>
    </p:spTree>
    <p:extLst>
      <p:ext uri="{BB962C8B-B14F-4D97-AF65-F5344CB8AC3E}">
        <p14:creationId xmlns:p14="http://schemas.microsoft.com/office/powerpoint/2010/main" val="4288430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GB" altLang="en-US" sz="4400" b="1" dirty="0">
                <a:solidFill>
                  <a:schemeClr val="tx1"/>
                </a:solidFill>
              </a:rPr>
              <a:t>Guidelines for avoiding initialization problems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10</a:t>
            </a:fld>
            <a:endParaRPr lang="en-US" sz="700"/>
          </a:p>
        </p:txBody>
      </p:sp>
      <p:pic>
        <p:nvPicPr>
          <p:cNvPr id="3" name="Picture 4">
            <a:extLst>
              <a:ext uri="{FF2B5EF4-FFF2-40B4-BE49-F238E27FC236}">
                <a16:creationId xmlns:a16="http://schemas.microsoft.com/office/drawing/2014/main" id="{B8923525-E5D0-E833-015E-02C4675C5E6B}"/>
              </a:ext>
            </a:extLst>
          </p:cNvPr>
          <p:cNvPicPr>
            <a:picLocks noChangeAspect="1"/>
          </p:cNvPicPr>
          <p:nvPr/>
        </p:nvPicPr>
        <p:blipFill>
          <a:blip r:embed="rId2" cstate="print"/>
          <a:srcRect/>
          <a:stretch>
            <a:fillRect/>
          </a:stretch>
        </p:blipFill>
        <p:spPr bwMode="auto">
          <a:xfrm>
            <a:off x="1130181" y="2077754"/>
            <a:ext cx="2638425" cy="4461158"/>
          </a:xfrm>
          <a:prstGeom prst="rect">
            <a:avLst/>
          </a:prstGeom>
          <a:noFill/>
          <a:ln w="9525">
            <a:noFill/>
            <a:miter lim="800000"/>
            <a:headEnd/>
            <a:tailEnd/>
          </a:ln>
        </p:spPr>
      </p:pic>
      <p:pic>
        <p:nvPicPr>
          <p:cNvPr id="6" name="Picture 5">
            <a:extLst>
              <a:ext uri="{FF2B5EF4-FFF2-40B4-BE49-F238E27FC236}">
                <a16:creationId xmlns:a16="http://schemas.microsoft.com/office/drawing/2014/main" id="{3EF4B67C-68A2-32C4-4F63-98DD2FD3C788}"/>
              </a:ext>
            </a:extLst>
          </p:cNvPr>
          <p:cNvPicPr>
            <a:picLocks noChangeAspect="1"/>
          </p:cNvPicPr>
          <p:nvPr/>
        </p:nvPicPr>
        <p:blipFill>
          <a:blip r:embed="rId3" cstate="print"/>
          <a:srcRect/>
          <a:stretch>
            <a:fillRect/>
          </a:stretch>
        </p:blipFill>
        <p:spPr bwMode="auto">
          <a:xfrm>
            <a:off x="3801261" y="2081212"/>
            <a:ext cx="4905375" cy="2695575"/>
          </a:xfrm>
          <a:prstGeom prst="rect">
            <a:avLst/>
          </a:prstGeom>
          <a:noFill/>
          <a:ln w="9525">
            <a:noFill/>
            <a:miter lim="800000"/>
            <a:headEnd/>
            <a:tailEnd/>
          </a:ln>
        </p:spPr>
      </p:pic>
      <p:pic>
        <p:nvPicPr>
          <p:cNvPr id="7" name="Picture 6">
            <a:extLst>
              <a:ext uri="{FF2B5EF4-FFF2-40B4-BE49-F238E27FC236}">
                <a16:creationId xmlns:a16="http://schemas.microsoft.com/office/drawing/2014/main" id="{6E0CE5D1-49B2-037C-BFBE-07CF1F39DE40}"/>
              </a:ext>
            </a:extLst>
          </p:cNvPr>
          <p:cNvPicPr>
            <a:picLocks noChangeAspect="1"/>
          </p:cNvPicPr>
          <p:nvPr/>
        </p:nvPicPr>
        <p:blipFill>
          <a:blip r:embed="rId4" cstate="print"/>
          <a:srcRect/>
          <a:stretch>
            <a:fillRect/>
          </a:stretch>
        </p:blipFill>
        <p:spPr bwMode="auto">
          <a:xfrm>
            <a:off x="3927005" y="4775477"/>
            <a:ext cx="4124325" cy="952500"/>
          </a:xfrm>
          <a:prstGeom prst="rect">
            <a:avLst/>
          </a:prstGeom>
          <a:noFill/>
          <a:ln w="9525">
            <a:noFill/>
            <a:miter lim="800000"/>
            <a:headEnd/>
            <a:tailEnd/>
          </a:ln>
        </p:spPr>
      </p:pic>
      <p:sp>
        <p:nvSpPr>
          <p:cNvPr id="8" name="TextBox 7">
            <a:extLst>
              <a:ext uri="{FF2B5EF4-FFF2-40B4-BE49-F238E27FC236}">
                <a16:creationId xmlns:a16="http://schemas.microsoft.com/office/drawing/2014/main" id="{0529C022-A53B-D79C-6340-D5ECB58151EC}"/>
              </a:ext>
            </a:extLst>
          </p:cNvPr>
          <p:cNvSpPr txBox="1"/>
          <p:nvPr/>
        </p:nvSpPr>
        <p:spPr>
          <a:xfrm>
            <a:off x="668516" y="1930627"/>
            <a:ext cx="461665" cy="4307269"/>
          </a:xfrm>
          <a:prstGeom prst="rect">
            <a:avLst/>
          </a:prstGeom>
          <a:noFill/>
        </p:spPr>
        <p:txBody>
          <a:bodyPr vert="vert270" wrap="none">
            <a:spAutoFit/>
          </a:bodyPr>
          <a:lstStyle/>
          <a:p>
            <a:pPr eaLnBrk="1" hangingPunct="1">
              <a:defRPr/>
            </a:pPr>
            <a:r>
              <a:rPr lang="en-GB" dirty="0"/>
              <a:t>Visual Basic Example of Bad Initialization</a:t>
            </a:r>
          </a:p>
        </p:txBody>
      </p:sp>
      <p:sp>
        <p:nvSpPr>
          <p:cNvPr id="9" name="TextBox 8">
            <a:extLst>
              <a:ext uri="{FF2B5EF4-FFF2-40B4-BE49-F238E27FC236}">
                <a16:creationId xmlns:a16="http://schemas.microsoft.com/office/drawing/2014/main" id="{F0664B87-2ACE-ED70-75C5-C5928A466DC2}"/>
              </a:ext>
            </a:extLst>
          </p:cNvPr>
          <p:cNvSpPr txBox="1"/>
          <p:nvPr/>
        </p:nvSpPr>
        <p:spPr>
          <a:xfrm>
            <a:off x="8627593" y="1853682"/>
            <a:ext cx="461665" cy="4461158"/>
          </a:xfrm>
          <a:prstGeom prst="rect">
            <a:avLst/>
          </a:prstGeom>
          <a:noFill/>
        </p:spPr>
        <p:txBody>
          <a:bodyPr vert="vert270" wrap="none">
            <a:spAutoFit/>
          </a:bodyPr>
          <a:lstStyle/>
          <a:p>
            <a:pPr eaLnBrk="1" hangingPunct="1">
              <a:defRPr/>
            </a:pPr>
            <a:r>
              <a:rPr lang="en-GB" dirty="0"/>
              <a:t>Visual Basic Example of Good Initialization</a:t>
            </a:r>
          </a:p>
        </p:txBody>
      </p:sp>
      <p:sp>
        <p:nvSpPr>
          <p:cNvPr id="11" name="Content Placeholder 3">
            <a:extLst>
              <a:ext uri="{FF2B5EF4-FFF2-40B4-BE49-F238E27FC236}">
                <a16:creationId xmlns:a16="http://schemas.microsoft.com/office/drawing/2014/main" id="{7ADE0687-7681-7E09-6786-A3B140EC02D9}"/>
              </a:ext>
            </a:extLst>
          </p:cNvPr>
          <p:cNvSpPr txBox="1">
            <a:spLocks/>
          </p:cNvSpPr>
          <p:nvPr/>
        </p:nvSpPr>
        <p:spPr>
          <a:xfrm>
            <a:off x="422608" y="1183205"/>
            <a:ext cx="8273143" cy="899319"/>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solidFill>
                  <a:schemeClr val="tx1"/>
                </a:solidFill>
              </a:rPr>
              <a:t>A better practice is to initialize variables as close as possible to where they’re first used</a:t>
            </a:r>
          </a:p>
        </p:txBody>
      </p:sp>
    </p:spTree>
    <p:extLst>
      <p:ext uri="{BB962C8B-B14F-4D97-AF65-F5344CB8AC3E}">
        <p14:creationId xmlns:p14="http://schemas.microsoft.com/office/powerpoint/2010/main" val="3107751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GB" altLang="en-US" sz="4400" b="1" dirty="0">
                <a:solidFill>
                  <a:schemeClr val="tx1"/>
                </a:solidFill>
              </a:rPr>
              <a:t>Guidelines for avoiding initialization problems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11</a:t>
            </a:fld>
            <a:endParaRPr lang="en-US" sz="700"/>
          </a:p>
        </p:txBody>
      </p:sp>
      <p:sp>
        <p:nvSpPr>
          <p:cNvPr id="11" name="Content Placeholder 3">
            <a:extLst>
              <a:ext uri="{FF2B5EF4-FFF2-40B4-BE49-F238E27FC236}">
                <a16:creationId xmlns:a16="http://schemas.microsoft.com/office/drawing/2014/main" id="{7ADE0687-7681-7E09-6786-A3B140EC02D9}"/>
              </a:ext>
            </a:extLst>
          </p:cNvPr>
          <p:cNvSpPr txBox="1">
            <a:spLocks/>
          </p:cNvSpPr>
          <p:nvPr/>
        </p:nvSpPr>
        <p:spPr>
          <a:xfrm>
            <a:off x="422608" y="1183205"/>
            <a:ext cx="8273143" cy="899319"/>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14350" indent="-514350">
              <a:buFont typeface="Calibri" pitchFamily="34" charset="0"/>
              <a:buAutoNum type="arabicPeriod" startAt="3"/>
            </a:pPr>
            <a:r>
              <a:rPr lang="en-GB" altLang="en-US" dirty="0">
                <a:solidFill>
                  <a:schemeClr val="tx1"/>
                </a:solidFill>
              </a:rPr>
              <a:t>Declare and define each variable close to where it’s used</a:t>
            </a:r>
          </a:p>
        </p:txBody>
      </p:sp>
      <p:pic>
        <p:nvPicPr>
          <p:cNvPr id="2" name="Picture 4">
            <a:extLst>
              <a:ext uri="{FF2B5EF4-FFF2-40B4-BE49-F238E27FC236}">
                <a16:creationId xmlns:a16="http://schemas.microsoft.com/office/drawing/2014/main" id="{B2DDA2C7-1DD2-A966-4F71-DD6AF509423C}"/>
              </a:ext>
            </a:extLst>
          </p:cNvPr>
          <p:cNvPicPr>
            <a:picLocks noChangeAspect="1"/>
          </p:cNvPicPr>
          <p:nvPr/>
        </p:nvPicPr>
        <p:blipFill>
          <a:blip r:embed="rId2" cstate="print"/>
          <a:srcRect/>
          <a:stretch>
            <a:fillRect/>
          </a:stretch>
        </p:blipFill>
        <p:spPr bwMode="auto">
          <a:xfrm>
            <a:off x="1207293" y="2459039"/>
            <a:ext cx="6729413" cy="3860800"/>
          </a:xfrm>
          <a:prstGeom prst="rect">
            <a:avLst/>
          </a:prstGeom>
          <a:noFill/>
          <a:ln w="9525">
            <a:noFill/>
            <a:miter lim="800000"/>
            <a:headEnd/>
            <a:tailEnd/>
          </a:ln>
        </p:spPr>
      </p:pic>
    </p:spTree>
    <p:extLst>
      <p:ext uri="{BB962C8B-B14F-4D97-AF65-F5344CB8AC3E}">
        <p14:creationId xmlns:p14="http://schemas.microsoft.com/office/powerpoint/2010/main" val="383040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GB" altLang="en-US" sz="4400" b="1" dirty="0">
                <a:solidFill>
                  <a:schemeClr val="tx1"/>
                </a:solidFill>
              </a:rPr>
              <a:t>Guidelines for avoiding initialization problems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12</a:t>
            </a:fld>
            <a:endParaRPr lang="en-US" sz="700"/>
          </a:p>
        </p:txBody>
      </p:sp>
      <p:sp>
        <p:nvSpPr>
          <p:cNvPr id="11" name="Content Placeholder 3">
            <a:extLst>
              <a:ext uri="{FF2B5EF4-FFF2-40B4-BE49-F238E27FC236}">
                <a16:creationId xmlns:a16="http://schemas.microsoft.com/office/drawing/2014/main" id="{7ADE0687-7681-7E09-6786-A3B140EC02D9}"/>
              </a:ext>
            </a:extLst>
          </p:cNvPr>
          <p:cNvSpPr txBox="1">
            <a:spLocks/>
          </p:cNvSpPr>
          <p:nvPr/>
        </p:nvSpPr>
        <p:spPr>
          <a:xfrm>
            <a:off x="422608" y="1183205"/>
            <a:ext cx="8273143" cy="546306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14350" indent="-514350">
              <a:buFont typeface="Calibri" pitchFamily="34" charset="0"/>
              <a:buAutoNum type="arabicPeriod" startAt="4"/>
            </a:pPr>
            <a:r>
              <a:rPr lang="en-GB" altLang="en-US" dirty="0">
                <a:solidFill>
                  <a:schemeClr val="tx1"/>
                </a:solidFill>
              </a:rPr>
              <a:t>Pay special attention to counters and accumulators</a:t>
            </a:r>
          </a:p>
          <a:p>
            <a:pPr marL="0" indent="0">
              <a:buNone/>
            </a:pPr>
            <a:endParaRPr lang="en-GB" altLang="en-US" dirty="0">
              <a:solidFill>
                <a:schemeClr val="tx1"/>
              </a:solidFill>
            </a:endParaRPr>
          </a:p>
          <a:p>
            <a:pPr lvl="1">
              <a:buClr>
                <a:srgbClr val="0070C0"/>
              </a:buClr>
            </a:pPr>
            <a:r>
              <a:rPr lang="en-GB" altLang="en-US" dirty="0">
                <a:solidFill>
                  <a:schemeClr val="tx1"/>
                </a:solidFill>
              </a:rPr>
              <a:t>The variables </a:t>
            </a:r>
            <a:r>
              <a:rPr lang="en-GB" altLang="en-US" dirty="0" err="1">
                <a:solidFill>
                  <a:schemeClr val="tx1"/>
                </a:solidFill>
              </a:rPr>
              <a:t>i</a:t>
            </a:r>
            <a:r>
              <a:rPr lang="en-GB" altLang="en-US" dirty="0">
                <a:solidFill>
                  <a:schemeClr val="tx1"/>
                </a:solidFill>
              </a:rPr>
              <a:t>, j, k, sum, and total are often counters or accumulators. </a:t>
            </a:r>
          </a:p>
          <a:p>
            <a:pPr marL="274320" lvl="1" indent="0">
              <a:buClr>
                <a:srgbClr val="0070C0"/>
              </a:buClr>
              <a:buNone/>
            </a:pPr>
            <a:endParaRPr lang="en-GB" altLang="en-US" dirty="0">
              <a:solidFill>
                <a:schemeClr val="tx1"/>
              </a:solidFill>
            </a:endParaRPr>
          </a:p>
          <a:p>
            <a:pPr lvl="1">
              <a:buClr>
                <a:srgbClr val="0070C0"/>
              </a:buClr>
            </a:pPr>
            <a:r>
              <a:rPr lang="en-GB" altLang="en-US" dirty="0">
                <a:solidFill>
                  <a:schemeClr val="tx1"/>
                </a:solidFill>
              </a:rPr>
              <a:t>A common error is forgetting to reset a counter or an accumulator before the next time it’s used.</a:t>
            </a:r>
          </a:p>
        </p:txBody>
      </p:sp>
    </p:spTree>
    <p:extLst>
      <p:ext uri="{BB962C8B-B14F-4D97-AF65-F5344CB8AC3E}">
        <p14:creationId xmlns:p14="http://schemas.microsoft.com/office/powerpoint/2010/main" val="3564204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GB" altLang="en-US" sz="4400" b="1" dirty="0">
                <a:solidFill>
                  <a:schemeClr val="tx1"/>
                </a:solidFill>
              </a:rPr>
              <a:t>Guidelines for avoiding initialization problems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13</a:t>
            </a:fld>
            <a:endParaRPr lang="en-US" sz="700"/>
          </a:p>
        </p:txBody>
      </p:sp>
      <p:sp>
        <p:nvSpPr>
          <p:cNvPr id="11" name="Content Placeholder 3">
            <a:extLst>
              <a:ext uri="{FF2B5EF4-FFF2-40B4-BE49-F238E27FC236}">
                <a16:creationId xmlns:a16="http://schemas.microsoft.com/office/drawing/2014/main" id="{7ADE0687-7681-7E09-6786-A3B140EC02D9}"/>
              </a:ext>
            </a:extLst>
          </p:cNvPr>
          <p:cNvSpPr txBox="1">
            <a:spLocks/>
          </p:cNvSpPr>
          <p:nvPr/>
        </p:nvSpPr>
        <p:spPr>
          <a:xfrm>
            <a:off x="422608" y="1183205"/>
            <a:ext cx="8273143" cy="4419309"/>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14350" indent="-514350">
              <a:buFont typeface="Calibri" pitchFamily="34" charset="0"/>
              <a:buAutoNum type="arabicPeriod" startAt="5"/>
            </a:pPr>
            <a:r>
              <a:rPr lang="en-GB" altLang="en-US" dirty="0">
                <a:solidFill>
                  <a:schemeClr val="tx1"/>
                </a:solidFill>
              </a:rPr>
              <a:t>Initialize a class’s member data in its constructor</a:t>
            </a:r>
          </a:p>
          <a:p>
            <a:pPr lvl="1">
              <a:buClr>
                <a:srgbClr val="0070C0"/>
              </a:buClr>
            </a:pPr>
            <a:r>
              <a:rPr lang="en-GB" altLang="en-US" dirty="0">
                <a:solidFill>
                  <a:schemeClr val="tx1"/>
                </a:solidFill>
              </a:rPr>
              <a:t>Just as a routine’s variables should be initialized within each routine, a class’s data should be initialized within its constructor. </a:t>
            </a:r>
          </a:p>
          <a:p>
            <a:pPr marL="274320" lvl="1" indent="0">
              <a:buClr>
                <a:srgbClr val="0070C0"/>
              </a:buClr>
              <a:buNone/>
            </a:pPr>
            <a:endParaRPr lang="en-GB" altLang="en-US" dirty="0">
              <a:solidFill>
                <a:schemeClr val="tx1"/>
              </a:solidFill>
            </a:endParaRPr>
          </a:p>
          <a:p>
            <a:pPr lvl="1">
              <a:buClr>
                <a:srgbClr val="0070C0"/>
              </a:buClr>
            </a:pPr>
            <a:r>
              <a:rPr lang="en-GB" altLang="en-US" dirty="0">
                <a:solidFill>
                  <a:schemeClr val="tx1"/>
                </a:solidFill>
              </a:rPr>
              <a:t>If memory is allocated in the constructor, it should be freed in the destructor. </a:t>
            </a:r>
          </a:p>
        </p:txBody>
      </p:sp>
      <p:pic>
        <p:nvPicPr>
          <p:cNvPr id="2" name="Picture 2">
            <a:extLst>
              <a:ext uri="{FF2B5EF4-FFF2-40B4-BE49-F238E27FC236}">
                <a16:creationId xmlns:a16="http://schemas.microsoft.com/office/drawing/2014/main" id="{E32F7F65-E99D-FFB6-6075-8E8AFA1C9DE4}"/>
              </a:ext>
            </a:extLst>
          </p:cNvPr>
          <p:cNvPicPr>
            <a:picLocks noChangeAspect="1" noChangeArrowheads="1"/>
          </p:cNvPicPr>
          <p:nvPr/>
        </p:nvPicPr>
        <p:blipFill>
          <a:blip r:embed="rId2" cstate="print"/>
          <a:srcRect/>
          <a:stretch>
            <a:fillRect/>
          </a:stretch>
        </p:blipFill>
        <p:spPr bwMode="auto">
          <a:xfrm>
            <a:off x="1354374" y="4476365"/>
            <a:ext cx="6645275" cy="1905000"/>
          </a:xfrm>
          <a:prstGeom prst="rect">
            <a:avLst/>
          </a:prstGeom>
          <a:noFill/>
          <a:ln w="9525">
            <a:noFill/>
            <a:miter lim="800000"/>
            <a:headEnd/>
            <a:tailEnd/>
          </a:ln>
        </p:spPr>
      </p:pic>
    </p:spTree>
    <p:extLst>
      <p:ext uri="{BB962C8B-B14F-4D97-AF65-F5344CB8AC3E}">
        <p14:creationId xmlns:p14="http://schemas.microsoft.com/office/powerpoint/2010/main" val="2235681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GB" altLang="en-US" sz="4400" b="1" dirty="0">
                <a:solidFill>
                  <a:schemeClr val="tx1"/>
                </a:solidFill>
              </a:rPr>
              <a:t>Guidelines for avoiding initialization problems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14</a:t>
            </a:fld>
            <a:endParaRPr lang="en-US" sz="700"/>
          </a:p>
        </p:txBody>
      </p:sp>
      <p:sp>
        <p:nvSpPr>
          <p:cNvPr id="11" name="Content Placeholder 3">
            <a:extLst>
              <a:ext uri="{FF2B5EF4-FFF2-40B4-BE49-F238E27FC236}">
                <a16:creationId xmlns:a16="http://schemas.microsoft.com/office/drawing/2014/main" id="{7ADE0687-7681-7E09-6786-A3B140EC02D9}"/>
              </a:ext>
            </a:extLst>
          </p:cNvPr>
          <p:cNvSpPr txBox="1">
            <a:spLocks/>
          </p:cNvSpPr>
          <p:nvPr/>
        </p:nvSpPr>
        <p:spPr>
          <a:xfrm>
            <a:off x="422608" y="1183205"/>
            <a:ext cx="8273143" cy="4724109"/>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14350" indent="-514350">
              <a:buFont typeface="Calibri" pitchFamily="34" charset="0"/>
              <a:buAutoNum type="arabicPeriod" startAt="6"/>
            </a:pPr>
            <a:r>
              <a:rPr lang="en-GB" altLang="en-US" dirty="0">
                <a:solidFill>
                  <a:schemeClr val="tx1"/>
                </a:solidFill>
              </a:rPr>
              <a:t>Check the need for reinitialization</a:t>
            </a:r>
          </a:p>
          <a:p>
            <a:pPr marL="0" indent="0">
              <a:buNone/>
            </a:pPr>
            <a:endParaRPr lang="en-GB" altLang="en-US" dirty="0">
              <a:solidFill>
                <a:schemeClr val="tx1"/>
              </a:solidFill>
            </a:endParaRPr>
          </a:p>
          <a:p>
            <a:pPr lvl="1">
              <a:buClr>
                <a:srgbClr val="0070C0"/>
              </a:buClr>
            </a:pPr>
            <a:r>
              <a:rPr lang="en-GB" altLang="en-US" dirty="0">
                <a:solidFill>
                  <a:schemeClr val="tx1"/>
                </a:solidFill>
              </a:rPr>
              <a:t>If the variable needs to be reinitialized—either because a loop in the routine uses the variable many times or because the variable retains its value between calls to the routine and needs to be reset between calls. If it needs to be reinitialized, make sure that the initialization statement is inside the part of the code that’s repeated.</a:t>
            </a:r>
          </a:p>
        </p:txBody>
      </p:sp>
    </p:spTree>
    <p:extLst>
      <p:ext uri="{BB962C8B-B14F-4D97-AF65-F5344CB8AC3E}">
        <p14:creationId xmlns:p14="http://schemas.microsoft.com/office/powerpoint/2010/main" val="12798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GB" altLang="en-US" sz="4400" b="1" dirty="0">
                <a:solidFill>
                  <a:schemeClr val="tx1"/>
                </a:solidFill>
              </a:rPr>
              <a:t>Guidelines for avoiding initialization problems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15</a:t>
            </a:fld>
            <a:endParaRPr lang="en-US" sz="700"/>
          </a:p>
        </p:txBody>
      </p:sp>
      <p:sp>
        <p:nvSpPr>
          <p:cNvPr id="11" name="Content Placeholder 3">
            <a:extLst>
              <a:ext uri="{FF2B5EF4-FFF2-40B4-BE49-F238E27FC236}">
                <a16:creationId xmlns:a16="http://schemas.microsoft.com/office/drawing/2014/main" id="{7ADE0687-7681-7E09-6786-A3B140EC02D9}"/>
              </a:ext>
            </a:extLst>
          </p:cNvPr>
          <p:cNvSpPr txBox="1">
            <a:spLocks/>
          </p:cNvSpPr>
          <p:nvPr/>
        </p:nvSpPr>
        <p:spPr>
          <a:xfrm>
            <a:off x="422608" y="1183205"/>
            <a:ext cx="8273143" cy="4724109"/>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14350" indent="-514350" algn="just">
              <a:buFont typeface="Calibri" pitchFamily="34" charset="0"/>
              <a:buAutoNum type="arabicPeriod" startAt="8"/>
            </a:pPr>
            <a:r>
              <a:rPr lang="en-GB" altLang="en-US" dirty="0">
                <a:solidFill>
                  <a:schemeClr val="tx1"/>
                </a:solidFill>
              </a:rPr>
              <a:t>Use the compiler setting that automatically initializes all variables</a:t>
            </a:r>
          </a:p>
          <a:p>
            <a:pPr marL="514350" indent="-514350" algn="just">
              <a:buFont typeface="Calibri" pitchFamily="34" charset="0"/>
              <a:buAutoNum type="arabicPeriod" startAt="8"/>
            </a:pPr>
            <a:r>
              <a:rPr lang="en-GB" altLang="en-US" dirty="0">
                <a:solidFill>
                  <a:schemeClr val="tx1"/>
                </a:solidFill>
              </a:rPr>
              <a:t>Take advantage of your compiler’s warning messages </a:t>
            </a:r>
          </a:p>
          <a:p>
            <a:pPr marL="514350" indent="-514350" algn="just">
              <a:buFont typeface="Calibri" pitchFamily="34" charset="0"/>
              <a:buAutoNum type="arabicPeriod" startAt="8"/>
            </a:pPr>
            <a:r>
              <a:rPr lang="en-GB" altLang="en-US" dirty="0">
                <a:solidFill>
                  <a:schemeClr val="tx1"/>
                </a:solidFill>
              </a:rPr>
              <a:t>Check input parameters for validity</a:t>
            </a:r>
          </a:p>
          <a:p>
            <a:pPr marL="514350" indent="-514350" algn="just">
              <a:buFont typeface="Calibri" pitchFamily="34" charset="0"/>
              <a:buAutoNum type="arabicPeriod" startAt="8"/>
            </a:pPr>
            <a:r>
              <a:rPr lang="en-GB" altLang="en-US" dirty="0">
                <a:solidFill>
                  <a:schemeClr val="tx1"/>
                </a:solidFill>
              </a:rPr>
              <a:t>Use a memory-access checker to check for bad pointers</a:t>
            </a:r>
          </a:p>
          <a:p>
            <a:pPr marL="514350" indent="-514350" algn="just">
              <a:buFont typeface="Calibri" pitchFamily="34" charset="0"/>
              <a:buAutoNum type="arabicPeriod" startAt="8"/>
            </a:pPr>
            <a:r>
              <a:rPr lang="en-GB" altLang="en-US" dirty="0">
                <a:solidFill>
                  <a:schemeClr val="tx1"/>
                </a:solidFill>
              </a:rPr>
              <a:t>Initialize working memory at the beginning of your program</a:t>
            </a:r>
          </a:p>
        </p:txBody>
      </p:sp>
    </p:spTree>
    <p:extLst>
      <p:ext uri="{BB962C8B-B14F-4D97-AF65-F5344CB8AC3E}">
        <p14:creationId xmlns:p14="http://schemas.microsoft.com/office/powerpoint/2010/main" val="823374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b="1" dirty="0">
                <a:solidFill>
                  <a:schemeClr val="tx1"/>
                </a:solidFill>
                <a:latin typeface="+mn-lt"/>
              </a:rPr>
              <a:t>Reading</a:t>
            </a: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16</a:t>
            </a:fld>
            <a:endParaRPr lang="en-US" sz="700"/>
          </a:p>
        </p:txBody>
      </p:sp>
      <p:sp>
        <p:nvSpPr>
          <p:cNvPr id="3" name="Rectangle 6">
            <a:extLst>
              <a:ext uri="{FF2B5EF4-FFF2-40B4-BE49-F238E27FC236}">
                <a16:creationId xmlns:a16="http://schemas.microsoft.com/office/drawing/2014/main" id="{FA656E32-1156-FEA0-19B6-F14CFAE5A804}"/>
              </a:ext>
            </a:extLst>
          </p:cNvPr>
          <p:cNvSpPr>
            <a:spLocks noGrp="1" noChangeArrowheads="1"/>
          </p:cNvSpPr>
          <p:nvPr>
            <p:ph idx="1"/>
          </p:nvPr>
        </p:nvSpPr>
        <p:spPr>
          <a:xfrm>
            <a:off x="146120" y="1400727"/>
            <a:ext cx="8496839" cy="3429000"/>
          </a:xfrm>
        </p:spPr>
        <p:txBody>
          <a:bodyPr/>
          <a:lstStyle/>
          <a:p>
            <a:pPr marL="548640" lvl="1" indent="-274320" eaLnBrk="1" fontAlgn="auto" hangingPunct="1">
              <a:spcAft>
                <a:spcPts val="0"/>
              </a:spcAft>
              <a:buClr>
                <a:srgbClr val="0070C0"/>
              </a:buClr>
              <a:buFont typeface="Wingdings 3"/>
              <a:buChar char=""/>
              <a:defRPr/>
            </a:pPr>
            <a:r>
              <a:rPr lang="en-US" sz="2000" dirty="0">
                <a:solidFill>
                  <a:srgbClr val="46424D"/>
                </a:solidFill>
                <a:latin typeface="Arial"/>
                <a:ea typeface="ＭＳ Ｐゴシック" charset="-128"/>
                <a:cs typeface="Arial"/>
              </a:rPr>
              <a:t>Code Complete: A Practical Handbook of Software Construction, 2</a:t>
            </a:r>
            <a:r>
              <a:rPr lang="en-US" sz="2000" baseline="30000" dirty="0">
                <a:solidFill>
                  <a:srgbClr val="46424D"/>
                </a:solidFill>
                <a:latin typeface="Arial"/>
                <a:ea typeface="ＭＳ Ｐゴシック" charset="-128"/>
                <a:cs typeface="Arial"/>
              </a:rPr>
              <a:t>nd</a:t>
            </a:r>
            <a:r>
              <a:rPr lang="en-US" sz="2000" dirty="0">
                <a:solidFill>
                  <a:srgbClr val="46424D"/>
                </a:solidFill>
                <a:latin typeface="Arial"/>
                <a:ea typeface="ＭＳ Ｐゴシック" charset="-128"/>
                <a:cs typeface="Arial"/>
              </a:rPr>
              <a:t> Edition, Steve McConnell. </a:t>
            </a:r>
          </a:p>
          <a:p>
            <a:pPr marL="823277" lvl="2" indent="-274320" eaLnBrk="1" fontAlgn="auto" hangingPunct="1">
              <a:spcAft>
                <a:spcPts val="0"/>
              </a:spcAft>
              <a:buClr>
                <a:srgbClr val="0070C0"/>
              </a:buClr>
              <a:buFont typeface="Wingdings 3"/>
              <a:buChar char=""/>
              <a:defRPr/>
            </a:pPr>
            <a:r>
              <a:rPr lang="en-US" sz="1700" dirty="0">
                <a:solidFill>
                  <a:srgbClr val="46424D"/>
                </a:solidFill>
                <a:latin typeface="Arial"/>
                <a:ea typeface="ＭＳ Ｐゴシック" charset="-128"/>
                <a:cs typeface="Arial"/>
              </a:rPr>
              <a:t>Chapter 10</a:t>
            </a:r>
          </a:p>
          <a:p>
            <a:pPr marL="533400" lvl="1" indent="-533400" eaLnBrk="1" hangingPunct="1">
              <a:lnSpc>
                <a:spcPct val="115000"/>
              </a:lnSpc>
              <a:spcBef>
                <a:spcPct val="40000"/>
              </a:spcBef>
              <a:buClr>
                <a:srgbClr val="0BD0D9"/>
              </a:buClr>
              <a:buSzPct val="95000"/>
              <a:buFont typeface="Wingdings 2" pitchFamily="18" charset="2"/>
              <a:buNone/>
              <a:defRPr/>
            </a:pPr>
            <a:endParaRPr lang="en-NZ" altLang="en-US" dirty="0"/>
          </a:p>
        </p:txBody>
      </p:sp>
      <p:pic>
        <p:nvPicPr>
          <p:cNvPr id="4" name="Picture 2">
            <a:extLst>
              <a:ext uri="{FF2B5EF4-FFF2-40B4-BE49-F238E27FC236}">
                <a16:creationId xmlns:a16="http://schemas.microsoft.com/office/drawing/2014/main" id="{1A4C1AEE-513E-5F44-2B1B-675D0D4D3F8F}"/>
              </a:ext>
            </a:extLst>
          </p:cNvPr>
          <p:cNvPicPr>
            <a:picLocks noChangeAspect="1" noChangeArrowheads="1"/>
          </p:cNvPicPr>
          <p:nvPr/>
        </p:nvPicPr>
        <p:blipFill>
          <a:blip r:embed="rId2" cstate="print"/>
          <a:srcRect/>
          <a:stretch>
            <a:fillRect/>
          </a:stretch>
        </p:blipFill>
        <p:spPr bwMode="auto">
          <a:xfrm>
            <a:off x="2647167" y="2186758"/>
            <a:ext cx="4171950" cy="4343400"/>
          </a:xfrm>
          <a:prstGeom prst="rect">
            <a:avLst/>
          </a:prstGeom>
          <a:noFill/>
          <a:ln w="9525">
            <a:noFill/>
            <a:miter lim="800000"/>
            <a:headEnd/>
            <a:tailEnd/>
          </a:ln>
        </p:spPr>
      </p:pic>
    </p:spTree>
    <p:extLst>
      <p:ext uri="{BB962C8B-B14F-4D97-AF65-F5344CB8AC3E}">
        <p14:creationId xmlns:p14="http://schemas.microsoft.com/office/powerpoint/2010/main" val="3455685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17</a:t>
            </a:fld>
            <a:endParaRPr lang="en-US" sz="700"/>
          </a:p>
        </p:txBody>
      </p:sp>
      <p:sp>
        <p:nvSpPr>
          <p:cNvPr id="4" name="TextBox 3">
            <a:extLst>
              <a:ext uri="{FF2B5EF4-FFF2-40B4-BE49-F238E27FC236}">
                <a16:creationId xmlns:a16="http://schemas.microsoft.com/office/drawing/2014/main" id="{88C360D8-06EC-45E1-9F03-07203CCB8D4E}"/>
              </a:ext>
            </a:extLst>
          </p:cNvPr>
          <p:cNvSpPr txBox="1"/>
          <p:nvPr/>
        </p:nvSpPr>
        <p:spPr>
          <a:xfrm>
            <a:off x="1721224" y="2286000"/>
            <a:ext cx="570155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rgbClr val="404040"/>
                </a:solidFill>
                <a:cs typeface="Calibri"/>
              </a:rPr>
              <a:t>Any questions? ​</a:t>
            </a:r>
          </a:p>
          <a:p>
            <a:pPr algn="ctr"/>
            <a:r>
              <a:rPr lang="en-US" sz="3600">
                <a:solidFill>
                  <a:srgbClr val="404040"/>
                </a:solidFill>
                <a:cs typeface="Calibri"/>
              </a:rPr>
              <a:t>Please feel free to raise your hands and ask.</a:t>
            </a:r>
          </a:p>
        </p:txBody>
      </p:sp>
      <p:pic>
        <p:nvPicPr>
          <p:cNvPr id="2" name="Picture 2">
            <a:extLst>
              <a:ext uri="{FF2B5EF4-FFF2-40B4-BE49-F238E27FC236}">
                <a16:creationId xmlns:a16="http://schemas.microsoft.com/office/drawing/2014/main" id="{D0711CCF-C1F4-43F6-B9FC-0A5338AB8F85}"/>
              </a:ext>
            </a:extLst>
          </p:cNvPr>
          <p:cNvPicPr>
            <a:picLocks noChangeAspect="1"/>
          </p:cNvPicPr>
          <p:nvPr/>
        </p:nvPicPr>
        <p:blipFill>
          <a:blip r:embed="rId2"/>
          <a:stretch>
            <a:fillRect/>
          </a:stretch>
        </p:blipFill>
        <p:spPr>
          <a:xfrm>
            <a:off x="3915508" y="675881"/>
            <a:ext cx="1299457" cy="1285931"/>
          </a:xfrm>
          <a:prstGeom prst="rect">
            <a:avLst/>
          </a:prstGeom>
        </p:spPr>
      </p:pic>
    </p:spTree>
    <p:extLst>
      <p:ext uri="{BB962C8B-B14F-4D97-AF65-F5344CB8AC3E}">
        <p14:creationId xmlns:p14="http://schemas.microsoft.com/office/powerpoint/2010/main" val="2615860504"/>
      </p:ext>
    </p:extLst>
  </p:cSld>
  <p:clrMapOvr>
    <a:masterClrMapping/>
  </p:clrMapOvr>
</p:sld>
</file>

<file path=ppt/theme/theme1.xml><?xml version="1.0" encoding="utf-8"?>
<a:theme xmlns:a="http://schemas.openxmlformats.org/drawingml/2006/main" name="Theme CPIT 110">
  <a:themeElements>
    <a:clrScheme name="Custom 1">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A2B7C0"/>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 CPIT 110" id="{8B30B5B8-1EAF-4AD4-A47C-55C6155E0564}" vid="{0F986C0D-D438-41BC-BADF-01C576FE679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D91684B4F51014982BED21342ACE24F" ma:contentTypeVersion="12" ma:contentTypeDescription="Create a new document." ma:contentTypeScope="" ma:versionID="a6d97c19bf0848d1afa7cfd1ece83864">
  <xsd:schema xmlns:xsd="http://www.w3.org/2001/XMLSchema" xmlns:xs="http://www.w3.org/2001/XMLSchema" xmlns:p="http://schemas.microsoft.com/office/2006/metadata/properties" xmlns:ns2="d55b910c-306d-4260-bef9-52053e20f3ad" xmlns:ns3="9c7ea19a-b04b-43f3-b15e-cde561b15e5b" targetNamespace="http://schemas.microsoft.com/office/2006/metadata/properties" ma:root="true" ma:fieldsID="c0bbd26d2dc288229e6760ed0810afc6" ns2:_="" ns3:_="">
    <xsd:import namespace="d55b910c-306d-4260-bef9-52053e20f3ad"/>
    <xsd:import namespace="9c7ea19a-b04b-43f3-b15e-cde561b15e5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5b910c-306d-4260-bef9-52053e20f3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c7ea19a-b04b-43f3-b15e-cde561b15e5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0BDFD9-B336-410C-8C70-E8CCE7AD7CBC}">
  <ds:schemaRefs>
    <ds:schemaRef ds:uri="http://schemas.microsoft.com/sharepoint/v3/contenttype/forms"/>
  </ds:schemaRefs>
</ds:datastoreItem>
</file>

<file path=customXml/itemProps2.xml><?xml version="1.0" encoding="utf-8"?>
<ds:datastoreItem xmlns:ds="http://schemas.openxmlformats.org/officeDocument/2006/customXml" ds:itemID="{202E0C92-AC64-42CA-94F8-4CA15E127DA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198D305-912F-4EDA-B366-83F8180D3B01}">
  <ds:schemaRefs>
    <ds:schemaRef ds:uri="9c7ea19a-b04b-43f3-b15e-cde561b15e5b"/>
    <ds:schemaRef ds:uri="d55b910c-306d-4260-bef9-52053e20f3a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Theme CPIT 110</Template>
  <TotalTime>1213</TotalTime>
  <Words>930</Words>
  <Application>Microsoft Office PowerPoint</Application>
  <PresentationFormat>On-screen Show (4:3)</PresentationFormat>
  <Paragraphs>112</Paragraphs>
  <Slides>17</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17</vt:i4>
      </vt:variant>
    </vt:vector>
  </HeadingPairs>
  <TitlesOfParts>
    <vt:vector size="29" baseType="lpstr">
      <vt:lpstr>Arial</vt:lpstr>
      <vt:lpstr>Calibri</vt:lpstr>
      <vt:lpstr>Calibri Light</vt:lpstr>
      <vt:lpstr>Eurostile</vt:lpstr>
      <vt:lpstr>Söhne</vt:lpstr>
      <vt:lpstr>Söhne Mono</vt:lpstr>
      <vt:lpstr>Times New Roman</vt:lpstr>
      <vt:lpstr>Wingdings</vt:lpstr>
      <vt:lpstr>Wingdings 2</vt:lpstr>
      <vt:lpstr>Wingdings 3</vt:lpstr>
      <vt:lpstr>Theme CPIT 110</vt:lpstr>
      <vt:lpstr>Custom Design</vt:lpstr>
      <vt:lpstr>Chapter  3.1 High-Quality Variables</vt:lpstr>
      <vt:lpstr>Outline</vt:lpstr>
      <vt:lpstr>Variables Initialization problems</vt:lpstr>
      <vt:lpstr>Variables initialization problems</vt:lpstr>
      <vt:lpstr>Variables initialization problems</vt:lpstr>
      <vt:lpstr>Variables initialization problems</vt:lpstr>
      <vt:lpstr>Guidelines for avoiding initialization problems</vt:lpstr>
      <vt:lpstr>Guidelines for avoiding initialization problems</vt:lpstr>
      <vt:lpstr>Guidelines for avoiding initialization problems</vt:lpstr>
      <vt:lpstr>Guidelines for avoiding initialization problems</vt:lpstr>
      <vt:lpstr>Guidelines for avoiding initialization problems</vt:lpstr>
      <vt:lpstr>Guidelines for avoiding initialization problems</vt:lpstr>
      <vt:lpstr>Guidelines for avoiding initialization problems</vt:lpstr>
      <vt:lpstr>Guidelines for avoiding initialization problems</vt:lpstr>
      <vt:lpstr>Guidelines for avoiding initialization problems</vt:lpstr>
      <vt:lpstr>Reading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Introduction to Problem-Solving</dc:title>
  <dc:creator>Ahmad Tayeb;ajtayeb@kau.edu.sa</dc:creator>
  <cp:lastModifiedBy>Mohammad Dakhilallah Mohammad Alahmadi</cp:lastModifiedBy>
  <cp:revision>27</cp:revision>
  <dcterms:created xsi:type="dcterms:W3CDTF">2019-06-07T16:06:41Z</dcterms:created>
  <dcterms:modified xsi:type="dcterms:W3CDTF">2023-10-01T14:08:46Z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0x0101007D91684B4F51014982BED21342ACE24F</vt:lpwstr>
  </property>
</Properties>
</file>